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sldIdLst>
    <p:sldId id="256" r:id="rId2"/>
    <p:sldId id="257" r:id="rId3"/>
    <p:sldId id="258" r:id="rId4"/>
    <p:sldId id="259" r:id="rId5"/>
    <p:sldId id="260" r:id="rId6"/>
    <p:sldId id="291" r:id="rId7"/>
    <p:sldId id="275" r:id="rId8"/>
    <p:sldId id="292" r:id="rId9"/>
    <p:sldId id="277" r:id="rId10"/>
    <p:sldId id="293" r:id="rId11"/>
    <p:sldId id="294" r:id="rId12"/>
    <p:sldId id="295" r:id="rId13"/>
    <p:sldId id="296" r:id="rId14"/>
    <p:sldId id="297" r:id="rId15"/>
    <p:sldId id="281" r:id="rId16"/>
    <p:sldId id="298" r:id="rId17"/>
    <p:sldId id="299" r:id="rId18"/>
    <p:sldId id="300" r:id="rId19"/>
    <p:sldId id="301" r:id="rId20"/>
    <p:sldId id="288" r:id="rId21"/>
    <p:sldId id="303" r:id="rId22"/>
    <p:sldId id="305" r:id="rId23"/>
    <p:sldId id="306" r:id="rId24"/>
    <p:sldId id="307" r:id="rId25"/>
    <p:sldId id="286" r:id="rId26"/>
    <p:sldId id="261" r:id="rId27"/>
    <p:sldId id="309" r:id="rId28"/>
    <p:sldId id="267" r:id="rId29"/>
    <p:sldId id="311" r:id="rId30"/>
    <p:sldId id="312" r:id="rId31"/>
    <p:sldId id="313" r:id="rId32"/>
    <p:sldId id="314" r:id="rId33"/>
    <p:sldId id="262" r:id="rId34"/>
    <p:sldId id="315" r:id="rId35"/>
    <p:sldId id="316" r:id="rId36"/>
    <p:sldId id="319" r:id="rId37"/>
    <p:sldId id="317" r:id="rId38"/>
    <p:sldId id="318" r:id="rId39"/>
    <p:sldId id="264" r:id="rId40"/>
    <p:sldId id="265" r:id="rId41"/>
    <p:sldId id="266" r:id="rId42"/>
    <p:sldId id="320" r:id="rId43"/>
    <p:sldId id="269" r:id="rId44"/>
    <p:sldId id="321" r:id="rId45"/>
    <p:sldId id="270" r:id="rId46"/>
    <p:sldId id="322" r:id="rId47"/>
    <p:sldId id="323" r:id="rId48"/>
    <p:sldId id="324" r:id="rId49"/>
    <p:sldId id="271" r:id="rId50"/>
    <p:sldId id="272" r:id="rId51"/>
    <p:sldId id="283" r:id="rId52"/>
    <p:sldId id="273" r:id="rId53"/>
    <p:sldId id="289" r:id="rId54"/>
    <p:sldId id="274" r:id="rId55"/>
  </p:sldIdLst>
  <p:sldSz cx="12192000" cy="6858000"/>
  <p:notesSz cx="6858000" cy="9144000"/>
  <p:defaultTextStyle>
    <a:defPPr>
      <a:defRPr lang="a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603" autoAdjust="0"/>
  </p:normalViewPr>
  <p:slideViewPr>
    <p:cSldViewPr snapToGrid="0">
      <p:cViewPr varScale="1">
        <p:scale>
          <a:sx n="59" d="100"/>
          <a:sy n="59" d="100"/>
        </p:scale>
        <p:origin x="115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6434515-E61A-4E1F-8949-1AB78E98171B}" type="doc">
      <dgm:prSet loTypeId="urn:microsoft.com/office/officeart/2008/layout/HorizontalMultiLevelHierarchy" loCatId="hierarchy" qsTypeId="urn:microsoft.com/office/officeart/2005/8/quickstyle/simple4" qsCatId="simple" csTypeId="urn:microsoft.com/office/officeart/2005/8/colors/accent1_4" csCatId="accent1" phldr="1"/>
      <dgm:spPr/>
      <dgm:t>
        <a:bodyPr/>
        <a:lstStyle/>
        <a:p>
          <a:endParaRPr lang="en-US"/>
        </a:p>
      </dgm:t>
    </dgm:pt>
    <dgm:pt modelId="{460E9D1A-F5CD-4956-8B45-174B6843A7CF}">
      <dgm:prSet phldrT="[Text]" custT="1"/>
      <dgm:spPr>
        <a:solidFill>
          <a:schemeClr val="accent4">
            <a:lumMod val="75000"/>
          </a:schemeClr>
        </a:solidFill>
      </dgm:spPr>
      <dgm:t>
        <a:bodyPr/>
        <a:lstStyle/>
        <a:p>
          <a:r>
            <a:rPr lang="en-US" sz="3600" b="1">
              <a:latin typeface="Arial" panose="020B0604020202020204" pitchFamily="34" charset="0"/>
              <a:cs typeface="Arial" panose="020B0604020202020204" pitchFamily="34" charset="0"/>
            </a:rPr>
            <a:t>General Ledger</a:t>
          </a:r>
        </a:p>
      </dgm:t>
    </dgm:pt>
    <dgm:pt modelId="{2149BF68-F7B3-40DA-B0D5-D512CA022826}" type="parTrans" cxnId="{5779AFBB-6A27-4077-B081-2E4791B84940}">
      <dgm:prSet/>
      <dgm:spPr/>
      <dgm:t>
        <a:bodyPr/>
        <a:lstStyle/>
        <a:p>
          <a:endParaRPr lang="en-US"/>
        </a:p>
      </dgm:t>
    </dgm:pt>
    <dgm:pt modelId="{28BC7BDC-A221-451C-BFC4-1D0BF515F568}" type="sibTrans" cxnId="{5779AFBB-6A27-4077-B081-2E4791B84940}">
      <dgm:prSet/>
      <dgm:spPr/>
      <dgm:t>
        <a:bodyPr/>
        <a:lstStyle/>
        <a:p>
          <a:endParaRPr lang="en-US"/>
        </a:p>
      </dgm:t>
    </dgm:pt>
    <dgm:pt modelId="{65C40021-C367-461A-A380-0EAE03363BFA}">
      <dgm:prSet phldrT="[Text]" custT="1"/>
      <dgm:spPr>
        <a:solidFill>
          <a:schemeClr val="accent4">
            <a:lumMod val="75000"/>
          </a:schemeClr>
        </a:solidFill>
      </dgm:spPr>
      <dgm:t>
        <a:bodyPr/>
        <a:lstStyle/>
        <a:p>
          <a:r>
            <a:rPr lang="en-US" sz="2000" b="1" u="none" dirty="0">
              <a:latin typeface="Arial" panose="020B0604020202020204" pitchFamily="34" charset="0"/>
              <a:cs typeface="Arial" panose="020B0604020202020204" pitchFamily="34" charset="0"/>
            </a:rPr>
            <a:t>Chart of accounts</a:t>
          </a:r>
          <a:endParaRPr lang="en-US" sz="2000" b="1" dirty="0">
            <a:latin typeface="Arial" panose="020B0604020202020204" pitchFamily="34" charset="0"/>
            <a:cs typeface="Arial" panose="020B0604020202020204" pitchFamily="34" charset="0"/>
          </a:endParaRPr>
        </a:p>
      </dgm:t>
    </dgm:pt>
    <dgm:pt modelId="{DC1032F2-0220-4DAA-A6B5-F6AF12C3AC35}" type="parTrans" cxnId="{8D0DC982-A746-43CB-B52E-D30E5C070CE9}">
      <dgm:prSet/>
      <dgm:spPr>
        <a:solidFill>
          <a:schemeClr val="accent4">
            <a:lumMod val="75000"/>
          </a:schemeClr>
        </a:solidFill>
      </dgm:spPr>
      <dgm:t>
        <a:bodyPr/>
        <a:lstStyle/>
        <a:p>
          <a:endParaRPr lang="en-US"/>
        </a:p>
      </dgm:t>
    </dgm:pt>
    <dgm:pt modelId="{C7BD7A24-46E1-4D6C-BCBE-00A73B61BA3B}" type="sibTrans" cxnId="{8D0DC982-A746-43CB-B52E-D30E5C070CE9}">
      <dgm:prSet/>
      <dgm:spPr/>
      <dgm:t>
        <a:bodyPr/>
        <a:lstStyle/>
        <a:p>
          <a:endParaRPr lang="en-US"/>
        </a:p>
      </dgm:t>
    </dgm:pt>
    <dgm:pt modelId="{D7294BB1-0FC6-47DA-A892-471FEAE155CA}">
      <dgm:prSet phldrT="[Text]" custT="1"/>
      <dgm:spPr>
        <a:solidFill>
          <a:schemeClr val="accent4">
            <a:lumMod val="75000"/>
          </a:schemeClr>
        </a:solidFill>
      </dgm:spPr>
      <dgm:t>
        <a:bodyPr/>
        <a:lstStyle/>
        <a:p>
          <a:r>
            <a:rPr lang="en-US" sz="2000" b="1" u="none">
              <a:latin typeface="Arial" panose="020B0604020202020204" pitchFamily="34" charset="0"/>
              <a:cs typeface="Arial" panose="020B0604020202020204" pitchFamily="34" charset="0"/>
            </a:rPr>
            <a:t>Financial dimensions</a:t>
          </a:r>
          <a:endParaRPr lang="en-US" sz="2000" b="1">
            <a:latin typeface="Arial" panose="020B0604020202020204" pitchFamily="34" charset="0"/>
            <a:cs typeface="Arial" panose="020B0604020202020204" pitchFamily="34" charset="0"/>
          </a:endParaRPr>
        </a:p>
      </dgm:t>
    </dgm:pt>
    <dgm:pt modelId="{672A8ADB-5E8D-4D45-BA5A-F194CD7AACCD}" type="parTrans" cxnId="{F2F3F8A7-0570-428E-A78F-E5D6B06E7E18}">
      <dgm:prSet/>
      <dgm:spPr/>
      <dgm:t>
        <a:bodyPr/>
        <a:lstStyle/>
        <a:p>
          <a:endParaRPr lang="en-US"/>
        </a:p>
      </dgm:t>
    </dgm:pt>
    <dgm:pt modelId="{59BF0AF1-90DE-4FE9-A2A6-D6203AF9A340}" type="sibTrans" cxnId="{F2F3F8A7-0570-428E-A78F-E5D6B06E7E18}">
      <dgm:prSet/>
      <dgm:spPr/>
      <dgm:t>
        <a:bodyPr/>
        <a:lstStyle/>
        <a:p>
          <a:endParaRPr lang="en-US"/>
        </a:p>
      </dgm:t>
    </dgm:pt>
    <dgm:pt modelId="{20C37E46-7CD0-4CFC-8BD7-3887CE7691BD}">
      <dgm:prSet custT="1"/>
      <dgm:spPr>
        <a:solidFill>
          <a:schemeClr val="accent4">
            <a:lumMod val="75000"/>
          </a:schemeClr>
        </a:solidFill>
      </dgm:spPr>
      <dgm:t>
        <a:bodyPr/>
        <a:lstStyle/>
        <a:p>
          <a:r>
            <a:rPr lang="en-US" sz="2000" b="1" u="none">
              <a:latin typeface="Arial" panose="020B0604020202020204" pitchFamily="34" charset="0"/>
              <a:cs typeface="Arial" panose="020B0604020202020204" pitchFamily="34" charset="0"/>
            </a:rPr>
            <a:t>Fiscal calendars</a:t>
          </a:r>
          <a:endParaRPr lang="en-US" sz="2000" b="1">
            <a:latin typeface="Arial" panose="020B0604020202020204" pitchFamily="34" charset="0"/>
            <a:cs typeface="Arial" panose="020B0604020202020204" pitchFamily="34" charset="0"/>
          </a:endParaRPr>
        </a:p>
      </dgm:t>
    </dgm:pt>
    <dgm:pt modelId="{43E924D9-A68C-4B21-B72E-BA3AB6269BF9}" type="parTrans" cxnId="{251237D7-98A5-4C8B-AC96-EA1D8836546E}">
      <dgm:prSet/>
      <dgm:spPr/>
      <dgm:t>
        <a:bodyPr/>
        <a:lstStyle/>
        <a:p>
          <a:endParaRPr lang="en-US"/>
        </a:p>
      </dgm:t>
    </dgm:pt>
    <dgm:pt modelId="{42EB45D6-B969-4694-BEA3-2E41F3029D0B}" type="sibTrans" cxnId="{251237D7-98A5-4C8B-AC96-EA1D8836546E}">
      <dgm:prSet/>
      <dgm:spPr/>
      <dgm:t>
        <a:bodyPr/>
        <a:lstStyle/>
        <a:p>
          <a:endParaRPr lang="en-US"/>
        </a:p>
      </dgm:t>
    </dgm:pt>
    <dgm:pt modelId="{75EF6D61-38B1-4B92-A810-BC06479F4105}">
      <dgm:prSet phldrT="[Text]" custT="1"/>
      <dgm:spPr>
        <a:solidFill>
          <a:schemeClr val="accent4">
            <a:lumMod val="75000"/>
          </a:schemeClr>
        </a:solidFill>
      </dgm:spPr>
      <dgm:t>
        <a:bodyPr/>
        <a:lstStyle/>
        <a:p>
          <a:r>
            <a:rPr lang="en-US" sz="2000" b="1" u="none">
              <a:latin typeface="Arial" panose="020B0604020202020204" pitchFamily="34" charset="0"/>
              <a:cs typeface="Arial" panose="020B0604020202020204" pitchFamily="34" charset="0"/>
            </a:rPr>
            <a:t>Configure account structures</a:t>
          </a:r>
          <a:endParaRPr lang="en-US" sz="2000" b="1">
            <a:latin typeface="Arial" panose="020B0604020202020204" pitchFamily="34" charset="0"/>
            <a:cs typeface="Arial" panose="020B0604020202020204" pitchFamily="34" charset="0"/>
          </a:endParaRPr>
        </a:p>
      </dgm:t>
    </dgm:pt>
    <dgm:pt modelId="{A1ECAFAE-760D-4A65-864A-7925A16DC917}" type="sibTrans" cxnId="{6BCD0D7F-F58B-46F7-81D1-8F6FA018C19F}">
      <dgm:prSet/>
      <dgm:spPr/>
      <dgm:t>
        <a:bodyPr/>
        <a:lstStyle/>
        <a:p>
          <a:endParaRPr lang="en-US"/>
        </a:p>
      </dgm:t>
    </dgm:pt>
    <dgm:pt modelId="{37CB25F0-1FE0-420C-BF7C-698AFA263131}" type="parTrans" cxnId="{6BCD0D7F-F58B-46F7-81D1-8F6FA018C19F}">
      <dgm:prSet/>
      <dgm:spPr/>
      <dgm:t>
        <a:bodyPr/>
        <a:lstStyle/>
        <a:p>
          <a:endParaRPr lang="en-US"/>
        </a:p>
      </dgm:t>
    </dgm:pt>
    <dgm:pt modelId="{F91E7683-1C43-4EDE-B334-B92250EA3D2C}">
      <dgm:prSet custT="1"/>
      <dgm:spPr>
        <a:solidFill>
          <a:schemeClr val="accent4">
            <a:lumMod val="75000"/>
          </a:schemeClr>
        </a:solidFill>
      </dgm:spPr>
      <dgm:t>
        <a:bodyPr/>
        <a:lstStyle/>
        <a:p>
          <a:r>
            <a:rPr lang="en-US" sz="2000" b="1" u="none">
              <a:latin typeface="Arial" panose="020B0604020202020204" pitchFamily="34" charset="0"/>
              <a:cs typeface="Arial" panose="020B0604020202020204" pitchFamily="34" charset="0"/>
            </a:rPr>
            <a:t>Currency exchange rates</a:t>
          </a:r>
          <a:endParaRPr lang="en-US" sz="2000" b="1">
            <a:latin typeface="Arial" panose="020B0604020202020204" pitchFamily="34" charset="0"/>
            <a:cs typeface="Arial" panose="020B0604020202020204" pitchFamily="34" charset="0"/>
          </a:endParaRPr>
        </a:p>
      </dgm:t>
    </dgm:pt>
    <dgm:pt modelId="{B0E7EA63-F29F-4FE2-BE55-E23AA67493C1}" type="parTrans" cxnId="{B09FF320-7577-4C8A-B107-7726694AEDC0}">
      <dgm:prSet/>
      <dgm:spPr/>
      <dgm:t>
        <a:bodyPr/>
        <a:lstStyle/>
        <a:p>
          <a:endParaRPr lang="en-US"/>
        </a:p>
      </dgm:t>
    </dgm:pt>
    <dgm:pt modelId="{D1FEDA96-A17F-4458-9C42-8FBAF457AF43}" type="sibTrans" cxnId="{B09FF320-7577-4C8A-B107-7726694AEDC0}">
      <dgm:prSet/>
      <dgm:spPr/>
      <dgm:t>
        <a:bodyPr/>
        <a:lstStyle/>
        <a:p>
          <a:endParaRPr lang="en-US"/>
        </a:p>
      </dgm:t>
    </dgm:pt>
    <dgm:pt modelId="{726FC7BD-94BC-4230-AB77-DC2BEFD27BC0}">
      <dgm:prSet custT="1"/>
      <dgm:spPr>
        <a:solidFill>
          <a:schemeClr val="accent4">
            <a:lumMod val="75000"/>
          </a:schemeClr>
        </a:solidFill>
      </dgm:spPr>
      <dgm:t>
        <a:bodyPr/>
        <a:lstStyle/>
        <a:p>
          <a:r>
            <a:rPr lang="en-US" sz="2000" b="1" u="none">
              <a:latin typeface="Arial" panose="020B0604020202020204" pitchFamily="34" charset="0"/>
              <a:cs typeface="Arial" panose="020B0604020202020204" pitchFamily="34" charset="0"/>
            </a:rPr>
            <a:t>Journal names</a:t>
          </a:r>
          <a:endParaRPr lang="en-US" sz="2000" b="1">
            <a:latin typeface="Arial" panose="020B0604020202020204" pitchFamily="34" charset="0"/>
            <a:cs typeface="Arial" panose="020B0604020202020204" pitchFamily="34" charset="0"/>
          </a:endParaRPr>
        </a:p>
      </dgm:t>
    </dgm:pt>
    <dgm:pt modelId="{E0657223-E7CE-4F43-905C-C7E231614C43}" type="parTrans" cxnId="{0D3520DA-DB2D-46A2-A335-D14E9A97C7C4}">
      <dgm:prSet/>
      <dgm:spPr/>
      <dgm:t>
        <a:bodyPr/>
        <a:lstStyle/>
        <a:p>
          <a:endParaRPr lang="en-US"/>
        </a:p>
      </dgm:t>
    </dgm:pt>
    <dgm:pt modelId="{AF3333B7-7968-4804-BA32-309888B90D23}" type="sibTrans" cxnId="{0D3520DA-DB2D-46A2-A335-D14E9A97C7C4}">
      <dgm:prSet/>
      <dgm:spPr/>
      <dgm:t>
        <a:bodyPr/>
        <a:lstStyle/>
        <a:p>
          <a:endParaRPr lang="en-US"/>
        </a:p>
      </dgm:t>
    </dgm:pt>
    <dgm:pt modelId="{EC4B3A01-77C3-4F38-A759-1942EB8E8773}" type="pres">
      <dgm:prSet presAssocID="{66434515-E61A-4E1F-8949-1AB78E98171B}" presName="Name0" presStyleCnt="0">
        <dgm:presLayoutVars>
          <dgm:chPref val="1"/>
          <dgm:dir/>
          <dgm:animOne val="branch"/>
          <dgm:animLvl val="lvl"/>
          <dgm:resizeHandles val="exact"/>
        </dgm:presLayoutVars>
      </dgm:prSet>
      <dgm:spPr/>
    </dgm:pt>
    <dgm:pt modelId="{88930A1C-D113-4DF9-9EAC-2C2CEC4DB2D4}" type="pres">
      <dgm:prSet presAssocID="{460E9D1A-F5CD-4956-8B45-174B6843A7CF}" presName="root1" presStyleCnt="0"/>
      <dgm:spPr/>
    </dgm:pt>
    <dgm:pt modelId="{D47A84ED-9820-4776-AD39-007F45442665}" type="pres">
      <dgm:prSet presAssocID="{460E9D1A-F5CD-4956-8B45-174B6843A7CF}" presName="LevelOneTextNode" presStyleLbl="node0" presStyleIdx="0" presStyleCnt="1" custScaleY="134922">
        <dgm:presLayoutVars>
          <dgm:chPref val="3"/>
        </dgm:presLayoutVars>
      </dgm:prSet>
      <dgm:spPr/>
    </dgm:pt>
    <dgm:pt modelId="{807DB972-3F3D-4375-A300-CF679DAD972B}" type="pres">
      <dgm:prSet presAssocID="{460E9D1A-F5CD-4956-8B45-174B6843A7CF}" presName="level2hierChild" presStyleCnt="0"/>
      <dgm:spPr/>
    </dgm:pt>
    <dgm:pt modelId="{C00648CC-6D3F-454C-8CD4-6A9309192E23}" type="pres">
      <dgm:prSet presAssocID="{DC1032F2-0220-4DAA-A6B5-F6AF12C3AC35}" presName="conn2-1" presStyleLbl="parChTrans1D2" presStyleIdx="0" presStyleCnt="6"/>
      <dgm:spPr/>
    </dgm:pt>
    <dgm:pt modelId="{53A5A953-6BE5-47C7-A33B-61A8CC88E903}" type="pres">
      <dgm:prSet presAssocID="{DC1032F2-0220-4DAA-A6B5-F6AF12C3AC35}" presName="connTx" presStyleLbl="parChTrans1D2" presStyleIdx="0" presStyleCnt="6"/>
      <dgm:spPr/>
    </dgm:pt>
    <dgm:pt modelId="{C307079F-3EF2-436D-9D14-2BE7448243F3}" type="pres">
      <dgm:prSet presAssocID="{65C40021-C367-461A-A380-0EAE03363BFA}" presName="root2" presStyleCnt="0"/>
      <dgm:spPr/>
    </dgm:pt>
    <dgm:pt modelId="{B2E2E14D-ADD3-4A7E-BF6A-74858AF2BA48}" type="pres">
      <dgm:prSet presAssocID="{65C40021-C367-461A-A380-0EAE03363BFA}" presName="LevelTwoTextNode" presStyleLbl="node2" presStyleIdx="0" presStyleCnt="6" custScaleX="222037" custLinFactNeighborY="-7795">
        <dgm:presLayoutVars>
          <dgm:chPref val="3"/>
        </dgm:presLayoutVars>
      </dgm:prSet>
      <dgm:spPr/>
    </dgm:pt>
    <dgm:pt modelId="{10438273-59EB-44CF-A4FD-E019D0A6FBF5}" type="pres">
      <dgm:prSet presAssocID="{65C40021-C367-461A-A380-0EAE03363BFA}" presName="level3hierChild" presStyleCnt="0"/>
      <dgm:spPr/>
    </dgm:pt>
    <dgm:pt modelId="{F0D76F55-CBA0-4E39-8DA0-72A777C2D1A5}" type="pres">
      <dgm:prSet presAssocID="{672A8ADB-5E8D-4D45-BA5A-F194CD7AACCD}" presName="conn2-1" presStyleLbl="parChTrans1D2" presStyleIdx="1" presStyleCnt="6"/>
      <dgm:spPr/>
    </dgm:pt>
    <dgm:pt modelId="{9E0D5FA1-02E3-41D4-A671-2ECB9E608ACA}" type="pres">
      <dgm:prSet presAssocID="{672A8ADB-5E8D-4D45-BA5A-F194CD7AACCD}" presName="connTx" presStyleLbl="parChTrans1D2" presStyleIdx="1" presStyleCnt="6"/>
      <dgm:spPr/>
    </dgm:pt>
    <dgm:pt modelId="{5F4D309C-D3B2-4E19-AE08-DB4FF5B4FB0C}" type="pres">
      <dgm:prSet presAssocID="{D7294BB1-0FC6-47DA-A892-471FEAE155CA}" presName="root2" presStyleCnt="0"/>
      <dgm:spPr/>
    </dgm:pt>
    <dgm:pt modelId="{D2D33781-ACFC-4A6E-BD5C-AFE4F5AF39B5}" type="pres">
      <dgm:prSet presAssocID="{D7294BB1-0FC6-47DA-A892-471FEAE155CA}" presName="LevelTwoTextNode" presStyleLbl="node2" presStyleIdx="1" presStyleCnt="6" custScaleX="222796" custLinFactNeighborY="-2398">
        <dgm:presLayoutVars>
          <dgm:chPref val="3"/>
        </dgm:presLayoutVars>
      </dgm:prSet>
      <dgm:spPr/>
    </dgm:pt>
    <dgm:pt modelId="{D8F475CB-179A-4564-A4F4-B675159B6A84}" type="pres">
      <dgm:prSet presAssocID="{D7294BB1-0FC6-47DA-A892-471FEAE155CA}" presName="level3hierChild" presStyleCnt="0"/>
      <dgm:spPr/>
    </dgm:pt>
    <dgm:pt modelId="{7809FDE1-8E5B-46B3-B95D-A457688FC748}" type="pres">
      <dgm:prSet presAssocID="{43E924D9-A68C-4B21-B72E-BA3AB6269BF9}" presName="conn2-1" presStyleLbl="parChTrans1D2" presStyleIdx="2" presStyleCnt="6"/>
      <dgm:spPr/>
    </dgm:pt>
    <dgm:pt modelId="{D6B03088-1308-4029-A165-5F51C93F89EC}" type="pres">
      <dgm:prSet presAssocID="{43E924D9-A68C-4B21-B72E-BA3AB6269BF9}" presName="connTx" presStyleLbl="parChTrans1D2" presStyleIdx="2" presStyleCnt="6"/>
      <dgm:spPr/>
    </dgm:pt>
    <dgm:pt modelId="{C436CCF7-15BF-4060-851D-C15CDF88CCE5}" type="pres">
      <dgm:prSet presAssocID="{20C37E46-7CD0-4CFC-8BD7-3887CE7691BD}" presName="root2" presStyleCnt="0"/>
      <dgm:spPr/>
    </dgm:pt>
    <dgm:pt modelId="{3BCDF5CC-40A6-466D-A9DA-D3D24711EBCF}" type="pres">
      <dgm:prSet presAssocID="{20C37E46-7CD0-4CFC-8BD7-3887CE7691BD}" presName="LevelTwoTextNode" presStyleLbl="node2" presStyleIdx="2" presStyleCnt="6" custScaleX="222796">
        <dgm:presLayoutVars>
          <dgm:chPref val="3"/>
        </dgm:presLayoutVars>
      </dgm:prSet>
      <dgm:spPr/>
    </dgm:pt>
    <dgm:pt modelId="{B2D2307B-5E58-4653-90E4-D558EEB4785A}" type="pres">
      <dgm:prSet presAssocID="{20C37E46-7CD0-4CFC-8BD7-3887CE7691BD}" presName="level3hierChild" presStyleCnt="0"/>
      <dgm:spPr/>
    </dgm:pt>
    <dgm:pt modelId="{91F712EB-4CB6-4F2C-8880-9202214D8316}" type="pres">
      <dgm:prSet presAssocID="{37CB25F0-1FE0-420C-BF7C-698AFA263131}" presName="conn2-1" presStyleLbl="parChTrans1D2" presStyleIdx="3" presStyleCnt="6"/>
      <dgm:spPr/>
    </dgm:pt>
    <dgm:pt modelId="{66C2B094-7D65-41CE-A8A9-4F362217CFB1}" type="pres">
      <dgm:prSet presAssocID="{37CB25F0-1FE0-420C-BF7C-698AFA263131}" presName="connTx" presStyleLbl="parChTrans1D2" presStyleIdx="3" presStyleCnt="6"/>
      <dgm:spPr/>
    </dgm:pt>
    <dgm:pt modelId="{3F1ECF21-3397-4089-A611-6CA4D1317034}" type="pres">
      <dgm:prSet presAssocID="{75EF6D61-38B1-4B92-A810-BC06479F4105}" presName="root2" presStyleCnt="0"/>
      <dgm:spPr/>
    </dgm:pt>
    <dgm:pt modelId="{EC6B3D8A-F821-4497-9325-E2BDF9D8E150}" type="pres">
      <dgm:prSet presAssocID="{75EF6D61-38B1-4B92-A810-BC06479F4105}" presName="LevelTwoTextNode" presStyleLbl="node2" presStyleIdx="3" presStyleCnt="6" custScaleX="221991">
        <dgm:presLayoutVars>
          <dgm:chPref val="3"/>
        </dgm:presLayoutVars>
      </dgm:prSet>
      <dgm:spPr/>
    </dgm:pt>
    <dgm:pt modelId="{68F1EA68-6EF0-4343-B6B4-EF9A12972BA4}" type="pres">
      <dgm:prSet presAssocID="{75EF6D61-38B1-4B92-A810-BC06479F4105}" presName="level3hierChild" presStyleCnt="0"/>
      <dgm:spPr/>
    </dgm:pt>
    <dgm:pt modelId="{F7A3DCE2-9B69-481E-A64F-16A35CA592D9}" type="pres">
      <dgm:prSet presAssocID="{B0E7EA63-F29F-4FE2-BE55-E23AA67493C1}" presName="conn2-1" presStyleLbl="parChTrans1D2" presStyleIdx="4" presStyleCnt="6"/>
      <dgm:spPr/>
    </dgm:pt>
    <dgm:pt modelId="{8EE8A7B6-6EC7-4BC8-A548-534EB2ABBDA0}" type="pres">
      <dgm:prSet presAssocID="{B0E7EA63-F29F-4FE2-BE55-E23AA67493C1}" presName="connTx" presStyleLbl="parChTrans1D2" presStyleIdx="4" presStyleCnt="6"/>
      <dgm:spPr/>
    </dgm:pt>
    <dgm:pt modelId="{6EE1E237-AA65-4457-A534-D2A2CD82A43A}" type="pres">
      <dgm:prSet presAssocID="{F91E7683-1C43-4EDE-B334-B92250EA3D2C}" presName="root2" presStyleCnt="0"/>
      <dgm:spPr/>
    </dgm:pt>
    <dgm:pt modelId="{DD6F950C-AB1B-43CD-877B-3A127AC4094C}" type="pres">
      <dgm:prSet presAssocID="{F91E7683-1C43-4EDE-B334-B92250EA3D2C}" presName="LevelTwoTextNode" presStyleLbl="node2" presStyleIdx="4" presStyleCnt="6" custScaleX="220440">
        <dgm:presLayoutVars>
          <dgm:chPref val="3"/>
        </dgm:presLayoutVars>
      </dgm:prSet>
      <dgm:spPr/>
    </dgm:pt>
    <dgm:pt modelId="{E6AA018D-1DFB-49C4-94D0-68B8B76EC790}" type="pres">
      <dgm:prSet presAssocID="{F91E7683-1C43-4EDE-B334-B92250EA3D2C}" presName="level3hierChild" presStyleCnt="0"/>
      <dgm:spPr/>
    </dgm:pt>
    <dgm:pt modelId="{F0CC0C21-32CF-4930-83A6-EE11C2C6DD38}" type="pres">
      <dgm:prSet presAssocID="{E0657223-E7CE-4F43-905C-C7E231614C43}" presName="conn2-1" presStyleLbl="parChTrans1D2" presStyleIdx="5" presStyleCnt="6"/>
      <dgm:spPr/>
    </dgm:pt>
    <dgm:pt modelId="{675DDFEA-EAC5-4B7D-8121-4DA1E30ED12B}" type="pres">
      <dgm:prSet presAssocID="{E0657223-E7CE-4F43-905C-C7E231614C43}" presName="connTx" presStyleLbl="parChTrans1D2" presStyleIdx="5" presStyleCnt="6"/>
      <dgm:spPr/>
    </dgm:pt>
    <dgm:pt modelId="{04ECF238-A666-4516-A655-B4D2516C4087}" type="pres">
      <dgm:prSet presAssocID="{726FC7BD-94BC-4230-AB77-DC2BEFD27BC0}" presName="root2" presStyleCnt="0"/>
      <dgm:spPr/>
    </dgm:pt>
    <dgm:pt modelId="{36AF66B7-49A3-4F7E-B7B6-17177D50997B}" type="pres">
      <dgm:prSet presAssocID="{726FC7BD-94BC-4230-AB77-DC2BEFD27BC0}" presName="LevelTwoTextNode" presStyleLbl="node2" presStyleIdx="5" presStyleCnt="6" custScaleX="218850">
        <dgm:presLayoutVars>
          <dgm:chPref val="3"/>
        </dgm:presLayoutVars>
      </dgm:prSet>
      <dgm:spPr/>
    </dgm:pt>
    <dgm:pt modelId="{0B735E93-6C61-441C-9E2B-AD70C09A5498}" type="pres">
      <dgm:prSet presAssocID="{726FC7BD-94BC-4230-AB77-DC2BEFD27BC0}" presName="level3hierChild" presStyleCnt="0"/>
      <dgm:spPr/>
    </dgm:pt>
  </dgm:ptLst>
  <dgm:cxnLst>
    <dgm:cxn modelId="{3E91D503-7799-45D8-A78D-38D63D4941CF}" type="presOf" srcId="{B0E7EA63-F29F-4FE2-BE55-E23AA67493C1}" destId="{8EE8A7B6-6EC7-4BC8-A548-534EB2ABBDA0}" srcOrd="1" destOrd="0" presId="urn:microsoft.com/office/officeart/2008/layout/HorizontalMultiLevelHierarchy"/>
    <dgm:cxn modelId="{6B59270B-26ED-4B38-96BC-550E7B811500}" type="presOf" srcId="{B0E7EA63-F29F-4FE2-BE55-E23AA67493C1}" destId="{F7A3DCE2-9B69-481E-A64F-16A35CA592D9}" srcOrd="0" destOrd="0" presId="urn:microsoft.com/office/officeart/2008/layout/HorizontalMultiLevelHierarchy"/>
    <dgm:cxn modelId="{B78BFF0B-49BF-4F95-923D-71C81C2F184E}" type="presOf" srcId="{75EF6D61-38B1-4B92-A810-BC06479F4105}" destId="{EC6B3D8A-F821-4497-9325-E2BDF9D8E150}" srcOrd="0" destOrd="0" presId="urn:microsoft.com/office/officeart/2008/layout/HorizontalMultiLevelHierarchy"/>
    <dgm:cxn modelId="{7C64D311-FEC8-41B6-8505-791C74FD27D7}" type="presOf" srcId="{D7294BB1-0FC6-47DA-A892-471FEAE155CA}" destId="{D2D33781-ACFC-4A6E-BD5C-AFE4F5AF39B5}" srcOrd="0" destOrd="0" presId="urn:microsoft.com/office/officeart/2008/layout/HorizontalMultiLevelHierarchy"/>
    <dgm:cxn modelId="{0F095514-E067-4BFF-B00B-8F10D893F76D}" type="presOf" srcId="{DC1032F2-0220-4DAA-A6B5-F6AF12C3AC35}" destId="{C00648CC-6D3F-454C-8CD4-6A9309192E23}" srcOrd="0" destOrd="0" presId="urn:microsoft.com/office/officeart/2008/layout/HorizontalMultiLevelHierarchy"/>
    <dgm:cxn modelId="{B09FF320-7577-4C8A-B107-7726694AEDC0}" srcId="{460E9D1A-F5CD-4956-8B45-174B6843A7CF}" destId="{F91E7683-1C43-4EDE-B334-B92250EA3D2C}" srcOrd="4" destOrd="0" parTransId="{B0E7EA63-F29F-4FE2-BE55-E23AA67493C1}" sibTransId="{D1FEDA96-A17F-4458-9C42-8FBAF457AF43}"/>
    <dgm:cxn modelId="{ABD58623-48F8-4358-8D31-B1AE0B3757CE}" type="presOf" srcId="{43E924D9-A68C-4B21-B72E-BA3AB6269BF9}" destId="{7809FDE1-8E5B-46B3-B95D-A457688FC748}" srcOrd="0" destOrd="0" presId="urn:microsoft.com/office/officeart/2008/layout/HorizontalMultiLevelHierarchy"/>
    <dgm:cxn modelId="{AA7F482B-F7ED-48D9-866D-C7499BB0D549}" type="presOf" srcId="{65C40021-C367-461A-A380-0EAE03363BFA}" destId="{B2E2E14D-ADD3-4A7E-BF6A-74858AF2BA48}" srcOrd="0" destOrd="0" presId="urn:microsoft.com/office/officeart/2008/layout/HorizontalMultiLevelHierarchy"/>
    <dgm:cxn modelId="{DD3CA82E-FA9F-4E28-BBE0-5F17BC0672D6}" type="presOf" srcId="{672A8ADB-5E8D-4D45-BA5A-F194CD7AACCD}" destId="{F0D76F55-CBA0-4E39-8DA0-72A777C2D1A5}" srcOrd="0" destOrd="0" presId="urn:microsoft.com/office/officeart/2008/layout/HorizontalMultiLevelHierarchy"/>
    <dgm:cxn modelId="{972CF15C-778E-44B9-97FE-694E664DA047}" type="presOf" srcId="{E0657223-E7CE-4F43-905C-C7E231614C43}" destId="{675DDFEA-EAC5-4B7D-8121-4DA1E30ED12B}" srcOrd="1" destOrd="0" presId="urn:microsoft.com/office/officeart/2008/layout/HorizontalMultiLevelHierarchy"/>
    <dgm:cxn modelId="{A6DCC45D-2B0B-4F76-BC92-584CAD53BCF4}" type="presOf" srcId="{460E9D1A-F5CD-4956-8B45-174B6843A7CF}" destId="{D47A84ED-9820-4776-AD39-007F45442665}" srcOrd="0" destOrd="0" presId="urn:microsoft.com/office/officeart/2008/layout/HorizontalMultiLevelHierarchy"/>
    <dgm:cxn modelId="{C323E941-A25E-4EAF-870C-8D70F72F1D35}" type="presOf" srcId="{F91E7683-1C43-4EDE-B334-B92250EA3D2C}" destId="{DD6F950C-AB1B-43CD-877B-3A127AC4094C}" srcOrd="0" destOrd="0" presId="urn:microsoft.com/office/officeart/2008/layout/HorizontalMultiLevelHierarchy"/>
    <dgm:cxn modelId="{1B197C49-7CAD-465C-BBDE-6203F915CE36}" type="presOf" srcId="{DC1032F2-0220-4DAA-A6B5-F6AF12C3AC35}" destId="{53A5A953-6BE5-47C7-A33B-61A8CC88E903}" srcOrd="1" destOrd="0" presId="urn:microsoft.com/office/officeart/2008/layout/HorizontalMultiLevelHierarchy"/>
    <dgm:cxn modelId="{12C55176-B82D-44B6-9A4E-806DA912B976}" type="presOf" srcId="{20C37E46-7CD0-4CFC-8BD7-3887CE7691BD}" destId="{3BCDF5CC-40A6-466D-A9DA-D3D24711EBCF}" srcOrd="0" destOrd="0" presId="urn:microsoft.com/office/officeart/2008/layout/HorizontalMultiLevelHierarchy"/>
    <dgm:cxn modelId="{C631F67A-7BA9-43FB-BA85-407A118D0CBF}" type="presOf" srcId="{672A8ADB-5E8D-4D45-BA5A-F194CD7AACCD}" destId="{9E0D5FA1-02E3-41D4-A671-2ECB9E608ACA}" srcOrd="1" destOrd="0" presId="urn:microsoft.com/office/officeart/2008/layout/HorizontalMultiLevelHierarchy"/>
    <dgm:cxn modelId="{6BCD0D7F-F58B-46F7-81D1-8F6FA018C19F}" srcId="{460E9D1A-F5CD-4956-8B45-174B6843A7CF}" destId="{75EF6D61-38B1-4B92-A810-BC06479F4105}" srcOrd="3" destOrd="0" parTransId="{37CB25F0-1FE0-420C-BF7C-698AFA263131}" sibTransId="{A1ECAFAE-760D-4A65-864A-7925A16DC917}"/>
    <dgm:cxn modelId="{8D0DC982-A746-43CB-B52E-D30E5C070CE9}" srcId="{460E9D1A-F5CD-4956-8B45-174B6843A7CF}" destId="{65C40021-C367-461A-A380-0EAE03363BFA}" srcOrd="0" destOrd="0" parTransId="{DC1032F2-0220-4DAA-A6B5-F6AF12C3AC35}" sibTransId="{C7BD7A24-46E1-4D6C-BCBE-00A73B61BA3B}"/>
    <dgm:cxn modelId="{CB09BAA5-69E9-4C39-B3F7-90C790D129FA}" type="presOf" srcId="{E0657223-E7CE-4F43-905C-C7E231614C43}" destId="{F0CC0C21-32CF-4930-83A6-EE11C2C6DD38}" srcOrd="0" destOrd="0" presId="urn:microsoft.com/office/officeart/2008/layout/HorizontalMultiLevelHierarchy"/>
    <dgm:cxn modelId="{F2F3F8A7-0570-428E-A78F-E5D6B06E7E18}" srcId="{460E9D1A-F5CD-4956-8B45-174B6843A7CF}" destId="{D7294BB1-0FC6-47DA-A892-471FEAE155CA}" srcOrd="1" destOrd="0" parTransId="{672A8ADB-5E8D-4D45-BA5A-F194CD7AACCD}" sibTransId="{59BF0AF1-90DE-4FE9-A2A6-D6203AF9A340}"/>
    <dgm:cxn modelId="{D11ADBB5-7F39-43CB-ACC2-BF46B4765654}" type="presOf" srcId="{37CB25F0-1FE0-420C-BF7C-698AFA263131}" destId="{66C2B094-7D65-41CE-A8A9-4F362217CFB1}" srcOrd="1" destOrd="0" presId="urn:microsoft.com/office/officeart/2008/layout/HorizontalMultiLevelHierarchy"/>
    <dgm:cxn modelId="{4E87B3B7-06A2-44EF-A536-DA213DF4A8C9}" type="presOf" srcId="{66434515-E61A-4E1F-8949-1AB78E98171B}" destId="{EC4B3A01-77C3-4F38-A759-1942EB8E8773}" srcOrd="0" destOrd="0" presId="urn:microsoft.com/office/officeart/2008/layout/HorizontalMultiLevelHierarchy"/>
    <dgm:cxn modelId="{5779AFBB-6A27-4077-B081-2E4791B84940}" srcId="{66434515-E61A-4E1F-8949-1AB78E98171B}" destId="{460E9D1A-F5CD-4956-8B45-174B6843A7CF}" srcOrd="0" destOrd="0" parTransId="{2149BF68-F7B3-40DA-B0D5-D512CA022826}" sibTransId="{28BC7BDC-A221-451C-BFC4-1D0BF515F568}"/>
    <dgm:cxn modelId="{251237D7-98A5-4C8B-AC96-EA1D8836546E}" srcId="{460E9D1A-F5CD-4956-8B45-174B6843A7CF}" destId="{20C37E46-7CD0-4CFC-8BD7-3887CE7691BD}" srcOrd="2" destOrd="0" parTransId="{43E924D9-A68C-4B21-B72E-BA3AB6269BF9}" sibTransId="{42EB45D6-B969-4694-BEA3-2E41F3029D0B}"/>
    <dgm:cxn modelId="{0D3520DA-DB2D-46A2-A335-D14E9A97C7C4}" srcId="{460E9D1A-F5CD-4956-8B45-174B6843A7CF}" destId="{726FC7BD-94BC-4230-AB77-DC2BEFD27BC0}" srcOrd="5" destOrd="0" parTransId="{E0657223-E7CE-4F43-905C-C7E231614C43}" sibTransId="{AF3333B7-7968-4804-BA32-309888B90D23}"/>
    <dgm:cxn modelId="{06C79AE2-036A-4F1D-9496-F218196B1B93}" type="presOf" srcId="{726FC7BD-94BC-4230-AB77-DC2BEFD27BC0}" destId="{36AF66B7-49A3-4F7E-B7B6-17177D50997B}" srcOrd="0" destOrd="0" presId="urn:microsoft.com/office/officeart/2008/layout/HorizontalMultiLevelHierarchy"/>
    <dgm:cxn modelId="{B67195F4-B9B9-4EB1-AF3A-2833792EBF6D}" type="presOf" srcId="{43E924D9-A68C-4B21-B72E-BA3AB6269BF9}" destId="{D6B03088-1308-4029-A165-5F51C93F89EC}" srcOrd="1" destOrd="0" presId="urn:microsoft.com/office/officeart/2008/layout/HorizontalMultiLevelHierarchy"/>
    <dgm:cxn modelId="{6D2B7DF6-3179-4CE4-AC20-BA03D0E0EDE1}" type="presOf" srcId="{37CB25F0-1FE0-420C-BF7C-698AFA263131}" destId="{91F712EB-4CB6-4F2C-8880-9202214D8316}" srcOrd="0" destOrd="0" presId="urn:microsoft.com/office/officeart/2008/layout/HorizontalMultiLevelHierarchy"/>
    <dgm:cxn modelId="{76041E81-E1DB-4070-8626-F06E20D274D4}" type="presParOf" srcId="{EC4B3A01-77C3-4F38-A759-1942EB8E8773}" destId="{88930A1C-D113-4DF9-9EAC-2C2CEC4DB2D4}" srcOrd="0" destOrd="0" presId="urn:microsoft.com/office/officeart/2008/layout/HorizontalMultiLevelHierarchy"/>
    <dgm:cxn modelId="{CD8DC6F0-67D2-45AF-9B7F-04FC59A9C5A8}" type="presParOf" srcId="{88930A1C-D113-4DF9-9EAC-2C2CEC4DB2D4}" destId="{D47A84ED-9820-4776-AD39-007F45442665}" srcOrd="0" destOrd="0" presId="urn:microsoft.com/office/officeart/2008/layout/HorizontalMultiLevelHierarchy"/>
    <dgm:cxn modelId="{E0BCFA03-7A30-4802-AB32-8D0D0107DC49}" type="presParOf" srcId="{88930A1C-D113-4DF9-9EAC-2C2CEC4DB2D4}" destId="{807DB972-3F3D-4375-A300-CF679DAD972B}" srcOrd="1" destOrd="0" presId="urn:microsoft.com/office/officeart/2008/layout/HorizontalMultiLevelHierarchy"/>
    <dgm:cxn modelId="{E88FC492-29DD-4D49-AC98-AD7C7E92E444}" type="presParOf" srcId="{807DB972-3F3D-4375-A300-CF679DAD972B}" destId="{C00648CC-6D3F-454C-8CD4-6A9309192E23}" srcOrd="0" destOrd="0" presId="urn:microsoft.com/office/officeart/2008/layout/HorizontalMultiLevelHierarchy"/>
    <dgm:cxn modelId="{F6F2A3B8-8FB3-44EF-A318-CCD1E6FA6AB8}" type="presParOf" srcId="{C00648CC-6D3F-454C-8CD4-6A9309192E23}" destId="{53A5A953-6BE5-47C7-A33B-61A8CC88E903}" srcOrd="0" destOrd="0" presId="urn:microsoft.com/office/officeart/2008/layout/HorizontalMultiLevelHierarchy"/>
    <dgm:cxn modelId="{F4A4AB01-8EC5-4418-B557-AC8227B7CE0B}" type="presParOf" srcId="{807DB972-3F3D-4375-A300-CF679DAD972B}" destId="{C307079F-3EF2-436D-9D14-2BE7448243F3}" srcOrd="1" destOrd="0" presId="urn:microsoft.com/office/officeart/2008/layout/HorizontalMultiLevelHierarchy"/>
    <dgm:cxn modelId="{D04DFE4C-49AF-4BE8-9219-B8F4414FEC7A}" type="presParOf" srcId="{C307079F-3EF2-436D-9D14-2BE7448243F3}" destId="{B2E2E14D-ADD3-4A7E-BF6A-74858AF2BA48}" srcOrd="0" destOrd="0" presId="urn:microsoft.com/office/officeart/2008/layout/HorizontalMultiLevelHierarchy"/>
    <dgm:cxn modelId="{F13C5E5F-B6E7-40EA-A1C9-9D2D7C02D71E}" type="presParOf" srcId="{C307079F-3EF2-436D-9D14-2BE7448243F3}" destId="{10438273-59EB-44CF-A4FD-E019D0A6FBF5}" srcOrd="1" destOrd="0" presId="urn:microsoft.com/office/officeart/2008/layout/HorizontalMultiLevelHierarchy"/>
    <dgm:cxn modelId="{A9E43A10-C026-4A76-ADCA-C4D32CAE06BD}" type="presParOf" srcId="{807DB972-3F3D-4375-A300-CF679DAD972B}" destId="{F0D76F55-CBA0-4E39-8DA0-72A777C2D1A5}" srcOrd="2" destOrd="0" presId="urn:microsoft.com/office/officeart/2008/layout/HorizontalMultiLevelHierarchy"/>
    <dgm:cxn modelId="{D80B4DB5-B46D-43FD-B8F5-8FB6D0CE7BD7}" type="presParOf" srcId="{F0D76F55-CBA0-4E39-8DA0-72A777C2D1A5}" destId="{9E0D5FA1-02E3-41D4-A671-2ECB9E608ACA}" srcOrd="0" destOrd="0" presId="urn:microsoft.com/office/officeart/2008/layout/HorizontalMultiLevelHierarchy"/>
    <dgm:cxn modelId="{1C9D5EB9-5087-4E73-BA37-BB62C607DEA0}" type="presParOf" srcId="{807DB972-3F3D-4375-A300-CF679DAD972B}" destId="{5F4D309C-D3B2-4E19-AE08-DB4FF5B4FB0C}" srcOrd="3" destOrd="0" presId="urn:microsoft.com/office/officeart/2008/layout/HorizontalMultiLevelHierarchy"/>
    <dgm:cxn modelId="{B4A9A38C-5F5B-48B3-A33B-A09F7C71A0B9}" type="presParOf" srcId="{5F4D309C-D3B2-4E19-AE08-DB4FF5B4FB0C}" destId="{D2D33781-ACFC-4A6E-BD5C-AFE4F5AF39B5}" srcOrd="0" destOrd="0" presId="urn:microsoft.com/office/officeart/2008/layout/HorizontalMultiLevelHierarchy"/>
    <dgm:cxn modelId="{6DF90560-9439-4D55-9D92-F2DFB3CA129B}" type="presParOf" srcId="{5F4D309C-D3B2-4E19-AE08-DB4FF5B4FB0C}" destId="{D8F475CB-179A-4564-A4F4-B675159B6A84}" srcOrd="1" destOrd="0" presId="urn:microsoft.com/office/officeart/2008/layout/HorizontalMultiLevelHierarchy"/>
    <dgm:cxn modelId="{C1984B93-27FE-43D5-A6F6-24FEBE041411}" type="presParOf" srcId="{807DB972-3F3D-4375-A300-CF679DAD972B}" destId="{7809FDE1-8E5B-46B3-B95D-A457688FC748}" srcOrd="4" destOrd="0" presId="urn:microsoft.com/office/officeart/2008/layout/HorizontalMultiLevelHierarchy"/>
    <dgm:cxn modelId="{29D488F1-1802-4C9F-B31A-EDA2A7C6A47C}" type="presParOf" srcId="{7809FDE1-8E5B-46B3-B95D-A457688FC748}" destId="{D6B03088-1308-4029-A165-5F51C93F89EC}" srcOrd="0" destOrd="0" presId="urn:microsoft.com/office/officeart/2008/layout/HorizontalMultiLevelHierarchy"/>
    <dgm:cxn modelId="{5B4F4C99-90FC-46FE-A362-0EF127AE9B86}" type="presParOf" srcId="{807DB972-3F3D-4375-A300-CF679DAD972B}" destId="{C436CCF7-15BF-4060-851D-C15CDF88CCE5}" srcOrd="5" destOrd="0" presId="urn:microsoft.com/office/officeart/2008/layout/HorizontalMultiLevelHierarchy"/>
    <dgm:cxn modelId="{B0DB8B3D-712B-436D-BA1B-D68A3C0542F9}" type="presParOf" srcId="{C436CCF7-15BF-4060-851D-C15CDF88CCE5}" destId="{3BCDF5CC-40A6-466D-A9DA-D3D24711EBCF}" srcOrd="0" destOrd="0" presId="urn:microsoft.com/office/officeart/2008/layout/HorizontalMultiLevelHierarchy"/>
    <dgm:cxn modelId="{63945B9B-5CF9-4F81-954D-86F7492FDF4C}" type="presParOf" srcId="{C436CCF7-15BF-4060-851D-C15CDF88CCE5}" destId="{B2D2307B-5E58-4653-90E4-D558EEB4785A}" srcOrd="1" destOrd="0" presId="urn:microsoft.com/office/officeart/2008/layout/HorizontalMultiLevelHierarchy"/>
    <dgm:cxn modelId="{CBEB3671-7EE7-4734-A47C-D2EACC078209}" type="presParOf" srcId="{807DB972-3F3D-4375-A300-CF679DAD972B}" destId="{91F712EB-4CB6-4F2C-8880-9202214D8316}" srcOrd="6" destOrd="0" presId="urn:microsoft.com/office/officeart/2008/layout/HorizontalMultiLevelHierarchy"/>
    <dgm:cxn modelId="{490BBE62-AE1A-451F-995E-BC9B40EAEA75}" type="presParOf" srcId="{91F712EB-4CB6-4F2C-8880-9202214D8316}" destId="{66C2B094-7D65-41CE-A8A9-4F362217CFB1}" srcOrd="0" destOrd="0" presId="urn:microsoft.com/office/officeart/2008/layout/HorizontalMultiLevelHierarchy"/>
    <dgm:cxn modelId="{698125FB-C660-48EC-BBA2-C1DF91E37867}" type="presParOf" srcId="{807DB972-3F3D-4375-A300-CF679DAD972B}" destId="{3F1ECF21-3397-4089-A611-6CA4D1317034}" srcOrd="7" destOrd="0" presId="urn:microsoft.com/office/officeart/2008/layout/HorizontalMultiLevelHierarchy"/>
    <dgm:cxn modelId="{71624106-1A54-4E79-A7E4-6565C0602261}" type="presParOf" srcId="{3F1ECF21-3397-4089-A611-6CA4D1317034}" destId="{EC6B3D8A-F821-4497-9325-E2BDF9D8E150}" srcOrd="0" destOrd="0" presId="urn:microsoft.com/office/officeart/2008/layout/HorizontalMultiLevelHierarchy"/>
    <dgm:cxn modelId="{A334102B-7E71-46E9-A5C1-000A0AC310EB}" type="presParOf" srcId="{3F1ECF21-3397-4089-A611-6CA4D1317034}" destId="{68F1EA68-6EF0-4343-B6B4-EF9A12972BA4}" srcOrd="1" destOrd="0" presId="urn:microsoft.com/office/officeart/2008/layout/HorizontalMultiLevelHierarchy"/>
    <dgm:cxn modelId="{4DAAB6AF-EABD-47CD-A192-850C9DD81011}" type="presParOf" srcId="{807DB972-3F3D-4375-A300-CF679DAD972B}" destId="{F7A3DCE2-9B69-481E-A64F-16A35CA592D9}" srcOrd="8" destOrd="0" presId="urn:microsoft.com/office/officeart/2008/layout/HorizontalMultiLevelHierarchy"/>
    <dgm:cxn modelId="{A21771AF-695D-4BA0-A9BA-D5C8A27209A7}" type="presParOf" srcId="{F7A3DCE2-9B69-481E-A64F-16A35CA592D9}" destId="{8EE8A7B6-6EC7-4BC8-A548-534EB2ABBDA0}" srcOrd="0" destOrd="0" presId="urn:microsoft.com/office/officeart/2008/layout/HorizontalMultiLevelHierarchy"/>
    <dgm:cxn modelId="{3E217D4D-255F-4B1E-BAFF-459EA7BDF3C9}" type="presParOf" srcId="{807DB972-3F3D-4375-A300-CF679DAD972B}" destId="{6EE1E237-AA65-4457-A534-D2A2CD82A43A}" srcOrd="9" destOrd="0" presId="urn:microsoft.com/office/officeart/2008/layout/HorizontalMultiLevelHierarchy"/>
    <dgm:cxn modelId="{E760A966-04F2-4704-8EAA-4A5F2A4F2D49}" type="presParOf" srcId="{6EE1E237-AA65-4457-A534-D2A2CD82A43A}" destId="{DD6F950C-AB1B-43CD-877B-3A127AC4094C}" srcOrd="0" destOrd="0" presId="urn:microsoft.com/office/officeart/2008/layout/HorizontalMultiLevelHierarchy"/>
    <dgm:cxn modelId="{01EFAE11-B310-4180-AE69-4CABDCFC99C6}" type="presParOf" srcId="{6EE1E237-AA65-4457-A534-D2A2CD82A43A}" destId="{E6AA018D-1DFB-49C4-94D0-68B8B76EC790}" srcOrd="1" destOrd="0" presId="urn:microsoft.com/office/officeart/2008/layout/HorizontalMultiLevelHierarchy"/>
    <dgm:cxn modelId="{D85DD814-2EFA-4070-B1A8-9FA3843E9029}" type="presParOf" srcId="{807DB972-3F3D-4375-A300-CF679DAD972B}" destId="{F0CC0C21-32CF-4930-83A6-EE11C2C6DD38}" srcOrd="10" destOrd="0" presId="urn:microsoft.com/office/officeart/2008/layout/HorizontalMultiLevelHierarchy"/>
    <dgm:cxn modelId="{B43CEB61-1AE8-453E-AAE7-A04116190FA1}" type="presParOf" srcId="{F0CC0C21-32CF-4930-83A6-EE11C2C6DD38}" destId="{675DDFEA-EAC5-4B7D-8121-4DA1E30ED12B}" srcOrd="0" destOrd="0" presId="urn:microsoft.com/office/officeart/2008/layout/HorizontalMultiLevelHierarchy"/>
    <dgm:cxn modelId="{94AF3247-B217-4F30-B5F8-760D8CFB7A59}" type="presParOf" srcId="{807DB972-3F3D-4375-A300-CF679DAD972B}" destId="{04ECF238-A666-4516-A655-B4D2516C4087}" srcOrd="11" destOrd="0" presId="urn:microsoft.com/office/officeart/2008/layout/HorizontalMultiLevelHierarchy"/>
    <dgm:cxn modelId="{C1EE0582-5BB7-47D4-9FD1-E19F1A3FBB1B}" type="presParOf" srcId="{04ECF238-A666-4516-A655-B4D2516C4087}" destId="{36AF66B7-49A3-4F7E-B7B6-17177D50997B}" srcOrd="0" destOrd="0" presId="urn:microsoft.com/office/officeart/2008/layout/HorizontalMultiLevelHierarchy"/>
    <dgm:cxn modelId="{B57A8DE5-F042-459E-9394-51CFEB36F617}" type="presParOf" srcId="{04ECF238-A666-4516-A655-B4D2516C4087}" destId="{0B735E93-6C61-441C-9E2B-AD70C09A5498}" srcOrd="1" destOrd="0" presId="urn:microsoft.com/office/officeart/2008/layout/HorizontalMultiLevelHierarchy"/>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8A19F26-BA6A-4882-A946-FCB4142A3485}" type="doc">
      <dgm:prSet loTypeId="urn:microsoft.com/office/officeart/2005/8/layout/hierarchy3#1" loCatId="list" qsTypeId="urn:microsoft.com/office/officeart/2005/8/quickstyle/simple2#1" qsCatId="simple" csTypeId="urn:microsoft.com/office/officeart/2005/8/colors/accent1_2#1" csCatId="accent1" phldr="1"/>
      <dgm:spPr/>
      <dgm:t>
        <a:bodyPr/>
        <a:lstStyle/>
        <a:p>
          <a:endParaRPr lang="en-US"/>
        </a:p>
      </dgm:t>
    </dgm:pt>
    <dgm:pt modelId="{49E46C3B-6862-4AF1-B1F7-D302B515A759}">
      <dgm:prSet phldrT="[Text]"/>
      <dgm:spPr/>
      <dgm:t>
        <a:bodyPr/>
        <a:lstStyle/>
        <a:p>
          <a:r>
            <a:rPr lang="en-US" b="1" dirty="0">
              <a:latin typeface="Arial" panose="020B0604020202020204" pitchFamily="34" charset="0"/>
              <a:cs typeface="Arial" panose="020B0604020202020204" pitchFamily="34" charset="0"/>
            </a:rPr>
            <a:t>Setup</a:t>
          </a:r>
        </a:p>
      </dgm:t>
    </dgm:pt>
    <dgm:pt modelId="{DB11FA3C-9827-408B-BF6C-8BF5EBD57751}" type="parTrans" cxnId="{B6189B43-86B7-4EBD-B99A-14B3025DC226}">
      <dgm:prSet/>
      <dgm:spPr/>
      <dgm:t>
        <a:bodyPr/>
        <a:lstStyle/>
        <a:p>
          <a:endParaRPr lang="en-US"/>
        </a:p>
      </dgm:t>
    </dgm:pt>
    <dgm:pt modelId="{F20D307F-68F8-4B3E-8B38-9BACE3972147}" type="sibTrans" cxnId="{B6189B43-86B7-4EBD-B99A-14B3025DC226}">
      <dgm:prSet/>
      <dgm:spPr/>
      <dgm:t>
        <a:bodyPr/>
        <a:lstStyle/>
        <a:p>
          <a:endParaRPr lang="en-US"/>
        </a:p>
      </dgm:t>
    </dgm:pt>
    <dgm:pt modelId="{549ED4AD-AAF3-4740-B4B3-10EA1B832E3A}">
      <dgm:prSet phldrT="[Text]">
        <dgm:style>
          <a:lnRef idx="0">
            <a:scrgbClr r="0" g="0" b="0"/>
          </a:lnRef>
          <a:fillRef idx="0">
            <a:scrgbClr r="0" g="0" b="0"/>
          </a:fillRef>
          <a:effectRef idx="0">
            <a:scrgbClr r="0" g="0" b="0"/>
          </a:effectRef>
          <a:fontRef idx="minor">
            <a:schemeClr val="accent2"/>
          </a:fontRef>
        </dgm:style>
      </dgm:prSet>
      <dgm:spPr>
        <a:noFill/>
        <a:ln w="9525" cap="flat" cmpd="sng" algn="ctr">
          <a:solidFill>
            <a:schemeClr val="accent2"/>
          </a:solidFill>
          <a:prstDash val="solid"/>
          <a:round/>
          <a:headEnd type="none" w="med" len="med"/>
          <a:tailEnd type="none" w="med" len="med"/>
        </a:ln>
      </dgm:spPr>
      <dgm:t>
        <a:bodyPr/>
        <a:lstStyle/>
        <a:p>
          <a:r>
            <a:rPr lang="en-US"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Vendor Groups</a:t>
          </a:r>
        </a:p>
      </dgm:t>
    </dgm:pt>
    <dgm:pt modelId="{EC271234-1A4F-47B9-93F8-557B02406F2A}" type="parTrans" cxnId="{FBB6DC7C-42C2-4CBC-B811-EE51BD95702C}">
      <dgm:prSet/>
      <dgm:spPr/>
      <dgm:t>
        <a:bodyPr/>
        <a:lstStyle/>
        <a:p>
          <a:endParaRPr lang="en-US"/>
        </a:p>
      </dgm:t>
    </dgm:pt>
    <dgm:pt modelId="{F7E08830-CA4E-4EEA-B9A9-C322E95B945F}" type="sibTrans" cxnId="{FBB6DC7C-42C2-4CBC-B811-EE51BD95702C}">
      <dgm:prSet/>
      <dgm:spPr/>
      <dgm:t>
        <a:bodyPr/>
        <a:lstStyle/>
        <a:p>
          <a:endParaRPr lang="en-US"/>
        </a:p>
      </dgm:t>
    </dgm:pt>
    <dgm:pt modelId="{451802B4-891C-4A33-A45C-3A7B61791CE8}">
      <dgm:prSet phldrT="[Text]">
        <dgm:style>
          <a:lnRef idx="0">
            <a:scrgbClr r="0" g="0" b="0"/>
          </a:lnRef>
          <a:fillRef idx="0">
            <a:scrgbClr r="0" g="0" b="0"/>
          </a:fillRef>
          <a:effectRef idx="0">
            <a:scrgbClr r="0" g="0" b="0"/>
          </a:effectRef>
          <a:fontRef idx="minor">
            <a:schemeClr val="accent2"/>
          </a:fontRef>
        </dgm:style>
      </dgm:prSet>
      <dgm:spPr>
        <a:noFill/>
        <a:ln w="9525" cap="flat" cmpd="sng" algn="ctr">
          <a:solidFill>
            <a:schemeClr val="accent2"/>
          </a:solidFill>
          <a:prstDash val="solid"/>
          <a:round/>
          <a:headEnd type="none" w="med" len="med"/>
          <a:tailEnd type="none" w="med" len="med"/>
        </a:ln>
      </dgm:spPr>
      <dgm:t>
        <a:bodyPr/>
        <a:lstStyle/>
        <a:p>
          <a:r>
            <a:rPr lang="en-US"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Create New Vendors </a:t>
          </a:r>
        </a:p>
      </dgm:t>
    </dgm:pt>
    <dgm:pt modelId="{EC63CCD5-8AC0-4105-82F0-037B32D36FFC}" type="parTrans" cxnId="{5C699149-5BA8-47B5-A29A-FE99FBB66EB5}">
      <dgm:prSet/>
      <dgm:spPr/>
      <dgm:t>
        <a:bodyPr/>
        <a:lstStyle/>
        <a:p>
          <a:endParaRPr lang="en-US"/>
        </a:p>
      </dgm:t>
    </dgm:pt>
    <dgm:pt modelId="{7F1D5A9A-8BBB-4C10-8F06-969D71EE0097}" type="sibTrans" cxnId="{5C699149-5BA8-47B5-A29A-FE99FBB66EB5}">
      <dgm:prSet/>
      <dgm:spPr/>
      <dgm:t>
        <a:bodyPr/>
        <a:lstStyle/>
        <a:p>
          <a:endParaRPr lang="en-US"/>
        </a:p>
      </dgm:t>
    </dgm:pt>
    <dgm:pt modelId="{C9C8E67F-159B-4650-9A11-765DC2D9F045}">
      <dgm:prSet phldrT="[Text]"/>
      <dgm:spPr/>
      <dgm:t>
        <a:bodyPr/>
        <a:lstStyle/>
        <a:p>
          <a:r>
            <a:rPr lang="en-US" b="1">
              <a:latin typeface="Arial" panose="020B0604020202020204" pitchFamily="34" charset="0"/>
              <a:cs typeface="Arial" panose="020B0604020202020204" pitchFamily="34" charset="0"/>
            </a:rPr>
            <a:t>Transaction</a:t>
          </a:r>
        </a:p>
      </dgm:t>
    </dgm:pt>
    <dgm:pt modelId="{7DD9166F-A4A1-4B3D-815A-2452A4643896}" type="parTrans" cxnId="{3678C999-90BF-4041-9292-44A4B4A43E06}">
      <dgm:prSet/>
      <dgm:spPr/>
      <dgm:t>
        <a:bodyPr/>
        <a:lstStyle/>
        <a:p>
          <a:endParaRPr lang="en-US"/>
        </a:p>
      </dgm:t>
    </dgm:pt>
    <dgm:pt modelId="{FBD33AF1-F610-4FE8-8E0F-4F28FEFB0F41}" type="sibTrans" cxnId="{3678C999-90BF-4041-9292-44A4B4A43E06}">
      <dgm:prSet/>
      <dgm:spPr/>
      <dgm:t>
        <a:bodyPr/>
        <a:lstStyle/>
        <a:p>
          <a:endParaRPr lang="en-US"/>
        </a:p>
      </dgm:t>
    </dgm:pt>
    <dgm:pt modelId="{282752DB-15E8-4EB8-A296-769CAA66E87C}">
      <dgm:prSet phldrT="[Text]">
        <dgm:style>
          <a:lnRef idx="0">
            <a:scrgbClr r="0" g="0" b="0"/>
          </a:lnRef>
          <a:fillRef idx="0">
            <a:scrgbClr r="0" g="0" b="0"/>
          </a:fillRef>
          <a:effectRef idx="0">
            <a:scrgbClr r="0" g="0" b="0"/>
          </a:effectRef>
          <a:fontRef idx="minor">
            <a:schemeClr val="accent2"/>
          </a:fontRef>
        </dgm:style>
      </dgm:prSet>
      <dgm:spPr>
        <a:noFill/>
        <a:ln w="9525" cap="flat" cmpd="sng" algn="ctr">
          <a:solidFill>
            <a:schemeClr val="accent2"/>
          </a:solidFill>
          <a:prstDash val="solid"/>
          <a:round/>
          <a:headEnd type="none" w="med" len="med"/>
          <a:tailEnd type="none" w="med" len="med"/>
        </a:ln>
      </dgm:spPr>
      <dgm:t>
        <a:bodyPr/>
        <a:lstStyle/>
        <a:p>
          <a:r>
            <a:rPr lang="en-US" b="0" u="non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Invoice Journal</a:t>
          </a:r>
          <a:endParaRPr lang="en-US"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dgm:t>
    </dgm:pt>
    <dgm:pt modelId="{EF080C3A-6666-4761-8B1B-609A6F0B2017}" type="parTrans" cxnId="{699A4442-E87D-4CEB-9926-56DAD620EB8A}">
      <dgm:prSet/>
      <dgm:spPr/>
      <dgm:t>
        <a:bodyPr/>
        <a:lstStyle/>
        <a:p>
          <a:endParaRPr lang="en-US"/>
        </a:p>
      </dgm:t>
    </dgm:pt>
    <dgm:pt modelId="{954AA14C-762A-4517-B05F-25FC186431E4}" type="sibTrans" cxnId="{699A4442-E87D-4CEB-9926-56DAD620EB8A}">
      <dgm:prSet/>
      <dgm:spPr/>
      <dgm:t>
        <a:bodyPr/>
        <a:lstStyle/>
        <a:p>
          <a:endParaRPr lang="en-US"/>
        </a:p>
      </dgm:t>
    </dgm:pt>
    <dgm:pt modelId="{91B90ADC-7944-4AAF-9D0B-5DB4ED1DB4F7}">
      <dgm:prSet>
        <dgm:style>
          <a:lnRef idx="0">
            <a:scrgbClr r="0" g="0" b="0"/>
          </a:lnRef>
          <a:fillRef idx="0">
            <a:scrgbClr r="0" g="0" b="0"/>
          </a:fillRef>
          <a:effectRef idx="0">
            <a:scrgbClr r="0" g="0" b="0"/>
          </a:effectRef>
          <a:fontRef idx="minor">
            <a:schemeClr val="accent2"/>
          </a:fontRef>
        </dgm:style>
      </dgm:prSet>
      <dgm:spPr>
        <a:noFill/>
        <a:ln w="9525" cap="flat" cmpd="sng" algn="ctr">
          <a:solidFill>
            <a:schemeClr val="accent2"/>
          </a:solidFill>
          <a:prstDash val="solid"/>
          <a:round/>
          <a:headEnd type="none" w="med" len="med"/>
          <a:tailEnd type="none" w="med" len="med"/>
        </a:ln>
      </dgm:spPr>
      <dgm:t>
        <a:bodyPr/>
        <a:lstStyle/>
        <a:p>
          <a:r>
            <a:rPr lang="en-US" b="0" u="non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Methods Of Payment</a:t>
          </a:r>
          <a:endParaRPr lang="en-US"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dgm:t>
    </dgm:pt>
    <dgm:pt modelId="{09C6E546-4069-45BE-BE35-8A7A53D0920D}" type="parTrans" cxnId="{6F624A28-EF4C-4113-9E8C-4C909BDFF6FA}">
      <dgm:prSet/>
      <dgm:spPr/>
      <dgm:t>
        <a:bodyPr/>
        <a:lstStyle/>
        <a:p>
          <a:endParaRPr lang="en-US"/>
        </a:p>
      </dgm:t>
    </dgm:pt>
    <dgm:pt modelId="{033B119E-1E46-4570-A7D8-708C28842566}" type="sibTrans" cxnId="{6F624A28-EF4C-4113-9E8C-4C909BDFF6FA}">
      <dgm:prSet/>
      <dgm:spPr/>
      <dgm:t>
        <a:bodyPr/>
        <a:lstStyle/>
        <a:p>
          <a:endParaRPr lang="en-US"/>
        </a:p>
      </dgm:t>
    </dgm:pt>
    <dgm:pt modelId="{3245E1D9-AE8F-46F0-86CA-55F5606B01F8}">
      <dgm:prSet phldrT="[Text]">
        <dgm:style>
          <a:lnRef idx="0">
            <a:scrgbClr r="0" g="0" b="0"/>
          </a:lnRef>
          <a:fillRef idx="0">
            <a:scrgbClr r="0" g="0" b="0"/>
          </a:fillRef>
          <a:effectRef idx="0">
            <a:scrgbClr r="0" g="0" b="0"/>
          </a:effectRef>
          <a:fontRef idx="minor">
            <a:schemeClr val="accent2"/>
          </a:fontRef>
        </dgm:style>
      </dgm:prSet>
      <dgm:spPr>
        <a:noFill/>
        <a:ln w="9525" cap="flat" cmpd="sng" algn="ctr">
          <a:solidFill>
            <a:schemeClr val="accent2"/>
          </a:solidFill>
          <a:prstDash val="solid"/>
          <a:round/>
          <a:headEnd type="none" w="med" len="med"/>
          <a:tailEnd type="none" w="med" len="med"/>
        </a:ln>
      </dgm:spPr>
      <dgm:t>
        <a:bodyPr/>
        <a:lstStyle/>
        <a:p>
          <a:r>
            <a:rPr lang="en-US" b="0" u="none"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Vendor Payment Journal</a:t>
          </a:r>
          <a:endParaRPr lang="en-US"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dgm:t>
    </dgm:pt>
    <dgm:pt modelId="{EE8F1C95-D412-4105-ACDE-CB6C0FCC010F}" type="parTrans" cxnId="{7F26B676-CC27-4E01-9229-6339DCE8AE73}">
      <dgm:prSet/>
      <dgm:spPr/>
      <dgm:t>
        <a:bodyPr/>
        <a:lstStyle/>
        <a:p>
          <a:endParaRPr lang="en-US"/>
        </a:p>
      </dgm:t>
    </dgm:pt>
    <dgm:pt modelId="{5893FC58-0804-43DA-9AF5-E299450E450F}" type="sibTrans" cxnId="{7F26B676-CC27-4E01-9229-6339DCE8AE73}">
      <dgm:prSet/>
      <dgm:spPr/>
      <dgm:t>
        <a:bodyPr/>
        <a:lstStyle/>
        <a:p>
          <a:endParaRPr lang="en-US"/>
        </a:p>
      </dgm:t>
    </dgm:pt>
    <dgm:pt modelId="{5E9B6CFD-DB1D-42EE-B58B-6C7E5E2B5CC0}">
      <dgm:prSet>
        <dgm:style>
          <a:lnRef idx="0">
            <a:scrgbClr r="0" g="0" b="0"/>
          </a:lnRef>
          <a:fillRef idx="0">
            <a:scrgbClr r="0" g="0" b="0"/>
          </a:fillRef>
          <a:effectRef idx="0">
            <a:scrgbClr r="0" g="0" b="0"/>
          </a:effectRef>
          <a:fontRef idx="minor">
            <a:schemeClr val="accent2"/>
          </a:fontRef>
        </dgm:style>
      </dgm:prSet>
      <dgm:spPr>
        <a:noFill/>
        <a:ln w="9525" cap="flat" cmpd="sng" algn="ctr">
          <a:solidFill>
            <a:schemeClr val="accent2"/>
          </a:solidFill>
          <a:prstDash val="solid"/>
          <a:round/>
          <a:headEnd type="none" w="med" len="med"/>
          <a:tailEnd type="none" w="med" len="med"/>
        </a:ln>
      </dgm:spPr>
      <dgm:t>
        <a:bodyPr/>
        <a:lstStyle/>
        <a:p>
          <a:r>
            <a:rPr lang="en-US" b="0"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Vendor Posting Profile</a:t>
          </a:r>
          <a:endParaRPr lang="en-US" b="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dgm:t>
    </dgm:pt>
    <dgm:pt modelId="{90541193-737A-4E7F-A2BE-DD855216FE7F}" type="parTrans" cxnId="{1784FC6D-8610-4C12-8461-AB81A2875EA4}">
      <dgm:prSet/>
      <dgm:spPr/>
      <dgm:t>
        <a:bodyPr/>
        <a:lstStyle/>
        <a:p>
          <a:pPr rtl="1"/>
          <a:endParaRPr lang="ar-EG"/>
        </a:p>
      </dgm:t>
    </dgm:pt>
    <dgm:pt modelId="{EC0FC083-FB69-4D28-8BC0-488D1BD5CEA7}" type="sibTrans" cxnId="{1784FC6D-8610-4C12-8461-AB81A2875EA4}">
      <dgm:prSet/>
      <dgm:spPr/>
      <dgm:t>
        <a:bodyPr/>
        <a:lstStyle/>
        <a:p>
          <a:pPr rtl="1"/>
          <a:endParaRPr lang="ar-EG"/>
        </a:p>
      </dgm:t>
    </dgm:pt>
    <dgm:pt modelId="{225D2581-AEE7-4420-8D90-35CCB3479A04}" type="pres">
      <dgm:prSet presAssocID="{A8A19F26-BA6A-4882-A946-FCB4142A3485}" presName="diagram" presStyleCnt="0">
        <dgm:presLayoutVars>
          <dgm:chPref val="1"/>
          <dgm:dir/>
          <dgm:animOne val="branch"/>
          <dgm:animLvl val="lvl"/>
          <dgm:resizeHandles/>
        </dgm:presLayoutVars>
      </dgm:prSet>
      <dgm:spPr/>
    </dgm:pt>
    <dgm:pt modelId="{081AD901-0565-4968-B5B7-42C73EC3E616}" type="pres">
      <dgm:prSet presAssocID="{49E46C3B-6862-4AF1-B1F7-D302B515A759}" presName="root" presStyleCnt="0"/>
      <dgm:spPr/>
    </dgm:pt>
    <dgm:pt modelId="{63922F33-D60F-457F-BD0D-B2D038643986}" type="pres">
      <dgm:prSet presAssocID="{49E46C3B-6862-4AF1-B1F7-D302B515A759}" presName="rootComposite" presStyleCnt="0"/>
      <dgm:spPr/>
    </dgm:pt>
    <dgm:pt modelId="{8227931E-0FA8-4A3C-BA8E-FE4C1465E0AB}" type="pres">
      <dgm:prSet presAssocID="{49E46C3B-6862-4AF1-B1F7-D302B515A759}" presName="rootText" presStyleLbl="node1" presStyleIdx="0" presStyleCnt="2"/>
      <dgm:spPr/>
    </dgm:pt>
    <dgm:pt modelId="{6BDEDCA8-4B45-49EC-BAAB-429C6F78E130}" type="pres">
      <dgm:prSet presAssocID="{49E46C3B-6862-4AF1-B1F7-D302B515A759}" presName="rootConnector" presStyleLbl="node1" presStyleIdx="0" presStyleCnt="2"/>
      <dgm:spPr/>
    </dgm:pt>
    <dgm:pt modelId="{1AAB7039-8F49-47EF-ABC1-333845D01797}" type="pres">
      <dgm:prSet presAssocID="{49E46C3B-6862-4AF1-B1F7-D302B515A759}" presName="childShape" presStyleCnt="0"/>
      <dgm:spPr/>
    </dgm:pt>
    <dgm:pt modelId="{0DCC375F-ADD9-424E-A8A3-A65EFF407B69}" type="pres">
      <dgm:prSet presAssocID="{EC271234-1A4F-47B9-93F8-557B02406F2A}" presName="Name13" presStyleLbl="parChTrans1D2" presStyleIdx="0" presStyleCnt="6"/>
      <dgm:spPr/>
    </dgm:pt>
    <dgm:pt modelId="{BE6122CC-F925-4193-8B5C-EF332E588514}" type="pres">
      <dgm:prSet presAssocID="{549ED4AD-AAF3-4740-B4B3-10EA1B832E3A}" presName="childText" presStyleLbl="bgAcc1" presStyleIdx="0" presStyleCnt="6">
        <dgm:presLayoutVars>
          <dgm:bulletEnabled val="1"/>
        </dgm:presLayoutVars>
      </dgm:prSet>
      <dgm:spPr/>
    </dgm:pt>
    <dgm:pt modelId="{94C51476-1E28-4ADA-ADC4-6A69321C71B8}" type="pres">
      <dgm:prSet presAssocID="{90541193-737A-4E7F-A2BE-DD855216FE7F}" presName="Name13" presStyleLbl="parChTrans1D2" presStyleIdx="1" presStyleCnt="6"/>
      <dgm:spPr/>
    </dgm:pt>
    <dgm:pt modelId="{6ABE029F-4E7E-4B59-BC78-F6AA3DDBBE1E}" type="pres">
      <dgm:prSet presAssocID="{5E9B6CFD-DB1D-42EE-B58B-6C7E5E2B5CC0}" presName="childText" presStyleLbl="bgAcc1" presStyleIdx="1" presStyleCnt="6">
        <dgm:presLayoutVars>
          <dgm:bulletEnabled val="1"/>
        </dgm:presLayoutVars>
      </dgm:prSet>
      <dgm:spPr/>
    </dgm:pt>
    <dgm:pt modelId="{C5A39DCF-9994-48F4-BA2F-F496DCA838E1}" type="pres">
      <dgm:prSet presAssocID="{EC63CCD5-8AC0-4105-82F0-037B32D36FFC}" presName="Name13" presStyleLbl="parChTrans1D2" presStyleIdx="2" presStyleCnt="6"/>
      <dgm:spPr/>
    </dgm:pt>
    <dgm:pt modelId="{60C266C6-0B14-4E4A-8A28-CA218D77E06A}" type="pres">
      <dgm:prSet presAssocID="{451802B4-891C-4A33-A45C-3A7B61791CE8}" presName="childText" presStyleLbl="bgAcc1" presStyleIdx="2" presStyleCnt="6">
        <dgm:presLayoutVars>
          <dgm:bulletEnabled val="1"/>
        </dgm:presLayoutVars>
      </dgm:prSet>
      <dgm:spPr/>
    </dgm:pt>
    <dgm:pt modelId="{080B8C5B-607C-498E-A3F7-46B12553203A}" type="pres">
      <dgm:prSet presAssocID="{09C6E546-4069-45BE-BE35-8A7A53D0920D}" presName="Name13" presStyleLbl="parChTrans1D2" presStyleIdx="3" presStyleCnt="6"/>
      <dgm:spPr/>
    </dgm:pt>
    <dgm:pt modelId="{DD3B17CB-8021-45A8-BAC0-9265FCF5935F}" type="pres">
      <dgm:prSet presAssocID="{91B90ADC-7944-4AAF-9D0B-5DB4ED1DB4F7}" presName="childText" presStyleLbl="bgAcc1" presStyleIdx="3" presStyleCnt="6">
        <dgm:presLayoutVars>
          <dgm:bulletEnabled val="1"/>
        </dgm:presLayoutVars>
      </dgm:prSet>
      <dgm:spPr/>
    </dgm:pt>
    <dgm:pt modelId="{2DEEF42D-A98F-451A-B9A1-5664E427D3A6}" type="pres">
      <dgm:prSet presAssocID="{C9C8E67F-159B-4650-9A11-765DC2D9F045}" presName="root" presStyleCnt="0"/>
      <dgm:spPr/>
    </dgm:pt>
    <dgm:pt modelId="{2ADDF7F7-C2B3-4758-BEDD-50C40719B3A8}" type="pres">
      <dgm:prSet presAssocID="{C9C8E67F-159B-4650-9A11-765DC2D9F045}" presName="rootComposite" presStyleCnt="0"/>
      <dgm:spPr/>
    </dgm:pt>
    <dgm:pt modelId="{E251A480-73AF-44AB-892A-D96847B69061}" type="pres">
      <dgm:prSet presAssocID="{C9C8E67F-159B-4650-9A11-765DC2D9F045}" presName="rootText" presStyleLbl="node1" presStyleIdx="1" presStyleCnt="2"/>
      <dgm:spPr/>
    </dgm:pt>
    <dgm:pt modelId="{4FAB6E38-CC8A-45CC-9D6A-2913C0DF19BF}" type="pres">
      <dgm:prSet presAssocID="{C9C8E67F-159B-4650-9A11-765DC2D9F045}" presName="rootConnector" presStyleLbl="node1" presStyleIdx="1" presStyleCnt="2"/>
      <dgm:spPr/>
    </dgm:pt>
    <dgm:pt modelId="{D7D7BAA7-234B-45B0-B17F-35AC709B5305}" type="pres">
      <dgm:prSet presAssocID="{C9C8E67F-159B-4650-9A11-765DC2D9F045}" presName="childShape" presStyleCnt="0"/>
      <dgm:spPr/>
    </dgm:pt>
    <dgm:pt modelId="{FDF8DB27-57C5-4060-8E22-438E27DD0926}" type="pres">
      <dgm:prSet presAssocID="{EF080C3A-6666-4761-8B1B-609A6F0B2017}" presName="Name13" presStyleLbl="parChTrans1D2" presStyleIdx="4" presStyleCnt="6"/>
      <dgm:spPr/>
    </dgm:pt>
    <dgm:pt modelId="{7F61C5A9-590D-49AB-9F5F-EE52365DED6E}" type="pres">
      <dgm:prSet presAssocID="{282752DB-15E8-4EB8-A296-769CAA66E87C}" presName="childText" presStyleLbl="bgAcc1" presStyleIdx="4" presStyleCnt="6">
        <dgm:presLayoutVars>
          <dgm:bulletEnabled val="1"/>
        </dgm:presLayoutVars>
      </dgm:prSet>
      <dgm:spPr/>
    </dgm:pt>
    <dgm:pt modelId="{0ECC7159-992A-4040-BB1A-70B34690A414}" type="pres">
      <dgm:prSet presAssocID="{EE8F1C95-D412-4105-ACDE-CB6C0FCC010F}" presName="Name13" presStyleLbl="parChTrans1D2" presStyleIdx="5" presStyleCnt="6"/>
      <dgm:spPr/>
    </dgm:pt>
    <dgm:pt modelId="{6FA7C25E-5A93-4DA9-B9B7-6977AD1E7777}" type="pres">
      <dgm:prSet presAssocID="{3245E1D9-AE8F-46F0-86CA-55F5606B01F8}" presName="childText" presStyleLbl="bgAcc1" presStyleIdx="5" presStyleCnt="6">
        <dgm:presLayoutVars>
          <dgm:bulletEnabled val="1"/>
        </dgm:presLayoutVars>
      </dgm:prSet>
      <dgm:spPr/>
    </dgm:pt>
  </dgm:ptLst>
  <dgm:cxnLst>
    <dgm:cxn modelId="{6928F900-48C2-42E8-A855-66ADED8D3702}" type="presOf" srcId="{451802B4-891C-4A33-A45C-3A7B61791CE8}" destId="{60C266C6-0B14-4E4A-8A28-CA218D77E06A}" srcOrd="0" destOrd="0" presId="urn:microsoft.com/office/officeart/2005/8/layout/hierarchy3#1"/>
    <dgm:cxn modelId="{1B6D560D-2D0C-4332-97CD-C969232473E6}" type="presOf" srcId="{09C6E546-4069-45BE-BE35-8A7A53D0920D}" destId="{080B8C5B-607C-498E-A3F7-46B12553203A}" srcOrd="0" destOrd="0" presId="urn:microsoft.com/office/officeart/2005/8/layout/hierarchy3#1"/>
    <dgm:cxn modelId="{0979A812-496D-48AE-9306-649EDEAD6955}" type="presOf" srcId="{91B90ADC-7944-4AAF-9D0B-5DB4ED1DB4F7}" destId="{DD3B17CB-8021-45A8-BAC0-9265FCF5935F}" srcOrd="0" destOrd="0" presId="urn:microsoft.com/office/officeart/2005/8/layout/hierarchy3#1"/>
    <dgm:cxn modelId="{AAF7E120-B5FE-48A7-97A9-3CADE796D617}" type="presOf" srcId="{549ED4AD-AAF3-4740-B4B3-10EA1B832E3A}" destId="{BE6122CC-F925-4193-8B5C-EF332E588514}" srcOrd="0" destOrd="0" presId="urn:microsoft.com/office/officeart/2005/8/layout/hierarchy3#1"/>
    <dgm:cxn modelId="{6F624A28-EF4C-4113-9E8C-4C909BDFF6FA}" srcId="{49E46C3B-6862-4AF1-B1F7-D302B515A759}" destId="{91B90ADC-7944-4AAF-9D0B-5DB4ED1DB4F7}" srcOrd="3" destOrd="0" parTransId="{09C6E546-4069-45BE-BE35-8A7A53D0920D}" sibTransId="{033B119E-1E46-4570-A7D8-708C28842566}"/>
    <dgm:cxn modelId="{498F162E-A7AE-482C-B620-11759B2C33ED}" type="presOf" srcId="{A8A19F26-BA6A-4882-A946-FCB4142A3485}" destId="{225D2581-AEE7-4420-8D90-35CCB3479A04}" srcOrd="0" destOrd="0" presId="urn:microsoft.com/office/officeart/2005/8/layout/hierarchy3#1"/>
    <dgm:cxn modelId="{D8E89537-6E72-473B-BCE5-EC76D95BBABE}" type="presOf" srcId="{49E46C3B-6862-4AF1-B1F7-D302B515A759}" destId="{8227931E-0FA8-4A3C-BA8E-FE4C1465E0AB}" srcOrd="0" destOrd="0" presId="urn:microsoft.com/office/officeart/2005/8/layout/hierarchy3#1"/>
    <dgm:cxn modelId="{1CAC5D41-FA7C-405E-9C5D-BC7A187268EF}" type="presOf" srcId="{EE8F1C95-D412-4105-ACDE-CB6C0FCC010F}" destId="{0ECC7159-992A-4040-BB1A-70B34690A414}" srcOrd="0" destOrd="0" presId="urn:microsoft.com/office/officeart/2005/8/layout/hierarchy3#1"/>
    <dgm:cxn modelId="{699A4442-E87D-4CEB-9926-56DAD620EB8A}" srcId="{C9C8E67F-159B-4650-9A11-765DC2D9F045}" destId="{282752DB-15E8-4EB8-A296-769CAA66E87C}" srcOrd="0" destOrd="0" parTransId="{EF080C3A-6666-4761-8B1B-609A6F0B2017}" sibTransId="{954AA14C-762A-4517-B05F-25FC186431E4}"/>
    <dgm:cxn modelId="{B6189B43-86B7-4EBD-B99A-14B3025DC226}" srcId="{A8A19F26-BA6A-4882-A946-FCB4142A3485}" destId="{49E46C3B-6862-4AF1-B1F7-D302B515A759}" srcOrd="0" destOrd="0" parTransId="{DB11FA3C-9827-408B-BF6C-8BF5EBD57751}" sibTransId="{F20D307F-68F8-4B3E-8B38-9BACE3972147}"/>
    <dgm:cxn modelId="{BEA76966-7AFA-4D6D-960B-974343E150EB}" type="presOf" srcId="{C9C8E67F-159B-4650-9A11-765DC2D9F045}" destId="{E251A480-73AF-44AB-892A-D96847B69061}" srcOrd="0" destOrd="0" presId="urn:microsoft.com/office/officeart/2005/8/layout/hierarchy3#1"/>
    <dgm:cxn modelId="{5C699149-5BA8-47B5-A29A-FE99FBB66EB5}" srcId="{49E46C3B-6862-4AF1-B1F7-D302B515A759}" destId="{451802B4-891C-4A33-A45C-3A7B61791CE8}" srcOrd="2" destOrd="0" parTransId="{EC63CCD5-8AC0-4105-82F0-037B32D36FFC}" sibTransId="{7F1D5A9A-8BBB-4C10-8F06-969D71EE0097}"/>
    <dgm:cxn modelId="{AB93124A-E360-42B8-AED6-08ED9ECB93B2}" type="presOf" srcId="{EC271234-1A4F-47B9-93F8-557B02406F2A}" destId="{0DCC375F-ADD9-424E-A8A3-A65EFF407B69}" srcOrd="0" destOrd="0" presId="urn:microsoft.com/office/officeart/2005/8/layout/hierarchy3#1"/>
    <dgm:cxn modelId="{1784FC6D-8610-4C12-8461-AB81A2875EA4}" srcId="{49E46C3B-6862-4AF1-B1F7-D302B515A759}" destId="{5E9B6CFD-DB1D-42EE-B58B-6C7E5E2B5CC0}" srcOrd="1" destOrd="0" parTransId="{90541193-737A-4E7F-A2BE-DD855216FE7F}" sibTransId="{EC0FC083-FB69-4D28-8BC0-488D1BD5CEA7}"/>
    <dgm:cxn modelId="{4209F270-74AC-4D4A-8356-56D3675F8B8A}" type="presOf" srcId="{282752DB-15E8-4EB8-A296-769CAA66E87C}" destId="{7F61C5A9-590D-49AB-9F5F-EE52365DED6E}" srcOrd="0" destOrd="0" presId="urn:microsoft.com/office/officeart/2005/8/layout/hierarchy3#1"/>
    <dgm:cxn modelId="{7F26B676-CC27-4E01-9229-6339DCE8AE73}" srcId="{C9C8E67F-159B-4650-9A11-765DC2D9F045}" destId="{3245E1D9-AE8F-46F0-86CA-55F5606B01F8}" srcOrd="1" destOrd="0" parTransId="{EE8F1C95-D412-4105-ACDE-CB6C0FCC010F}" sibTransId="{5893FC58-0804-43DA-9AF5-E299450E450F}"/>
    <dgm:cxn modelId="{B8F4A558-D3E4-43FE-8984-51FB5A3D1163}" type="presOf" srcId="{5E9B6CFD-DB1D-42EE-B58B-6C7E5E2B5CC0}" destId="{6ABE029F-4E7E-4B59-BC78-F6AA3DDBBE1E}" srcOrd="0" destOrd="0" presId="urn:microsoft.com/office/officeart/2005/8/layout/hierarchy3#1"/>
    <dgm:cxn modelId="{FBB6DC7C-42C2-4CBC-B811-EE51BD95702C}" srcId="{49E46C3B-6862-4AF1-B1F7-D302B515A759}" destId="{549ED4AD-AAF3-4740-B4B3-10EA1B832E3A}" srcOrd="0" destOrd="0" parTransId="{EC271234-1A4F-47B9-93F8-557B02406F2A}" sibTransId="{F7E08830-CA4E-4EEA-B9A9-C322E95B945F}"/>
    <dgm:cxn modelId="{16FDE982-7DEB-46FB-B472-A12F46BA1C11}" type="presOf" srcId="{EF080C3A-6666-4761-8B1B-609A6F0B2017}" destId="{FDF8DB27-57C5-4060-8E22-438E27DD0926}" srcOrd="0" destOrd="0" presId="urn:microsoft.com/office/officeart/2005/8/layout/hierarchy3#1"/>
    <dgm:cxn modelId="{EC35CB85-73A5-45B0-8CE9-3E77D77ECFE8}" type="presOf" srcId="{3245E1D9-AE8F-46F0-86CA-55F5606B01F8}" destId="{6FA7C25E-5A93-4DA9-B9B7-6977AD1E7777}" srcOrd="0" destOrd="0" presId="urn:microsoft.com/office/officeart/2005/8/layout/hierarchy3#1"/>
    <dgm:cxn modelId="{10BBD394-F23B-41C6-BB3A-E3013241D89B}" type="presOf" srcId="{C9C8E67F-159B-4650-9A11-765DC2D9F045}" destId="{4FAB6E38-CC8A-45CC-9D6A-2913C0DF19BF}" srcOrd="1" destOrd="0" presId="urn:microsoft.com/office/officeart/2005/8/layout/hierarchy3#1"/>
    <dgm:cxn modelId="{3678C999-90BF-4041-9292-44A4B4A43E06}" srcId="{A8A19F26-BA6A-4882-A946-FCB4142A3485}" destId="{C9C8E67F-159B-4650-9A11-765DC2D9F045}" srcOrd="1" destOrd="0" parTransId="{7DD9166F-A4A1-4B3D-815A-2452A4643896}" sibTransId="{FBD33AF1-F610-4FE8-8E0F-4F28FEFB0F41}"/>
    <dgm:cxn modelId="{B1F2B8B6-36CF-40F0-BE60-D9C43441E426}" type="presOf" srcId="{49E46C3B-6862-4AF1-B1F7-D302B515A759}" destId="{6BDEDCA8-4B45-49EC-BAAB-429C6F78E130}" srcOrd="1" destOrd="0" presId="urn:microsoft.com/office/officeart/2005/8/layout/hierarchy3#1"/>
    <dgm:cxn modelId="{4CC61BB9-BD35-40ED-B00A-C5C7AB06A849}" type="presOf" srcId="{90541193-737A-4E7F-A2BE-DD855216FE7F}" destId="{94C51476-1E28-4ADA-ADC4-6A69321C71B8}" srcOrd="0" destOrd="0" presId="urn:microsoft.com/office/officeart/2005/8/layout/hierarchy3#1"/>
    <dgm:cxn modelId="{1324C6F5-750E-4BF6-B4C0-6C77DC487C5B}" type="presOf" srcId="{EC63CCD5-8AC0-4105-82F0-037B32D36FFC}" destId="{C5A39DCF-9994-48F4-BA2F-F496DCA838E1}" srcOrd="0" destOrd="0" presId="urn:microsoft.com/office/officeart/2005/8/layout/hierarchy3#1"/>
    <dgm:cxn modelId="{0C23E0CC-0351-4418-8847-C04E2E463297}" type="presParOf" srcId="{225D2581-AEE7-4420-8D90-35CCB3479A04}" destId="{081AD901-0565-4968-B5B7-42C73EC3E616}" srcOrd="0" destOrd="0" presId="urn:microsoft.com/office/officeart/2005/8/layout/hierarchy3#1"/>
    <dgm:cxn modelId="{0C142503-79D5-4C3A-97DB-51C4D902494C}" type="presParOf" srcId="{081AD901-0565-4968-B5B7-42C73EC3E616}" destId="{63922F33-D60F-457F-BD0D-B2D038643986}" srcOrd="0" destOrd="0" presId="urn:microsoft.com/office/officeart/2005/8/layout/hierarchy3#1"/>
    <dgm:cxn modelId="{C0E51F3E-A101-42DC-B87D-17AECE6FC069}" type="presParOf" srcId="{63922F33-D60F-457F-BD0D-B2D038643986}" destId="{8227931E-0FA8-4A3C-BA8E-FE4C1465E0AB}" srcOrd="0" destOrd="0" presId="urn:microsoft.com/office/officeart/2005/8/layout/hierarchy3#1"/>
    <dgm:cxn modelId="{5B79412B-4053-4F03-B327-607BF2758E9C}" type="presParOf" srcId="{63922F33-D60F-457F-BD0D-B2D038643986}" destId="{6BDEDCA8-4B45-49EC-BAAB-429C6F78E130}" srcOrd="1" destOrd="0" presId="urn:microsoft.com/office/officeart/2005/8/layout/hierarchy3#1"/>
    <dgm:cxn modelId="{8FE7DDC1-BF7E-4264-AA6E-D43B2153D4A0}" type="presParOf" srcId="{081AD901-0565-4968-B5B7-42C73EC3E616}" destId="{1AAB7039-8F49-47EF-ABC1-333845D01797}" srcOrd="1" destOrd="0" presId="urn:microsoft.com/office/officeart/2005/8/layout/hierarchy3#1"/>
    <dgm:cxn modelId="{1FD2842D-33B1-435B-A157-76F3F58F2B95}" type="presParOf" srcId="{1AAB7039-8F49-47EF-ABC1-333845D01797}" destId="{0DCC375F-ADD9-424E-A8A3-A65EFF407B69}" srcOrd="0" destOrd="0" presId="urn:microsoft.com/office/officeart/2005/8/layout/hierarchy3#1"/>
    <dgm:cxn modelId="{3DE298C1-976A-4149-91DC-C7D33BCD3B43}" type="presParOf" srcId="{1AAB7039-8F49-47EF-ABC1-333845D01797}" destId="{BE6122CC-F925-4193-8B5C-EF332E588514}" srcOrd="1" destOrd="0" presId="urn:microsoft.com/office/officeart/2005/8/layout/hierarchy3#1"/>
    <dgm:cxn modelId="{CD8F8C57-2561-4711-B5F1-E88B4B92A510}" type="presParOf" srcId="{1AAB7039-8F49-47EF-ABC1-333845D01797}" destId="{94C51476-1E28-4ADA-ADC4-6A69321C71B8}" srcOrd="2" destOrd="0" presId="urn:microsoft.com/office/officeart/2005/8/layout/hierarchy3#1"/>
    <dgm:cxn modelId="{94DB76C2-FD2D-4291-ADF8-3247D2B7A96D}" type="presParOf" srcId="{1AAB7039-8F49-47EF-ABC1-333845D01797}" destId="{6ABE029F-4E7E-4B59-BC78-F6AA3DDBBE1E}" srcOrd="3" destOrd="0" presId="urn:microsoft.com/office/officeart/2005/8/layout/hierarchy3#1"/>
    <dgm:cxn modelId="{E48785DC-D0BB-4784-947C-4687B6951437}" type="presParOf" srcId="{1AAB7039-8F49-47EF-ABC1-333845D01797}" destId="{C5A39DCF-9994-48F4-BA2F-F496DCA838E1}" srcOrd="4" destOrd="0" presId="urn:microsoft.com/office/officeart/2005/8/layout/hierarchy3#1"/>
    <dgm:cxn modelId="{213B2FD6-1E3D-49DD-9120-95DFA3C9F9A7}" type="presParOf" srcId="{1AAB7039-8F49-47EF-ABC1-333845D01797}" destId="{60C266C6-0B14-4E4A-8A28-CA218D77E06A}" srcOrd="5" destOrd="0" presId="urn:microsoft.com/office/officeart/2005/8/layout/hierarchy3#1"/>
    <dgm:cxn modelId="{A716CBA3-8393-4E79-A000-2C470E93C4EA}" type="presParOf" srcId="{1AAB7039-8F49-47EF-ABC1-333845D01797}" destId="{080B8C5B-607C-498E-A3F7-46B12553203A}" srcOrd="6" destOrd="0" presId="urn:microsoft.com/office/officeart/2005/8/layout/hierarchy3#1"/>
    <dgm:cxn modelId="{5CDDD4E0-9456-45DA-BB0B-0D3290549DB1}" type="presParOf" srcId="{1AAB7039-8F49-47EF-ABC1-333845D01797}" destId="{DD3B17CB-8021-45A8-BAC0-9265FCF5935F}" srcOrd="7" destOrd="0" presId="urn:microsoft.com/office/officeart/2005/8/layout/hierarchy3#1"/>
    <dgm:cxn modelId="{A2519F3B-14E4-47AC-ACF4-A4E5431CF46D}" type="presParOf" srcId="{225D2581-AEE7-4420-8D90-35CCB3479A04}" destId="{2DEEF42D-A98F-451A-B9A1-5664E427D3A6}" srcOrd="1" destOrd="0" presId="urn:microsoft.com/office/officeart/2005/8/layout/hierarchy3#1"/>
    <dgm:cxn modelId="{7FCA9664-D693-4A58-9877-6FCD329A116B}" type="presParOf" srcId="{2DEEF42D-A98F-451A-B9A1-5664E427D3A6}" destId="{2ADDF7F7-C2B3-4758-BEDD-50C40719B3A8}" srcOrd="0" destOrd="0" presId="urn:microsoft.com/office/officeart/2005/8/layout/hierarchy3#1"/>
    <dgm:cxn modelId="{9E94DC3D-121F-4299-A4FA-DB2801F6F9C0}" type="presParOf" srcId="{2ADDF7F7-C2B3-4758-BEDD-50C40719B3A8}" destId="{E251A480-73AF-44AB-892A-D96847B69061}" srcOrd="0" destOrd="0" presId="urn:microsoft.com/office/officeart/2005/8/layout/hierarchy3#1"/>
    <dgm:cxn modelId="{2182CD88-7EC8-4303-923B-982A24FA33CA}" type="presParOf" srcId="{2ADDF7F7-C2B3-4758-BEDD-50C40719B3A8}" destId="{4FAB6E38-CC8A-45CC-9D6A-2913C0DF19BF}" srcOrd="1" destOrd="0" presId="urn:microsoft.com/office/officeart/2005/8/layout/hierarchy3#1"/>
    <dgm:cxn modelId="{26F1AC75-576C-4DFA-8FB4-A8C338E8574C}" type="presParOf" srcId="{2DEEF42D-A98F-451A-B9A1-5664E427D3A6}" destId="{D7D7BAA7-234B-45B0-B17F-35AC709B5305}" srcOrd="1" destOrd="0" presId="urn:microsoft.com/office/officeart/2005/8/layout/hierarchy3#1"/>
    <dgm:cxn modelId="{690DEEC3-9DF3-4BF3-9D6C-81F0EF73B941}" type="presParOf" srcId="{D7D7BAA7-234B-45B0-B17F-35AC709B5305}" destId="{FDF8DB27-57C5-4060-8E22-438E27DD0926}" srcOrd="0" destOrd="0" presId="urn:microsoft.com/office/officeart/2005/8/layout/hierarchy3#1"/>
    <dgm:cxn modelId="{2DE7E18D-25AB-4AD6-A335-D8A4074E0626}" type="presParOf" srcId="{D7D7BAA7-234B-45B0-B17F-35AC709B5305}" destId="{7F61C5A9-590D-49AB-9F5F-EE52365DED6E}" srcOrd="1" destOrd="0" presId="urn:microsoft.com/office/officeart/2005/8/layout/hierarchy3#1"/>
    <dgm:cxn modelId="{E6DCFA00-CA06-47FD-A756-385893548935}" type="presParOf" srcId="{D7D7BAA7-234B-45B0-B17F-35AC709B5305}" destId="{0ECC7159-992A-4040-BB1A-70B34690A414}" srcOrd="2" destOrd="0" presId="urn:microsoft.com/office/officeart/2005/8/layout/hierarchy3#1"/>
    <dgm:cxn modelId="{816155E8-7570-4547-8809-809BD40842CB}" type="presParOf" srcId="{D7D7BAA7-234B-45B0-B17F-35AC709B5305}" destId="{6FA7C25E-5A93-4DA9-B9B7-6977AD1E7777}" srcOrd="3" destOrd="0" presId="urn:microsoft.com/office/officeart/2005/8/layout/hierarchy3#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CC0C21-32CF-4930-83A6-EE11C2C6DD38}">
      <dsp:nvSpPr>
        <dsp:cNvPr id="0" name=""/>
        <dsp:cNvSpPr/>
      </dsp:nvSpPr>
      <dsp:spPr>
        <a:xfrm>
          <a:off x="1895286" y="2233534"/>
          <a:ext cx="403593" cy="1922608"/>
        </a:xfrm>
        <a:custGeom>
          <a:avLst/>
          <a:gdLst/>
          <a:ahLst/>
          <a:cxnLst/>
          <a:rect l="0" t="0" r="0" b="0"/>
          <a:pathLst>
            <a:path>
              <a:moveTo>
                <a:pt x="0" y="0"/>
              </a:moveTo>
              <a:lnTo>
                <a:pt x="201796" y="0"/>
              </a:lnTo>
              <a:lnTo>
                <a:pt x="201796" y="1922608"/>
              </a:lnTo>
              <a:lnTo>
                <a:pt x="403593" y="1922608"/>
              </a:lnTo>
            </a:path>
          </a:pathLst>
        </a:custGeom>
        <a:noFill/>
        <a:ln w="6350" cap="flat" cmpd="sng" algn="ctr">
          <a:solidFill>
            <a:schemeClr val="accent1">
              <a:tint val="9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047971" y="3145725"/>
        <a:ext cx="98225" cy="98225"/>
      </dsp:txXfrm>
    </dsp:sp>
    <dsp:sp modelId="{F7A3DCE2-9B69-481E-A64F-16A35CA592D9}">
      <dsp:nvSpPr>
        <dsp:cNvPr id="0" name=""/>
        <dsp:cNvSpPr/>
      </dsp:nvSpPr>
      <dsp:spPr>
        <a:xfrm>
          <a:off x="1895286" y="2233534"/>
          <a:ext cx="403593" cy="1153564"/>
        </a:xfrm>
        <a:custGeom>
          <a:avLst/>
          <a:gdLst/>
          <a:ahLst/>
          <a:cxnLst/>
          <a:rect l="0" t="0" r="0" b="0"/>
          <a:pathLst>
            <a:path>
              <a:moveTo>
                <a:pt x="0" y="0"/>
              </a:moveTo>
              <a:lnTo>
                <a:pt x="201796" y="0"/>
              </a:lnTo>
              <a:lnTo>
                <a:pt x="201796" y="1153564"/>
              </a:lnTo>
              <a:lnTo>
                <a:pt x="403593" y="1153564"/>
              </a:lnTo>
            </a:path>
          </a:pathLst>
        </a:custGeom>
        <a:noFill/>
        <a:ln w="6350" cap="flat" cmpd="sng" algn="ctr">
          <a:solidFill>
            <a:schemeClr val="accent1">
              <a:tint val="9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66530" y="2779763"/>
        <a:ext cx="61106" cy="61106"/>
      </dsp:txXfrm>
    </dsp:sp>
    <dsp:sp modelId="{91F712EB-4CB6-4F2C-8880-9202214D8316}">
      <dsp:nvSpPr>
        <dsp:cNvPr id="0" name=""/>
        <dsp:cNvSpPr/>
      </dsp:nvSpPr>
      <dsp:spPr>
        <a:xfrm>
          <a:off x="1895286" y="2233534"/>
          <a:ext cx="403593" cy="384521"/>
        </a:xfrm>
        <a:custGeom>
          <a:avLst/>
          <a:gdLst/>
          <a:ahLst/>
          <a:cxnLst/>
          <a:rect l="0" t="0" r="0" b="0"/>
          <a:pathLst>
            <a:path>
              <a:moveTo>
                <a:pt x="0" y="0"/>
              </a:moveTo>
              <a:lnTo>
                <a:pt x="201796" y="0"/>
              </a:lnTo>
              <a:lnTo>
                <a:pt x="201796" y="384521"/>
              </a:lnTo>
              <a:lnTo>
                <a:pt x="403593" y="384521"/>
              </a:lnTo>
            </a:path>
          </a:pathLst>
        </a:custGeom>
        <a:noFill/>
        <a:ln w="6350" cap="flat" cmpd="sng" algn="ctr">
          <a:solidFill>
            <a:schemeClr val="accent1">
              <a:tint val="9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83147" y="2411859"/>
        <a:ext cx="27872" cy="27872"/>
      </dsp:txXfrm>
    </dsp:sp>
    <dsp:sp modelId="{7809FDE1-8E5B-46B3-B95D-A457688FC748}">
      <dsp:nvSpPr>
        <dsp:cNvPr id="0" name=""/>
        <dsp:cNvSpPr/>
      </dsp:nvSpPr>
      <dsp:spPr>
        <a:xfrm>
          <a:off x="1895286" y="1849012"/>
          <a:ext cx="403593" cy="384521"/>
        </a:xfrm>
        <a:custGeom>
          <a:avLst/>
          <a:gdLst/>
          <a:ahLst/>
          <a:cxnLst/>
          <a:rect l="0" t="0" r="0" b="0"/>
          <a:pathLst>
            <a:path>
              <a:moveTo>
                <a:pt x="0" y="384521"/>
              </a:moveTo>
              <a:lnTo>
                <a:pt x="201796" y="384521"/>
              </a:lnTo>
              <a:lnTo>
                <a:pt x="201796" y="0"/>
              </a:lnTo>
              <a:lnTo>
                <a:pt x="403593" y="0"/>
              </a:lnTo>
            </a:path>
          </a:pathLst>
        </a:custGeom>
        <a:noFill/>
        <a:ln w="6350" cap="flat" cmpd="sng" algn="ctr">
          <a:solidFill>
            <a:schemeClr val="accent1">
              <a:tint val="9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83147" y="2027337"/>
        <a:ext cx="27872" cy="27872"/>
      </dsp:txXfrm>
    </dsp:sp>
    <dsp:sp modelId="{F0D76F55-CBA0-4E39-8DA0-72A777C2D1A5}">
      <dsp:nvSpPr>
        <dsp:cNvPr id="0" name=""/>
        <dsp:cNvSpPr/>
      </dsp:nvSpPr>
      <dsp:spPr>
        <a:xfrm>
          <a:off x="1895286" y="1065216"/>
          <a:ext cx="403593" cy="1168318"/>
        </a:xfrm>
        <a:custGeom>
          <a:avLst/>
          <a:gdLst/>
          <a:ahLst/>
          <a:cxnLst/>
          <a:rect l="0" t="0" r="0" b="0"/>
          <a:pathLst>
            <a:path>
              <a:moveTo>
                <a:pt x="0" y="1168318"/>
              </a:moveTo>
              <a:lnTo>
                <a:pt x="201796" y="1168318"/>
              </a:lnTo>
              <a:lnTo>
                <a:pt x="201796" y="0"/>
              </a:lnTo>
              <a:lnTo>
                <a:pt x="403593" y="0"/>
              </a:lnTo>
            </a:path>
          </a:pathLst>
        </a:custGeom>
        <a:noFill/>
        <a:ln w="6350" cap="flat" cmpd="sng" algn="ctr">
          <a:solidFill>
            <a:schemeClr val="accent1">
              <a:tint val="9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66182" y="1618473"/>
        <a:ext cx="61803" cy="61803"/>
      </dsp:txXfrm>
    </dsp:sp>
    <dsp:sp modelId="{C00648CC-6D3F-454C-8CD4-6A9309192E23}">
      <dsp:nvSpPr>
        <dsp:cNvPr id="0" name=""/>
        <dsp:cNvSpPr/>
      </dsp:nvSpPr>
      <dsp:spPr>
        <a:xfrm>
          <a:off x="1895286" y="307617"/>
          <a:ext cx="403593" cy="1925917"/>
        </a:xfrm>
        <a:custGeom>
          <a:avLst/>
          <a:gdLst/>
          <a:ahLst/>
          <a:cxnLst/>
          <a:rect l="0" t="0" r="0" b="0"/>
          <a:pathLst>
            <a:path>
              <a:moveTo>
                <a:pt x="0" y="1925917"/>
              </a:moveTo>
              <a:lnTo>
                <a:pt x="201796" y="1925917"/>
              </a:lnTo>
              <a:lnTo>
                <a:pt x="201796" y="0"/>
              </a:lnTo>
              <a:lnTo>
                <a:pt x="403593" y="0"/>
              </a:lnTo>
            </a:path>
          </a:pathLst>
        </a:custGeom>
        <a:noFill/>
        <a:ln w="6350" cap="flat" cmpd="sng" algn="ctr">
          <a:solidFill>
            <a:schemeClr val="accent1">
              <a:tint val="9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047890" y="1221382"/>
        <a:ext cx="98387" cy="98387"/>
      </dsp:txXfrm>
    </dsp:sp>
    <dsp:sp modelId="{D47A84ED-9820-4776-AD39-007F45442665}">
      <dsp:nvSpPr>
        <dsp:cNvPr id="0" name=""/>
        <dsp:cNvSpPr/>
      </dsp:nvSpPr>
      <dsp:spPr>
        <a:xfrm rot="16200000">
          <a:off x="-596769" y="1925917"/>
          <a:ext cx="4368878" cy="615234"/>
        </a:xfrm>
        <a:prstGeom prst="rect">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n-US" sz="3600" b="1" kern="1200">
              <a:latin typeface="Arial" panose="020B0604020202020204" pitchFamily="34" charset="0"/>
              <a:cs typeface="Arial" panose="020B0604020202020204" pitchFamily="34" charset="0"/>
            </a:rPr>
            <a:t>General Ledger</a:t>
          </a:r>
        </a:p>
      </dsp:txBody>
      <dsp:txXfrm>
        <a:off x="-596769" y="1925917"/>
        <a:ext cx="4368878" cy="615234"/>
      </dsp:txXfrm>
    </dsp:sp>
    <dsp:sp modelId="{B2E2E14D-ADD3-4A7E-BF6A-74858AF2BA48}">
      <dsp:nvSpPr>
        <dsp:cNvPr id="0" name=""/>
        <dsp:cNvSpPr/>
      </dsp:nvSpPr>
      <dsp:spPr>
        <a:xfrm>
          <a:off x="2298880" y="0"/>
          <a:ext cx="4480639" cy="615234"/>
        </a:xfrm>
        <a:prstGeom prst="rect">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u="none" kern="1200" dirty="0">
              <a:latin typeface="Arial" panose="020B0604020202020204" pitchFamily="34" charset="0"/>
              <a:cs typeface="Arial" panose="020B0604020202020204" pitchFamily="34" charset="0"/>
            </a:rPr>
            <a:t>Chart of accounts</a:t>
          </a:r>
          <a:endParaRPr lang="en-US" sz="2000" b="1" kern="1200" dirty="0">
            <a:latin typeface="Arial" panose="020B0604020202020204" pitchFamily="34" charset="0"/>
            <a:cs typeface="Arial" panose="020B0604020202020204" pitchFamily="34" charset="0"/>
          </a:endParaRPr>
        </a:p>
      </dsp:txBody>
      <dsp:txXfrm>
        <a:off x="2298880" y="0"/>
        <a:ext cx="4480639" cy="615234"/>
      </dsp:txXfrm>
    </dsp:sp>
    <dsp:sp modelId="{D2D33781-ACFC-4A6E-BD5C-AFE4F5AF39B5}">
      <dsp:nvSpPr>
        <dsp:cNvPr id="0" name=""/>
        <dsp:cNvSpPr/>
      </dsp:nvSpPr>
      <dsp:spPr>
        <a:xfrm>
          <a:off x="2298880" y="757598"/>
          <a:ext cx="4495955" cy="615234"/>
        </a:xfrm>
        <a:prstGeom prst="rect">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u="none" kern="1200">
              <a:latin typeface="Arial" panose="020B0604020202020204" pitchFamily="34" charset="0"/>
              <a:cs typeface="Arial" panose="020B0604020202020204" pitchFamily="34" charset="0"/>
            </a:rPr>
            <a:t>Financial dimensions</a:t>
          </a:r>
          <a:endParaRPr lang="en-US" sz="2000" b="1" kern="1200">
            <a:latin typeface="Arial" panose="020B0604020202020204" pitchFamily="34" charset="0"/>
            <a:cs typeface="Arial" panose="020B0604020202020204" pitchFamily="34" charset="0"/>
          </a:endParaRPr>
        </a:p>
      </dsp:txBody>
      <dsp:txXfrm>
        <a:off x="2298880" y="757598"/>
        <a:ext cx="4495955" cy="615234"/>
      </dsp:txXfrm>
    </dsp:sp>
    <dsp:sp modelId="{3BCDF5CC-40A6-466D-A9DA-D3D24711EBCF}">
      <dsp:nvSpPr>
        <dsp:cNvPr id="0" name=""/>
        <dsp:cNvSpPr/>
      </dsp:nvSpPr>
      <dsp:spPr>
        <a:xfrm>
          <a:off x="2298880" y="1541395"/>
          <a:ext cx="4495955" cy="615234"/>
        </a:xfrm>
        <a:prstGeom prst="rect">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u="none" kern="1200">
              <a:latin typeface="Arial" panose="020B0604020202020204" pitchFamily="34" charset="0"/>
              <a:cs typeface="Arial" panose="020B0604020202020204" pitchFamily="34" charset="0"/>
            </a:rPr>
            <a:t>Fiscal calendars</a:t>
          </a:r>
          <a:endParaRPr lang="en-US" sz="2000" b="1" kern="1200">
            <a:latin typeface="Arial" panose="020B0604020202020204" pitchFamily="34" charset="0"/>
            <a:cs typeface="Arial" panose="020B0604020202020204" pitchFamily="34" charset="0"/>
          </a:endParaRPr>
        </a:p>
      </dsp:txBody>
      <dsp:txXfrm>
        <a:off x="2298880" y="1541395"/>
        <a:ext cx="4495955" cy="615234"/>
      </dsp:txXfrm>
    </dsp:sp>
    <dsp:sp modelId="{EC6B3D8A-F821-4497-9325-E2BDF9D8E150}">
      <dsp:nvSpPr>
        <dsp:cNvPr id="0" name=""/>
        <dsp:cNvSpPr/>
      </dsp:nvSpPr>
      <dsp:spPr>
        <a:xfrm>
          <a:off x="2298880" y="2310438"/>
          <a:ext cx="4479711" cy="615234"/>
        </a:xfrm>
        <a:prstGeom prst="rect">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u="none" kern="1200">
              <a:latin typeface="Arial" panose="020B0604020202020204" pitchFamily="34" charset="0"/>
              <a:cs typeface="Arial" panose="020B0604020202020204" pitchFamily="34" charset="0"/>
            </a:rPr>
            <a:t>Configure account structures</a:t>
          </a:r>
          <a:endParaRPr lang="en-US" sz="2000" b="1" kern="1200">
            <a:latin typeface="Arial" panose="020B0604020202020204" pitchFamily="34" charset="0"/>
            <a:cs typeface="Arial" panose="020B0604020202020204" pitchFamily="34" charset="0"/>
          </a:endParaRPr>
        </a:p>
      </dsp:txBody>
      <dsp:txXfrm>
        <a:off x="2298880" y="2310438"/>
        <a:ext cx="4479711" cy="615234"/>
      </dsp:txXfrm>
    </dsp:sp>
    <dsp:sp modelId="{DD6F950C-AB1B-43CD-877B-3A127AC4094C}">
      <dsp:nvSpPr>
        <dsp:cNvPr id="0" name=""/>
        <dsp:cNvSpPr/>
      </dsp:nvSpPr>
      <dsp:spPr>
        <a:xfrm>
          <a:off x="2298880" y="3079482"/>
          <a:ext cx="4448412" cy="615234"/>
        </a:xfrm>
        <a:prstGeom prst="rect">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u="none" kern="1200">
              <a:latin typeface="Arial" panose="020B0604020202020204" pitchFamily="34" charset="0"/>
              <a:cs typeface="Arial" panose="020B0604020202020204" pitchFamily="34" charset="0"/>
            </a:rPr>
            <a:t>Currency exchange rates</a:t>
          </a:r>
          <a:endParaRPr lang="en-US" sz="2000" b="1" kern="1200">
            <a:latin typeface="Arial" panose="020B0604020202020204" pitchFamily="34" charset="0"/>
            <a:cs typeface="Arial" panose="020B0604020202020204" pitchFamily="34" charset="0"/>
          </a:endParaRPr>
        </a:p>
      </dsp:txBody>
      <dsp:txXfrm>
        <a:off x="2298880" y="3079482"/>
        <a:ext cx="4448412" cy="615234"/>
      </dsp:txXfrm>
    </dsp:sp>
    <dsp:sp modelId="{36AF66B7-49A3-4F7E-B7B6-17177D50997B}">
      <dsp:nvSpPr>
        <dsp:cNvPr id="0" name=""/>
        <dsp:cNvSpPr/>
      </dsp:nvSpPr>
      <dsp:spPr>
        <a:xfrm>
          <a:off x="2298880" y="3848525"/>
          <a:ext cx="4416326" cy="615234"/>
        </a:xfrm>
        <a:prstGeom prst="rect">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u="none" kern="1200">
              <a:latin typeface="Arial" panose="020B0604020202020204" pitchFamily="34" charset="0"/>
              <a:cs typeface="Arial" panose="020B0604020202020204" pitchFamily="34" charset="0"/>
            </a:rPr>
            <a:t>Journal names</a:t>
          </a:r>
          <a:endParaRPr lang="en-US" sz="2000" b="1" kern="1200">
            <a:latin typeface="Arial" panose="020B0604020202020204" pitchFamily="34" charset="0"/>
            <a:cs typeface="Arial" panose="020B0604020202020204" pitchFamily="34" charset="0"/>
          </a:endParaRPr>
        </a:p>
      </dsp:txBody>
      <dsp:txXfrm>
        <a:off x="2298880" y="3848525"/>
        <a:ext cx="4416326" cy="6152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27931E-0FA8-4A3C-BA8E-FE4C1465E0AB}">
      <dsp:nvSpPr>
        <dsp:cNvPr id="0" name=""/>
        <dsp:cNvSpPr/>
      </dsp:nvSpPr>
      <dsp:spPr>
        <a:xfrm>
          <a:off x="1174525" y="160"/>
          <a:ext cx="1515879" cy="75793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Arial" panose="020B0604020202020204" pitchFamily="34" charset="0"/>
              <a:cs typeface="Arial" panose="020B0604020202020204" pitchFamily="34" charset="0"/>
            </a:rPr>
            <a:t>Setup</a:t>
          </a:r>
        </a:p>
      </dsp:txBody>
      <dsp:txXfrm>
        <a:off x="1196724" y="22359"/>
        <a:ext cx="1471481" cy="713541"/>
      </dsp:txXfrm>
    </dsp:sp>
    <dsp:sp modelId="{0DCC375F-ADD9-424E-A8A3-A65EFF407B69}">
      <dsp:nvSpPr>
        <dsp:cNvPr id="0" name=""/>
        <dsp:cNvSpPr/>
      </dsp:nvSpPr>
      <dsp:spPr>
        <a:xfrm>
          <a:off x="1326113" y="758100"/>
          <a:ext cx="151587" cy="568454"/>
        </a:xfrm>
        <a:custGeom>
          <a:avLst/>
          <a:gdLst/>
          <a:ahLst/>
          <a:cxnLst/>
          <a:rect l="0" t="0" r="0" b="0"/>
          <a:pathLst>
            <a:path>
              <a:moveTo>
                <a:pt x="0" y="0"/>
              </a:moveTo>
              <a:lnTo>
                <a:pt x="0" y="568454"/>
              </a:lnTo>
              <a:lnTo>
                <a:pt x="151587" y="5684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6122CC-F925-4193-8B5C-EF332E588514}">
      <dsp:nvSpPr>
        <dsp:cNvPr id="0" name=""/>
        <dsp:cNvSpPr/>
      </dsp:nvSpPr>
      <dsp:spPr>
        <a:xfrm>
          <a:off x="1477701" y="947585"/>
          <a:ext cx="1212703" cy="757939"/>
        </a:xfrm>
        <a:prstGeom prst="roundRect">
          <a:avLst>
            <a:gd name="adj" fmla="val 10000"/>
          </a:avLst>
        </a:prstGeom>
        <a:noFill/>
        <a:ln w="9525" cap="flat" cmpd="sng" algn="ctr">
          <a:solidFill>
            <a:schemeClr val="accent2"/>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2"/>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b="0" kern="120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Vendor Groups</a:t>
          </a:r>
        </a:p>
      </dsp:txBody>
      <dsp:txXfrm>
        <a:off x="1499900" y="969784"/>
        <a:ext cx="1168305" cy="713541"/>
      </dsp:txXfrm>
    </dsp:sp>
    <dsp:sp modelId="{94C51476-1E28-4ADA-ADC4-6A69321C71B8}">
      <dsp:nvSpPr>
        <dsp:cNvPr id="0" name=""/>
        <dsp:cNvSpPr/>
      </dsp:nvSpPr>
      <dsp:spPr>
        <a:xfrm>
          <a:off x="1326113" y="758100"/>
          <a:ext cx="151587" cy="1515879"/>
        </a:xfrm>
        <a:custGeom>
          <a:avLst/>
          <a:gdLst/>
          <a:ahLst/>
          <a:cxnLst/>
          <a:rect l="0" t="0" r="0" b="0"/>
          <a:pathLst>
            <a:path>
              <a:moveTo>
                <a:pt x="0" y="0"/>
              </a:moveTo>
              <a:lnTo>
                <a:pt x="0" y="1515879"/>
              </a:lnTo>
              <a:lnTo>
                <a:pt x="151587" y="15158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BE029F-4E7E-4B59-BC78-F6AA3DDBBE1E}">
      <dsp:nvSpPr>
        <dsp:cNvPr id="0" name=""/>
        <dsp:cNvSpPr/>
      </dsp:nvSpPr>
      <dsp:spPr>
        <a:xfrm>
          <a:off x="1477701" y="1895009"/>
          <a:ext cx="1212703" cy="757939"/>
        </a:xfrm>
        <a:prstGeom prst="roundRect">
          <a:avLst>
            <a:gd name="adj" fmla="val 10000"/>
          </a:avLst>
        </a:prstGeom>
        <a:noFill/>
        <a:ln w="9525" cap="flat" cmpd="sng" algn="ctr">
          <a:solidFill>
            <a:schemeClr val="accent2"/>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2"/>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b="0" kern="1200"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Vendor Posting Profile</a:t>
          </a:r>
          <a:endParaRPr lang="en-US" sz="1600" b="0" kern="120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dsp:txBody>
      <dsp:txXfrm>
        <a:off x="1499900" y="1917208"/>
        <a:ext cx="1168305" cy="713541"/>
      </dsp:txXfrm>
    </dsp:sp>
    <dsp:sp modelId="{C5A39DCF-9994-48F4-BA2F-F496DCA838E1}">
      <dsp:nvSpPr>
        <dsp:cNvPr id="0" name=""/>
        <dsp:cNvSpPr/>
      </dsp:nvSpPr>
      <dsp:spPr>
        <a:xfrm>
          <a:off x="1326113" y="758100"/>
          <a:ext cx="151587" cy="2463303"/>
        </a:xfrm>
        <a:custGeom>
          <a:avLst/>
          <a:gdLst/>
          <a:ahLst/>
          <a:cxnLst/>
          <a:rect l="0" t="0" r="0" b="0"/>
          <a:pathLst>
            <a:path>
              <a:moveTo>
                <a:pt x="0" y="0"/>
              </a:moveTo>
              <a:lnTo>
                <a:pt x="0" y="2463303"/>
              </a:lnTo>
              <a:lnTo>
                <a:pt x="151587" y="246330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0C266C6-0B14-4E4A-8A28-CA218D77E06A}">
      <dsp:nvSpPr>
        <dsp:cNvPr id="0" name=""/>
        <dsp:cNvSpPr/>
      </dsp:nvSpPr>
      <dsp:spPr>
        <a:xfrm>
          <a:off x="1477701" y="2842434"/>
          <a:ext cx="1212703" cy="757939"/>
        </a:xfrm>
        <a:prstGeom prst="roundRect">
          <a:avLst>
            <a:gd name="adj" fmla="val 10000"/>
          </a:avLst>
        </a:prstGeom>
        <a:noFill/>
        <a:ln w="9525" cap="flat" cmpd="sng" algn="ctr">
          <a:solidFill>
            <a:schemeClr val="accent2"/>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2"/>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b="0" kern="120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Create New Vendors </a:t>
          </a:r>
        </a:p>
      </dsp:txBody>
      <dsp:txXfrm>
        <a:off x="1499900" y="2864633"/>
        <a:ext cx="1168305" cy="713541"/>
      </dsp:txXfrm>
    </dsp:sp>
    <dsp:sp modelId="{080B8C5B-607C-498E-A3F7-46B12553203A}">
      <dsp:nvSpPr>
        <dsp:cNvPr id="0" name=""/>
        <dsp:cNvSpPr/>
      </dsp:nvSpPr>
      <dsp:spPr>
        <a:xfrm>
          <a:off x="1326113" y="758100"/>
          <a:ext cx="151587" cy="3410728"/>
        </a:xfrm>
        <a:custGeom>
          <a:avLst/>
          <a:gdLst/>
          <a:ahLst/>
          <a:cxnLst/>
          <a:rect l="0" t="0" r="0" b="0"/>
          <a:pathLst>
            <a:path>
              <a:moveTo>
                <a:pt x="0" y="0"/>
              </a:moveTo>
              <a:lnTo>
                <a:pt x="0" y="3410728"/>
              </a:lnTo>
              <a:lnTo>
                <a:pt x="151587" y="341072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D3B17CB-8021-45A8-BAC0-9265FCF5935F}">
      <dsp:nvSpPr>
        <dsp:cNvPr id="0" name=""/>
        <dsp:cNvSpPr/>
      </dsp:nvSpPr>
      <dsp:spPr>
        <a:xfrm>
          <a:off x="1477701" y="3789858"/>
          <a:ext cx="1212703" cy="757939"/>
        </a:xfrm>
        <a:prstGeom prst="roundRect">
          <a:avLst>
            <a:gd name="adj" fmla="val 10000"/>
          </a:avLst>
        </a:prstGeom>
        <a:noFill/>
        <a:ln w="9525" cap="flat" cmpd="sng" algn="ctr">
          <a:solidFill>
            <a:schemeClr val="accent2"/>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2"/>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b="0" u="none" kern="1200"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Methods Of Payment</a:t>
          </a:r>
          <a:endParaRPr lang="en-US" sz="1600" b="0" kern="120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dsp:txBody>
      <dsp:txXfrm>
        <a:off x="1499900" y="3812057"/>
        <a:ext cx="1168305" cy="713541"/>
      </dsp:txXfrm>
    </dsp:sp>
    <dsp:sp modelId="{E251A480-73AF-44AB-892A-D96847B69061}">
      <dsp:nvSpPr>
        <dsp:cNvPr id="0" name=""/>
        <dsp:cNvSpPr/>
      </dsp:nvSpPr>
      <dsp:spPr>
        <a:xfrm>
          <a:off x="3069374" y="160"/>
          <a:ext cx="1515879" cy="75793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b="1" kern="1200">
              <a:latin typeface="Arial" panose="020B0604020202020204" pitchFamily="34" charset="0"/>
              <a:cs typeface="Arial" panose="020B0604020202020204" pitchFamily="34" charset="0"/>
            </a:rPr>
            <a:t>Transaction</a:t>
          </a:r>
        </a:p>
      </dsp:txBody>
      <dsp:txXfrm>
        <a:off x="3091573" y="22359"/>
        <a:ext cx="1471481" cy="713541"/>
      </dsp:txXfrm>
    </dsp:sp>
    <dsp:sp modelId="{FDF8DB27-57C5-4060-8E22-438E27DD0926}">
      <dsp:nvSpPr>
        <dsp:cNvPr id="0" name=""/>
        <dsp:cNvSpPr/>
      </dsp:nvSpPr>
      <dsp:spPr>
        <a:xfrm>
          <a:off x="3220962" y="758100"/>
          <a:ext cx="151587" cy="568454"/>
        </a:xfrm>
        <a:custGeom>
          <a:avLst/>
          <a:gdLst/>
          <a:ahLst/>
          <a:cxnLst/>
          <a:rect l="0" t="0" r="0" b="0"/>
          <a:pathLst>
            <a:path>
              <a:moveTo>
                <a:pt x="0" y="0"/>
              </a:moveTo>
              <a:lnTo>
                <a:pt x="0" y="568454"/>
              </a:lnTo>
              <a:lnTo>
                <a:pt x="151587" y="56845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61C5A9-590D-49AB-9F5F-EE52365DED6E}">
      <dsp:nvSpPr>
        <dsp:cNvPr id="0" name=""/>
        <dsp:cNvSpPr/>
      </dsp:nvSpPr>
      <dsp:spPr>
        <a:xfrm>
          <a:off x="3372550" y="947585"/>
          <a:ext cx="1212703" cy="757939"/>
        </a:xfrm>
        <a:prstGeom prst="roundRect">
          <a:avLst>
            <a:gd name="adj" fmla="val 10000"/>
          </a:avLst>
        </a:prstGeom>
        <a:noFill/>
        <a:ln w="9525" cap="flat" cmpd="sng" algn="ctr">
          <a:solidFill>
            <a:schemeClr val="accent2"/>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2"/>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b="0" u="none" kern="1200"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Invoice Journal</a:t>
          </a:r>
          <a:endParaRPr lang="en-US" sz="1600" b="0" kern="120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dsp:txBody>
      <dsp:txXfrm>
        <a:off x="3394749" y="969784"/>
        <a:ext cx="1168305" cy="713541"/>
      </dsp:txXfrm>
    </dsp:sp>
    <dsp:sp modelId="{0ECC7159-992A-4040-BB1A-70B34690A414}">
      <dsp:nvSpPr>
        <dsp:cNvPr id="0" name=""/>
        <dsp:cNvSpPr/>
      </dsp:nvSpPr>
      <dsp:spPr>
        <a:xfrm>
          <a:off x="3220962" y="758100"/>
          <a:ext cx="151587" cy="1515879"/>
        </a:xfrm>
        <a:custGeom>
          <a:avLst/>
          <a:gdLst/>
          <a:ahLst/>
          <a:cxnLst/>
          <a:rect l="0" t="0" r="0" b="0"/>
          <a:pathLst>
            <a:path>
              <a:moveTo>
                <a:pt x="0" y="0"/>
              </a:moveTo>
              <a:lnTo>
                <a:pt x="0" y="1515879"/>
              </a:lnTo>
              <a:lnTo>
                <a:pt x="151587" y="15158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A7C25E-5A93-4DA9-B9B7-6977AD1E7777}">
      <dsp:nvSpPr>
        <dsp:cNvPr id="0" name=""/>
        <dsp:cNvSpPr/>
      </dsp:nvSpPr>
      <dsp:spPr>
        <a:xfrm>
          <a:off x="3372550" y="1895009"/>
          <a:ext cx="1212703" cy="757939"/>
        </a:xfrm>
        <a:prstGeom prst="roundRect">
          <a:avLst>
            <a:gd name="adj" fmla="val 10000"/>
          </a:avLst>
        </a:prstGeom>
        <a:noFill/>
        <a:ln w="9525" cap="flat" cmpd="sng" algn="ctr">
          <a:solidFill>
            <a:schemeClr val="accent2"/>
          </a:solid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2"/>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b="0" u="none" kern="1200" cap="none" spc="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Vendor Payment Journal</a:t>
          </a:r>
          <a:endParaRPr lang="en-US" sz="1600" b="0" kern="1200" cap="none" spc="0" dirty="0">
            <a:ln w="0"/>
            <a:solidFill>
              <a:schemeClr val="accent1"/>
            </a:solidFill>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dsp:txBody>
      <dsp:txXfrm>
        <a:off x="3394749" y="1917208"/>
        <a:ext cx="1168305" cy="713541"/>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1">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55834D5A-232F-4D07-A229-F35162E774C7}" type="datetimeFigureOut">
              <a:rPr lang="ar-EG" smtClean="0"/>
              <a:t>14/10/1447</a:t>
            </a:fld>
            <a:endParaRPr lang="ar-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C07AFCFC-EA42-4660-BF5A-40C267E59BD6}" type="slidenum">
              <a:rPr lang="ar-EG" smtClean="0"/>
              <a:t>‹#›</a:t>
            </a:fld>
            <a:endParaRPr lang="ar-EG"/>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dirty="0"/>
          </a:p>
        </p:txBody>
      </p:sp>
      <p:sp>
        <p:nvSpPr>
          <p:cNvPr id="4" name="Slide Number Placeholder 3"/>
          <p:cNvSpPr>
            <a:spLocks noGrp="1"/>
          </p:cNvSpPr>
          <p:nvPr>
            <p:ph type="sldNum" sz="quarter" idx="5"/>
          </p:nvPr>
        </p:nvSpPr>
        <p:spPr/>
        <p:txBody>
          <a:bodyPr/>
          <a:lstStyle/>
          <a:p>
            <a:fld id="{C07AFCFC-EA42-4660-BF5A-40C267E59BD6}" type="slidenum">
              <a:rPr lang="ar-EG" smtClean="0"/>
              <a:t>39</a:t>
            </a:fld>
            <a:endParaRPr lang="ar-EG"/>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ar-EG"/>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ar-EG"/>
          </a:p>
        </p:txBody>
      </p:sp>
      <p:sp>
        <p:nvSpPr>
          <p:cNvPr id="4" name="Date Placeholder 3"/>
          <p:cNvSpPr>
            <a:spLocks noGrp="1"/>
          </p:cNvSpPr>
          <p:nvPr>
            <p:ph type="dt" sz="half" idx="10"/>
          </p:nvPr>
        </p:nvSpPr>
        <p:spPr/>
        <p:txBody>
          <a:bodyPr/>
          <a:lstStyle/>
          <a:p>
            <a:fld id="{11086554-7A8C-46D6-8FF3-84C086167412}" type="datetimeFigureOut">
              <a:rPr lang="ar-EG" smtClean="0"/>
              <a:t>14/10/1447</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0BC1C82A-DF67-4A9C-BBB7-5A5A7BFCB1E5}" type="slidenum">
              <a:rPr lang="ar-EG" smtClean="0"/>
              <a:t>‹#›</a:t>
            </a:fld>
            <a:endParaRPr lang="ar-E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10"/>
          </p:nvPr>
        </p:nvSpPr>
        <p:spPr/>
        <p:txBody>
          <a:bodyPr/>
          <a:lstStyle/>
          <a:p>
            <a:fld id="{11086554-7A8C-46D6-8FF3-84C086167412}" type="datetimeFigureOut">
              <a:rPr lang="ar-EG" smtClean="0"/>
              <a:t>14/10/1447</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0BC1C82A-DF67-4A9C-BBB7-5A5A7BFCB1E5}" type="slidenum">
              <a:rPr lang="ar-EG" smtClean="0"/>
              <a:t>‹#›</a:t>
            </a:fld>
            <a:endParaRPr lang="ar-E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ar-EG"/>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086554-7A8C-46D6-8FF3-84C086167412}" type="datetimeFigureOut">
              <a:rPr lang="ar-EG" smtClean="0"/>
              <a:t>14/10/1447</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0BC1C82A-DF67-4A9C-BBB7-5A5A7BFCB1E5}" type="slidenum">
              <a:rPr lang="ar-EG" smtClean="0"/>
              <a:t>‹#›</a:t>
            </a:fld>
            <a:endParaRPr lang="ar-EG"/>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Date Placeholder 4"/>
          <p:cNvSpPr>
            <a:spLocks noGrp="1"/>
          </p:cNvSpPr>
          <p:nvPr>
            <p:ph type="dt" sz="half" idx="10"/>
          </p:nvPr>
        </p:nvSpPr>
        <p:spPr/>
        <p:txBody>
          <a:bodyPr/>
          <a:lstStyle/>
          <a:p>
            <a:fld id="{11086554-7A8C-46D6-8FF3-84C086167412}" type="datetimeFigureOut">
              <a:rPr lang="ar-EG" smtClean="0"/>
              <a:t>14/10/1447</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0BC1C82A-DF67-4A9C-BBB7-5A5A7BFCB1E5}" type="slidenum">
              <a:rPr lang="ar-EG" smtClean="0"/>
              <a:t>‹#›</a:t>
            </a:fld>
            <a:endParaRPr lang="ar-EG"/>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ar-EG"/>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7" name="Date Placeholder 6"/>
          <p:cNvSpPr>
            <a:spLocks noGrp="1"/>
          </p:cNvSpPr>
          <p:nvPr>
            <p:ph type="dt" sz="half" idx="10"/>
          </p:nvPr>
        </p:nvSpPr>
        <p:spPr/>
        <p:txBody>
          <a:bodyPr/>
          <a:lstStyle/>
          <a:p>
            <a:fld id="{11086554-7A8C-46D6-8FF3-84C086167412}" type="datetimeFigureOut">
              <a:rPr lang="ar-EG" smtClean="0"/>
              <a:t>14/10/1447</a:t>
            </a:fld>
            <a:endParaRPr lang="ar-EG"/>
          </a:p>
        </p:txBody>
      </p:sp>
      <p:sp>
        <p:nvSpPr>
          <p:cNvPr id="8" name="Footer Placeholder 7"/>
          <p:cNvSpPr>
            <a:spLocks noGrp="1"/>
          </p:cNvSpPr>
          <p:nvPr>
            <p:ph type="ftr" sz="quarter" idx="11"/>
          </p:nvPr>
        </p:nvSpPr>
        <p:spPr/>
        <p:txBody>
          <a:bodyPr/>
          <a:lstStyle/>
          <a:p>
            <a:endParaRPr lang="ar-EG"/>
          </a:p>
        </p:txBody>
      </p:sp>
      <p:sp>
        <p:nvSpPr>
          <p:cNvPr id="9" name="Slide Number Placeholder 8"/>
          <p:cNvSpPr>
            <a:spLocks noGrp="1"/>
          </p:cNvSpPr>
          <p:nvPr>
            <p:ph type="sldNum" sz="quarter" idx="12"/>
          </p:nvPr>
        </p:nvSpPr>
        <p:spPr/>
        <p:txBody>
          <a:bodyPr/>
          <a:lstStyle/>
          <a:p>
            <a:fld id="{0BC1C82A-DF67-4A9C-BBB7-5A5A7BFCB1E5}" type="slidenum">
              <a:rPr lang="ar-EG" smtClean="0"/>
              <a:t>‹#›</a:t>
            </a:fld>
            <a:endParaRPr lang="ar-EG"/>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Date Placeholder 2"/>
          <p:cNvSpPr>
            <a:spLocks noGrp="1"/>
          </p:cNvSpPr>
          <p:nvPr>
            <p:ph type="dt" sz="half" idx="10"/>
          </p:nvPr>
        </p:nvSpPr>
        <p:spPr/>
        <p:txBody>
          <a:bodyPr/>
          <a:lstStyle/>
          <a:p>
            <a:fld id="{11086554-7A8C-46D6-8FF3-84C086167412}" type="datetimeFigureOut">
              <a:rPr lang="ar-EG" smtClean="0"/>
              <a:t>14/10/1447</a:t>
            </a:fld>
            <a:endParaRPr lang="ar-EG"/>
          </a:p>
        </p:txBody>
      </p:sp>
      <p:sp>
        <p:nvSpPr>
          <p:cNvPr id="4" name="Footer Placeholder 3"/>
          <p:cNvSpPr>
            <a:spLocks noGrp="1"/>
          </p:cNvSpPr>
          <p:nvPr>
            <p:ph type="ftr" sz="quarter" idx="11"/>
          </p:nvPr>
        </p:nvSpPr>
        <p:spPr/>
        <p:txBody>
          <a:bodyPr/>
          <a:lstStyle/>
          <a:p>
            <a:endParaRPr lang="ar-EG"/>
          </a:p>
        </p:txBody>
      </p:sp>
      <p:sp>
        <p:nvSpPr>
          <p:cNvPr id="5" name="Slide Number Placeholder 4"/>
          <p:cNvSpPr>
            <a:spLocks noGrp="1"/>
          </p:cNvSpPr>
          <p:nvPr>
            <p:ph type="sldNum" sz="quarter" idx="12"/>
          </p:nvPr>
        </p:nvSpPr>
        <p:spPr/>
        <p:txBody>
          <a:bodyPr/>
          <a:lstStyle/>
          <a:p>
            <a:fld id="{0BC1C82A-DF67-4A9C-BBB7-5A5A7BFCB1E5}" type="slidenum">
              <a:rPr lang="ar-EG" smtClean="0"/>
              <a:t>‹#›</a:t>
            </a:fld>
            <a:endParaRPr lang="ar-E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086554-7A8C-46D6-8FF3-84C086167412}" type="datetimeFigureOut">
              <a:rPr lang="ar-EG" smtClean="0"/>
              <a:t>14/10/1447</a:t>
            </a:fld>
            <a:endParaRPr lang="ar-EG"/>
          </a:p>
        </p:txBody>
      </p:sp>
      <p:sp>
        <p:nvSpPr>
          <p:cNvPr id="3" name="Footer Placeholder 2"/>
          <p:cNvSpPr>
            <a:spLocks noGrp="1"/>
          </p:cNvSpPr>
          <p:nvPr>
            <p:ph type="ftr" sz="quarter" idx="11"/>
          </p:nvPr>
        </p:nvSpPr>
        <p:spPr/>
        <p:txBody>
          <a:bodyPr/>
          <a:lstStyle/>
          <a:p>
            <a:endParaRPr lang="ar-EG"/>
          </a:p>
        </p:txBody>
      </p:sp>
      <p:sp>
        <p:nvSpPr>
          <p:cNvPr id="4" name="Slide Number Placeholder 3"/>
          <p:cNvSpPr>
            <a:spLocks noGrp="1"/>
          </p:cNvSpPr>
          <p:nvPr>
            <p:ph type="sldNum" sz="quarter" idx="12"/>
          </p:nvPr>
        </p:nvSpPr>
        <p:spPr/>
        <p:txBody>
          <a:bodyPr/>
          <a:lstStyle/>
          <a:p>
            <a:fld id="{0BC1C82A-DF67-4A9C-BBB7-5A5A7BFCB1E5}" type="slidenum">
              <a:rPr lang="ar-EG" smtClean="0"/>
              <a:t>‹#›</a:t>
            </a:fld>
            <a:endParaRPr lang="ar-E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EG"/>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086554-7A8C-46D6-8FF3-84C086167412}" type="datetimeFigureOut">
              <a:rPr lang="ar-EG" smtClean="0"/>
              <a:t>14/10/1447</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0BC1C82A-DF67-4A9C-BBB7-5A5A7BFCB1E5}" type="slidenum">
              <a:rPr lang="ar-EG" smtClean="0"/>
              <a:t>‹#›</a:t>
            </a:fld>
            <a:endParaRPr lang="ar-E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EG"/>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EG"/>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086554-7A8C-46D6-8FF3-84C086167412}" type="datetimeFigureOut">
              <a:rPr lang="ar-EG" smtClean="0"/>
              <a:t>14/10/1447</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0BC1C82A-DF67-4A9C-BBB7-5A5A7BFCB1E5}" type="slidenum">
              <a:rPr lang="ar-EG" smtClean="0"/>
              <a:t>‹#›</a:t>
            </a:fld>
            <a:endParaRPr lang="ar-E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E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10"/>
          </p:nvPr>
        </p:nvSpPr>
        <p:spPr/>
        <p:txBody>
          <a:bodyPr/>
          <a:lstStyle/>
          <a:p>
            <a:fld id="{11086554-7A8C-46D6-8FF3-84C086167412}" type="datetimeFigureOut">
              <a:rPr lang="ar-EG" smtClean="0"/>
              <a:t>14/10/1447</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0BC1C82A-DF67-4A9C-BBB7-5A5A7BFCB1E5}" type="slidenum">
              <a:rPr lang="ar-EG" smtClean="0"/>
              <a:t>‹#›</a:t>
            </a:fld>
            <a:endParaRPr lang="ar-E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ar-EG"/>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10"/>
          </p:nvPr>
        </p:nvSpPr>
        <p:spPr/>
        <p:txBody>
          <a:bodyPr/>
          <a:lstStyle/>
          <a:p>
            <a:fld id="{11086554-7A8C-46D6-8FF3-84C086167412}" type="datetimeFigureOut">
              <a:rPr lang="ar-EG" smtClean="0"/>
              <a:t>14/10/1447</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0BC1C82A-DF67-4A9C-BBB7-5A5A7BFCB1E5}" type="slidenum">
              <a:rPr lang="ar-EG" smtClean="0"/>
              <a:t>‹#›</a:t>
            </a:fld>
            <a:endParaRPr lang="ar-E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ar-EG"/>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EG"/>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086554-7A8C-46D6-8FF3-84C086167412}" type="datetimeFigureOut">
              <a:rPr lang="ar-EG" smtClean="0"/>
              <a:t>14/10/1447</a:t>
            </a:fld>
            <a:endParaRPr lang="ar-E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r-E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C1C82A-DF67-4A9C-BBB7-5A5A7BFCB1E5}" type="slidenum">
              <a:rPr lang="ar-EG" smtClean="0"/>
              <a:t>‹#›</a:t>
            </a:fld>
            <a:endParaRPr lang="ar-EG"/>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2.xml"/><Relationship Id="rId7" Type="http://schemas.openxmlformats.org/officeDocument/2006/relationships/image" Target="../media/image2.png"/><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96000"/>
          </a:schemeClr>
        </a:solidFill>
        <a:effectLst/>
      </p:bgPr>
    </p:bg>
    <p:spTree>
      <p:nvGrpSpPr>
        <p:cNvPr id="1" name=""/>
        <p:cNvGrpSpPr/>
        <p:nvPr/>
      </p:nvGrpSpPr>
      <p:grpSpPr>
        <a:xfrm>
          <a:off x="0" y="0"/>
          <a:ext cx="0" cy="0"/>
          <a:chOff x="0" y="0"/>
          <a:chExt cx="0" cy="0"/>
        </a:xfrm>
      </p:grpSpPr>
      <p:sp>
        <p:nvSpPr>
          <p:cNvPr id="128" name="Rectangle 127"/>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30" name="Group 129"/>
          <p:cNvGrpSpPr>
            <a:grpSpLocks noGrp="1" noUngrp="1" noRot="1" noChangeAspect="1" noMove="1" noResize="1"/>
          </p:cNvGrpSpPr>
          <p:nvPr/>
        </p:nvGrpSpPr>
        <p:grpSpPr>
          <a:xfrm>
            <a:off x="-1" y="-1"/>
            <a:ext cx="12191999" cy="4267200"/>
            <a:chOff x="7467600" y="0"/>
            <a:chExt cx="4724400" cy="6858000"/>
          </a:xfrm>
        </p:grpSpPr>
        <p:sp>
          <p:nvSpPr>
            <p:cNvPr id="131" name="Rectangle 130"/>
            <p:cNvSpPr/>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Rectangle 131"/>
            <p:cNvSpPr/>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34" name="Freeform: Shape 133"/>
          <p:cNvSpPr>
            <a:spLocks noGrp="1" noRot="1" noChangeAspect="1" noMove="1" noResize="1" noEditPoints="1" noAdjustHandles="1" noChangeArrowheads="1" noChangeShapeType="1" noTextEdit="1"/>
          </p:cNvSpPr>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36" name="Rectangle 135"/>
          <p:cNvSpPr>
            <a:spLocks noGrp="1" noRot="1" noChangeAspect="1" noMove="1" noResize="1" noEditPoints="1" noAdjustHandles="1" noChangeArrowheads="1" noChangeShapeType="1" noTextEdit="1"/>
          </p:cNvSpPr>
          <p:nvPr/>
        </p:nvSpPr>
        <p:spPr>
          <a:xfrm>
            <a:off x="457200" y="457200"/>
            <a:ext cx="11277600" cy="59436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p:cNvSpPr>
            <a:spLocks noGrp="1"/>
          </p:cNvSpPr>
          <p:nvPr>
            <p:ph type="ctrTitle"/>
          </p:nvPr>
        </p:nvSpPr>
        <p:spPr>
          <a:xfrm>
            <a:off x="3609171" y="1696872"/>
            <a:ext cx="5118905" cy="2286002"/>
          </a:xfrm>
        </p:spPr>
        <p:txBody>
          <a:bodyPr vert="horz" lIns="91440" tIns="45720" rIns="91440" bIns="45720" rtlCol="0" anchor="t">
            <a:normAutofit/>
          </a:bodyPr>
          <a:lstStyle/>
          <a:p>
            <a:r>
              <a:rPr lang="en-US" sz="3000" b="1" u="sng" dirty="0">
                <a:ln w="0"/>
                <a:solidFill>
                  <a:srgbClr val="0070C0"/>
                </a:solidFill>
                <a:effectLst>
                  <a:outerShdw blurRad="38100" dist="38100" dir="2700000" algn="tl">
                    <a:srgbClr val="000000">
                      <a:alpha val="43137"/>
                    </a:srgbClr>
                  </a:outerShdw>
                </a:effectLst>
                <a:sym typeface="Bright Retro"/>
              </a:rPr>
              <a:t>Accounts Payable Implementation Project</a:t>
            </a:r>
            <a:br>
              <a:rPr lang="en-US" sz="3000" b="1" u="sng" dirty="0">
                <a:ln w="0"/>
                <a:solidFill>
                  <a:srgbClr val="0070C0"/>
                </a:solidFill>
                <a:effectLst>
                  <a:outerShdw blurRad="38100" dist="38100" dir="2700000" algn="tl">
                    <a:srgbClr val="000000">
                      <a:alpha val="43137"/>
                    </a:srgbClr>
                  </a:outerShdw>
                </a:effectLst>
                <a:sym typeface="Bright Retro"/>
              </a:rPr>
            </a:br>
            <a:br>
              <a:rPr lang="en-US" sz="3000" b="1" u="sng" dirty="0">
                <a:ln w="0"/>
                <a:solidFill>
                  <a:srgbClr val="0070C0"/>
                </a:solidFill>
                <a:effectLst>
                  <a:outerShdw blurRad="38100" dist="38100" dir="2700000" algn="tl">
                    <a:srgbClr val="000000">
                      <a:alpha val="43137"/>
                    </a:srgbClr>
                  </a:outerShdw>
                </a:effectLst>
              </a:rPr>
            </a:br>
            <a:r>
              <a:rPr lang="en-US" sz="3000" b="1" u="sng" dirty="0">
                <a:ln w="0"/>
                <a:solidFill>
                  <a:srgbClr val="0070C0"/>
                </a:solidFill>
                <a:effectLst>
                  <a:outerShdw blurRad="38100" dist="38100" dir="2700000" algn="tl">
                    <a:srgbClr val="000000">
                      <a:alpha val="43137"/>
                    </a:srgbClr>
                  </a:outerShdw>
                </a:effectLst>
              </a:rPr>
              <a:t>Microsoft Dynamics 365 Finance</a:t>
            </a:r>
          </a:p>
        </p:txBody>
      </p:sp>
      <p:sp>
        <p:nvSpPr>
          <p:cNvPr id="3" name="Subtitle 2"/>
          <p:cNvSpPr>
            <a:spLocks noGrp="1"/>
          </p:cNvSpPr>
          <p:nvPr>
            <p:ph type="subTitle" idx="1"/>
          </p:nvPr>
        </p:nvSpPr>
        <p:spPr>
          <a:xfrm>
            <a:off x="7467598" y="4013894"/>
            <a:ext cx="4495801" cy="1548704"/>
          </a:xfrm>
        </p:spPr>
        <p:txBody>
          <a:bodyPr vert="horz" lIns="91440" tIns="45720" rIns="91440" bIns="45720" rtlCol="0">
            <a:noAutofit/>
          </a:bodyPr>
          <a:lstStyle/>
          <a:p>
            <a:pPr indent="-228600" algn="l">
              <a:buFont typeface="Arial" panose="020B0604020202020204" pitchFamily="34" charset="0"/>
              <a:buChar char="•"/>
            </a:pPr>
            <a:endParaRPr lang="en-US" sz="1600" b="1" dirty="0">
              <a:solidFill>
                <a:srgbClr val="0070C0">
                  <a:alpha val="55000"/>
                </a:srgbClr>
              </a:solidFill>
              <a:sym typeface="Bright Retro"/>
            </a:endParaRPr>
          </a:p>
          <a:p>
            <a:pPr indent="-228600" algn="l">
              <a:buFont typeface="Arial" panose="020B0604020202020204" pitchFamily="34" charset="0"/>
              <a:buChar char="•"/>
            </a:pPr>
            <a:r>
              <a:rPr lang="en-US" sz="1600" b="1" dirty="0">
                <a:solidFill>
                  <a:srgbClr val="0070C0">
                    <a:alpha val="55000"/>
                  </a:srgbClr>
                </a:solidFill>
                <a:sym typeface="Bright Retro"/>
              </a:rPr>
              <a:t>Presented by Accounts Payable group</a:t>
            </a:r>
          </a:p>
          <a:p>
            <a:pPr indent="-228600" algn="l">
              <a:buFont typeface="Arial" panose="020B0604020202020204" pitchFamily="34" charset="0"/>
              <a:buChar char="•"/>
            </a:pPr>
            <a:r>
              <a:rPr lang="en-US" sz="1600" b="1" dirty="0">
                <a:solidFill>
                  <a:srgbClr val="0070C0">
                    <a:alpha val="55000"/>
                  </a:srgbClr>
                </a:solidFill>
                <a:sym typeface="Bright Retro"/>
              </a:rPr>
              <a:t>Group Code : CAI4_ERP7_G1</a:t>
            </a:r>
          </a:p>
          <a:p>
            <a:pPr indent="-228600" algn="l">
              <a:buFont typeface="Arial" panose="020B0604020202020204" pitchFamily="34" charset="0"/>
              <a:buChar char="•"/>
            </a:pPr>
            <a:r>
              <a:rPr lang="en-US" sz="1600" b="1" dirty="0">
                <a:solidFill>
                  <a:srgbClr val="0070C0">
                    <a:alpha val="55000"/>
                  </a:srgbClr>
                </a:solidFill>
                <a:sym typeface="Bright Retro"/>
              </a:rPr>
              <a:t>Date:March-2026</a:t>
            </a:r>
          </a:p>
          <a:p>
            <a:pPr indent="-228600" algn="l">
              <a:buFont typeface="Arial" panose="020B0604020202020204" pitchFamily="34" charset="0"/>
              <a:buChar char="•"/>
            </a:pPr>
            <a:endParaRPr lang="en-US" sz="1600" b="1" dirty="0">
              <a:solidFill>
                <a:srgbClr val="0070C0">
                  <a:alpha val="55000"/>
                </a:srgbClr>
              </a:solidFill>
            </a:endParaRPr>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56675" y="1254112"/>
            <a:ext cx="2510623" cy="1262363"/>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378" y="612769"/>
            <a:ext cx="2092328" cy="1923591"/>
          </a:xfrm>
          <a:prstGeom prst="rect">
            <a:avLst/>
          </a:prstGeom>
        </p:spPr>
      </p:pic>
      <p:pic>
        <p:nvPicPr>
          <p:cNvPr id="9" name="Picture 8"/>
          <p:cNvPicPr>
            <a:picLocks noChangeAspect="1"/>
          </p:cNvPicPr>
          <p:nvPr/>
        </p:nvPicPr>
        <p:blipFill>
          <a:blip r:embed="rId4"/>
          <a:stretch>
            <a:fillRect/>
          </a:stretch>
        </p:blipFill>
        <p:spPr>
          <a:xfrm>
            <a:off x="1028299" y="4007579"/>
            <a:ext cx="4641849" cy="155501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872359"/>
            <a:ext cx="10012052" cy="1303240"/>
          </a:xfrm>
        </p:spPr>
        <p:txBody>
          <a:bodyPr>
            <a:normAutofit/>
          </a:bodyPr>
          <a:lstStyle/>
          <a:p>
            <a:pPr algn="ctr"/>
            <a:br>
              <a:rPr lang="en-US" b="1" dirty="0">
                <a:solidFill>
                  <a:schemeClr val="tx2"/>
                </a:solidFill>
                <a:latin typeface="Algerian" panose="04020705040A02060702" pitchFamily="82" charset="0"/>
              </a:rPr>
            </a:br>
            <a:r>
              <a:rPr lang="en-US" b="1" dirty="0">
                <a:solidFill>
                  <a:schemeClr val="tx2"/>
                </a:solidFill>
                <a:latin typeface="Algerian" panose="04020705040A02060702" pitchFamily="82" charset="0"/>
              </a:rPr>
              <a:t>Team Members </a:t>
            </a:r>
            <a:endParaRPr lang="ar-EG" b="1" dirty="0">
              <a:solidFill>
                <a:schemeClr val="tx2"/>
              </a:solidFill>
              <a:latin typeface="Algerian" panose="04020705040A02060702" pitchFamily="82" charset="0"/>
            </a:endParaRPr>
          </a:p>
        </p:txBody>
      </p:sp>
      <p:sp>
        <p:nvSpPr>
          <p:cNvPr id="16" name="TextBox 15"/>
          <p:cNvSpPr txBox="1"/>
          <p:nvPr/>
        </p:nvSpPr>
        <p:spPr>
          <a:xfrm rot="10800000" flipH="1" flipV="1">
            <a:off x="8829309" y="3049043"/>
            <a:ext cx="1781154" cy="707886"/>
          </a:xfrm>
          <a:prstGeom prst="rect">
            <a:avLst/>
          </a:prstGeom>
          <a:noFill/>
        </p:spPr>
        <p:txBody>
          <a:bodyPr wrap="square" rtlCol="1">
            <a:spAutoFit/>
          </a:bodyPr>
          <a:lstStyle/>
          <a:p>
            <a:r>
              <a:rPr lang="en-US" sz="2000" b="1" dirty="0">
                <a:ln w="0"/>
                <a:solidFill>
                  <a:schemeClr val="tx2"/>
                </a:solidFill>
                <a:effectLst>
                  <a:outerShdw blurRad="38100" dist="25400" dir="5400000" algn="ctr" rotWithShape="0">
                    <a:srgbClr val="6E747A">
                      <a:alpha val="43000"/>
                    </a:srgbClr>
                  </a:outerShdw>
                </a:effectLst>
              </a:rPr>
              <a:t>Nuur Hesham</a:t>
            </a:r>
          </a:p>
          <a:p>
            <a:r>
              <a:rPr lang="en-US" sz="2000" b="1" dirty="0">
                <a:ln w="0"/>
                <a:solidFill>
                  <a:schemeClr val="tx2"/>
                </a:solidFill>
                <a:effectLst>
                  <a:outerShdw blurRad="38100" dist="25400" dir="5400000" algn="ctr" rotWithShape="0">
                    <a:srgbClr val="6E747A">
                      <a:alpha val="43000"/>
                    </a:srgbClr>
                  </a:outerShdw>
                </a:effectLst>
              </a:rPr>
              <a:t>Team member</a:t>
            </a:r>
            <a:endParaRPr lang="ar-EG" sz="2000" b="1" dirty="0">
              <a:ln w="0"/>
              <a:solidFill>
                <a:schemeClr val="tx2"/>
              </a:solidFill>
              <a:effectLst>
                <a:outerShdw blurRad="38100" dist="25400" dir="5400000" algn="ctr" rotWithShape="0">
                  <a:srgbClr val="6E747A">
                    <a:alpha val="43000"/>
                  </a:srgbClr>
                </a:outerShdw>
              </a:effectLst>
            </a:endParaRPr>
          </a:p>
        </p:txBody>
      </p:sp>
      <p:sp>
        <p:nvSpPr>
          <p:cNvPr id="17" name="TextBox 16"/>
          <p:cNvSpPr txBox="1"/>
          <p:nvPr/>
        </p:nvSpPr>
        <p:spPr>
          <a:xfrm flipH="1">
            <a:off x="8829310" y="4630374"/>
            <a:ext cx="1781154" cy="1015663"/>
          </a:xfrm>
          <a:prstGeom prst="rect">
            <a:avLst/>
          </a:prstGeom>
          <a:noFill/>
        </p:spPr>
        <p:txBody>
          <a:bodyPr wrap="square" rtlCol="1">
            <a:spAutoFit/>
          </a:bodyPr>
          <a:lstStyle/>
          <a:p>
            <a:r>
              <a:rPr lang="en-US" sz="2000" b="1" dirty="0">
                <a:ln w="0"/>
                <a:solidFill>
                  <a:schemeClr val="tx2"/>
                </a:solidFill>
                <a:effectLst>
                  <a:outerShdw blurRad="38100" dist="25400" dir="5400000" algn="ctr" rotWithShape="0">
                    <a:srgbClr val="6E747A">
                      <a:alpha val="43000"/>
                    </a:srgbClr>
                  </a:outerShdw>
                </a:effectLst>
              </a:rPr>
              <a:t>Asmaa Yassin</a:t>
            </a:r>
            <a:br>
              <a:rPr lang="en-US" sz="2000" b="1" dirty="0">
                <a:ln w="0"/>
                <a:solidFill>
                  <a:schemeClr val="tx2"/>
                </a:solidFill>
                <a:effectLst>
                  <a:outerShdw blurRad="38100" dist="25400" dir="5400000" algn="ctr" rotWithShape="0">
                    <a:srgbClr val="6E747A">
                      <a:alpha val="43000"/>
                    </a:srgbClr>
                  </a:outerShdw>
                </a:effectLst>
              </a:rPr>
            </a:br>
            <a:r>
              <a:rPr lang="en-US" sz="2000" b="1" dirty="0">
                <a:ln w="0"/>
                <a:solidFill>
                  <a:schemeClr val="tx2"/>
                </a:solidFill>
                <a:effectLst>
                  <a:outerShdw blurRad="38100" dist="25400" dir="5400000" algn="ctr" rotWithShape="0">
                    <a:srgbClr val="6E747A">
                      <a:alpha val="43000"/>
                    </a:srgbClr>
                  </a:outerShdw>
                </a:effectLst>
              </a:rPr>
              <a:t>Team member</a:t>
            </a:r>
            <a:endParaRPr lang="ar-EG" sz="2000" b="1" dirty="0">
              <a:ln w="0"/>
              <a:solidFill>
                <a:schemeClr val="tx2"/>
              </a:solidFill>
              <a:effectLst>
                <a:outerShdw blurRad="38100" dist="25400" dir="5400000" algn="ctr" rotWithShape="0">
                  <a:srgbClr val="6E747A">
                    <a:alpha val="43000"/>
                  </a:srgbClr>
                </a:outerShdw>
              </a:effectLst>
            </a:endParaRPr>
          </a:p>
          <a:p>
            <a:endParaRPr lang="ar-EG" sz="2000" b="1" dirty="0">
              <a:ln w="0"/>
              <a:solidFill>
                <a:schemeClr val="tx2"/>
              </a:solidFill>
              <a:effectLst>
                <a:outerShdw blurRad="38100" dist="25400" dir="5400000" algn="ctr" rotWithShape="0">
                  <a:srgbClr val="6E747A">
                    <a:alpha val="43000"/>
                  </a:srgbClr>
                </a:outerShdw>
              </a:effectLst>
            </a:endParaRPr>
          </a:p>
        </p:txBody>
      </p:sp>
      <p:pic>
        <p:nvPicPr>
          <p:cNvPr id="3" name="Picture 2"/>
          <p:cNvPicPr>
            <a:picLocks noChangeAspect="1"/>
          </p:cNvPicPr>
          <p:nvPr/>
        </p:nvPicPr>
        <p:blipFill>
          <a:blip r:embed="rId2"/>
          <a:stretch>
            <a:fillRect/>
          </a:stretch>
        </p:blipFill>
        <p:spPr>
          <a:xfrm>
            <a:off x="4008120" y="5871210"/>
            <a:ext cx="3353379" cy="566036"/>
          </a:xfrm>
          <a:prstGeom prst="rect">
            <a:avLst/>
          </a:prstGeom>
        </p:spPr>
      </p:pic>
      <p:sp>
        <p:nvSpPr>
          <p:cNvPr id="11" name="TextBox 10"/>
          <p:cNvSpPr txBox="1"/>
          <p:nvPr/>
        </p:nvSpPr>
        <p:spPr>
          <a:xfrm>
            <a:off x="979734" y="3129920"/>
            <a:ext cx="1603210" cy="707886"/>
          </a:xfrm>
          <a:prstGeom prst="rect">
            <a:avLst/>
          </a:prstGeom>
          <a:noFill/>
        </p:spPr>
        <p:txBody>
          <a:bodyPr wrap="square">
            <a:spAutoFit/>
          </a:bodyPr>
          <a:lstStyle/>
          <a:p>
            <a:r>
              <a:rPr lang="en-US" sz="2000" b="1" dirty="0">
                <a:ln w="0"/>
                <a:solidFill>
                  <a:schemeClr val="tx2"/>
                </a:solidFill>
                <a:effectLst>
                  <a:outerShdw blurRad="38100" dist="25400" dir="5400000" algn="ctr" rotWithShape="0">
                    <a:srgbClr val="6E747A">
                      <a:alpha val="43000"/>
                    </a:srgbClr>
                  </a:outerShdw>
                </a:effectLst>
              </a:rPr>
              <a:t>Belal Hassan</a:t>
            </a:r>
          </a:p>
          <a:p>
            <a:r>
              <a:rPr lang="en-US" sz="2000" b="1" dirty="0">
                <a:ln w="0"/>
                <a:solidFill>
                  <a:schemeClr val="tx2"/>
                </a:solidFill>
                <a:effectLst>
                  <a:outerShdw blurRad="38100" dist="25400" dir="5400000" algn="ctr" rotWithShape="0">
                    <a:srgbClr val="6E747A">
                      <a:alpha val="43000"/>
                    </a:srgbClr>
                  </a:outerShdw>
                </a:effectLst>
              </a:rPr>
              <a:t>Team Leader</a:t>
            </a:r>
          </a:p>
        </p:txBody>
      </p:sp>
      <p:sp>
        <p:nvSpPr>
          <p:cNvPr id="21" name="TextBox 20"/>
          <p:cNvSpPr txBox="1"/>
          <p:nvPr/>
        </p:nvSpPr>
        <p:spPr>
          <a:xfrm rot="10800000" flipV="1">
            <a:off x="4807528" y="4630375"/>
            <a:ext cx="2130595" cy="707886"/>
          </a:xfrm>
          <a:prstGeom prst="rect">
            <a:avLst/>
          </a:prstGeom>
          <a:noFill/>
        </p:spPr>
        <p:txBody>
          <a:bodyPr wrap="square">
            <a:spAutoFit/>
          </a:bodyPr>
          <a:lstStyle/>
          <a:p>
            <a:r>
              <a:rPr lang="en-US" sz="2000" b="1" dirty="0">
                <a:ln w="0"/>
                <a:solidFill>
                  <a:schemeClr val="tx2"/>
                </a:solidFill>
                <a:effectLst>
                  <a:outerShdw blurRad="38100" dist="25400" dir="5400000" algn="ctr" rotWithShape="0">
                    <a:srgbClr val="6E747A">
                      <a:alpha val="43000"/>
                    </a:srgbClr>
                  </a:outerShdw>
                </a:effectLst>
              </a:rPr>
              <a:t>Emad Abdel Aziz</a:t>
            </a:r>
          </a:p>
          <a:p>
            <a:r>
              <a:rPr lang="en-US" sz="2000" b="1" dirty="0">
                <a:ln w="0"/>
                <a:solidFill>
                  <a:schemeClr val="tx2"/>
                </a:solidFill>
                <a:effectLst>
                  <a:outerShdw blurRad="38100" dist="25400" dir="5400000" algn="ctr" rotWithShape="0">
                    <a:srgbClr val="6E747A">
                      <a:alpha val="43000"/>
                    </a:srgbClr>
                  </a:outerShdw>
                </a:effectLst>
              </a:rPr>
              <a:t>Team member</a:t>
            </a:r>
            <a:endParaRPr lang="ar-EG" sz="2000" b="1" dirty="0">
              <a:ln w="0"/>
              <a:solidFill>
                <a:schemeClr val="tx2"/>
              </a:solidFill>
              <a:effectLst>
                <a:outerShdw blurRad="38100" dist="25400" dir="5400000" algn="ctr" rotWithShape="0">
                  <a:srgbClr val="6E747A">
                    <a:alpha val="43000"/>
                  </a:srgbClr>
                </a:outerShdw>
              </a:effectLst>
            </a:endParaRPr>
          </a:p>
        </p:txBody>
      </p:sp>
      <p:sp>
        <p:nvSpPr>
          <p:cNvPr id="25" name="TextBox 24"/>
          <p:cNvSpPr txBox="1"/>
          <p:nvPr/>
        </p:nvSpPr>
        <p:spPr>
          <a:xfrm flipH="1">
            <a:off x="4640829" y="3129920"/>
            <a:ext cx="2130595" cy="707886"/>
          </a:xfrm>
          <a:prstGeom prst="rect">
            <a:avLst/>
          </a:prstGeom>
          <a:noFill/>
        </p:spPr>
        <p:txBody>
          <a:bodyPr wrap="square">
            <a:spAutoFit/>
          </a:bodyPr>
          <a:lstStyle/>
          <a:p>
            <a:r>
              <a:rPr lang="en-US" sz="2000" b="1" dirty="0">
                <a:ln w="0"/>
                <a:solidFill>
                  <a:schemeClr val="tx2"/>
                </a:solidFill>
                <a:effectLst>
                  <a:outerShdw blurRad="38100" dist="25400" dir="5400000" algn="ctr" rotWithShape="0">
                    <a:srgbClr val="6E747A">
                      <a:alpha val="43000"/>
                    </a:srgbClr>
                  </a:outerShdw>
                </a:effectLst>
              </a:rPr>
              <a:t>Abdullah Shamikh</a:t>
            </a:r>
            <a:br>
              <a:rPr lang="ar-EG" sz="2000" b="1" dirty="0">
                <a:ln w="0"/>
                <a:solidFill>
                  <a:schemeClr val="tx2"/>
                </a:solidFill>
                <a:effectLst>
                  <a:outerShdw blurRad="38100" dist="25400" dir="5400000" algn="ctr" rotWithShape="0">
                    <a:srgbClr val="6E747A">
                      <a:alpha val="43000"/>
                    </a:srgbClr>
                  </a:outerShdw>
                </a:effectLst>
              </a:rPr>
            </a:br>
            <a:r>
              <a:rPr lang="en-US" sz="2000" b="1" dirty="0">
                <a:ln w="0"/>
                <a:solidFill>
                  <a:schemeClr val="tx2"/>
                </a:solidFill>
                <a:effectLst>
                  <a:outerShdw blurRad="38100" dist="25400" dir="5400000" algn="ctr" rotWithShape="0">
                    <a:srgbClr val="6E747A">
                      <a:alpha val="43000"/>
                    </a:srgbClr>
                  </a:outerShdw>
                </a:effectLst>
              </a:rPr>
              <a:t>Team member</a:t>
            </a:r>
            <a:endParaRPr lang="ar-EG" sz="2000" b="1" dirty="0">
              <a:ln w="0"/>
              <a:solidFill>
                <a:schemeClr val="tx2"/>
              </a:solidFill>
              <a:effectLst>
                <a:outerShdw blurRad="38100" dist="25400" dir="5400000" algn="ctr" rotWithShape="0">
                  <a:srgbClr val="6E747A">
                    <a:alpha val="43000"/>
                  </a:srgbClr>
                </a:outerShdw>
              </a:effectLst>
            </a:endParaRPr>
          </a:p>
        </p:txBody>
      </p:sp>
      <p:sp>
        <p:nvSpPr>
          <p:cNvPr id="30" name="TextBox 29"/>
          <p:cNvSpPr txBox="1"/>
          <p:nvPr/>
        </p:nvSpPr>
        <p:spPr>
          <a:xfrm rot="10800000" flipH="1" flipV="1">
            <a:off x="979734" y="4630374"/>
            <a:ext cx="1781155" cy="707886"/>
          </a:xfrm>
          <a:prstGeom prst="rect">
            <a:avLst/>
          </a:prstGeom>
          <a:noFill/>
        </p:spPr>
        <p:txBody>
          <a:bodyPr wrap="square" rtlCol="1">
            <a:spAutoFit/>
          </a:bodyPr>
          <a:lstStyle/>
          <a:p>
            <a:r>
              <a:rPr lang="en-US" sz="2000" b="1" dirty="0">
                <a:ln w="0"/>
                <a:solidFill>
                  <a:schemeClr val="tx2"/>
                </a:solidFill>
                <a:effectLst>
                  <a:outerShdw blurRad="38100" dist="25400" dir="5400000" algn="ctr" rotWithShape="0">
                    <a:srgbClr val="6E747A">
                      <a:alpha val="43000"/>
                    </a:srgbClr>
                  </a:outerShdw>
                </a:effectLst>
              </a:rPr>
              <a:t>Marwan Alaa</a:t>
            </a:r>
          </a:p>
          <a:p>
            <a:r>
              <a:rPr lang="en-US" sz="2000" b="1" dirty="0">
                <a:ln w="0"/>
                <a:solidFill>
                  <a:schemeClr val="tx2"/>
                </a:solidFill>
                <a:effectLst>
                  <a:outerShdw blurRad="38100" dist="25400" dir="5400000" algn="ctr" rotWithShape="0">
                    <a:srgbClr val="6E747A">
                      <a:alpha val="43000"/>
                    </a:srgbClr>
                  </a:outerShdw>
                </a:effectLst>
              </a:rPr>
              <a:t>Team member</a:t>
            </a:r>
            <a:endParaRPr lang="ar-EG" sz="2000" b="1" dirty="0">
              <a:ln w="0"/>
              <a:solidFill>
                <a:schemeClr val="tx2"/>
              </a:solidFill>
              <a:effectLst>
                <a:outerShdw blurRad="38100" dist="25400" dir="5400000" algn="ctr" rotWithShape="0">
                  <a:srgbClr val="6E747A">
                    <a:alpha val="43000"/>
                  </a:srgbClr>
                </a:outerShdw>
              </a:effectLst>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200" y="264628"/>
            <a:ext cx="1417559" cy="130324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52344" y="380063"/>
            <a:ext cx="2516240" cy="12651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16" presetClass="entr" presetSubtype="21" fill="hold" nodeType="with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barn(inVertical)">
                                      <p:cBhvr>
                                        <p:cTn id="12"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46265" y="1689101"/>
            <a:ext cx="9144000" cy="1739899"/>
          </a:xfrm>
        </p:spPr>
        <p:txBody>
          <a:bodyPr/>
          <a:lstStyle/>
          <a:p>
            <a:r>
              <a:rPr lang="en-US" sz="4800" dirty="0">
                <a:solidFill>
                  <a:schemeClr val="tx2"/>
                </a:solidFill>
                <a:latin typeface="Arial" panose="020B0604020202020204" pitchFamily="34" charset="0"/>
                <a:ea typeface="Bright Retro"/>
                <a:cs typeface="Arial" panose="020B0604020202020204" pitchFamily="34" charset="0"/>
                <a:sym typeface="Bright Retro"/>
              </a:rPr>
              <a:t>Introduction</a:t>
            </a:r>
            <a:endParaRPr lang="ar-EG" sz="4800" dirty="0">
              <a:solidFill>
                <a:schemeClr val="tx2"/>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1137920" y="3570042"/>
            <a:ext cx="9916160" cy="2166302"/>
          </a:xfrm>
        </p:spPr>
        <p:txBody>
          <a:bodyPr/>
          <a:lstStyle/>
          <a:p>
            <a:pPr algn="l"/>
            <a:r>
              <a:rPr lang="en-US" b="1" dirty="0">
                <a:latin typeface="Kulachat Slab"/>
                <a:ea typeface="Kulachat Slab"/>
                <a:cs typeface="Kulachat Slab"/>
                <a:sym typeface="Kulachat Slab"/>
              </a:rPr>
              <a:t>Project: </a:t>
            </a:r>
            <a:r>
              <a:rPr lang="en-US" b="1" dirty="0"/>
              <a:t>This document outlines the configuration steps implemented in Microsoft Dynamics 365 Finance to deploy the Accounts Payable module for the Modern Electronics Distribution company.</a:t>
            </a:r>
          </a:p>
          <a:p>
            <a:pPr algn="l"/>
            <a:r>
              <a:rPr lang="en-US" b="1" dirty="0">
                <a:latin typeface="Kulachat Slab"/>
                <a:ea typeface="Kulachat Slab"/>
                <a:cs typeface="Kulachat Slab"/>
                <a:sym typeface="Kulachat Slab"/>
              </a:rPr>
              <a:t>Date: March 2026</a:t>
            </a:r>
          </a:p>
          <a:p>
            <a:endParaRPr lang="ar-EG"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1657" y="1689101"/>
            <a:ext cx="2133215" cy="833377"/>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865" y="244943"/>
            <a:ext cx="1417559" cy="130324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81920" y="380063"/>
            <a:ext cx="1586664" cy="7977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61955" y="1114097"/>
            <a:ext cx="9144000" cy="1448117"/>
          </a:xfrm>
          <a:noFill/>
        </p:spPr>
        <p:txBody>
          <a:bodyPr>
            <a:normAutofit/>
          </a:bodyPr>
          <a:lstStyle/>
          <a:p>
            <a:r>
              <a:rPr lang="en-US" sz="6600" dirty="0">
                <a:solidFill>
                  <a:schemeClr val="tx2"/>
                </a:solidFill>
                <a:latin typeface="Bright Retro"/>
                <a:ea typeface="Bright Retro"/>
                <a:cs typeface="Bright Retro"/>
                <a:sym typeface="Bright Retro"/>
              </a:rPr>
              <a:t> </a:t>
            </a:r>
            <a:r>
              <a:rPr lang="en-US" sz="4800" dirty="0">
                <a:solidFill>
                  <a:schemeClr val="tx2"/>
                </a:solidFill>
                <a:latin typeface="Arial" panose="020B0604020202020204" pitchFamily="34" charset="0"/>
                <a:ea typeface="Bright Retro"/>
                <a:cs typeface="Arial" panose="020B0604020202020204" pitchFamily="34" charset="0"/>
                <a:sym typeface="Bright Retro"/>
              </a:rPr>
              <a:t>Project Overview</a:t>
            </a:r>
            <a:endParaRPr lang="ar-EG" sz="4800" dirty="0">
              <a:solidFill>
                <a:schemeClr val="tx2"/>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584200" y="2770286"/>
            <a:ext cx="11023600" cy="3923907"/>
          </a:xfrm>
        </p:spPr>
        <p:txBody>
          <a:bodyPr>
            <a:noAutofit/>
          </a:bodyPr>
          <a:lstStyle/>
          <a:p>
            <a:pPr algn="l"/>
            <a:r>
              <a:rPr lang="en-US" sz="2000" b="1" dirty="0">
                <a:latin typeface="Arial Narrow" panose="020B0606020202030204" charset="0"/>
                <a:ea typeface="Kulachat Slab"/>
                <a:cs typeface="Arial Narrow" panose="020B0606020202030204" charset="0"/>
                <a:sym typeface="Kulachat Slab"/>
              </a:rPr>
              <a:t>Company Overview</a:t>
            </a:r>
            <a:r>
              <a:rPr lang="ar-EG" sz="2000" b="1" dirty="0">
                <a:latin typeface="Arial Narrow" panose="020B0606020202030204" charset="0"/>
                <a:ea typeface="Kulachat Slab"/>
                <a:cs typeface="Arial Narrow" panose="020B0606020202030204" charset="0"/>
                <a:sym typeface="Kulachat Slab"/>
              </a:rPr>
              <a:t> </a:t>
            </a:r>
            <a:r>
              <a:rPr lang="en-US" sz="2000" b="1" dirty="0">
                <a:latin typeface="Arial Narrow" panose="020B0606020202030204" charset="0"/>
                <a:ea typeface="Kulachat Slab"/>
                <a:cs typeface="Arial Narrow" panose="020B0606020202030204" charset="0"/>
                <a:sym typeface="Kulachat Slab"/>
              </a:rPr>
              <a:t>Modern Electronics Distribution is an electronics retail and distribution company specializing in supplying electronic products to the market.</a:t>
            </a:r>
            <a:endParaRPr lang="ar-EG" sz="2000" b="1" dirty="0">
              <a:latin typeface="Arial Narrow" panose="020B0606020202030204" charset="0"/>
              <a:ea typeface="Kulachat Slab"/>
              <a:cs typeface="Arial Narrow" panose="020B0606020202030204" charset="0"/>
              <a:sym typeface="Kulachat Slab"/>
            </a:endParaRPr>
          </a:p>
          <a:p>
            <a:pPr algn="l"/>
            <a:br>
              <a:rPr lang="ar-EG" sz="2000" b="1" dirty="0">
                <a:latin typeface="Arial Narrow" panose="020B0606020202030204" charset="0"/>
                <a:ea typeface="Kulachat Slab"/>
                <a:cs typeface="Arial Narrow" panose="020B0606020202030204" charset="0"/>
                <a:sym typeface="Kulachat Slab"/>
              </a:rPr>
            </a:br>
            <a:r>
              <a:rPr lang="en-US" sz="2000" b="1" dirty="0"/>
              <a:t>The company aims to implement and optimize the Accounts Payable module in Microsoft Dynamics 365 Finance to enhance financial efficiency</a:t>
            </a:r>
            <a:endParaRPr lang="ar-EG" sz="2000" b="1" dirty="0">
              <a:latin typeface="Arial Narrow" panose="020B0606020202030204" charset="0"/>
              <a:ea typeface="Kulachat Slab"/>
              <a:cs typeface="Arial Narrow" panose="020B0606020202030204" charset="0"/>
              <a:sym typeface="Kulachat Slab"/>
            </a:endParaRPr>
          </a:p>
          <a:p>
            <a:pPr algn="l"/>
            <a:br>
              <a:rPr lang="ar-EG" sz="2000" b="1" dirty="0">
                <a:latin typeface="Arial Narrow" panose="020B0606020202030204" charset="0"/>
                <a:ea typeface="Kulachat Slab"/>
                <a:cs typeface="Arial Narrow" panose="020B0606020202030204" charset="0"/>
                <a:sym typeface="Kulachat Slab"/>
              </a:rPr>
            </a:br>
            <a:r>
              <a:rPr lang="en-US" sz="2000" b="1" dirty="0">
                <a:latin typeface="Arial Narrow" panose="020B0606020202030204" charset="0"/>
                <a:ea typeface="Kulachat Slab"/>
                <a:cs typeface="Arial Narrow" panose="020B0606020202030204" charset="0"/>
                <a:sym typeface="Kulachat Slab"/>
              </a:rPr>
              <a:t>The main objective is to automate and enhance the process of:</a:t>
            </a:r>
            <a:br>
              <a:rPr lang="ar-EG" sz="2000" b="1" dirty="0">
                <a:latin typeface="Arial Narrow" panose="020B0606020202030204" charset="0"/>
                <a:ea typeface="Kulachat Slab"/>
                <a:cs typeface="Arial Narrow" panose="020B0606020202030204" charset="0"/>
                <a:sym typeface="Kulachat Slab"/>
              </a:rPr>
            </a:br>
            <a:r>
              <a:rPr lang="en-US" sz="2000" b="1" dirty="0">
                <a:latin typeface="Arial Narrow" panose="020B0606020202030204" charset="0"/>
                <a:ea typeface="Kulachat Slab"/>
                <a:cs typeface="Arial Narrow" panose="020B0606020202030204" charset="0"/>
                <a:sym typeface="Kulachat Slab"/>
              </a:rPr>
              <a:t>• Managing vendor invoices</a:t>
            </a:r>
            <a:br>
              <a:rPr lang="ar-EG" sz="2000" b="1" dirty="0">
                <a:latin typeface="Arial Narrow" panose="020B0606020202030204" charset="0"/>
                <a:ea typeface="Kulachat Slab"/>
                <a:cs typeface="Arial Narrow" panose="020B0606020202030204" charset="0"/>
                <a:sym typeface="Kulachat Slab"/>
              </a:rPr>
            </a:br>
            <a:r>
              <a:rPr lang="en-US" sz="2000" b="1" dirty="0">
                <a:latin typeface="Arial Narrow" panose="020B0606020202030204" charset="0"/>
                <a:ea typeface="Kulachat Slab"/>
                <a:cs typeface="Arial Narrow" panose="020B0606020202030204" charset="0"/>
                <a:sym typeface="Kulachat Slab"/>
              </a:rPr>
              <a:t>• Scheduling vendor payments</a:t>
            </a:r>
            <a:br>
              <a:rPr lang="ar-EG" sz="2000" b="1" dirty="0">
                <a:latin typeface="Arial Narrow" panose="020B0606020202030204" charset="0"/>
                <a:ea typeface="Kulachat Slab"/>
                <a:cs typeface="Arial Narrow" panose="020B0606020202030204" charset="0"/>
                <a:sym typeface="Kulachat Slab"/>
              </a:rPr>
            </a:br>
            <a:r>
              <a:rPr lang="en-US" sz="2000" b="1" dirty="0">
                <a:latin typeface="Arial Narrow" panose="020B0606020202030204" charset="0"/>
                <a:ea typeface="Kulachat Slab"/>
                <a:cs typeface="Arial Narrow" panose="020B0606020202030204" charset="0"/>
                <a:sym typeface="Kulachat Slab"/>
              </a:rPr>
              <a:t>• Tracking outstanding balances</a:t>
            </a:r>
            <a:r>
              <a:rPr lang="ar-EG" sz="2000" b="1" dirty="0">
                <a:latin typeface="Arial Narrow" panose="020B0606020202030204" charset="0"/>
                <a:ea typeface="Kulachat Slab"/>
                <a:cs typeface="Arial Narrow" panose="020B0606020202030204" charset="0"/>
                <a:sym typeface="Kulachat Slab"/>
              </a:rPr>
              <a:t> </a:t>
            </a:r>
            <a:r>
              <a:rPr lang="en-US" sz="2000" b="1" dirty="0">
                <a:latin typeface="Arial Narrow" panose="020B0606020202030204" charset="0"/>
                <a:ea typeface="Kulachat Slab"/>
                <a:cs typeface="Arial Narrow" panose="020B0606020202030204" charset="0"/>
                <a:sym typeface="Kulachat Slab"/>
              </a:rPr>
              <a:t>This implementation will help the company achieve better financial control and more efficient vendor management.</a:t>
            </a:r>
            <a:endParaRPr lang="ar-EG" sz="2000" b="1" dirty="0">
              <a:latin typeface="Arial Narrow" panose="020B0606020202030204" charset="0"/>
              <a:cs typeface="Arial Narrow" panose="020B0606020202030204"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86193"/>
            <a:ext cx="1417559" cy="1303240"/>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86"/>
            <a:ext cx="1774776" cy="6933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629103"/>
            <a:ext cx="10681138" cy="1276657"/>
          </a:xfrm>
        </p:spPr>
        <p:txBody>
          <a:bodyPr>
            <a:noAutofit/>
          </a:bodyPr>
          <a:lstStyle/>
          <a:p>
            <a:pPr algn="ctr"/>
            <a:r>
              <a:rPr lang="en-US" sz="3600" b="1" dirty="0">
                <a:solidFill>
                  <a:schemeClr val="tx2"/>
                </a:solidFill>
                <a:latin typeface="Arial" panose="020B0604020202020204" pitchFamily="34" charset="0"/>
                <a:ea typeface="Bright Retro"/>
                <a:cs typeface="Arial" panose="020B0604020202020204" pitchFamily="34" charset="0"/>
                <a:sym typeface="Bright Retro"/>
              </a:rPr>
              <a:t>Client Requirements</a:t>
            </a:r>
            <a:r>
              <a:rPr lang="en-US" sz="4800" b="1" dirty="0">
                <a:solidFill>
                  <a:schemeClr val="tx2"/>
                </a:solidFill>
                <a:latin typeface="Bright Retro"/>
                <a:ea typeface="Bright Retro"/>
                <a:cs typeface="Bright Retro"/>
                <a:sym typeface="Bright Retro"/>
              </a:rPr>
              <a:t> </a:t>
            </a:r>
            <a:br>
              <a:rPr lang="en-US" sz="4800" b="1" dirty="0">
                <a:solidFill>
                  <a:schemeClr val="tx2"/>
                </a:solidFill>
                <a:latin typeface="Bright Retro"/>
                <a:ea typeface="Bright Retro"/>
                <a:cs typeface="Bright Retro"/>
                <a:sym typeface="Bright Retro"/>
              </a:rPr>
            </a:br>
            <a:endParaRPr lang="ar-EG" sz="4800" b="1" dirty="0">
              <a:solidFill>
                <a:schemeClr val="tx2"/>
              </a:solidFill>
            </a:endParaRPr>
          </a:p>
        </p:txBody>
      </p:sp>
      <p:sp>
        <p:nvSpPr>
          <p:cNvPr id="6" name="TextBox 5"/>
          <p:cNvSpPr txBox="1"/>
          <p:nvPr/>
        </p:nvSpPr>
        <p:spPr>
          <a:xfrm>
            <a:off x="672662" y="2411759"/>
            <a:ext cx="10920248" cy="4188460"/>
          </a:xfrm>
          <a:prstGeom prst="rect">
            <a:avLst/>
          </a:prstGeom>
          <a:noFill/>
        </p:spPr>
        <p:txBody>
          <a:bodyPr wrap="square">
            <a:spAutoFit/>
          </a:bodyPr>
          <a:lstStyle/>
          <a:p>
            <a:pPr marL="342900" indent="-342900">
              <a:lnSpc>
                <a:spcPts val="5325"/>
              </a:lnSpc>
              <a:buFont typeface="Arial" panose="020B0604020202020204" pitchFamily="34" charset="0"/>
              <a:buChar char="•"/>
            </a:pPr>
            <a:r>
              <a:rPr lang="en-GB" sz="2000" b="1" dirty="0">
                <a:latin typeface="Arial Narrow" panose="020B0606020202030204" charset="0"/>
                <a:cs typeface="Arial Narrow" panose="020B0606020202030204" charset="0"/>
              </a:rPr>
              <a:t>Record and manage Vendor invoices </a:t>
            </a:r>
          </a:p>
          <a:p>
            <a:pPr marL="342900" indent="-342900">
              <a:lnSpc>
                <a:spcPts val="5325"/>
              </a:lnSpc>
              <a:buFont typeface="Arial" panose="020B0604020202020204" pitchFamily="34" charset="0"/>
              <a:buChar char="•"/>
            </a:pPr>
            <a:r>
              <a:rPr lang="en-GB" sz="2000" b="1" dirty="0">
                <a:latin typeface="Arial Narrow" panose="020B0606020202030204" charset="0"/>
                <a:cs typeface="Arial Narrow" panose="020B0606020202030204" charset="0"/>
              </a:rPr>
              <a:t>Track due payments and manage vendor credit terms</a:t>
            </a:r>
          </a:p>
          <a:p>
            <a:pPr marL="342900" indent="-342900">
              <a:lnSpc>
                <a:spcPts val="5325"/>
              </a:lnSpc>
              <a:buFont typeface="Arial" panose="020B0604020202020204" pitchFamily="34" charset="0"/>
              <a:buChar char="•"/>
            </a:pPr>
            <a:r>
              <a:rPr lang="en-GB" sz="2000" b="1" dirty="0">
                <a:latin typeface="Arial Narrow" panose="020B0606020202030204" charset="0"/>
                <a:cs typeface="Arial Narrow" panose="020B0606020202030204" charset="0"/>
              </a:rPr>
              <a:t> Manage purchase orders linked with Vendor payments  </a:t>
            </a:r>
          </a:p>
          <a:p>
            <a:pPr marL="342900" indent="-342900">
              <a:lnSpc>
                <a:spcPts val="5325"/>
              </a:lnSpc>
              <a:buFont typeface="Arial" panose="020B0604020202020204" pitchFamily="34" charset="0"/>
              <a:buChar char="•"/>
            </a:pPr>
            <a:r>
              <a:rPr lang="en-GB" sz="2000" b="1" dirty="0">
                <a:latin typeface="Arial Narrow" panose="020B0606020202030204" charset="0"/>
                <a:cs typeface="Arial Narrow" panose="020B0606020202030204" charset="0"/>
              </a:rPr>
              <a:t>Automate payment processing and reconciliation </a:t>
            </a:r>
          </a:p>
          <a:p>
            <a:pPr marL="342900" indent="-342900">
              <a:lnSpc>
                <a:spcPts val="5325"/>
              </a:lnSpc>
              <a:buFont typeface="Arial" panose="020B0604020202020204" pitchFamily="34" charset="0"/>
              <a:buChar char="•"/>
            </a:pPr>
            <a:r>
              <a:rPr lang="en-GB" sz="2000" b="1" dirty="0">
                <a:latin typeface="Arial Narrow" panose="020B0606020202030204" charset="0"/>
                <a:cs typeface="Arial Narrow" panose="020B0606020202030204" charset="0"/>
              </a:rPr>
              <a:t>Generate financial reports related to Vendor balances </a:t>
            </a:r>
          </a:p>
          <a:p>
            <a:pPr marL="342900" indent="-342900">
              <a:lnSpc>
                <a:spcPts val="5325"/>
              </a:lnSpc>
              <a:buFont typeface="Arial" panose="020B0604020202020204" pitchFamily="34" charset="0"/>
              <a:buChar char="•"/>
            </a:pPr>
            <a:r>
              <a:rPr lang="en-GB" sz="2000" b="1" dirty="0">
                <a:latin typeface="Arial Narrow" panose="020B0606020202030204" charset="0"/>
                <a:cs typeface="Arial Narrow" panose="020B0606020202030204" charset="0"/>
              </a:rPr>
              <a:t>Provide training to the accounting team on the new system</a:t>
            </a:r>
            <a:r>
              <a:rPr lang="en-GB" sz="2800" b="1" dirty="0">
                <a:latin typeface="Arial Narrow" panose="020B0606020202030204" charset="0"/>
                <a:cs typeface="Arial Narrow" panose="020B0606020202030204" charset="0"/>
              </a:rPr>
              <a:t>.</a:t>
            </a:r>
            <a:endParaRPr lang="ar-EG" sz="2800" b="1" dirty="0">
              <a:latin typeface="Arial Narrow" panose="020B0606020202030204" charset="0"/>
              <a:cs typeface="Arial Narrow" panose="020B0606020202030204"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310" y="-167"/>
            <a:ext cx="1417559" cy="130324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86"/>
            <a:ext cx="1774776" cy="6933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arn(inVertical)">
                                      <p:cBhvr>
                                        <p:cTn id="12" dur="500"/>
                                        <p:tgtEl>
                                          <p:spTgt spid="6">
                                            <p:txEl>
                                              <p:pRg st="0" end="0"/>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barn(inVertical)">
                                      <p:cBhvr>
                                        <p:cTn id="15" dur="500"/>
                                        <p:tgtEl>
                                          <p:spTgt spid="6">
                                            <p:txEl>
                                              <p:pRg st="1" end="1"/>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barn(inVertical)">
                                      <p:cBhvr>
                                        <p:cTn id="18" dur="500"/>
                                        <p:tgtEl>
                                          <p:spTgt spid="6">
                                            <p:txEl>
                                              <p:pRg st="2" end="2"/>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barn(inVertical)">
                                      <p:cBhvr>
                                        <p:cTn id="21" dur="500"/>
                                        <p:tgtEl>
                                          <p:spTgt spid="6">
                                            <p:txEl>
                                              <p:pRg st="3" end="3"/>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animEffect transition="in" filter="barn(inVertical)">
                                      <p:cBhvr>
                                        <p:cTn id="24" dur="500"/>
                                        <p:tgtEl>
                                          <p:spTgt spid="6">
                                            <p:txEl>
                                              <p:pRg st="4" end="4"/>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barn(inVertical)">
                                      <p:cBhvr>
                                        <p:cTn id="27"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2321E4D6-835F-898F-7600-914F24E60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F0E30E-B5F8-FF93-658D-11FB981CE6AC}"/>
              </a:ext>
            </a:extLst>
          </p:cNvPr>
          <p:cNvSpPr>
            <a:spLocks noGrp="1"/>
          </p:cNvSpPr>
          <p:nvPr>
            <p:ph type="title"/>
          </p:nvPr>
        </p:nvSpPr>
        <p:spPr>
          <a:xfrm>
            <a:off x="838200" y="693161"/>
            <a:ext cx="10210014" cy="1900137"/>
          </a:xfrm>
        </p:spPr>
        <p:txBody>
          <a:bodyPr>
            <a:noAutofit/>
          </a:bodyPr>
          <a:lstStyle/>
          <a:p>
            <a:pPr algn="ctr"/>
            <a:r>
              <a:rPr lang="en-US" sz="3600" b="1" dirty="0">
                <a:solidFill>
                  <a:schemeClr val="tx2"/>
                </a:solidFill>
                <a:latin typeface="Arial" panose="020B0604020202020204" pitchFamily="34" charset="0"/>
                <a:ea typeface="Bright Retro"/>
                <a:cs typeface="Arial" panose="020B0604020202020204" pitchFamily="34" charset="0"/>
                <a:sym typeface="Bright Retro"/>
              </a:rPr>
              <a:t>Company Financial Setup</a:t>
            </a:r>
            <a:br>
              <a:rPr lang="en-US" sz="4800" b="1" dirty="0">
                <a:solidFill>
                  <a:schemeClr val="tx2"/>
                </a:solidFill>
                <a:latin typeface="Bright Retro"/>
                <a:ea typeface="Bright Retro"/>
                <a:cs typeface="Bright Retro"/>
                <a:sym typeface="Bright Retro"/>
              </a:rPr>
            </a:br>
            <a:r>
              <a:rPr lang="en-US" sz="3600" b="1" dirty="0">
                <a:solidFill>
                  <a:schemeClr val="tx2"/>
                </a:solidFill>
                <a:latin typeface="Arial" panose="020B0604020202020204" pitchFamily="34" charset="0"/>
                <a:ea typeface="Bright Retro"/>
                <a:cs typeface="Arial" panose="020B0604020202020204" pitchFamily="34" charset="0"/>
                <a:sym typeface="Bright Retro"/>
              </a:rPr>
              <a:t>Legal entities</a:t>
            </a:r>
            <a:br>
              <a:rPr lang="en-US" sz="3600" b="1" dirty="0">
                <a:solidFill>
                  <a:schemeClr val="tx2"/>
                </a:solidFill>
                <a:latin typeface="Arial" panose="020B0604020202020204" pitchFamily="34" charset="0"/>
                <a:ea typeface="Bright Retro"/>
                <a:cs typeface="Arial" panose="020B0604020202020204" pitchFamily="34" charset="0"/>
                <a:sym typeface="Bright Retro"/>
              </a:rPr>
            </a:br>
            <a:br>
              <a:rPr lang="en-US" sz="2400" b="1" dirty="0">
                <a:solidFill>
                  <a:schemeClr val="tx2"/>
                </a:solidFill>
                <a:latin typeface="Arial" panose="020B0604020202020204" pitchFamily="34" charset="0"/>
                <a:ea typeface="Bright Retro"/>
                <a:cs typeface="Arial" panose="020B0604020202020204" pitchFamily="34" charset="0"/>
                <a:sym typeface="Bright Retro"/>
              </a:rPr>
            </a:br>
            <a:r>
              <a:rPr lang="en-US" sz="2000" b="1" dirty="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t>The first step is to create a new Legal Entity containing the company name, country, and company data.</a:t>
            </a:r>
            <a:br>
              <a:rPr lang="en-US" sz="2000" b="1" dirty="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rPr>
            </a:br>
            <a:br>
              <a:rPr lang="en-US" sz="2000" b="1" dirty="0">
                <a:ln w="0"/>
                <a:effectLst>
                  <a:outerShdw blurRad="38100" dist="25400" dir="5400000" algn="ctr" rotWithShape="0">
                    <a:srgbClr val="6E747A">
                      <a:alpha val="43000"/>
                    </a:srgbClr>
                  </a:outerShdw>
                </a:effectLst>
                <a:latin typeface="Arial Narrow" panose="020B0606020202030204" charset="0"/>
                <a:cs typeface="Arial Narrow" panose="020B0606020202030204" charset="0"/>
              </a:rPr>
            </a:br>
            <a:endParaRPr lang="ar-EG" sz="2000" b="1" dirty="0">
              <a:solidFill>
                <a:schemeClr val="tx2"/>
              </a:solidFill>
            </a:endParaRPr>
          </a:p>
        </p:txBody>
      </p:sp>
      <p:pic>
        <p:nvPicPr>
          <p:cNvPr id="5" name="Picture 4">
            <a:extLst>
              <a:ext uri="{FF2B5EF4-FFF2-40B4-BE49-F238E27FC236}">
                <a16:creationId xmlns:a16="http://schemas.microsoft.com/office/drawing/2014/main" id="{64CDFFA2-B478-495D-0721-80987646C9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67"/>
            <a:ext cx="1417559" cy="1303240"/>
          </a:xfrm>
          <a:prstGeom prst="rect">
            <a:avLst/>
          </a:prstGeom>
        </p:spPr>
      </p:pic>
      <p:pic>
        <p:nvPicPr>
          <p:cNvPr id="7" name="Picture 6">
            <a:extLst>
              <a:ext uri="{FF2B5EF4-FFF2-40B4-BE49-F238E27FC236}">
                <a16:creationId xmlns:a16="http://schemas.microsoft.com/office/drawing/2014/main" id="{80B48956-2EBE-0801-FAA7-F87778C6CE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86"/>
            <a:ext cx="1774776" cy="693347"/>
          </a:xfrm>
          <a:prstGeom prst="rect">
            <a:avLst/>
          </a:prstGeom>
        </p:spPr>
      </p:pic>
      <p:pic>
        <p:nvPicPr>
          <p:cNvPr id="3" name="Picture 2">
            <a:extLst>
              <a:ext uri="{FF2B5EF4-FFF2-40B4-BE49-F238E27FC236}">
                <a16:creationId xmlns:a16="http://schemas.microsoft.com/office/drawing/2014/main" id="{9FC8D840-A062-1AD6-E6DB-A7B5DA890F59}"/>
              </a:ext>
            </a:extLst>
          </p:cNvPr>
          <p:cNvPicPr>
            <a:picLocks noChangeAspect="1"/>
          </p:cNvPicPr>
          <p:nvPr/>
        </p:nvPicPr>
        <p:blipFill>
          <a:blip r:embed="rId4"/>
          <a:stretch>
            <a:fillRect/>
          </a:stretch>
        </p:blipFill>
        <p:spPr>
          <a:xfrm>
            <a:off x="0" y="2488368"/>
            <a:ext cx="12192000" cy="4385730"/>
          </a:xfrm>
          <a:prstGeom prst="rect">
            <a:avLst/>
          </a:prstGeom>
        </p:spPr>
      </p:pic>
    </p:spTree>
    <p:extLst>
      <p:ext uri="{BB962C8B-B14F-4D97-AF65-F5344CB8AC3E}">
        <p14:creationId xmlns:p14="http://schemas.microsoft.com/office/powerpoint/2010/main" val="2861266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629103"/>
            <a:ext cx="10210014" cy="1276657"/>
          </a:xfrm>
        </p:spPr>
        <p:txBody>
          <a:bodyPr>
            <a:noAutofit/>
          </a:bodyPr>
          <a:lstStyle/>
          <a:p>
            <a:pPr algn="ctr"/>
            <a:r>
              <a:rPr lang="en-US" sz="3600" b="1" dirty="0">
                <a:solidFill>
                  <a:schemeClr val="tx2"/>
                </a:solidFill>
                <a:latin typeface="Arial" panose="020B0604020202020204" pitchFamily="34" charset="0"/>
                <a:ea typeface="Bright Retro"/>
                <a:cs typeface="Arial" panose="020B0604020202020204" pitchFamily="34" charset="0"/>
                <a:sym typeface="Bright Retro"/>
              </a:rPr>
              <a:t>General Ledger Setup  Financial Setup</a:t>
            </a:r>
            <a:br>
              <a:rPr lang="en-US" sz="4800" b="1" dirty="0">
                <a:solidFill>
                  <a:schemeClr val="tx2"/>
                </a:solidFill>
                <a:latin typeface="Bright Retro"/>
                <a:ea typeface="Bright Retro"/>
                <a:cs typeface="Bright Retro"/>
                <a:sym typeface="Bright Retro"/>
              </a:rPr>
            </a:br>
            <a:endParaRPr lang="ar-EG" sz="4800" b="1" dirty="0">
              <a:solidFill>
                <a:schemeClr val="tx2"/>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67"/>
            <a:ext cx="1417559" cy="130324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86"/>
            <a:ext cx="1774776" cy="693347"/>
          </a:xfrm>
          <a:prstGeom prst="rect">
            <a:avLst/>
          </a:prstGeom>
        </p:spPr>
      </p:pic>
      <p:graphicFrame>
        <p:nvGraphicFramePr>
          <p:cNvPr id="10" name="Diagram 9">
            <a:extLst>
              <a:ext uri="{FF2B5EF4-FFF2-40B4-BE49-F238E27FC236}">
                <a16:creationId xmlns:a16="http://schemas.microsoft.com/office/drawing/2014/main" id="{6F12290C-0231-CD39-3FF5-DA347CE28132}"/>
              </a:ext>
            </a:extLst>
          </p:cNvPr>
          <p:cNvGraphicFramePr/>
          <p:nvPr>
            <p:extLst>
              <p:ext uri="{D42A27DB-BD31-4B8C-83A1-F6EECF244321}">
                <p14:modId xmlns:p14="http://schemas.microsoft.com/office/powerpoint/2010/main" val="2023547655"/>
              </p:ext>
            </p:extLst>
          </p:nvPr>
        </p:nvGraphicFramePr>
        <p:xfrm>
          <a:off x="1983510" y="2218543"/>
          <a:ext cx="8074889" cy="446706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EB8D6044-A244-678D-2357-537D26357E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7A74D-BA35-D9E9-73B6-BF0DDFC13106}"/>
              </a:ext>
            </a:extLst>
          </p:cNvPr>
          <p:cNvSpPr>
            <a:spLocks noGrp="1"/>
          </p:cNvSpPr>
          <p:nvPr>
            <p:ph type="title"/>
          </p:nvPr>
        </p:nvSpPr>
        <p:spPr>
          <a:xfrm>
            <a:off x="838200" y="817245"/>
            <a:ext cx="10515600" cy="302260"/>
          </a:xfrm>
        </p:spPr>
        <p:txBody>
          <a:bodyPr>
            <a:noAutofit/>
          </a:bodyPr>
          <a:lstStyle/>
          <a:p>
            <a:pPr algn="ctr">
              <a:lnSpc>
                <a:spcPts val="8170"/>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Charts of accounts</a:t>
            </a:r>
          </a:p>
        </p:txBody>
      </p:sp>
      <p:pic>
        <p:nvPicPr>
          <p:cNvPr id="7" name="Picture 6">
            <a:extLst>
              <a:ext uri="{FF2B5EF4-FFF2-40B4-BE49-F238E27FC236}">
                <a16:creationId xmlns:a16="http://schemas.microsoft.com/office/drawing/2014/main" id="{366C1071-5418-C051-5CDB-EA0EEAD61B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500" y="111593"/>
            <a:ext cx="1417559" cy="1303240"/>
          </a:xfrm>
          <a:prstGeom prst="rect">
            <a:avLst/>
          </a:prstGeom>
        </p:spPr>
      </p:pic>
      <p:pic>
        <p:nvPicPr>
          <p:cNvPr id="10" name="Picture 9">
            <a:extLst>
              <a:ext uri="{FF2B5EF4-FFF2-40B4-BE49-F238E27FC236}">
                <a16:creationId xmlns:a16="http://schemas.microsoft.com/office/drawing/2014/main" id="{BE35A9D5-9FE4-32BF-05E3-1C4633F1E6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25295"/>
            <a:ext cx="1774776" cy="693347"/>
          </a:xfrm>
          <a:prstGeom prst="rect">
            <a:avLst/>
          </a:prstGeom>
        </p:spPr>
      </p:pic>
      <p:graphicFrame>
        <p:nvGraphicFramePr>
          <p:cNvPr id="4" name="Table 3">
            <a:extLst>
              <a:ext uri="{FF2B5EF4-FFF2-40B4-BE49-F238E27FC236}">
                <a16:creationId xmlns:a16="http://schemas.microsoft.com/office/drawing/2014/main" id="{E9549960-017D-ED4C-A33D-C275B8C0032D}"/>
              </a:ext>
            </a:extLst>
          </p:cNvPr>
          <p:cNvGraphicFramePr>
            <a:graphicFrameLocks noGrp="1"/>
          </p:cNvGraphicFramePr>
          <p:nvPr>
            <p:extLst>
              <p:ext uri="{D42A27DB-BD31-4B8C-83A1-F6EECF244321}">
                <p14:modId xmlns:p14="http://schemas.microsoft.com/office/powerpoint/2010/main" val="2466605725"/>
              </p:ext>
            </p:extLst>
          </p:nvPr>
        </p:nvGraphicFramePr>
        <p:xfrm>
          <a:off x="1229194" y="1825157"/>
          <a:ext cx="8634334" cy="3205196"/>
        </p:xfrm>
        <a:graphic>
          <a:graphicData uri="http://schemas.openxmlformats.org/drawingml/2006/table">
            <a:tbl>
              <a:tblPr firstRow="1" firstCol="1" bandRow="1">
                <a:tableStyleId>{5C22544A-7EE6-4342-B048-85BDC9FD1C3A}</a:tableStyleId>
              </a:tblPr>
              <a:tblGrid>
                <a:gridCol w="2226880">
                  <a:extLst>
                    <a:ext uri="{9D8B030D-6E8A-4147-A177-3AD203B41FA5}">
                      <a16:colId xmlns:a16="http://schemas.microsoft.com/office/drawing/2014/main" val="2756511020"/>
                    </a:ext>
                  </a:extLst>
                </a:gridCol>
                <a:gridCol w="6407454">
                  <a:extLst>
                    <a:ext uri="{9D8B030D-6E8A-4147-A177-3AD203B41FA5}">
                      <a16:colId xmlns:a16="http://schemas.microsoft.com/office/drawing/2014/main" val="580788776"/>
                    </a:ext>
                  </a:extLst>
                </a:gridCol>
              </a:tblGrid>
              <a:tr h="608824">
                <a:tc>
                  <a:txBody>
                    <a:bodyPr/>
                    <a:lstStyle/>
                    <a:p>
                      <a:pPr>
                        <a:lnSpc>
                          <a:spcPct val="150000"/>
                        </a:lnSpc>
                        <a:spcBef>
                          <a:spcPts val="600"/>
                        </a:spcBef>
                        <a:buNone/>
                      </a:pPr>
                      <a:r>
                        <a:rPr lang="en-US" sz="2000" kern="1400">
                          <a:effectLst/>
                        </a:rPr>
                        <a:t>Process code</a:t>
                      </a:r>
                      <a:endParaRPr lang="en-US" sz="2000"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2000" kern="1400">
                          <a:effectLst/>
                        </a:rPr>
                        <a:t>01.01.01. Financial Management </a:t>
                      </a:r>
                      <a:endParaRPr lang="en-US" sz="2000"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59000648"/>
                  </a:ext>
                </a:extLst>
              </a:tr>
              <a:tr h="608824">
                <a:tc>
                  <a:txBody>
                    <a:bodyPr/>
                    <a:lstStyle/>
                    <a:p>
                      <a:pPr>
                        <a:lnSpc>
                          <a:spcPct val="150000"/>
                        </a:lnSpc>
                        <a:spcBef>
                          <a:spcPts val="600"/>
                        </a:spcBef>
                        <a:buNone/>
                      </a:pPr>
                      <a:r>
                        <a:rPr lang="en-US" sz="2000" kern="1400">
                          <a:effectLst/>
                        </a:rPr>
                        <a:t>Process name</a:t>
                      </a:r>
                      <a:endParaRPr lang="en-US" sz="2000"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2000" kern="1400">
                          <a:effectLst/>
                        </a:rPr>
                        <a:t>Chart of accounts</a:t>
                      </a:r>
                      <a:endParaRPr lang="en-US" sz="2000"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9188738"/>
                  </a:ext>
                </a:extLst>
              </a:tr>
              <a:tr h="993774">
                <a:tc>
                  <a:txBody>
                    <a:bodyPr/>
                    <a:lstStyle/>
                    <a:p>
                      <a:pPr>
                        <a:lnSpc>
                          <a:spcPct val="150000"/>
                        </a:lnSpc>
                        <a:spcBef>
                          <a:spcPts val="600"/>
                        </a:spcBef>
                        <a:buNone/>
                      </a:pPr>
                      <a:r>
                        <a:rPr lang="en-US" sz="2000" kern="1400">
                          <a:effectLst/>
                        </a:rPr>
                        <a:t>Process description</a:t>
                      </a:r>
                      <a:endParaRPr lang="en-US" sz="2000"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2000" kern="1400">
                          <a:effectLst/>
                        </a:rPr>
                        <a:t>Main account creation</a:t>
                      </a:r>
                      <a:endParaRPr lang="en-US" sz="2000"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1328440"/>
                  </a:ext>
                </a:extLst>
              </a:tr>
              <a:tr h="993774">
                <a:tc>
                  <a:txBody>
                    <a:bodyPr/>
                    <a:lstStyle/>
                    <a:p>
                      <a:pPr>
                        <a:lnSpc>
                          <a:spcPct val="150000"/>
                        </a:lnSpc>
                        <a:spcBef>
                          <a:spcPts val="600"/>
                        </a:spcBef>
                        <a:buNone/>
                      </a:pPr>
                      <a:r>
                        <a:rPr lang="en-US" sz="2000" kern="1400">
                          <a:effectLst/>
                        </a:rPr>
                        <a:t>Form path</a:t>
                      </a:r>
                      <a:endParaRPr lang="en-US" sz="2000"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2000" kern="1400" dirty="0">
                          <a:effectLst/>
                        </a:rPr>
                        <a:t>General Ledger &gt;&gt; Chart of accounts &gt;&gt; accounts &gt;&gt; Chart of accounts</a:t>
                      </a:r>
                      <a:endParaRPr lang="en-US" sz="2000" kern="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7828941"/>
                  </a:ext>
                </a:extLst>
              </a:tr>
            </a:tbl>
          </a:graphicData>
        </a:graphic>
      </p:graphicFrame>
    </p:spTree>
    <p:extLst>
      <p:ext uri="{BB962C8B-B14F-4D97-AF65-F5344CB8AC3E}">
        <p14:creationId xmlns:p14="http://schemas.microsoft.com/office/powerpoint/2010/main" val="1147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8535" y="1480984"/>
            <a:ext cx="10515600" cy="1037364"/>
          </a:xfrm>
        </p:spPr>
        <p:txBody>
          <a:bodyPr>
            <a:noAutofit/>
          </a:bodyPr>
          <a:lstStyle/>
          <a:p>
            <a:pPr>
              <a:lnSpc>
                <a:spcPts val="8170"/>
              </a:lnSpc>
            </a:pPr>
            <a:r>
              <a:rPr lang="en-US" sz="2800" b="1" dirty="0">
                <a:solidFill>
                  <a:schemeClr val="tx2"/>
                </a:solidFill>
                <a:latin typeface="Arial" panose="020B0604020202020204" pitchFamily="34" charset="0"/>
                <a:ea typeface="Bright Retro"/>
                <a:cs typeface="Arial" panose="020B0604020202020204" pitchFamily="34" charset="0"/>
                <a:sym typeface="Bright Retro"/>
              </a:rPr>
              <a:t>•	 Create the main accounts in the chart of accounts.</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500" y="111593"/>
            <a:ext cx="1417559" cy="1303240"/>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25295"/>
            <a:ext cx="1774776" cy="693347"/>
          </a:xfrm>
          <a:prstGeom prst="rect">
            <a:avLst/>
          </a:prstGeom>
        </p:spPr>
      </p:pic>
      <p:pic>
        <p:nvPicPr>
          <p:cNvPr id="11" name="Picture 10"/>
          <p:cNvPicPr>
            <a:picLocks noChangeAspect="1"/>
          </p:cNvPicPr>
          <p:nvPr/>
        </p:nvPicPr>
        <p:blipFill>
          <a:blip r:embed="rId4"/>
          <a:stretch>
            <a:fillRect/>
          </a:stretch>
        </p:blipFill>
        <p:spPr>
          <a:xfrm>
            <a:off x="0" y="2584500"/>
            <a:ext cx="12192000" cy="43247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5294838-7A36-76E3-7E38-895809AAE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8360AC-B8EC-FEDC-2E33-942127BF1DF2}"/>
              </a:ext>
            </a:extLst>
          </p:cNvPr>
          <p:cNvSpPr>
            <a:spLocks noGrp="1"/>
          </p:cNvSpPr>
          <p:nvPr>
            <p:ph type="title"/>
          </p:nvPr>
        </p:nvSpPr>
        <p:spPr>
          <a:xfrm>
            <a:off x="328535" y="1600150"/>
            <a:ext cx="10515600" cy="693346"/>
          </a:xfrm>
        </p:spPr>
        <p:txBody>
          <a:bodyPr>
            <a:noAutofit/>
          </a:bodyPr>
          <a:lstStyle/>
          <a:p>
            <a:pPr>
              <a:lnSpc>
                <a:spcPts val="8170"/>
              </a:lnSpc>
            </a:pPr>
            <a:r>
              <a:rPr lang="en-US" sz="2800" b="1" dirty="0">
                <a:solidFill>
                  <a:schemeClr val="tx2"/>
                </a:solidFill>
                <a:latin typeface="Arial" panose="020B0604020202020204" pitchFamily="34" charset="0"/>
                <a:ea typeface="Bright Retro"/>
                <a:cs typeface="Arial" panose="020B0604020202020204" pitchFamily="34" charset="0"/>
                <a:sym typeface="Bright Retro"/>
              </a:rPr>
              <a:t>	</a:t>
            </a:r>
          </a:p>
        </p:txBody>
      </p:sp>
      <p:pic>
        <p:nvPicPr>
          <p:cNvPr id="7" name="Picture 6">
            <a:extLst>
              <a:ext uri="{FF2B5EF4-FFF2-40B4-BE49-F238E27FC236}">
                <a16:creationId xmlns:a16="http://schemas.microsoft.com/office/drawing/2014/main" id="{0BB96C29-8BD5-1F83-90B1-C20FAF0592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500" y="111593"/>
            <a:ext cx="1417559" cy="1303240"/>
          </a:xfrm>
          <a:prstGeom prst="rect">
            <a:avLst/>
          </a:prstGeom>
        </p:spPr>
      </p:pic>
      <p:pic>
        <p:nvPicPr>
          <p:cNvPr id="10" name="Picture 9">
            <a:extLst>
              <a:ext uri="{FF2B5EF4-FFF2-40B4-BE49-F238E27FC236}">
                <a16:creationId xmlns:a16="http://schemas.microsoft.com/office/drawing/2014/main" id="{DEB1BFDD-5E97-75DB-66CD-24035AF087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25295"/>
            <a:ext cx="1774776" cy="693347"/>
          </a:xfrm>
          <a:prstGeom prst="rect">
            <a:avLst/>
          </a:prstGeom>
        </p:spPr>
      </p:pic>
      <p:sp>
        <p:nvSpPr>
          <p:cNvPr id="13" name="TextBox 12">
            <a:extLst>
              <a:ext uri="{FF2B5EF4-FFF2-40B4-BE49-F238E27FC236}">
                <a16:creationId xmlns:a16="http://schemas.microsoft.com/office/drawing/2014/main" id="{00B6C826-17B9-BAE3-8450-BCD3C1082EAF}"/>
              </a:ext>
            </a:extLst>
          </p:cNvPr>
          <p:cNvSpPr txBox="1"/>
          <p:nvPr/>
        </p:nvSpPr>
        <p:spPr>
          <a:xfrm>
            <a:off x="794479" y="1577491"/>
            <a:ext cx="9622473" cy="954107"/>
          </a:xfrm>
          <a:prstGeom prst="rect">
            <a:avLst/>
          </a:prstGeom>
          <a:noFill/>
        </p:spPr>
        <p:txBody>
          <a:bodyPr wrap="square">
            <a:spAutoFit/>
          </a:bodyPr>
          <a:lstStyle/>
          <a:p>
            <a:r>
              <a:rPr lang="en-US" sz="2800" b="1" dirty="0">
                <a:solidFill>
                  <a:srgbClr val="002060"/>
                </a:solidFill>
                <a:latin typeface="Arial" panose="020B0604020202020204" pitchFamily="34" charset="0"/>
                <a:cs typeface="Arial" panose="020B0604020202020204" pitchFamily="34" charset="0"/>
              </a:rPr>
              <a:t>	Clicking New will open the creation of the new account form.</a:t>
            </a:r>
            <a:endParaRPr lang="ar-EG" sz="2800" b="1" dirty="0">
              <a:solidFill>
                <a:srgbClr val="002060"/>
              </a:solidFill>
              <a:latin typeface="Arial" panose="020B060402020202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D3F28F6C-A92A-FAE4-6F78-2E7CD16C3CE6}"/>
              </a:ext>
            </a:extLst>
          </p:cNvPr>
          <p:cNvPicPr>
            <a:picLocks noChangeAspect="1"/>
          </p:cNvPicPr>
          <p:nvPr/>
        </p:nvPicPr>
        <p:blipFill>
          <a:blip r:embed="rId4"/>
          <a:stretch>
            <a:fillRect/>
          </a:stretch>
        </p:blipFill>
        <p:spPr>
          <a:xfrm>
            <a:off x="0" y="2478813"/>
            <a:ext cx="12191728" cy="4379187"/>
          </a:xfrm>
          <a:prstGeom prst="rect">
            <a:avLst/>
          </a:prstGeom>
        </p:spPr>
      </p:pic>
    </p:spTree>
    <p:extLst>
      <p:ext uri="{BB962C8B-B14F-4D97-AF65-F5344CB8AC3E}">
        <p14:creationId xmlns:p14="http://schemas.microsoft.com/office/powerpoint/2010/main" val="869899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F1A8263-61D5-97C6-8531-2823CF402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5C1B9-180F-9B4D-E588-CE4F5937C72B}"/>
              </a:ext>
            </a:extLst>
          </p:cNvPr>
          <p:cNvSpPr>
            <a:spLocks noGrp="1"/>
          </p:cNvSpPr>
          <p:nvPr>
            <p:ph type="title"/>
          </p:nvPr>
        </p:nvSpPr>
        <p:spPr>
          <a:xfrm>
            <a:off x="328535" y="1600150"/>
            <a:ext cx="10515600" cy="693346"/>
          </a:xfrm>
        </p:spPr>
        <p:txBody>
          <a:bodyPr>
            <a:noAutofit/>
          </a:bodyPr>
          <a:lstStyle/>
          <a:p>
            <a:pPr>
              <a:lnSpc>
                <a:spcPts val="8170"/>
              </a:lnSpc>
            </a:pPr>
            <a:r>
              <a:rPr lang="en-US" sz="2800" b="1" dirty="0">
                <a:solidFill>
                  <a:schemeClr val="tx2"/>
                </a:solidFill>
                <a:latin typeface="Arial" panose="020B0604020202020204" pitchFamily="34" charset="0"/>
                <a:ea typeface="Bright Retro"/>
                <a:cs typeface="Arial" panose="020B0604020202020204" pitchFamily="34" charset="0"/>
                <a:sym typeface="Bright Retro"/>
              </a:rPr>
              <a:t>	</a:t>
            </a:r>
          </a:p>
        </p:txBody>
      </p:sp>
      <p:pic>
        <p:nvPicPr>
          <p:cNvPr id="7" name="Picture 6">
            <a:extLst>
              <a:ext uri="{FF2B5EF4-FFF2-40B4-BE49-F238E27FC236}">
                <a16:creationId xmlns:a16="http://schemas.microsoft.com/office/drawing/2014/main" id="{94B33E7B-BAE4-DA32-FD9A-B188331F41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500" y="111593"/>
            <a:ext cx="1417559" cy="1303240"/>
          </a:xfrm>
          <a:prstGeom prst="rect">
            <a:avLst/>
          </a:prstGeom>
        </p:spPr>
      </p:pic>
      <p:pic>
        <p:nvPicPr>
          <p:cNvPr id="10" name="Picture 9">
            <a:extLst>
              <a:ext uri="{FF2B5EF4-FFF2-40B4-BE49-F238E27FC236}">
                <a16:creationId xmlns:a16="http://schemas.microsoft.com/office/drawing/2014/main" id="{1D01DB0B-CCC8-93E0-526A-C48B69954C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25295"/>
            <a:ext cx="1774776" cy="693347"/>
          </a:xfrm>
          <a:prstGeom prst="rect">
            <a:avLst/>
          </a:prstGeom>
        </p:spPr>
      </p:pic>
      <p:sp>
        <p:nvSpPr>
          <p:cNvPr id="13" name="TextBox 12">
            <a:extLst>
              <a:ext uri="{FF2B5EF4-FFF2-40B4-BE49-F238E27FC236}">
                <a16:creationId xmlns:a16="http://schemas.microsoft.com/office/drawing/2014/main" id="{9D162D9A-1C05-DAFA-6930-7C5FFCCF12B2}"/>
              </a:ext>
            </a:extLst>
          </p:cNvPr>
          <p:cNvSpPr txBox="1"/>
          <p:nvPr/>
        </p:nvSpPr>
        <p:spPr>
          <a:xfrm>
            <a:off x="328535" y="1600150"/>
            <a:ext cx="7809875" cy="523220"/>
          </a:xfrm>
          <a:prstGeom prst="rect">
            <a:avLst/>
          </a:prstGeom>
          <a:noFill/>
        </p:spPr>
        <p:txBody>
          <a:bodyPr wrap="square">
            <a:spAutoFit/>
          </a:bodyPr>
          <a:lstStyle/>
          <a:p>
            <a:r>
              <a:rPr lang="en-US" sz="2800" b="1">
                <a:solidFill>
                  <a:srgbClr val="002060"/>
                </a:solidFill>
                <a:latin typeface="Arial" panose="020B0604020202020204" pitchFamily="34" charset="0"/>
                <a:cs typeface="Arial" panose="020B0604020202020204" pitchFamily="34" charset="0"/>
              </a:rPr>
              <a:t>Screen Information:</a:t>
            </a:r>
            <a:endParaRPr lang="ar-EG" sz="2800" b="1" dirty="0">
              <a:solidFill>
                <a:srgbClr val="00206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15453EE-E53E-0F28-5165-250D6AD16B0A}"/>
              </a:ext>
            </a:extLst>
          </p:cNvPr>
          <p:cNvSpPr txBox="1"/>
          <p:nvPr/>
        </p:nvSpPr>
        <p:spPr>
          <a:xfrm>
            <a:off x="63499" y="2308688"/>
            <a:ext cx="9395294" cy="4093428"/>
          </a:xfrm>
          <a:prstGeom prst="rect">
            <a:avLst/>
          </a:prstGeom>
          <a:noFill/>
        </p:spPr>
        <p:txBody>
          <a:bodyPr wrap="square">
            <a:spAutoFit/>
          </a:bodyPr>
          <a:lstStyle/>
          <a:p>
            <a:r>
              <a:rPr lang="en-US" sz="2000" b="1" dirty="0"/>
              <a:t>1. Enter an account number in the Main account field.</a:t>
            </a:r>
            <a:br>
              <a:rPr lang="en-US" sz="2000" b="1" dirty="0"/>
            </a:br>
            <a:endParaRPr lang="en-US" sz="2000" b="1" dirty="0"/>
          </a:p>
          <a:p>
            <a:r>
              <a:rPr lang="en-US" sz="2000" b="1" dirty="0"/>
              <a:t>2. Enter an account Name in the Name field</a:t>
            </a:r>
            <a:br>
              <a:rPr lang="en-US" sz="2000" b="1" dirty="0"/>
            </a:br>
            <a:endParaRPr lang="en-US" sz="2000" b="1" dirty="0"/>
          </a:p>
          <a:p>
            <a:r>
              <a:rPr lang="en-US" sz="2000" b="1" dirty="0"/>
              <a:t>3. Select the Main Account Type.</a:t>
            </a:r>
          </a:p>
          <a:p>
            <a:r>
              <a:rPr lang="en-US" sz="2000" b="1" dirty="0"/>
              <a:t>4. Select main account category.</a:t>
            </a:r>
            <a:br>
              <a:rPr lang="en-US" sz="2000" b="1" dirty="0"/>
            </a:br>
            <a:endParaRPr lang="en-US" sz="2000" b="1" dirty="0"/>
          </a:p>
          <a:p>
            <a:r>
              <a:rPr lang="en-US" sz="2000" b="1" dirty="0"/>
              <a:t>5. Select the Do not allow entry check box if a user should not be manually entering this account in a journal entry.</a:t>
            </a:r>
            <a:br>
              <a:rPr lang="en-US" sz="2000" b="1" dirty="0"/>
            </a:br>
            <a:r>
              <a:rPr lang="en-US" sz="2000" b="1" dirty="0"/>
              <a:t> By selecting this check box, users are prevented from entering a value for this account.</a:t>
            </a:r>
            <a:br>
              <a:rPr lang="en-US" sz="2000" b="1" dirty="0"/>
            </a:br>
            <a:endParaRPr lang="en-US" sz="2000" b="1" dirty="0"/>
          </a:p>
          <a:p>
            <a:r>
              <a:rPr lang="en-US" sz="2000" b="1" dirty="0"/>
              <a:t>6. Select the Default Currency in the Currency field.</a:t>
            </a:r>
          </a:p>
          <a:p>
            <a:r>
              <a:rPr lang="en-US" sz="2000" b="1" dirty="0"/>
              <a:t>7. Select the foreign currency revaluation check box if should can be used to revalue.</a:t>
            </a:r>
          </a:p>
        </p:txBody>
      </p:sp>
    </p:spTree>
    <p:extLst>
      <p:ext uri="{BB962C8B-B14F-4D97-AF65-F5344CB8AC3E}">
        <p14:creationId xmlns:p14="http://schemas.microsoft.com/office/powerpoint/2010/main" val="462275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D017ADE-59CF-B7ED-E494-447E9A348C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DBECC-1396-C051-283E-C947C1690E6F}"/>
              </a:ext>
            </a:extLst>
          </p:cNvPr>
          <p:cNvSpPr>
            <a:spLocks noGrp="1"/>
          </p:cNvSpPr>
          <p:nvPr>
            <p:ph type="title"/>
          </p:nvPr>
        </p:nvSpPr>
        <p:spPr>
          <a:xfrm>
            <a:off x="328535" y="1259174"/>
            <a:ext cx="10515600" cy="554636"/>
          </a:xfrm>
        </p:spPr>
        <p:txBody>
          <a:bodyPr>
            <a:noAutofit/>
          </a:bodyPr>
          <a:lstStyle/>
          <a:p>
            <a:pPr algn="ctr"/>
            <a:r>
              <a:rPr lang="x-none" b="1" dirty="0">
                <a:solidFill>
                  <a:srgbClr val="002060"/>
                </a:solidFill>
                <a:latin typeface="Arial" panose="020B0604020202020204" pitchFamily="34" charset="0"/>
                <a:cs typeface="Arial" panose="020B0604020202020204" pitchFamily="34" charset="0"/>
              </a:rPr>
              <a:t>Financial Dimensions</a:t>
            </a:r>
            <a:endParaRPr lang="en-US" b="1" dirty="0">
              <a:solidFill>
                <a:srgbClr val="002060"/>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B2897BB-C8AE-68FC-7639-B66B3E338C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500" y="111593"/>
            <a:ext cx="1417559" cy="1303240"/>
          </a:xfrm>
          <a:prstGeom prst="rect">
            <a:avLst/>
          </a:prstGeom>
        </p:spPr>
      </p:pic>
      <p:pic>
        <p:nvPicPr>
          <p:cNvPr id="10" name="Picture 9">
            <a:extLst>
              <a:ext uri="{FF2B5EF4-FFF2-40B4-BE49-F238E27FC236}">
                <a16:creationId xmlns:a16="http://schemas.microsoft.com/office/drawing/2014/main" id="{50EB4B11-356C-7CC6-9770-FE8ED7950B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25295"/>
            <a:ext cx="1774776" cy="693347"/>
          </a:xfrm>
          <a:prstGeom prst="rect">
            <a:avLst/>
          </a:prstGeom>
        </p:spPr>
      </p:pic>
      <p:graphicFrame>
        <p:nvGraphicFramePr>
          <p:cNvPr id="3" name="Table 2">
            <a:extLst>
              <a:ext uri="{FF2B5EF4-FFF2-40B4-BE49-F238E27FC236}">
                <a16:creationId xmlns:a16="http://schemas.microsoft.com/office/drawing/2014/main" id="{2F1FB478-D142-58BB-2CF6-2ECC5CCAE716}"/>
              </a:ext>
            </a:extLst>
          </p:cNvPr>
          <p:cNvGraphicFramePr>
            <a:graphicFrameLocks noGrp="1"/>
          </p:cNvGraphicFramePr>
          <p:nvPr>
            <p:extLst>
              <p:ext uri="{D42A27DB-BD31-4B8C-83A1-F6EECF244321}">
                <p14:modId xmlns:p14="http://schemas.microsoft.com/office/powerpoint/2010/main" val="3093368509"/>
              </p:ext>
            </p:extLst>
          </p:nvPr>
        </p:nvGraphicFramePr>
        <p:xfrm>
          <a:off x="929390" y="2143592"/>
          <a:ext cx="8721309" cy="3177916"/>
        </p:xfrm>
        <a:graphic>
          <a:graphicData uri="http://schemas.openxmlformats.org/drawingml/2006/table">
            <a:tbl>
              <a:tblPr firstRow="1" firstCol="1" bandRow="1">
                <a:tableStyleId>{5C22544A-7EE6-4342-B048-85BDC9FD1C3A}</a:tableStyleId>
              </a:tblPr>
              <a:tblGrid>
                <a:gridCol w="2249312">
                  <a:extLst>
                    <a:ext uri="{9D8B030D-6E8A-4147-A177-3AD203B41FA5}">
                      <a16:colId xmlns:a16="http://schemas.microsoft.com/office/drawing/2014/main" val="1823292465"/>
                    </a:ext>
                  </a:extLst>
                </a:gridCol>
                <a:gridCol w="6471997">
                  <a:extLst>
                    <a:ext uri="{9D8B030D-6E8A-4147-A177-3AD203B41FA5}">
                      <a16:colId xmlns:a16="http://schemas.microsoft.com/office/drawing/2014/main" val="1496480044"/>
                    </a:ext>
                  </a:extLst>
                </a:gridCol>
              </a:tblGrid>
              <a:tr h="517993">
                <a:tc>
                  <a:txBody>
                    <a:bodyPr/>
                    <a:lstStyle/>
                    <a:p>
                      <a:pPr>
                        <a:lnSpc>
                          <a:spcPct val="150000"/>
                        </a:lnSpc>
                        <a:spcBef>
                          <a:spcPts val="600"/>
                        </a:spcBef>
                        <a:buNone/>
                      </a:pPr>
                      <a:r>
                        <a:rPr lang="en-US" sz="1800" b="1" kern="1400">
                          <a:effectLst/>
                          <a:cs typeface="+mn-cs"/>
                        </a:rPr>
                        <a:t>Process code</a:t>
                      </a:r>
                      <a:endParaRPr lang="en-US" sz="1800" b="1" kern="1400">
                        <a:effectLst/>
                        <a:latin typeface="Calibri" panose="020F0502020204030204" pitchFamily="34" charset="0"/>
                        <a:ea typeface="MS Mincho" panose="02020609040205080304" pitchFamily="49" charset="-128"/>
                        <a:cs typeface="+mn-cs"/>
                      </a:endParaRPr>
                    </a:p>
                  </a:txBody>
                  <a:tcPr marL="68580" marR="68580" marT="0" marB="0"/>
                </a:tc>
                <a:tc>
                  <a:txBody>
                    <a:bodyPr/>
                    <a:lstStyle/>
                    <a:p>
                      <a:pPr>
                        <a:lnSpc>
                          <a:spcPct val="150000"/>
                        </a:lnSpc>
                        <a:spcBef>
                          <a:spcPts val="600"/>
                        </a:spcBef>
                        <a:buNone/>
                      </a:pPr>
                      <a:r>
                        <a:rPr lang="en-US" sz="1800" b="1" kern="1400">
                          <a:effectLst/>
                          <a:cs typeface="+mn-cs"/>
                        </a:rPr>
                        <a:t>01.02.01. Financial Management </a:t>
                      </a:r>
                      <a:endParaRPr lang="en-US" sz="1800" b="1" kern="1400">
                        <a:effectLst/>
                        <a:latin typeface="Calibri" panose="020F0502020204030204" pitchFamily="34" charset="0"/>
                        <a:ea typeface="MS Mincho" panose="02020609040205080304" pitchFamily="49" charset="-128"/>
                        <a:cs typeface="+mn-cs"/>
                      </a:endParaRPr>
                    </a:p>
                  </a:txBody>
                  <a:tcPr marL="68580" marR="68580" marT="0" marB="0"/>
                </a:tc>
                <a:extLst>
                  <a:ext uri="{0D108BD9-81ED-4DB2-BD59-A6C34878D82A}">
                    <a16:rowId xmlns:a16="http://schemas.microsoft.com/office/drawing/2014/main" val="1343618307"/>
                  </a:ext>
                </a:extLst>
              </a:tr>
              <a:tr h="517993">
                <a:tc>
                  <a:txBody>
                    <a:bodyPr/>
                    <a:lstStyle/>
                    <a:p>
                      <a:pPr>
                        <a:lnSpc>
                          <a:spcPct val="150000"/>
                        </a:lnSpc>
                        <a:spcBef>
                          <a:spcPts val="600"/>
                        </a:spcBef>
                        <a:buNone/>
                      </a:pPr>
                      <a:r>
                        <a:rPr lang="en-US" sz="1800" b="1" kern="1400">
                          <a:effectLst/>
                          <a:cs typeface="+mn-cs"/>
                        </a:rPr>
                        <a:t>Process name</a:t>
                      </a:r>
                      <a:endParaRPr lang="en-US" sz="1800" b="1" kern="1400">
                        <a:effectLst/>
                        <a:latin typeface="Calibri" panose="020F0502020204030204" pitchFamily="34" charset="0"/>
                        <a:ea typeface="MS Mincho" panose="02020609040205080304" pitchFamily="49" charset="-128"/>
                        <a:cs typeface="+mn-cs"/>
                      </a:endParaRPr>
                    </a:p>
                  </a:txBody>
                  <a:tcPr marL="68580" marR="68580" marT="0" marB="0"/>
                </a:tc>
                <a:tc>
                  <a:txBody>
                    <a:bodyPr/>
                    <a:lstStyle/>
                    <a:p>
                      <a:pPr>
                        <a:lnSpc>
                          <a:spcPct val="150000"/>
                        </a:lnSpc>
                        <a:spcBef>
                          <a:spcPts val="600"/>
                        </a:spcBef>
                        <a:buNone/>
                      </a:pPr>
                      <a:r>
                        <a:rPr lang="en-US" sz="1800" b="1" kern="1400" dirty="0">
                          <a:effectLst/>
                          <a:cs typeface="+mn-cs"/>
                        </a:rPr>
                        <a:t>Financial Dimensions</a:t>
                      </a:r>
                      <a:endParaRPr lang="en-US" sz="1800" b="1" kern="1400" dirty="0">
                        <a:effectLst/>
                        <a:latin typeface="Calibri" panose="020F0502020204030204" pitchFamily="34" charset="0"/>
                        <a:ea typeface="MS Mincho" panose="02020609040205080304" pitchFamily="49" charset="-128"/>
                        <a:cs typeface="+mn-cs"/>
                      </a:endParaRPr>
                    </a:p>
                  </a:txBody>
                  <a:tcPr marL="68580" marR="68580" marT="0" marB="0"/>
                </a:tc>
                <a:extLst>
                  <a:ext uri="{0D108BD9-81ED-4DB2-BD59-A6C34878D82A}">
                    <a16:rowId xmlns:a16="http://schemas.microsoft.com/office/drawing/2014/main" val="695523300"/>
                  </a:ext>
                </a:extLst>
              </a:tr>
              <a:tr h="1070965">
                <a:tc>
                  <a:txBody>
                    <a:bodyPr/>
                    <a:lstStyle/>
                    <a:p>
                      <a:pPr>
                        <a:lnSpc>
                          <a:spcPct val="150000"/>
                        </a:lnSpc>
                        <a:spcBef>
                          <a:spcPts val="600"/>
                        </a:spcBef>
                        <a:buNone/>
                      </a:pPr>
                      <a:r>
                        <a:rPr lang="en-US" sz="1800" b="1" kern="1400">
                          <a:effectLst/>
                          <a:cs typeface="+mn-cs"/>
                        </a:rPr>
                        <a:t>Process description</a:t>
                      </a:r>
                      <a:endParaRPr lang="en-US" sz="1800" b="1" kern="1400">
                        <a:effectLst/>
                        <a:latin typeface="Calibri" panose="020F0502020204030204" pitchFamily="34" charset="0"/>
                        <a:ea typeface="MS Mincho" panose="02020609040205080304" pitchFamily="49" charset="-128"/>
                        <a:cs typeface="+mn-cs"/>
                      </a:endParaRPr>
                    </a:p>
                  </a:txBody>
                  <a:tcPr marL="68580" marR="68580" marT="0" marB="0"/>
                </a:tc>
                <a:tc>
                  <a:txBody>
                    <a:bodyPr/>
                    <a:lstStyle/>
                    <a:p>
                      <a:pPr>
                        <a:lnSpc>
                          <a:spcPct val="150000"/>
                        </a:lnSpc>
                        <a:spcBef>
                          <a:spcPts val="600"/>
                        </a:spcBef>
                        <a:buNone/>
                      </a:pPr>
                      <a:r>
                        <a:rPr lang="en-US" sz="1800" b="1" kern="1400">
                          <a:effectLst/>
                          <a:cs typeface="+mn-cs"/>
                        </a:rPr>
                        <a:t>Create financial Dimensions</a:t>
                      </a:r>
                      <a:endParaRPr lang="en-US" sz="1800" b="1" kern="1400">
                        <a:effectLst/>
                        <a:latin typeface="Calibri" panose="020F0502020204030204" pitchFamily="34" charset="0"/>
                        <a:ea typeface="MS Mincho" panose="02020609040205080304" pitchFamily="49" charset="-128"/>
                        <a:cs typeface="+mn-cs"/>
                      </a:endParaRPr>
                    </a:p>
                  </a:txBody>
                  <a:tcPr marL="68580" marR="68580" marT="0" marB="0"/>
                </a:tc>
                <a:extLst>
                  <a:ext uri="{0D108BD9-81ED-4DB2-BD59-A6C34878D82A}">
                    <a16:rowId xmlns:a16="http://schemas.microsoft.com/office/drawing/2014/main" val="554224154"/>
                  </a:ext>
                </a:extLst>
              </a:tr>
              <a:tr h="1070965">
                <a:tc>
                  <a:txBody>
                    <a:bodyPr/>
                    <a:lstStyle/>
                    <a:p>
                      <a:pPr>
                        <a:lnSpc>
                          <a:spcPct val="150000"/>
                        </a:lnSpc>
                        <a:spcBef>
                          <a:spcPts val="600"/>
                        </a:spcBef>
                        <a:buNone/>
                      </a:pPr>
                      <a:r>
                        <a:rPr lang="en-US" sz="1800" b="1" kern="1400">
                          <a:effectLst/>
                          <a:cs typeface="+mn-cs"/>
                        </a:rPr>
                        <a:t>Form path</a:t>
                      </a:r>
                      <a:endParaRPr lang="en-US" sz="1800" b="1" kern="1400">
                        <a:effectLst/>
                        <a:latin typeface="Calibri" panose="020F0502020204030204" pitchFamily="34" charset="0"/>
                        <a:ea typeface="MS Mincho" panose="02020609040205080304" pitchFamily="49" charset="-128"/>
                        <a:cs typeface="+mn-cs"/>
                      </a:endParaRPr>
                    </a:p>
                  </a:txBody>
                  <a:tcPr marL="68580" marR="68580" marT="0" marB="0"/>
                </a:tc>
                <a:tc>
                  <a:txBody>
                    <a:bodyPr/>
                    <a:lstStyle/>
                    <a:p>
                      <a:pPr>
                        <a:lnSpc>
                          <a:spcPct val="150000"/>
                        </a:lnSpc>
                        <a:spcBef>
                          <a:spcPts val="600"/>
                        </a:spcBef>
                        <a:buNone/>
                      </a:pPr>
                      <a:r>
                        <a:rPr lang="en-US" sz="1800" b="1" kern="1400" dirty="0">
                          <a:effectLst/>
                          <a:cs typeface="+mn-cs"/>
                        </a:rPr>
                        <a:t>General ledger &gt;&gt; Chart of account &gt;&gt; Dimensions &gt;&gt; Financial Dimensions</a:t>
                      </a:r>
                      <a:endParaRPr lang="en-US" sz="1800" b="1" kern="1400" dirty="0">
                        <a:effectLst/>
                        <a:latin typeface="Calibri" panose="020F0502020204030204" pitchFamily="34" charset="0"/>
                        <a:ea typeface="MS Mincho" panose="02020609040205080304" pitchFamily="49" charset="-128"/>
                        <a:cs typeface="+mn-cs"/>
                      </a:endParaRPr>
                    </a:p>
                  </a:txBody>
                  <a:tcPr marL="68580" marR="68580" marT="0" marB="0"/>
                </a:tc>
                <a:extLst>
                  <a:ext uri="{0D108BD9-81ED-4DB2-BD59-A6C34878D82A}">
                    <a16:rowId xmlns:a16="http://schemas.microsoft.com/office/drawing/2014/main" val="573165786"/>
                  </a:ext>
                </a:extLst>
              </a:tr>
            </a:tbl>
          </a:graphicData>
        </a:graphic>
      </p:graphicFrame>
    </p:spTree>
    <p:extLst>
      <p:ext uri="{BB962C8B-B14F-4D97-AF65-F5344CB8AC3E}">
        <p14:creationId xmlns:p14="http://schemas.microsoft.com/office/powerpoint/2010/main" val="428005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63FA534-1C72-3C73-7989-4959914185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4D762-474B-CDCE-A06A-F042585B0697}"/>
              </a:ext>
            </a:extLst>
          </p:cNvPr>
          <p:cNvSpPr>
            <a:spLocks noGrp="1"/>
          </p:cNvSpPr>
          <p:nvPr>
            <p:ph type="title"/>
          </p:nvPr>
        </p:nvSpPr>
        <p:spPr>
          <a:xfrm>
            <a:off x="328535" y="959371"/>
            <a:ext cx="10515600" cy="854440"/>
          </a:xfrm>
        </p:spPr>
        <p:txBody>
          <a:bodyPr>
            <a:noAutofit/>
          </a:bodyPr>
          <a:lstStyle/>
          <a:p>
            <a:pPr algn="ctr"/>
            <a:r>
              <a:rPr lang="x-none" b="1" dirty="0">
                <a:solidFill>
                  <a:srgbClr val="002060"/>
                </a:solidFill>
                <a:latin typeface="Arial" panose="020B0604020202020204" pitchFamily="34" charset="0"/>
                <a:cs typeface="Arial" panose="020B0604020202020204" pitchFamily="34" charset="0"/>
              </a:rPr>
              <a:t>Financial Dimensions</a:t>
            </a:r>
            <a:endParaRPr lang="en-US" b="1" dirty="0">
              <a:solidFill>
                <a:srgbClr val="002060"/>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B8377C55-57A5-6B7E-9541-C4909D00AC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500" y="111593"/>
            <a:ext cx="1417559" cy="1303240"/>
          </a:xfrm>
          <a:prstGeom prst="rect">
            <a:avLst/>
          </a:prstGeom>
        </p:spPr>
      </p:pic>
      <p:pic>
        <p:nvPicPr>
          <p:cNvPr id="10" name="Picture 9">
            <a:extLst>
              <a:ext uri="{FF2B5EF4-FFF2-40B4-BE49-F238E27FC236}">
                <a16:creationId xmlns:a16="http://schemas.microsoft.com/office/drawing/2014/main" id="{9183C5DE-0E47-2BBD-74CD-585998E059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25295"/>
            <a:ext cx="1774776" cy="693347"/>
          </a:xfrm>
          <a:prstGeom prst="rect">
            <a:avLst/>
          </a:prstGeom>
        </p:spPr>
      </p:pic>
      <p:sp>
        <p:nvSpPr>
          <p:cNvPr id="5" name="TextBox 4">
            <a:extLst>
              <a:ext uri="{FF2B5EF4-FFF2-40B4-BE49-F238E27FC236}">
                <a16:creationId xmlns:a16="http://schemas.microsoft.com/office/drawing/2014/main" id="{F5C4E223-3159-6B0A-1481-D880F76DBCC8}"/>
              </a:ext>
            </a:extLst>
          </p:cNvPr>
          <p:cNvSpPr txBox="1"/>
          <p:nvPr/>
        </p:nvSpPr>
        <p:spPr>
          <a:xfrm>
            <a:off x="-28224" y="1866223"/>
            <a:ext cx="11304340" cy="5012847"/>
          </a:xfrm>
          <a:prstGeom prst="rect">
            <a:avLst/>
          </a:prstGeom>
          <a:noFill/>
        </p:spPr>
        <p:txBody>
          <a:bodyPr wrap="square">
            <a:spAutoFit/>
          </a:bodyPr>
          <a:lstStyle/>
          <a:p>
            <a:pPr marL="457200">
              <a:lnSpc>
                <a:spcPct val="150000"/>
              </a:lnSpc>
              <a:spcBef>
                <a:spcPts val="600"/>
              </a:spcBef>
              <a:spcAft>
                <a:spcPts val="1000"/>
              </a:spcAft>
              <a:buNone/>
            </a:pPr>
            <a:r>
              <a:rPr lang="x-none" sz="1600" b="1" kern="1400" dirty="0">
                <a:effectLst/>
                <a:latin typeface="Segoe UI" panose="020B0502040204020203" pitchFamily="34" charset="0"/>
                <a:ea typeface="MS Mincho" panose="02020609040205080304" pitchFamily="49" charset="-128"/>
              </a:rPr>
              <a:t>The financial dimensions are used to:</a:t>
            </a:r>
            <a:endParaRPr lang="en-US" sz="1600" b="1" kern="1400" dirty="0">
              <a:effectLst/>
              <a:latin typeface="Calibri" panose="020F0502020204030204" pitchFamily="34" charset="0"/>
              <a:ea typeface="MS Mincho" panose="02020609040205080304" pitchFamily="49" charset="-128"/>
            </a:endParaRPr>
          </a:p>
          <a:p>
            <a:pPr marL="342900" lvl="0" indent="-342900">
              <a:lnSpc>
                <a:spcPct val="150000"/>
              </a:lnSpc>
              <a:spcBef>
                <a:spcPts val="600"/>
              </a:spcBef>
              <a:buFont typeface="+mj-lt"/>
              <a:buAutoNum type="arabicPeriod"/>
            </a:pPr>
            <a:r>
              <a:rPr lang="x-none" sz="1600" b="1" kern="1400" dirty="0">
                <a:effectLst/>
                <a:latin typeface="Segoe UI" panose="020B0502040204020203" pitchFamily="34" charset="0"/>
                <a:ea typeface="MS Mincho" panose="02020609040205080304" pitchFamily="49" charset="-128"/>
              </a:rPr>
              <a:t>Provide a more detailed description of a transaction.</a:t>
            </a:r>
            <a:endParaRPr lang="en-US" sz="1600" b="1" kern="1400" dirty="0">
              <a:effectLst/>
              <a:latin typeface="Calibri" panose="020F0502020204030204" pitchFamily="34" charset="0"/>
              <a:ea typeface="MS Mincho" panose="02020609040205080304" pitchFamily="49" charset="-128"/>
            </a:endParaRPr>
          </a:p>
          <a:p>
            <a:pPr marL="342900" lvl="0" indent="-342900">
              <a:lnSpc>
                <a:spcPct val="150000"/>
              </a:lnSpc>
              <a:spcBef>
                <a:spcPts val="600"/>
              </a:spcBef>
              <a:buFont typeface="+mj-lt"/>
              <a:buAutoNum type="arabicPeriod"/>
            </a:pPr>
            <a:r>
              <a:rPr lang="x-none" sz="1600" b="1" kern="1400" dirty="0">
                <a:effectLst/>
                <a:latin typeface="Segoe UI" panose="020B0502040204020203" pitchFamily="34" charset="0"/>
                <a:ea typeface="MS Mincho" panose="02020609040205080304" pitchFamily="49" charset="-128"/>
              </a:rPr>
              <a:t>Simplify the accounting process when you enable detailed analysis without the creation of a detailed Chart of Accounts.</a:t>
            </a:r>
            <a:endParaRPr lang="en-US" sz="1600" b="1" kern="1400" dirty="0">
              <a:effectLst/>
              <a:latin typeface="Calibri" panose="020F0502020204030204" pitchFamily="34" charset="0"/>
              <a:ea typeface="MS Mincho" panose="02020609040205080304" pitchFamily="49" charset="-128"/>
            </a:endParaRPr>
          </a:p>
          <a:p>
            <a:pPr marL="342900" lvl="0" indent="-342900">
              <a:lnSpc>
                <a:spcPct val="150000"/>
              </a:lnSpc>
              <a:spcBef>
                <a:spcPts val="600"/>
              </a:spcBef>
              <a:buFont typeface="+mj-lt"/>
              <a:buAutoNum type="arabicPeriod"/>
            </a:pPr>
            <a:r>
              <a:rPr lang="x-none" sz="1600" b="1" kern="1400" dirty="0">
                <a:effectLst/>
                <a:latin typeface="Segoe UI" panose="020B0502040204020203" pitchFamily="34" charset="0"/>
                <a:ea typeface="MS Mincho" panose="02020609040205080304" pitchFamily="49" charset="-128"/>
              </a:rPr>
              <a:t>Are defined to analyze and classify financial transactions as follows:</a:t>
            </a:r>
            <a:endParaRPr lang="en-US" sz="1600" b="1" kern="1400" dirty="0">
              <a:effectLst/>
              <a:latin typeface="Calibri" panose="020F0502020204030204" pitchFamily="34" charset="0"/>
              <a:ea typeface="MS Mincho" panose="02020609040205080304" pitchFamily="49" charset="-128"/>
            </a:endParaRPr>
          </a:p>
          <a:p>
            <a:pPr marL="342900" lvl="0" indent="-342900">
              <a:lnSpc>
                <a:spcPct val="150000"/>
              </a:lnSpc>
              <a:spcBef>
                <a:spcPts val="600"/>
              </a:spcBef>
              <a:buFont typeface="Wingdings" panose="05000000000000000000" pitchFamily="2" charset="2"/>
              <a:buChar char=""/>
              <a:tabLst>
                <a:tab pos="1257300" algn="l"/>
              </a:tabLst>
            </a:pPr>
            <a:r>
              <a:rPr lang="x-none" sz="1600" b="1" kern="1400" dirty="0">
                <a:effectLst/>
                <a:latin typeface="Segoe UI" panose="020B0502040204020203" pitchFamily="34" charset="0"/>
                <a:ea typeface="MS Mincho" panose="02020609040205080304" pitchFamily="49" charset="-128"/>
              </a:rPr>
              <a:t>Financial transactions usually are organized according to voucher and account number.</a:t>
            </a:r>
            <a:endParaRPr lang="en-US" sz="1600" b="1" kern="1400" dirty="0">
              <a:effectLst/>
              <a:latin typeface="Calibri" panose="020F0502020204030204" pitchFamily="34" charset="0"/>
              <a:ea typeface="MS Mincho" panose="02020609040205080304" pitchFamily="49" charset="-128"/>
            </a:endParaRPr>
          </a:p>
          <a:p>
            <a:pPr marL="342900" lvl="0" indent="-342900">
              <a:lnSpc>
                <a:spcPct val="150000"/>
              </a:lnSpc>
              <a:spcBef>
                <a:spcPts val="600"/>
              </a:spcBef>
              <a:buFont typeface="Wingdings" panose="05000000000000000000" pitchFamily="2" charset="2"/>
              <a:buChar char=""/>
              <a:tabLst>
                <a:tab pos="1257300" algn="l"/>
              </a:tabLst>
            </a:pPr>
            <a:r>
              <a:rPr lang="x-none" sz="1600" b="1" kern="1400" dirty="0">
                <a:effectLst/>
                <a:latin typeface="Segoe UI" panose="020B0502040204020203" pitchFamily="34" charset="0"/>
                <a:ea typeface="MS Mincho" panose="02020609040205080304" pitchFamily="49" charset="-128"/>
              </a:rPr>
              <a:t>Additional grouping and classification options are available when you assign several dimensions to transactions.</a:t>
            </a:r>
            <a:endParaRPr lang="en-US" sz="1600" b="1" kern="1400" dirty="0">
              <a:effectLst/>
              <a:latin typeface="Calibri" panose="020F0502020204030204" pitchFamily="34" charset="0"/>
              <a:ea typeface="MS Mincho" panose="02020609040205080304" pitchFamily="49" charset="-128"/>
            </a:endParaRPr>
          </a:p>
          <a:p>
            <a:pPr marL="342900" lvl="0" indent="-342900">
              <a:lnSpc>
                <a:spcPct val="150000"/>
              </a:lnSpc>
              <a:spcBef>
                <a:spcPts val="600"/>
              </a:spcBef>
              <a:spcAft>
                <a:spcPts val="600"/>
              </a:spcAft>
              <a:buFont typeface="+mj-lt"/>
              <a:buAutoNum type="arabicPeriod"/>
            </a:pPr>
            <a:r>
              <a:rPr lang="x-none" sz="1600" b="1" kern="1400" dirty="0">
                <a:effectLst/>
                <a:latin typeface="Segoe UI" panose="020B0502040204020203" pitchFamily="34" charset="0"/>
                <a:ea typeface="MS Mincho" panose="02020609040205080304" pitchFamily="49" charset="-128"/>
              </a:rPr>
              <a:t>There are two types of financial dimensions:</a:t>
            </a:r>
            <a:endParaRPr lang="en-US" sz="1600" b="1" kern="1400" dirty="0">
              <a:effectLst/>
              <a:latin typeface="Calibri" panose="020F0502020204030204" pitchFamily="34" charset="0"/>
              <a:ea typeface="MS Mincho" panose="02020609040205080304" pitchFamily="49" charset="-128"/>
            </a:endParaRPr>
          </a:p>
          <a:p>
            <a:pPr marL="342900" lvl="0" indent="-342900">
              <a:lnSpc>
                <a:spcPct val="150000"/>
              </a:lnSpc>
              <a:spcBef>
                <a:spcPts val="600"/>
              </a:spcBef>
              <a:spcAft>
                <a:spcPts val="600"/>
              </a:spcAft>
              <a:buFont typeface="+mj-lt"/>
              <a:buAutoNum type="arabicPeriod"/>
            </a:pPr>
            <a:r>
              <a:rPr lang="en-US" sz="1600" b="1" kern="1400" dirty="0">
                <a:effectLst/>
                <a:latin typeface="Segoe UI" panose="020B0502040204020203" pitchFamily="34" charset="0"/>
                <a:ea typeface="MS Mincho" panose="02020609040205080304" pitchFamily="49" charset="-128"/>
              </a:rPr>
              <a:t>Custom dimensions the values are entered and maintained by users such as branches.</a:t>
            </a:r>
            <a:endParaRPr lang="en-US" sz="1600" b="1" kern="1400" dirty="0">
              <a:effectLst/>
              <a:latin typeface="Calibri" panose="020F0502020204030204" pitchFamily="34" charset="0"/>
              <a:ea typeface="MS Mincho" panose="02020609040205080304" pitchFamily="49" charset="-128"/>
            </a:endParaRPr>
          </a:p>
          <a:p>
            <a:pPr marL="342900" lvl="0" indent="-342900">
              <a:lnSpc>
                <a:spcPct val="150000"/>
              </a:lnSpc>
              <a:spcBef>
                <a:spcPts val="600"/>
              </a:spcBef>
              <a:spcAft>
                <a:spcPts val="600"/>
              </a:spcAft>
              <a:buFont typeface="+mj-lt"/>
              <a:buAutoNum type="arabicPeriod"/>
            </a:pPr>
            <a:r>
              <a:rPr lang="en-US" sz="1600" b="1" kern="1400" dirty="0">
                <a:effectLst/>
                <a:latin typeface="Segoe UI" panose="020B0502040204020203" pitchFamily="34" charset="0"/>
                <a:ea typeface="MS Mincho" panose="02020609040205080304" pitchFamily="49" charset="-128"/>
              </a:rPr>
              <a:t>Standard dimensions, the values are defined somewhere else in the system and automatically imported as dimensions, such as in Customers or vendors.</a:t>
            </a:r>
            <a:endParaRPr lang="en-US" sz="1600" b="1" kern="1400" dirty="0">
              <a:effectLst/>
              <a:latin typeface="Calibri" panose="020F0502020204030204" pitchFamily="34" charset="0"/>
              <a:ea typeface="MS Mincho" panose="02020609040205080304" pitchFamily="49" charset="-128"/>
            </a:endParaRPr>
          </a:p>
        </p:txBody>
      </p:sp>
    </p:spTree>
    <p:extLst>
      <p:ext uri="{BB962C8B-B14F-4D97-AF65-F5344CB8AC3E}">
        <p14:creationId xmlns:p14="http://schemas.microsoft.com/office/powerpoint/2010/main" val="1544699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52479A1-151A-FD01-BE1D-18996D6F96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9AE65-8EE1-1961-85C2-49020D1B76E1}"/>
              </a:ext>
            </a:extLst>
          </p:cNvPr>
          <p:cNvSpPr>
            <a:spLocks noGrp="1"/>
          </p:cNvSpPr>
          <p:nvPr>
            <p:ph type="title"/>
          </p:nvPr>
        </p:nvSpPr>
        <p:spPr>
          <a:xfrm>
            <a:off x="838200" y="817245"/>
            <a:ext cx="10515600" cy="724535"/>
          </a:xfrm>
        </p:spPr>
        <p:txBody>
          <a:bodyPr>
            <a:noAutofit/>
          </a:bodyPr>
          <a:lstStyle/>
          <a:p>
            <a:pPr algn="ctr">
              <a:lnSpc>
                <a:spcPts val="8170"/>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Financial Dimensions</a:t>
            </a:r>
          </a:p>
        </p:txBody>
      </p:sp>
      <p:pic>
        <p:nvPicPr>
          <p:cNvPr id="6" name="Picture 5">
            <a:extLst>
              <a:ext uri="{FF2B5EF4-FFF2-40B4-BE49-F238E27FC236}">
                <a16:creationId xmlns:a16="http://schemas.microsoft.com/office/drawing/2014/main" id="{ACB2F9F2-0D0C-8E28-F9A0-6F77ECF3B71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30643"/>
            <a:ext cx="1417559" cy="1303240"/>
          </a:xfrm>
          <a:prstGeom prst="rect">
            <a:avLst/>
          </a:prstGeom>
        </p:spPr>
      </p:pic>
      <p:pic>
        <p:nvPicPr>
          <p:cNvPr id="7" name="Picture 6">
            <a:extLst>
              <a:ext uri="{FF2B5EF4-FFF2-40B4-BE49-F238E27FC236}">
                <a16:creationId xmlns:a16="http://schemas.microsoft.com/office/drawing/2014/main" id="{0D10B628-62B7-35BC-BFB0-A9089D1F3E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86"/>
            <a:ext cx="1774776" cy="693347"/>
          </a:xfrm>
          <a:prstGeom prst="rect">
            <a:avLst/>
          </a:prstGeom>
        </p:spPr>
      </p:pic>
      <p:pic>
        <p:nvPicPr>
          <p:cNvPr id="4" name="Picture 3">
            <a:extLst>
              <a:ext uri="{FF2B5EF4-FFF2-40B4-BE49-F238E27FC236}">
                <a16:creationId xmlns:a16="http://schemas.microsoft.com/office/drawing/2014/main" id="{18112939-95E7-3876-EE4A-534AB5A213CA}"/>
              </a:ext>
            </a:extLst>
          </p:cNvPr>
          <p:cNvPicPr>
            <a:picLocks noChangeAspect="1"/>
          </p:cNvPicPr>
          <p:nvPr/>
        </p:nvPicPr>
        <p:blipFill>
          <a:blip r:embed="rId4"/>
          <a:stretch>
            <a:fillRect/>
          </a:stretch>
        </p:blipFill>
        <p:spPr>
          <a:xfrm>
            <a:off x="-272" y="1665864"/>
            <a:ext cx="12192000" cy="3385821"/>
          </a:xfrm>
          <a:prstGeom prst="rect">
            <a:avLst/>
          </a:prstGeom>
        </p:spPr>
      </p:pic>
      <p:sp>
        <p:nvSpPr>
          <p:cNvPr id="8" name="TextBox 7">
            <a:extLst>
              <a:ext uri="{FF2B5EF4-FFF2-40B4-BE49-F238E27FC236}">
                <a16:creationId xmlns:a16="http://schemas.microsoft.com/office/drawing/2014/main" id="{3348DCF3-357E-9F2A-8FED-9D73EEA0C14C}"/>
              </a:ext>
            </a:extLst>
          </p:cNvPr>
          <p:cNvSpPr txBox="1"/>
          <p:nvPr/>
        </p:nvSpPr>
        <p:spPr>
          <a:xfrm rot="10800000" flipV="1">
            <a:off x="0" y="5144019"/>
            <a:ext cx="8094689" cy="1569660"/>
          </a:xfrm>
          <a:prstGeom prst="rect">
            <a:avLst/>
          </a:prstGeom>
          <a:noFill/>
        </p:spPr>
        <p:txBody>
          <a:bodyPr wrap="square">
            <a:spAutoFit/>
          </a:bodyPr>
          <a:lstStyle/>
          <a:p>
            <a:r>
              <a:rPr lang="en-US" sz="2400" b="1" dirty="0">
                <a:solidFill>
                  <a:srgbClr val="002060"/>
                </a:solidFill>
              </a:rPr>
              <a:t>Screen Information:</a:t>
            </a:r>
          </a:p>
          <a:p>
            <a:r>
              <a:rPr lang="en-US" b="1" dirty="0"/>
              <a:t>1- Click new</a:t>
            </a:r>
          </a:p>
          <a:p>
            <a:r>
              <a:rPr lang="en-US" b="1" dirty="0"/>
              <a:t>2- from Use values from: select &lt; Custom dimension &gt; or select specific financial dimension</a:t>
            </a:r>
          </a:p>
          <a:p>
            <a:r>
              <a:rPr lang="en-US" b="1" dirty="0"/>
              <a:t>3- Click on dimension values in case of Custom dimension.</a:t>
            </a:r>
          </a:p>
        </p:txBody>
      </p:sp>
    </p:spTree>
    <p:extLst>
      <p:ext uri="{BB962C8B-B14F-4D97-AF65-F5344CB8AC3E}">
        <p14:creationId xmlns:p14="http://schemas.microsoft.com/office/powerpoint/2010/main" val="2346471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817245"/>
            <a:ext cx="10515600" cy="588645"/>
          </a:xfrm>
        </p:spPr>
        <p:txBody>
          <a:bodyPr>
            <a:noAutofit/>
          </a:bodyPr>
          <a:lstStyle/>
          <a:p>
            <a:pPr algn="ctr">
              <a:lnSpc>
                <a:spcPts val="8170"/>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Financial dimensions</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7953"/>
            <a:ext cx="1417559" cy="1303240"/>
          </a:xfrm>
          <a:prstGeom prst="rect">
            <a:avLst/>
          </a:prstGeom>
        </p:spPr>
      </p:pic>
      <p:sp>
        <p:nvSpPr>
          <p:cNvPr id="3" name="Title 1"/>
          <p:cNvSpPr txBox="1"/>
          <p:nvPr/>
        </p:nvSpPr>
        <p:spPr>
          <a:xfrm>
            <a:off x="0" y="1692275"/>
            <a:ext cx="11516995" cy="1236345"/>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000" b="1" dirty="0">
              <a:ln w="0"/>
              <a:solidFill>
                <a:schemeClr val="tx1"/>
              </a:solidFill>
              <a:effectLst>
                <a:outerShdw blurRad="38100" dist="25400" dir="5400000" algn="ctr" rotWithShape="0">
                  <a:srgbClr val="6E747A">
                    <a:alpha val="43000"/>
                  </a:srgbClr>
                </a:outerShdw>
              </a:effectLst>
              <a:latin typeface="Arial Narrow" panose="020B0606020202030204" charset="0"/>
              <a:cs typeface="Arial Narrow" panose="020B060602020203020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8ECC517F-896E-269B-CFB5-929E592D02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72272"/>
            <a:ext cx="12191727" cy="3325640"/>
          </a:xfrm>
          <a:prstGeom prst="rect">
            <a:avLst/>
          </a:prstGeom>
        </p:spPr>
      </p:pic>
      <p:sp>
        <p:nvSpPr>
          <p:cNvPr id="7" name="TextBox 6">
            <a:extLst>
              <a:ext uri="{FF2B5EF4-FFF2-40B4-BE49-F238E27FC236}">
                <a16:creationId xmlns:a16="http://schemas.microsoft.com/office/drawing/2014/main" id="{53114660-A58B-E34D-6088-F529D5B64E5E}"/>
              </a:ext>
            </a:extLst>
          </p:cNvPr>
          <p:cNvSpPr txBox="1"/>
          <p:nvPr/>
        </p:nvSpPr>
        <p:spPr>
          <a:xfrm>
            <a:off x="-19987" y="5165725"/>
            <a:ext cx="6093500" cy="1292662"/>
          </a:xfrm>
          <a:prstGeom prst="rect">
            <a:avLst/>
          </a:prstGeom>
          <a:noFill/>
        </p:spPr>
        <p:txBody>
          <a:bodyPr wrap="square">
            <a:spAutoFit/>
          </a:bodyPr>
          <a:lstStyle/>
          <a:p>
            <a:r>
              <a:rPr lang="en-US" sz="2400" b="1" dirty="0">
                <a:solidFill>
                  <a:srgbClr val="002060"/>
                </a:solidFill>
              </a:rPr>
              <a:t>Screen Information</a:t>
            </a:r>
            <a:r>
              <a:rPr lang="en-US" b="1" dirty="0"/>
              <a:t>:</a:t>
            </a:r>
          </a:p>
          <a:p>
            <a:r>
              <a:rPr lang="en-US" b="1" dirty="0"/>
              <a:t>1- Click new</a:t>
            </a:r>
          </a:p>
          <a:p>
            <a:r>
              <a:rPr lang="en-US" b="1" dirty="0"/>
              <a:t>2- From Dimension value: Enter dimensions code</a:t>
            </a:r>
          </a:p>
          <a:p>
            <a:r>
              <a:rPr lang="en-US" b="1" dirty="0"/>
              <a:t>3- From Description: Enter dimensions name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5283D6F6-616D-AF2C-DF33-2D4072DD7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5D30A-4B4E-4F9C-8A4E-A4D32CAE7DBC}"/>
              </a:ext>
            </a:extLst>
          </p:cNvPr>
          <p:cNvSpPr>
            <a:spLocks noGrp="1"/>
          </p:cNvSpPr>
          <p:nvPr>
            <p:ph type="title"/>
          </p:nvPr>
        </p:nvSpPr>
        <p:spPr>
          <a:xfrm>
            <a:off x="838200" y="1019330"/>
            <a:ext cx="10515600" cy="1004341"/>
          </a:xfrm>
        </p:spPr>
        <p:txBody>
          <a:bodyPr>
            <a:noAutofit/>
          </a:bodyPr>
          <a:lstStyle/>
          <a:p>
            <a:pPr algn="ctr">
              <a:lnSpc>
                <a:spcPts val="8170"/>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Fiscal Calendar </a:t>
            </a:r>
          </a:p>
        </p:txBody>
      </p:sp>
      <p:pic>
        <p:nvPicPr>
          <p:cNvPr id="8" name="Picture 7">
            <a:extLst>
              <a:ext uri="{FF2B5EF4-FFF2-40B4-BE49-F238E27FC236}">
                <a16:creationId xmlns:a16="http://schemas.microsoft.com/office/drawing/2014/main" id="{68277E33-51FF-55E0-0F0D-CC17942CD3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7318"/>
            <a:ext cx="1417559" cy="1303240"/>
          </a:xfrm>
          <a:prstGeom prst="rect">
            <a:avLst/>
          </a:prstGeom>
        </p:spPr>
      </p:pic>
      <p:pic>
        <p:nvPicPr>
          <p:cNvPr id="9" name="Picture 8">
            <a:extLst>
              <a:ext uri="{FF2B5EF4-FFF2-40B4-BE49-F238E27FC236}">
                <a16:creationId xmlns:a16="http://schemas.microsoft.com/office/drawing/2014/main" id="{A067EF05-FC11-5339-EF99-079214511D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graphicFrame>
        <p:nvGraphicFramePr>
          <p:cNvPr id="4" name="Table 3">
            <a:extLst>
              <a:ext uri="{FF2B5EF4-FFF2-40B4-BE49-F238E27FC236}">
                <a16:creationId xmlns:a16="http://schemas.microsoft.com/office/drawing/2014/main" id="{BA9682DB-4D9D-8B3F-ED3F-4B121087304B}"/>
              </a:ext>
            </a:extLst>
          </p:cNvPr>
          <p:cNvGraphicFramePr>
            <a:graphicFrameLocks noGrp="1"/>
          </p:cNvGraphicFramePr>
          <p:nvPr>
            <p:extLst>
              <p:ext uri="{D42A27DB-BD31-4B8C-83A1-F6EECF244321}">
                <p14:modId xmlns:p14="http://schemas.microsoft.com/office/powerpoint/2010/main" val="2670959295"/>
              </p:ext>
            </p:extLst>
          </p:nvPr>
        </p:nvGraphicFramePr>
        <p:xfrm>
          <a:off x="1417558" y="2349759"/>
          <a:ext cx="8999393" cy="2467407"/>
        </p:xfrm>
        <a:graphic>
          <a:graphicData uri="http://schemas.openxmlformats.org/drawingml/2006/table">
            <a:tbl>
              <a:tblPr firstRow="1" firstCol="1" bandRow="1">
                <a:tableStyleId>{5C22544A-7EE6-4342-B048-85BDC9FD1C3A}</a:tableStyleId>
              </a:tblPr>
              <a:tblGrid>
                <a:gridCol w="2321032">
                  <a:extLst>
                    <a:ext uri="{9D8B030D-6E8A-4147-A177-3AD203B41FA5}">
                      <a16:colId xmlns:a16="http://schemas.microsoft.com/office/drawing/2014/main" val="960087953"/>
                    </a:ext>
                  </a:extLst>
                </a:gridCol>
                <a:gridCol w="6678361">
                  <a:extLst>
                    <a:ext uri="{9D8B030D-6E8A-4147-A177-3AD203B41FA5}">
                      <a16:colId xmlns:a16="http://schemas.microsoft.com/office/drawing/2014/main" val="3245194807"/>
                    </a:ext>
                  </a:extLst>
                </a:gridCol>
              </a:tblGrid>
              <a:tr h="536486">
                <a:tc>
                  <a:txBody>
                    <a:bodyPr/>
                    <a:lstStyle/>
                    <a:p>
                      <a:pPr>
                        <a:lnSpc>
                          <a:spcPct val="150000"/>
                        </a:lnSpc>
                        <a:spcBef>
                          <a:spcPts val="600"/>
                        </a:spcBef>
                        <a:buNone/>
                      </a:pPr>
                      <a:r>
                        <a:rPr lang="en-US" sz="2000" b="1" kern="1400">
                          <a:effectLst/>
                          <a:latin typeface="Arial" panose="020B0604020202020204" pitchFamily="34" charset="0"/>
                          <a:cs typeface="Arial" panose="020B0604020202020204" pitchFamily="34" charset="0"/>
                        </a:rPr>
                        <a:t>Process code</a:t>
                      </a:r>
                      <a:endParaRPr lang="en-US" sz="20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a:lnSpc>
                          <a:spcPct val="150000"/>
                        </a:lnSpc>
                        <a:spcBef>
                          <a:spcPts val="600"/>
                        </a:spcBef>
                        <a:buNone/>
                      </a:pPr>
                      <a:r>
                        <a:rPr lang="en-US" sz="2000" b="1" kern="1400">
                          <a:effectLst/>
                          <a:latin typeface="Arial" panose="020B0604020202020204" pitchFamily="34" charset="0"/>
                          <a:cs typeface="Arial" panose="020B0604020202020204" pitchFamily="34" charset="0"/>
                        </a:rPr>
                        <a:t>01.01.02. Financial Management</a:t>
                      </a:r>
                      <a:endParaRPr lang="en-US" sz="20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261613757"/>
                  </a:ext>
                </a:extLst>
              </a:tr>
              <a:tr h="536486">
                <a:tc>
                  <a:txBody>
                    <a:bodyPr/>
                    <a:lstStyle/>
                    <a:p>
                      <a:pPr>
                        <a:lnSpc>
                          <a:spcPct val="150000"/>
                        </a:lnSpc>
                        <a:spcBef>
                          <a:spcPts val="600"/>
                        </a:spcBef>
                        <a:buNone/>
                      </a:pPr>
                      <a:r>
                        <a:rPr lang="en-US" sz="2000" b="1" kern="1400">
                          <a:effectLst/>
                          <a:latin typeface="Arial" panose="020B0604020202020204" pitchFamily="34" charset="0"/>
                          <a:cs typeface="Arial" panose="020B0604020202020204" pitchFamily="34" charset="0"/>
                        </a:rPr>
                        <a:t>Process name</a:t>
                      </a:r>
                      <a:endParaRPr lang="en-US" sz="20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a:lnSpc>
                          <a:spcPct val="150000"/>
                        </a:lnSpc>
                        <a:spcBef>
                          <a:spcPts val="600"/>
                        </a:spcBef>
                        <a:buNone/>
                      </a:pPr>
                      <a:r>
                        <a:rPr lang="en-US" sz="2000" b="1" kern="1400">
                          <a:effectLst/>
                          <a:latin typeface="Arial" panose="020B0604020202020204" pitchFamily="34" charset="0"/>
                          <a:cs typeface="Arial" panose="020B0604020202020204" pitchFamily="34" charset="0"/>
                        </a:rPr>
                        <a:t>Fiscal Calendar</a:t>
                      </a:r>
                      <a:endParaRPr lang="en-US" sz="20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114986167"/>
                  </a:ext>
                </a:extLst>
              </a:tr>
              <a:tr h="536486">
                <a:tc>
                  <a:txBody>
                    <a:bodyPr/>
                    <a:lstStyle/>
                    <a:p>
                      <a:pPr>
                        <a:lnSpc>
                          <a:spcPct val="150000"/>
                        </a:lnSpc>
                        <a:spcBef>
                          <a:spcPts val="600"/>
                        </a:spcBef>
                        <a:buNone/>
                      </a:pPr>
                      <a:r>
                        <a:rPr lang="en-US" sz="2000" b="1" kern="1400">
                          <a:effectLst/>
                          <a:latin typeface="Arial" panose="020B0604020202020204" pitchFamily="34" charset="0"/>
                          <a:cs typeface="Arial" panose="020B0604020202020204" pitchFamily="34" charset="0"/>
                        </a:rPr>
                        <a:t>Process description</a:t>
                      </a:r>
                      <a:endParaRPr lang="en-US" sz="20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a:lnSpc>
                          <a:spcPct val="150000"/>
                        </a:lnSpc>
                        <a:spcBef>
                          <a:spcPts val="600"/>
                        </a:spcBef>
                        <a:buNone/>
                      </a:pPr>
                      <a:r>
                        <a:rPr lang="en-US" sz="2000" b="1" kern="1400">
                          <a:effectLst/>
                          <a:latin typeface="Arial" panose="020B0604020202020204" pitchFamily="34" charset="0"/>
                          <a:cs typeface="Arial" panose="020B0604020202020204" pitchFamily="34" charset="0"/>
                        </a:rPr>
                        <a:t>Create Fiscal Calendar</a:t>
                      </a:r>
                      <a:endParaRPr lang="en-US" sz="20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2646129840"/>
                  </a:ext>
                </a:extLst>
              </a:tr>
              <a:tr h="536486">
                <a:tc>
                  <a:txBody>
                    <a:bodyPr/>
                    <a:lstStyle/>
                    <a:p>
                      <a:pPr>
                        <a:lnSpc>
                          <a:spcPct val="150000"/>
                        </a:lnSpc>
                        <a:spcBef>
                          <a:spcPts val="600"/>
                        </a:spcBef>
                        <a:buNone/>
                      </a:pPr>
                      <a:r>
                        <a:rPr lang="en-US" sz="2000" b="1" kern="1400">
                          <a:effectLst/>
                          <a:latin typeface="Arial" panose="020B0604020202020204" pitchFamily="34" charset="0"/>
                          <a:cs typeface="Arial" panose="020B0604020202020204" pitchFamily="34" charset="0"/>
                        </a:rPr>
                        <a:t>Form path</a:t>
                      </a:r>
                      <a:endParaRPr lang="en-US" sz="20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a:lnSpc>
                          <a:spcPct val="150000"/>
                        </a:lnSpc>
                        <a:spcBef>
                          <a:spcPts val="600"/>
                        </a:spcBef>
                        <a:buNone/>
                      </a:pPr>
                      <a:r>
                        <a:rPr lang="en-US" sz="2000" b="1" kern="1400" dirty="0">
                          <a:effectLst/>
                          <a:latin typeface="Arial" panose="020B0604020202020204" pitchFamily="34" charset="0"/>
                          <a:cs typeface="Arial" panose="020B0604020202020204" pitchFamily="34" charset="0"/>
                        </a:rPr>
                        <a:t>General ledger &gt;&gt; Setup &gt;&gt; Fiscal Calendars</a:t>
                      </a:r>
                      <a:endParaRPr lang="en-US" sz="2000" b="1" kern="1400" dirty="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1114661739"/>
                  </a:ext>
                </a:extLst>
              </a:tr>
            </a:tbl>
          </a:graphicData>
        </a:graphic>
      </p:graphicFrame>
    </p:spTree>
    <p:extLst>
      <p:ext uri="{BB962C8B-B14F-4D97-AF65-F5344CB8AC3E}">
        <p14:creationId xmlns:p14="http://schemas.microsoft.com/office/powerpoint/2010/main" val="2124144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36806D0-F398-2999-766B-7EAE288811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9C308-B302-8014-03C0-E7CACE483DEE}"/>
              </a:ext>
            </a:extLst>
          </p:cNvPr>
          <p:cNvSpPr>
            <a:spLocks noGrp="1"/>
          </p:cNvSpPr>
          <p:nvPr>
            <p:ph type="title"/>
          </p:nvPr>
        </p:nvSpPr>
        <p:spPr>
          <a:xfrm>
            <a:off x="1093033" y="1080834"/>
            <a:ext cx="10515600" cy="1303240"/>
          </a:xfrm>
        </p:spPr>
        <p:txBody>
          <a:bodyPr>
            <a:noAutofit/>
          </a:bodyPr>
          <a:lstStyle/>
          <a:p>
            <a:pPr algn="ctr">
              <a:lnSpc>
                <a:spcPts val="8170"/>
              </a:lnSpc>
            </a:pPr>
            <a:r>
              <a:rPr lang="en-US" sz="2400" b="1" dirty="0">
                <a:solidFill>
                  <a:schemeClr val="tx2"/>
                </a:solidFill>
                <a:latin typeface="Arial" panose="020B0604020202020204" pitchFamily="34" charset="0"/>
                <a:ea typeface="Bright Retro"/>
                <a:cs typeface="Arial" panose="020B0604020202020204" pitchFamily="34" charset="0"/>
                <a:sym typeface="Bright Retro"/>
              </a:rPr>
              <a:t>* We will create fiscal calendar start in 1/1 and end in 31/12</a:t>
            </a:r>
          </a:p>
        </p:txBody>
      </p:sp>
      <p:pic>
        <p:nvPicPr>
          <p:cNvPr id="8" name="Picture 7">
            <a:extLst>
              <a:ext uri="{FF2B5EF4-FFF2-40B4-BE49-F238E27FC236}">
                <a16:creationId xmlns:a16="http://schemas.microsoft.com/office/drawing/2014/main" id="{7AE855E1-F669-B5D9-03C0-A986C6A2A2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7318"/>
            <a:ext cx="1417559" cy="1303240"/>
          </a:xfrm>
          <a:prstGeom prst="rect">
            <a:avLst/>
          </a:prstGeom>
        </p:spPr>
      </p:pic>
      <p:pic>
        <p:nvPicPr>
          <p:cNvPr id="9" name="Picture 8">
            <a:extLst>
              <a:ext uri="{FF2B5EF4-FFF2-40B4-BE49-F238E27FC236}">
                <a16:creationId xmlns:a16="http://schemas.microsoft.com/office/drawing/2014/main" id="{66A3B34E-3936-4CCC-7FDE-1655C8D7B9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pic>
        <p:nvPicPr>
          <p:cNvPr id="5" name="Picture 4">
            <a:extLst>
              <a:ext uri="{FF2B5EF4-FFF2-40B4-BE49-F238E27FC236}">
                <a16:creationId xmlns:a16="http://schemas.microsoft.com/office/drawing/2014/main" id="{96307C29-1A3A-17A8-0CD5-D45C04773659}"/>
              </a:ext>
            </a:extLst>
          </p:cNvPr>
          <p:cNvPicPr>
            <a:picLocks noChangeAspect="1"/>
          </p:cNvPicPr>
          <p:nvPr/>
        </p:nvPicPr>
        <p:blipFill>
          <a:blip r:embed="rId4"/>
          <a:stretch>
            <a:fillRect/>
          </a:stretch>
        </p:blipFill>
        <p:spPr>
          <a:xfrm>
            <a:off x="0" y="2384074"/>
            <a:ext cx="12191728" cy="4473926"/>
          </a:xfrm>
          <a:prstGeom prst="rect">
            <a:avLst/>
          </a:prstGeom>
        </p:spPr>
      </p:pic>
    </p:spTree>
    <p:extLst>
      <p:ext uri="{BB962C8B-B14F-4D97-AF65-F5344CB8AC3E}">
        <p14:creationId xmlns:p14="http://schemas.microsoft.com/office/powerpoint/2010/main" val="3608484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46A524B-BC43-3F63-4D61-EE1538DF7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4A7DC-73CA-AB40-8526-904DDDB972EA}"/>
              </a:ext>
            </a:extLst>
          </p:cNvPr>
          <p:cNvSpPr>
            <a:spLocks noGrp="1"/>
          </p:cNvSpPr>
          <p:nvPr>
            <p:ph type="title"/>
          </p:nvPr>
        </p:nvSpPr>
        <p:spPr>
          <a:xfrm>
            <a:off x="1093033" y="1080834"/>
            <a:ext cx="10515600" cy="1303240"/>
          </a:xfrm>
        </p:spPr>
        <p:txBody>
          <a:bodyPr>
            <a:noAutofit/>
          </a:bodyPr>
          <a:lstStyle/>
          <a:p>
            <a:pPr>
              <a:lnSpc>
                <a:spcPts val="8170"/>
              </a:lnSpc>
            </a:pPr>
            <a:r>
              <a:rPr lang="en-US" sz="2400" b="1" dirty="0">
                <a:solidFill>
                  <a:schemeClr val="tx2"/>
                </a:solidFill>
                <a:latin typeface="Arial" panose="020B0604020202020204" pitchFamily="34" charset="0"/>
                <a:ea typeface="Bright Retro"/>
                <a:cs typeface="Arial" panose="020B0604020202020204" pitchFamily="34" charset="0"/>
                <a:sym typeface="Bright Retro"/>
              </a:rPr>
              <a:t>Screen Information:</a:t>
            </a:r>
          </a:p>
        </p:txBody>
      </p:sp>
      <p:pic>
        <p:nvPicPr>
          <p:cNvPr id="8" name="Picture 7">
            <a:extLst>
              <a:ext uri="{FF2B5EF4-FFF2-40B4-BE49-F238E27FC236}">
                <a16:creationId xmlns:a16="http://schemas.microsoft.com/office/drawing/2014/main" id="{C8C52889-6E26-8ACA-C878-48113459205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7318"/>
            <a:ext cx="1417559" cy="1303240"/>
          </a:xfrm>
          <a:prstGeom prst="rect">
            <a:avLst/>
          </a:prstGeom>
        </p:spPr>
      </p:pic>
      <p:pic>
        <p:nvPicPr>
          <p:cNvPr id="9" name="Picture 8">
            <a:extLst>
              <a:ext uri="{FF2B5EF4-FFF2-40B4-BE49-F238E27FC236}">
                <a16:creationId xmlns:a16="http://schemas.microsoft.com/office/drawing/2014/main" id="{A08B61D8-D9D4-DD3F-4B2B-628FEB65E1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sp>
        <p:nvSpPr>
          <p:cNvPr id="7" name="TextBox 6">
            <a:extLst>
              <a:ext uri="{FF2B5EF4-FFF2-40B4-BE49-F238E27FC236}">
                <a16:creationId xmlns:a16="http://schemas.microsoft.com/office/drawing/2014/main" id="{C627F80E-44C3-EFD0-8EDC-7EF1900CBB6B}"/>
              </a:ext>
            </a:extLst>
          </p:cNvPr>
          <p:cNvSpPr txBox="1"/>
          <p:nvPr/>
        </p:nvSpPr>
        <p:spPr>
          <a:xfrm>
            <a:off x="104930" y="2280980"/>
            <a:ext cx="9548735" cy="4570482"/>
          </a:xfrm>
          <a:prstGeom prst="rect">
            <a:avLst/>
          </a:prstGeom>
          <a:noFill/>
        </p:spPr>
        <p:txBody>
          <a:bodyPr wrap="square">
            <a:spAutoFit/>
          </a:bodyPr>
          <a:lstStyle/>
          <a:p>
            <a:pPr marL="342900" lvl="0" indent="-342900" rtl="0">
              <a:lnSpc>
                <a:spcPct val="150000"/>
              </a:lnSpc>
              <a:spcBef>
                <a:spcPts val="600"/>
              </a:spcBef>
              <a:buFont typeface="+mj-lt"/>
              <a:buAutoNum type="arabicPeriod"/>
              <a:tabLst>
                <a:tab pos="685800" algn="l"/>
              </a:tabLst>
            </a:pPr>
            <a:r>
              <a:rPr lang="x-none" sz="1800" b="1" kern="1400" dirty="0">
                <a:effectLst/>
                <a:latin typeface="Segoe UI" panose="020B0502040204020203" pitchFamily="34" charset="0"/>
                <a:ea typeface="MS Mincho" panose="02020609040205080304" pitchFamily="49" charset="-128"/>
                <a:cs typeface="Times New Roman" panose="02020603050405020304" pitchFamily="18" charset="0"/>
              </a:rPr>
              <a:t>Enter Fiscal Calendar name in the Calendar field.</a:t>
            </a:r>
            <a:endParaRPr lang="en-US" sz="1800" b="1" kern="14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50000"/>
              </a:lnSpc>
              <a:spcBef>
                <a:spcPts val="600"/>
              </a:spcBef>
              <a:buFont typeface="+mj-lt"/>
              <a:buAutoNum type="arabicPeriod"/>
              <a:tabLst>
                <a:tab pos="685800" algn="l"/>
              </a:tabLst>
            </a:pPr>
            <a:r>
              <a:rPr lang="x-none" sz="1800" b="1" kern="1400" dirty="0">
                <a:effectLst/>
                <a:latin typeface="Segoe UI" panose="020B0502040204020203" pitchFamily="34" charset="0"/>
                <a:ea typeface="MS Mincho" panose="02020609040205080304" pitchFamily="49" charset="-128"/>
                <a:cs typeface="Times New Roman" panose="02020603050405020304" pitchFamily="18" charset="0"/>
              </a:rPr>
              <a:t>Enter Fiscal Calendar description in the Description field.</a:t>
            </a:r>
            <a:endParaRPr lang="en-US" sz="1800" b="1" kern="14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50000"/>
              </a:lnSpc>
              <a:spcBef>
                <a:spcPts val="600"/>
              </a:spcBef>
              <a:buFont typeface="+mj-lt"/>
              <a:buAutoNum type="arabicPeriod"/>
              <a:tabLst>
                <a:tab pos="685800" algn="l"/>
              </a:tabLst>
            </a:pPr>
            <a:r>
              <a:rPr lang="x-none" sz="1800" b="1" kern="1400" dirty="0">
                <a:effectLst/>
                <a:latin typeface="Segoe UI" panose="020B0502040204020203" pitchFamily="34" charset="0"/>
                <a:ea typeface="MS Mincho" panose="02020609040205080304" pitchFamily="49" charset="-128"/>
                <a:cs typeface="Times New Roman" panose="02020603050405020304" pitchFamily="18" charset="0"/>
              </a:rPr>
              <a:t>In the Start of fiscal year field, enter the start date of the first Fiscal Year in the Calendar</a:t>
            </a:r>
            <a:r>
              <a:rPr lang="en-US" sz="1800" b="1" kern="1400" dirty="0">
                <a:effectLst/>
                <a:latin typeface="Segoe UI" panose="020B0502040204020203" pitchFamily="34" charset="0"/>
                <a:ea typeface="MS Mincho" panose="02020609040205080304" pitchFamily="49" charset="-128"/>
                <a:cs typeface="Times New Roman" panose="02020603050405020304" pitchFamily="18" charset="0"/>
              </a:rPr>
              <a:t> (1/1)</a:t>
            </a:r>
            <a:r>
              <a:rPr lang="x-none" sz="1800" b="1" kern="1400" dirty="0">
                <a:effectLst/>
                <a:latin typeface="Segoe UI" panose="020B0502040204020203" pitchFamily="34" charset="0"/>
                <a:ea typeface="MS Mincho" panose="02020609040205080304" pitchFamily="49" charset="-128"/>
                <a:cs typeface="Times New Roman" panose="02020603050405020304" pitchFamily="18" charset="0"/>
              </a:rPr>
              <a:t>.</a:t>
            </a:r>
            <a:endParaRPr lang="en-US" sz="1800" b="1" kern="14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50000"/>
              </a:lnSpc>
              <a:spcBef>
                <a:spcPts val="600"/>
              </a:spcBef>
              <a:buFont typeface="+mj-lt"/>
              <a:buAutoNum type="arabicPeriod"/>
              <a:tabLst>
                <a:tab pos="685800" algn="l"/>
              </a:tabLst>
            </a:pPr>
            <a:r>
              <a:rPr lang="x-none" sz="1800" b="1" kern="1400" dirty="0">
                <a:effectLst/>
                <a:latin typeface="Segoe UI" panose="020B0502040204020203" pitchFamily="34" charset="0"/>
                <a:ea typeface="MS Mincho" panose="02020609040205080304" pitchFamily="49" charset="-128"/>
                <a:cs typeface="Times New Roman" panose="02020603050405020304" pitchFamily="18" charset="0"/>
              </a:rPr>
              <a:t>In the End of fiscal year field, enter the end date of the first Fiscal Year in the calendar.</a:t>
            </a:r>
            <a:endParaRPr lang="en-US" sz="1800" b="1" kern="14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50000"/>
              </a:lnSpc>
              <a:spcBef>
                <a:spcPts val="600"/>
              </a:spcBef>
              <a:buFont typeface="+mj-lt"/>
              <a:buAutoNum type="arabicPeriod"/>
              <a:tabLst>
                <a:tab pos="685800" algn="l"/>
              </a:tabLst>
            </a:pPr>
            <a:r>
              <a:rPr lang="x-none" sz="1800" b="1" kern="1400" dirty="0">
                <a:effectLst/>
                <a:latin typeface="Segoe UI" panose="020B0502040204020203" pitchFamily="34" charset="0"/>
                <a:ea typeface="MS Mincho" panose="02020609040205080304" pitchFamily="49" charset="-128"/>
                <a:cs typeface="Times New Roman" panose="02020603050405020304" pitchFamily="18" charset="0"/>
              </a:rPr>
              <a:t>Enter the name of the first Fiscal Year in the calendar in the Fiscal year name field.</a:t>
            </a:r>
            <a:endParaRPr lang="en-US" sz="1800" b="1" kern="14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50000"/>
              </a:lnSpc>
              <a:spcBef>
                <a:spcPts val="600"/>
              </a:spcBef>
              <a:buFont typeface="+mj-lt"/>
              <a:buAutoNum type="arabicPeriod"/>
              <a:tabLst>
                <a:tab pos="685800" algn="l"/>
              </a:tabLst>
            </a:pPr>
            <a:r>
              <a:rPr lang="x-none" sz="1800" b="1" kern="1400" dirty="0">
                <a:effectLst/>
                <a:latin typeface="Segoe UI" panose="020B0502040204020203" pitchFamily="34" charset="0"/>
                <a:ea typeface="MS Mincho" panose="02020609040205080304" pitchFamily="49" charset="-128"/>
                <a:cs typeface="Times New Roman" panose="02020603050405020304" pitchFamily="18" charset="0"/>
              </a:rPr>
              <a:t>In the Length of period field, enter 1.</a:t>
            </a:r>
            <a:endParaRPr lang="en-US" sz="1800" b="1" kern="1400" dirty="0">
              <a:effectLst/>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nSpc>
                <a:spcPct val="150000"/>
              </a:lnSpc>
              <a:spcBef>
                <a:spcPts val="600"/>
              </a:spcBef>
              <a:buFont typeface="+mj-lt"/>
              <a:buAutoNum type="arabicPeriod"/>
              <a:tabLst>
                <a:tab pos="685800" algn="l"/>
              </a:tabLst>
            </a:pPr>
            <a:r>
              <a:rPr lang="x-none" sz="1800" b="1" kern="1400" dirty="0">
                <a:effectLst/>
                <a:latin typeface="Segoe UI" panose="020B0502040204020203" pitchFamily="34" charset="0"/>
                <a:ea typeface="MS Mincho" panose="02020609040205080304" pitchFamily="49" charset="-128"/>
                <a:cs typeface="Times New Roman" panose="02020603050405020304" pitchFamily="18" charset="0"/>
              </a:rPr>
              <a:t>In the Unit field, click the arrow to select Months.</a:t>
            </a:r>
            <a:endParaRPr lang="en-US" sz="1800" b="1" kern="1400" dirty="0">
              <a:effectLst/>
              <a:latin typeface="Calibri" panose="020F0502020204030204" pitchFamily="34" charset="0"/>
              <a:ea typeface="MS Mincho" panose="02020609040205080304" pitchFamily="49" charset="-128"/>
              <a:cs typeface="Times New Roman" panose="02020603050405020304" pitchFamily="18" charset="0"/>
            </a:endParaRPr>
          </a:p>
          <a:p>
            <a:pPr>
              <a:buNone/>
            </a:pPr>
            <a:r>
              <a:rPr lang="en-US" sz="1800" b="1" kern="1400" dirty="0">
                <a:effectLst/>
                <a:latin typeface="Segoe UI" panose="020B0502040204020203" pitchFamily="34" charset="0"/>
                <a:ea typeface="MS Mincho" panose="02020609040205080304" pitchFamily="49" charset="-128"/>
              </a:rPr>
              <a:t>8. Click the Create button to create the year.</a:t>
            </a:r>
            <a:endParaRPr lang="ar-EG" b="1" dirty="0"/>
          </a:p>
        </p:txBody>
      </p:sp>
    </p:spTree>
    <p:extLst>
      <p:ext uri="{BB962C8B-B14F-4D97-AF65-F5344CB8AC3E}">
        <p14:creationId xmlns:p14="http://schemas.microsoft.com/office/powerpoint/2010/main" val="3964313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87E9278-0A18-5585-3510-592F741138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1B018-61C6-4B7D-3A9C-0E924D27F72C}"/>
              </a:ext>
            </a:extLst>
          </p:cNvPr>
          <p:cNvSpPr>
            <a:spLocks noGrp="1"/>
          </p:cNvSpPr>
          <p:nvPr>
            <p:ph type="title"/>
          </p:nvPr>
        </p:nvSpPr>
        <p:spPr>
          <a:xfrm>
            <a:off x="838200" y="608330"/>
            <a:ext cx="10515600" cy="729615"/>
          </a:xfrm>
        </p:spPr>
        <p:txBody>
          <a:bodyPr>
            <a:noAutofit/>
          </a:bodyPr>
          <a:lstStyle/>
          <a:p>
            <a:pPr algn="ctr">
              <a:lnSpc>
                <a:spcPts val="8170"/>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Configure Account Structures.</a:t>
            </a:r>
          </a:p>
        </p:txBody>
      </p:sp>
      <p:pic>
        <p:nvPicPr>
          <p:cNvPr id="8" name="Picture 7">
            <a:extLst>
              <a:ext uri="{FF2B5EF4-FFF2-40B4-BE49-F238E27FC236}">
                <a16:creationId xmlns:a16="http://schemas.microsoft.com/office/drawing/2014/main" id="{3C71A251-88E0-9247-8CE5-82B94BA0DC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7318"/>
            <a:ext cx="1417559" cy="1303240"/>
          </a:xfrm>
          <a:prstGeom prst="rect">
            <a:avLst/>
          </a:prstGeom>
        </p:spPr>
      </p:pic>
      <p:pic>
        <p:nvPicPr>
          <p:cNvPr id="9" name="Picture 8">
            <a:extLst>
              <a:ext uri="{FF2B5EF4-FFF2-40B4-BE49-F238E27FC236}">
                <a16:creationId xmlns:a16="http://schemas.microsoft.com/office/drawing/2014/main" id="{FC847836-ADED-4295-BD85-F4737C53F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graphicFrame>
        <p:nvGraphicFramePr>
          <p:cNvPr id="4" name="Table 3">
            <a:extLst>
              <a:ext uri="{FF2B5EF4-FFF2-40B4-BE49-F238E27FC236}">
                <a16:creationId xmlns:a16="http://schemas.microsoft.com/office/drawing/2014/main" id="{928A5A2A-F210-9289-57F4-75C805F2CACD}"/>
              </a:ext>
            </a:extLst>
          </p:cNvPr>
          <p:cNvGraphicFramePr>
            <a:graphicFrameLocks noGrp="1"/>
          </p:cNvGraphicFramePr>
          <p:nvPr>
            <p:extLst>
              <p:ext uri="{D42A27DB-BD31-4B8C-83A1-F6EECF244321}">
                <p14:modId xmlns:p14="http://schemas.microsoft.com/office/powerpoint/2010/main" val="789449065"/>
              </p:ext>
            </p:extLst>
          </p:nvPr>
        </p:nvGraphicFramePr>
        <p:xfrm>
          <a:off x="1633928" y="2263515"/>
          <a:ext cx="8274569" cy="2369348"/>
        </p:xfrm>
        <a:graphic>
          <a:graphicData uri="http://schemas.openxmlformats.org/drawingml/2006/table">
            <a:tbl>
              <a:tblPr firstRow="1" firstCol="1" bandRow="1">
                <a:tableStyleId>{5C22544A-7EE6-4342-B048-85BDC9FD1C3A}</a:tableStyleId>
              </a:tblPr>
              <a:tblGrid>
                <a:gridCol w="2134093">
                  <a:extLst>
                    <a:ext uri="{9D8B030D-6E8A-4147-A177-3AD203B41FA5}">
                      <a16:colId xmlns:a16="http://schemas.microsoft.com/office/drawing/2014/main" val="710673120"/>
                    </a:ext>
                  </a:extLst>
                </a:gridCol>
                <a:gridCol w="6140476">
                  <a:extLst>
                    <a:ext uri="{9D8B030D-6E8A-4147-A177-3AD203B41FA5}">
                      <a16:colId xmlns:a16="http://schemas.microsoft.com/office/drawing/2014/main" val="3657887471"/>
                    </a:ext>
                  </a:extLst>
                </a:gridCol>
              </a:tblGrid>
              <a:tr h="463204">
                <a:tc>
                  <a:txBody>
                    <a:bodyPr/>
                    <a:lstStyle/>
                    <a:p>
                      <a:pPr>
                        <a:lnSpc>
                          <a:spcPct val="150000"/>
                        </a:lnSpc>
                        <a:spcBef>
                          <a:spcPts val="600"/>
                        </a:spcBef>
                        <a:buNone/>
                      </a:pPr>
                      <a:r>
                        <a:rPr lang="en-US" sz="1800" b="1" kern="1400">
                          <a:effectLst/>
                        </a:rPr>
                        <a:t>Process code</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a:effectLst/>
                        </a:rPr>
                        <a:t>01.02.02. Financial Management</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724471907"/>
                  </a:ext>
                </a:extLst>
              </a:tr>
              <a:tr h="463204">
                <a:tc>
                  <a:txBody>
                    <a:bodyPr/>
                    <a:lstStyle/>
                    <a:p>
                      <a:pPr>
                        <a:lnSpc>
                          <a:spcPct val="150000"/>
                        </a:lnSpc>
                        <a:spcBef>
                          <a:spcPts val="600"/>
                        </a:spcBef>
                        <a:buNone/>
                      </a:pPr>
                      <a:r>
                        <a:rPr lang="en-US" sz="1800" b="1" kern="1400">
                          <a:effectLst/>
                        </a:rPr>
                        <a:t>Process name</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a:effectLst/>
                        </a:rPr>
                        <a:t>Configure account structures</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878519479"/>
                  </a:ext>
                </a:extLst>
              </a:tr>
              <a:tr h="463204">
                <a:tc>
                  <a:txBody>
                    <a:bodyPr/>
                    <a:lstStyle/>
                    <a:p>
                      <a:pPr>
                        <a:lnSpc>
                          <a:spcPct val="150000"/>
                        </a:lnSpc>
                        <a:spcBef>
                          <a:spcPts val="600"/>
                        </a:spcBef>
                        <a:buNone/>
                      </a:pPr>
                      <a:r>
                        <a:rPr lang="en-US" sz="1800" b="1" kern="1400">
                          <a:effectLst/>
                        </a:rPr>
                        <a:t>Process description</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a:effectLst/>
                        </a:rPr>
                        <a:t>Create account structures</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26585123"/>
                  </a:ext>
                </a:extLst>
              </a:tr>
              <a:tr h="979736">
                <a:tc>
                  <a:txBody>
                    <a:bodyPr/>
                    <a:lstStyle/>
                    <a:p>
                      <a:pPr>
                        <a:lnSpc>
                          <a:spcPct val="150000"/>
                        </a:lnSpc>
                        <a:spcBef>
                          <a:spcPts val="600"/>
                        </a:spcBef>
                        <a:buNone/>
                      </a:pPr>
                      <a:r>
                        <a:rPr lang="en-US" sz="1800" b="1" kern="1400">
                          <a:effectLst/>
                        </a:rPr>
                        <a:t>Form path</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dirty="0">
                          <a:effectLst/>
                        </a:rPr>
                        <a:t>General ledger &gt;&gt; Chart of accounts &gt;&gt; structures &gt;&gt; Configure account structures</a:t>
                      </a:r>
                      <a:endParaRPr lang="en-US" sz="1800" b="1" kern="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68172514"/>
                  </a:ext>
                </a:extLst>
              </a:tr>
            </a:tbl>
          </a:graphicData>
        </a:graphic>
      </p:graphicFrame>
      <p:sp>
        <p:nvSpPr>
          <p:cNvPr id="7" name="TextBox 6">
            <a:extLst>
              <a:ext uri="{FF2B5EF4-FFF2-40B4-BE49-F238E27FC236}">
                <a16:creationId xmlns:a16="http://schemas.microsoft.com/office/drawing/2014/main" id="{3B1E1948-30A6-8612-34E0-78A933F08098}"/>
              </a:ext>
            </a:extLst>
          </p:cNvPr>
          <p:cNvSpPr txBox="1"/>
          <p:nvPr/>
        </p:nvSpPr>
        <p:spPr>
          <a:xfrm>
            <a:off x="1417559" y="5096768"/>
            <a:ext cx="8490938" cy="1015663"/>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Account structures use the main account and financial dimensions to create a set of rules that determine the order and values used when entering the account number.</a:t>
            </a:r>
            <a:endParaRPr lang="ar-EG"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6899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608330"/>
            <a:ext cx="10515600" cy="729615"/>
          </a:xfrm>
        </p:spPr>
        <p:txBody>
          <a:bodyPr>
            <a:noAutofit/>
          </a:bodyPr>
          <a:lstStyle/>
          <a:p>
            <a:pPr algn="ctr">
              <a:lnSpc>
                <a:spcPts val="8170"/>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Configure account structures</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7318"/>
            <a:ext cx="1417559" cy="1303240"/>
          </a:xfrm>
          <a:prstGeom prst="rect">
            <a:avLst/>
          </a:prstGeom>
        </p:spPr>
      </p:pic>
      <p:sp>
        <p:nvSpPr>
          <p:cNvPr id="3" name="Title 1"/>
          <p:cNvSpPr txBox="1"/>
          <p:nvPr/>
        </p:nvSpPr>
        <p:spPr>
          <a:xfrm>
            <a:off x="0" y="1687195"/>
            <a:ext cx="11555730" cy="1104265"/>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2000" b="1" dirty="0">
              <a:ln w="0"/>
              <a:solidFill>
                <a:schemeClr val="tx1"/>
              </a:solidFill>
              <a:effectLst>
                <a:outerShdw blurRad="38100" dist="25400" dir="5400000" algn="ctr" rotWithShape="0">
                  <a:srgbClr val="6E747A">
                    <a:alpha val="43000"/>
                  </a:srgbClr>
                </a:outerShdw>
              </a:effectLst>
              <a:latin typeface="Arial Narrow" panose="020B0606020202030204" charset="0"/>
              <a:cs typeface="Arial Narrow" panose="020B0606020202030204" charset="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pic>
        <p:nvPicPr>
          <p:cNvPr id="7" name="Picture 6">
            <a:extLst>
              <a:ext uri="{FF2B5EF4-FFF2-40B4-BE49-F238E27FC236}">
                <a16:creationId xmlns:a16="http://schemas.microsoft.com/office/drawing/2014/main" id="{BF4C3C7F-0C78-E56F-3A29-49EA48129EBC}"/>
              </a:ext>
            </a:extLst>
          </p:cNvPr>
          <p:cNvPicPr>
            <a:picLocks noChangeAspect="1"/>
          </p:cNvPicPr>
          <p:nvPr/>
        </p:nvPicPr>
        <p:blipFill>
          <a:blip r:embed="rId4"/>
          <a:stretch>
            <a:fillRect/>
          </a:stretch>
        </p:blipFill>
        <p:spPr>
          <a:xfrm>
            <a:off x="0" y="1500559"/>
            <a:ext cx="12192000" cy="3476176"/>
          </a:xfrm>
          <a:prstGeom prst="rect">
            <a:avLst/>
          </a:prstGeom>
        </p:spPr>
      </p:pic>
      <p:sp>
        <p:nvSpPr>
          <p:cNvPr id="11" name="TextBox 10">
            <a:extLst>
              <a:ext uri="{FF2B5EF4-FFF2-40B4-BE49-F238E27FC236}">
                <a16:creationId xmlns:a16="http://schemas.microsoft.com/office/drawing/2014/main" id="{3F0498C9-2CA8-F8D6-4FF9-8B5198268E78}"/>
              </a:ext>
            </a:extLst>
          </p:cNvPr>
          <p:cNvSpPr txBox="1"/>
          <p:nvPr/>
        </p:nvSpPr>
        <p:spPr>
          <a:xfrm>
            <a:off x="0" y="4922727"/>
            <a:ext cx="12189502" cy="1939505"/>
          </a:xfrm>
          <a:prstGeom prst="rect">
            <a:avLst/>
          </a:prstGeom>
          <a:noFill/>
        </p:spPr>
        <p:txBody>
          <a:bodyPr wrap="square">
            <a:spAutoFit/>
          </a:bodyPr>
          <a:lstStyle/>
          <a:p>
            <a:pPr marL="57150" indent="-57150">
              <a:lnSpc>
                <a:spcPct val="150000"/>
              </a:lnSpc>
              <a:spcBef>
                <a:spcPts val="600"/>
              </a:spcBef>
              <a:spcAft>
                <a:spcPts val="1200"/>
              </a:spcAft>
              <a:buNone/>
            </a:pPr>
            <a:r>
              <a:rPr lang="en-US" b="1" u="sng" kern="1400" dirty="0">
                <a:solidFill>
                  <a:srgbClr val="002060"/>
                </a:solidFill>
                <a:effectLst/>
                <a:latin typeface="Arial" panose="020B0604020202020204" pitchFamily="34" charset="0"/>
                <a:ea typeface="MS Mincho" panose="02020609040205080304" pitchFamily="49" charset="-128"/>
                <a:cs typeface="Arial" panose="020B0604020202020204" pitchFamily="34" charset="0"/>
              </a:rPr>
              <a:t>Screen Information:</a:t>
            </a:r>
            <a:br>
              <a:rPr lang="en-US" sz="1400" u="sng" kern="1400" dirty="0">
                <a:solidFill>
                  <a:srgbClr val="FF0000"/>
                </a:solidFill>
                <a:effectLst/>
                <a:latin typeface="Arial" panose="020B0604020202020204" pitchFamily="34" charset="0"/>
                <a:ea typeface="MS Mincho" panose="02020609040205080304" pitchFamily="49" charset="-128"/>
                <a:cs typeface="Arial" panose="020B0604020202020204" pitchFamily="34" charset="0"/>
              </a:rPr>
            </a:br>
            <a:r>
              <a:rPr lang="en-US" sz="1600" b="1" kern="1400" dirty="0">
                <a:effectLst/>
                <a:latin typeface="Arial" panose="020B0604020202020204" pitchFamily="34" charset="0"/>
                <a:ea typeface="MS Mincho" panose="02020609040205080304" pitchFamily="49" charset="-128"/>
                <a:cs typeface="Arial" panose="020B0604020202020204" pitchFamily="34" charset="0"/>
              </a:rPr>
              <a:t>1- From Add segment we can add all financial dimensions we need</a:t>
            </a:r>
            <a:br>
              <a:rPr lang="en-US" sz="1600" b="1" kern="1400" dirty="0">
                <a:effectLst/>
                <a:latin typeface="Arial" panose="020B0604020202020204" pitchFamily="34" charset="0"/>
                <a:ea typeface="MS Mincho" panose="02020609040205080304" pitchFamily="49" charset="-128"/>
                <a:cs typeface="Arial" panose="020B0604020202020204" pitchFamily="34" charset="0"/>
              </a:rPr>
            </a:br>
            <a:r>
              <a:rPr lang="en-US" sz="1600" b="1" kern="1400" dirty="0">
                <a:effectLst/>
                <a:latin typeface="Arial" panose="020B0604020202020204" pitchFamily="34" charset="0"/>
                <a:ea typeface="MS Mincho" panose="02020609040205080304" pitchFamily="49" charset="-128"/>
                <a:cs typeface="Arial" panose="020B0604020202020204" pitchFamily="34" charset="0"/>
              </a:rPr>
              <a:t>2- From Activate we can active the account structures </a:t>
            </a:r>
            <a:br>
              <a:rPr lang="en-US" sz="1600" b="1" kern="1400" dirty="0">
                <a:effectLst/>
                <a:latin typeface="Arial" panose="020B0604020202020204" pitchFamily="34" charset="0"/>
                <a:ea typeface="MS Mincho" panose="02020609040205080304" pitchFamily="49" charset="-128"/>
                <a:cs typeface="Arial" panose="020B0604020202020204" pitchFamily="34" charset="0"/>
              </a:rPr>
            </a:br>
            <a:r>
              <a:rPr lang="en-US" sz="1600" b="1" kern="1400" dirty="0">
                <a:effectLst/>
                <a:latin typeface="Arial" panose="020B0604020202020204" pitchFamily="34" charset="0"/>
                <a:ea typeface="MS Mincho" panose="02020609040205080304" pitchFamily="49" charset="-128"/>
                <a:cs typeface="Arial" panose="020B0604020202020204" pitchFamily="34" charset="0"/>
              </a:rPr>
              <a:t>Note: we can make any financial dimension mandatory or optional in accounting entries by using checkbox Blank values are allowed</a:t>
            </a:r>
            <a:r>
              <a:rPr lang="en-US" sz="1400" kern="1400" dirty="0">
                <a:solidFill>
                  <a:srgbClr val="7B7B7B"/>
                </a:solidFill>
                <a:effectLst/>
                <a:latin typeface="Arial" panose="020B0604020202020204" pitchFamily="34" charset="0"/>
                <a:ea typeface="MS Mincho" panose="02020609040205080304" pitchFamily="49" charset="-128"/>
                <a:cs typeface="Arial" panose="020B0604020202020204" pitchFamily="34" charset="0"/>
              </a:rPr>
              <a:t>.</a:t>
            </a:r>
            <a:endParaRPr lang="en-US" sz="1400" kern="1400" dirty="0">
              <a:effectLst/>
              <a:latin typeface="Arial" panose="020B0604020202020204" pitchFamily="34" charset="0"/>
              <a:ea typeface="MS Mincho" panose="02020609040205080304" pitchFamily="49" charset="-128"/>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E97F8106-659A-2126-57E2-79AA944581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7DFBE-3A9C-7D22-69C9-FE8AEC3195D1}"/>
              </a:ext>
            </a:extLst>
          </p:cNvPr>
          <p:cNvSpPr>
            <a:spLocks noGrp="1"/>
          </p:cNvSpPr>
          <p:nvPr>
            <p:ph type="title"/>
          </p:nvPr>
        </p:nvSpPr>
        <p:spPr>
          <a:xfrm>
            <a:off x="838200" y="608330"/>
            <a:ext cx="10515600" cy="729615"/>
          </a:xfrm>
        </p:spPr>
        <p:txBody>
          <a:bodyPr>
            <a:noAutofit/>
          </a:bodyPr>
          <a:lstStyle/>
          <a:p>
            <a:pPr algn="ctr">
              <a:lnSpc>
                <a:spcPts val="8170"/>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Currency Exchange Rate</a:t>
            </a:r>
          </a:p>
        </p:txBody>
      </p:sp>
      <p:pic>
        <p:nvPicPr>
          <p:cNvPr id="8" name="Picture 7">
            <a:extLst>
              <a:ext uri="{FF2B5EF4-FFF2-40B4-BE49-F238E27FC236}">
                <a16:creationId xmlns:a16="http://schemas.microsoft.com/office/drawing/2014/main" id="{0420AD0A-2EF5-E377-9125-6F2E4B6AF0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7318"/>
            <a:ext cx="1417559" cy="1303240"/>
          </a:xfrm>
          <a:prstGeom prst="rect">
            <a:avLst/>
          </a:prstGeom>
        </p:spPr>
      </p:pic>
      <p:pic>
        <p:nvPicPr>
          <p:cNvPr id="9" name="Picture 8">
            <a:extLst>
              <a:ext uri="{FF2B5EF4-FFF2-40B4-BE49-F238E27FC236}">
                <a16:creationId xmlns:a16="http://schemas.microsoft.com/office/drawing/2014/main" id="{C75B5E76-C310-D5C5-0D08-6D749497B2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graphicFrame>
        <p:nvGraphicFramePr>
          <p:cNvPr id="4" name="Table 3">
            <a:extLst>
              <a:ext uri="{FF2B5EF4-FFF2-40B4-BE49-F238E27FC236}">
                <a16:creationId xmlns:a16="http://schemas.microsoft.com/office/drawing/2014/main" id="{5B0D673D-48BD-24D5-8FC0-E40AABE68C8F}"/>
              </a:ext>
            </a:extLst>
          </p:cNvPr>
          <p:cNvGraphicFramePr>
            <a:graphicFrameLocks noGrp="1"/>
          </p:cNvGraphicFramePr>
          <p:nvPr>
            <p:extLst>
              <p:ext uri="{D42A27DB-BD31-4B8C-83A1-F6EECF244321}">
                <p14:modId xmlns:p14="http://schemas.microsoft.com/office/powerpoint/2010/main" val="2536998552"/>
              </p:ext>
            </p:extLst>
          </p:nvPr>
        </p:nvGraphicFramePr>
        <p:xfrm>
          <a:off x="539646" y="1946380"/>
          <a:ext cx="8867879" cy="2412164"/>
        </p:xfrm>
        <a:graphic>
          <a:graphicData uri="http://schemas.openxmlformats.org/drawingml/2006/table">
            <a:tbl>
              <a:tblPr firstRow="1" firstCol="1" bandRow="1">
                <a:tableStyleId>{5C22544A-7EE6-4342-B048-85BDC9FD1C3A}</a:tableStyleId>
              </a:tblPr>
              <a:tblGrid>
                <a:gridCol w="2287113">
                  <a:extLst>
                    <a:ext uri="{9D8B030D-6E8A-4147-A177-3AD203B41FA5}">
                      <a16:colId xmlns:a16="http://schemas.microsoft.com/office/drawing/2014/main" val="426035514"/>
                    </a:ext>
                  </a:extLst>
                </a:gridCol>
                <a:gridCol w="6580766">
                  <a:extLst>
                    <a:ext uri="{9D8B030D-6E8A-4147-A177-3AD203B41FA5}">
                      <a16:colId xmlns:a16="http://schemas.microsoft.com/office/drawing/2014/main" val="2463163311"/>
                    </a:ext>
                  </a:extLst>
                </a:gridCol>
              </a:tblGrid>
              <a:tr h="603041">
                <a:tc>
                  <a:txBody>
                    <a:bodyPr/>
                    <a:lstStyle/>
                    <a:p>
                      <a:pPr>
                        <a:lnSpc>
                          <a:spcPct val="150000"/>
                        </a:lnSpc>
                        <a:spcBef>
                          <a:spcPts val="600"/>
                        </a:spcBef>
                        <a:buNone/>
                      </a:pPr>
                      <a:r>
                        <a:rPr lang="en-US" sz="1400" b="1" kern="1400">
                          <a:effectLst/>
                          <a:latin typeface="Arial" panose="020B0604020202020204" pitchFamily="34" charset="0"/>
                          <a:cs typeface="Arial" panose="020B0604020202020204" pitchFamily="34" charset="0"/>
                        </a:rPr>
                        <a:t>Process code</a:t>
                      </a:r>
                      <a:endParaRPr lang="en-US" sz="14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a:lnSpc>
                          <a:spcPct val="150000"/>
                        </a:lnSpc>
                        <a:spcBef>
                          <a:spcPts val="600"/>
                        </a:spcBef>
                        <a:buNone/>
                      </a:pPr>
                      <a:r>
                        <a:rPr lang="en-US" sz="1400" b="1" kern="1400">
                          <a:effectLst/>
                          <a:latin typeface="Arial" panose="020B0604020202020204" pitchFamily="34" charset="0"/>
                          <a:cs typeface="Arial" panose="020B0604020202020204" pitchFamily="34" charset="0"/>
                        </a:rPr>
                        <a:t>01.06.01. Financial Management</a:t>
                      </a:r>
                      <a:endParaRPr lang="en-US" sz="14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4145106047"/>
                  </a:ext>
                </a:extLst>
              </a:tr>
              <a:tr h="603041">
                <a:tc>
                  <a:txBody>
                    <a:bodyPr/>
                    <a:lstStyle/>
                    <a:p>
                      <a:pPr>
                        <a:lnSpc>
                          <a:spcPct val="150000"/>
                        </a:lnSpc>
                        <a:spcBef>
                          <a:spcPts val="600"/>
                        </a:spcBef>
                        <a:buNone/>
                      </a:pPr>
                      <a:r>
                        <a:rPr lang="en-US" sz="1400" b="1" kern="1400">
                          <a:effectLst/>
                          <a:latin typeface="Arial" panose="020B0604020202020204" pitchFamily="34" charset="0"/>
                          <a:cs typeface="Arial" panose="020B0604020202020204" pitchFamily="34" charset="0"/>
                        </a:rPr>
                        <a:t>Process name</a:t>
                      </a:r>
                      <a:endParaRPr lang="en-US" sz="14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a:lnSpc>
                          <a:spcPct val="150000"/>
                        </a:lnSpc>
                        <a:spcBef>
                          <a:spcPts val="600"/>
                        </a:spcBef>
                        <a:buNone/>
                      </a:pPr>
                      <a:r>
                        <a:rPr lang="en-US" sz="1400" b="1" kern="1400">
                          <a:effectLst/>
                          <a:latin typeface="Arial" panose="020B0604020202020204" pitchFamily="34" charset="0"/>
                          <a:cs typeface="Arial" panose="020B0604020202020204" pitchFamily="34" charset="0"/>
                        </a:rPr>
                        <a:t>Currency exchange rates</a:t>
                      </a:r>
                      <a:endParaRPr lang="en-US" sz="14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364728019"/>
                  </a:ext>
                </a:extLst>
              </a:tr>
              <a:tr h="603041">
                <a:tc>
                  <a:txBody>
                    <a:bodyPr/>
                    <a:lstStyle/>
                    <a:p>
                      <a:pPr>
                        <a:lnSpc>
                          <a:spcPct val="150000"/>
                        </a:lnSpc>
                        <a:spcBef>
                          <a:spcPts val="600"/>
                        </a:spcBef>
                        <a:buNone/>
                      </a:pPr>
                      <a:r>
                        <a:rPr lang="en-US" sz="1400" b="1" kern="1400">
                          <a:effectLst/>
                          <a:latin typeface="Arial" panose="020B0604020202020204" pitchFamily="34" charset="0"/>
                          <a:cs typeface="Arial" panose="020B0604020202020204" pitchFamily="34" charset="0"/>
                        </a:rPr>
                        <a:t>Process description</a:t>
                      </a:r>
                      <a:endParaRPr lang="en-US" sz="14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a:lnSpc>
                          <a:spcPct val="150000"/>
                        </a:lnSpc>
                        <a:spcBef>
                          <a:spcPts val="600"/>
                        </a:spcBef>
                        <a:buNone/>
                      </a:pPr>
                      <a:r>
                        <a:rPr lang="en-US" sz="1400" b="1" kern="1400" dirty="0">
                          <a:effectLst/>
                          <a:latin typeface="Arial" panose="020B0604020202020204" pitchFamily="34" charset="0"/>
                          <a:cs typeface="Arial" panose="020B0604020202020204" pitchFamily="34" charset="0"/>
                        </a:rPr>
                        <a:t>Create exchange rates</a:t>
                      </a:r>
                      <a:endParaRPr lang="en-US" sz="1400" b="1" kern="1400" dirty="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3446288021"/>
                  </a:ext>
                </a:extLst>
              </a:tr>
              <a:tr h="603041">
                <a:tc>
                  <a:txBody>
                    <a:bodyPr/>
                    <a:lstStyle/>
                    <a:p>
                      <a:pPr>
                        <a:lnSpc>
                          <a:spcPct val="150000"/>
                        </a:lnSpc>
                        <a:spcBef>
                          <a:spcPts val="600"/>
                        </a:spcBef>
                        <a:buNone/>
                      </a:pPr>
                      <a:r>
                        <a:rPr lang="en-US" sz="1400" b="1" kern="1400">
                          <a:effectLst/>
                          <a:latin typeface="Arial" panose="020B0604020202020204" pitchFamily="34" charset="0"/>
                          <a:cs typeface="Arial" panose="020B0604020202020204" pitchFamily="34" charset="0"/>
                        </a:rPr>
                        <a:t>Form path</a:t>
                      </a:r>
                      <a:endParaRPr lang="en-US" sz="14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a:lnSpc>
                          <a:spcPct val="150000"/>
                        </a:lnSpc>
                        <a:spcBef>
                          <a:spcPts val="600"/>
                        </a:spcBef>
                        <a:buNone/>
                      </a:pPr>
                      <a:r>
                        <a:rPr lang="en-US" sz="1400" b="1" kern="1400" dirty="0">
                          <a:effectLst/>
                          <a:latin typeface="Arial" panose="020B0604020202020204" pitchFamily="34" charset="0"/>
                          <a:cs typeface="Arial" panose="020B0604020202020204" pitchFamily="34" charset="0"/>
                        </a:rPr>
                        <a:t>General Ledger &gt;&gt; Currencies &gt;&gt; Currencies &gt;&gt; Currency exchange rates</a:t>
                      </a:r>
                      <a:endParaRPr lang="en-US" sz="1400" b="1" kern="1400" dirty="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2186236013"/>
                  </a:ext>
                </a:extLst>
              </a:tr>
            </a:tbl>
          </a:graphicData>
        </a:graphic>
      </p:graphicFrame>
      <p:sp>
        <p:nvSpPr>
          <p:cNvPr id="6" name="TextBox 5">
            <a:extLst>
              <a:ext uri="{FF2B5EF4-FFF2-40B4-BE49-F238E27FC236}">
                <a16:creationId xmlns:a16="http://schemas.microsoft.com/office/drawing/2014/main" id="{2D4BE770-7A53-E62B-5312-DA4076B50783}"/>
              </a:ext>
            </a:extLst>
          </p:cNvPr>
          <p:cNvSpPr txBox="1"/>
          <p:nvPr/>
        </p:nvSpPr>
        <p:spPr>
          <a:xfrm>
            <a:off x="378501" y="4966979"/>
            <a:ext cx="7431373" cy="646331"/>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 In Microsoft Dynamics 365, all currencies are provided by default and we will use the Egyptian pound as the functional currency.</a:t>
            </a:r>
            <a:endParaRPr lang="ar-EG"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604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E423F0AF-83C2-33EA-7641-E8BBB384F3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AD8FA-46CD-C596-DC5E-6D0476303BE4}"/>
              </a:ext>
            </a:extLst>
          </p:cNvPr>
          <p:cNvSpPr>
            <a:spLocks noGrp="1"/>
          </p:cNvSpPr>
          <p:nvPr>
            <p:ph type="title"/>
          </p:nvPr>
        </p:nvSpPr>
        <p:spPr>
          <a:xfrm>
            <a:off x="838200" y="608330"/>
            <a:ext cx="10515600" cy="729615"/>
          </a:xfrm>
        </p:spPr>
        <p:txBody>
          <a:bodyPr>
            <a:noAutofit/>
          </a:bodyPr>
          <a:lstStyle/>
          <a:p>
            <a:pPr algn="ctr">
              <a:lnSpc>
                <a:spcPts val="8170"/>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Currency Exchange Rate</a:t>
            </a:r>
          </a:p>
        </p:txBody>
      </p:sp>
      <p:pic>
        <p:nvPicPr>
          <p:cNvPr id="8" name="Picture 7">
            <a:extLst>
              <a:ext uri="{FF2B5EF4-FFF2-40B4-BE49-F238E27FC236}">
                <a16:creationId xmlns:a16="http://schemas.microsoft.com/office/drawing/2014/main" id="{B4822BC6-C8DE-BAB0-E7FE-CC7907DCA9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7318"/>
            <a:ext cx="1417559" cy="1303240"/>
          </a:xfrm>
          <a:prstGeom prst="rect">
            <a:avLst/>
          </a:prstGeom>
        </p:spPr>
      </p:pic>
      <p:pic>
        <p:nvPicPr>
          <p:cNvPr id="9" name="Picture 8">
            <a:extLst>
              <a:ext uri="{FF2B5EF4-FFF2-40B4-BE49-F238E27FC236}">
                <a16:creationId xmlns:a16="http://schemas.microsoft.com/office/drawing/2014/main" id="{E4064AFD-833D-FC38-FB5E-005EB2F921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pic>
        <p:nvPicPr>
          <p:cNvPr id="5" name="Picture 4">
            <a:extLst>
              <a:ext uri="{FF2B5EF4-FFF2-40B4-BE49-F238E27FC236}">
                <a16:creationId xmlns:a16="http://schemas.microsoft.com/office/drawing/2014/main" id="{A4BE5155-26AF-56A7-78C9-246F29322D07}"/>
              </a:ext>
            </a:extLst>
          </p:cNvPr>
          <p:cNvPicPr>
            <a:picLocks noChangeAspect="1"/>
          </p:cNvPicPr>
          <p:nvPr/>
        </p:nvPicPr>
        <p:blipFill>
          <a:blip r:embed="rId4"/>
          <a:stretch>
            <a:fillRect/>
          </a:stretch>
        </p:blipFill>
        <p:spPr>
          <a:xfrm>
            <a:off x="0" y="1780466"/>
            <a:ext cx="12191728" cy="3406131"/>
          </a:xfrm>
          <a:prstGeom prst="rect">
            <a:avLst/>
          </a:prstGeom>
        </p:spPr>
      </p:pic>
      <p:sp>
        <p:nvSpPr>
          <p:cNvPr id="12" name="TextBox 11">
            <a:extLst>
              <a:ext uri="{FF2B5EF4-FFF2-40B4-BE49-F238E27FC236}">
                <a16:creationId xmlns:a16="http://schemas.microsoft.com/office/drawing/2014/main" id="{B706036B-8089-E27D-EB7C-A9A441BE8596}"/>
              </a:ext>
            </a:extLst>
          </p:cNvPr>
          <p:cNvSpPr txBox="1"/>
          <p:nvPr/>
        </p:nvSpPr>
        <p:spPr>
          <a:xfrm>
            <a:off x="0" y="5380672"/>
            <a:ext cx="10148342" cy="1477328"/>
          </a:xfrm>
          <a:prstGeom prst="rect">
            <a:avLst/>
          </a:prstGeom>
          <a:noFill/>
        </p:spPr>
        <p:txBody>
          <a:bodyPr wrap="square">
            <a:spAutoFit/>
          </a:bodyPr>
          <a:lstStyle/>
          <a:p>
            <a:r>
              <a:rPr lang="en-US" b="1" dirty="0">
                <a:solidFill>
                  <a:srgbClr val="002060"/>
                </a:solidFill>
              </a:rPr>
              <a:t>Screen Information:</a:t>
            </a:r>
          </a:p>
          <a:p>
            <a:r>
              <a:rPr lang="en-US" dirty="0"/>
              <a:t>1</a:t>
            </a:r>
            <a:r>
              <a:rPr lang="en-US" b="1" dirty="0"/>
              <a:t>. Click the New button.</a:t>
            </a:r>
          </a:p>
          <a:p>
            <a:r>
              <a:rPr lang="en-US" b="1" dirty="0"/>
              <a:t>2. Define the necessary exchange rates between a currency pair by selecting a currency in the from currency and the two currency drop-down list.</a:t>
            </a:r>
          </a:p>
          <a:p>
            <a:r>
              <a:rPr lang="en-US" b="1" dirty="0"/>
              <a:t>3. Define the start date and exchange rate, exchange value will be calculated automatically.</a:t>
            </a:r>
          </a:p>
        </p:txBody>
      </p:sp>
    </p:spTree>
    <p:extLst>
      <p:ext uri="{BB962C8B-B14F-4D97-AF65-F5344CB8AC3E}">
        <p14:creationId xmlns:p14="http://schemas.microsoft.com/office/powerpoint/2010/main" val="3080786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FAB0A66-0C2E-5C6D-96C6-FFB5E99A61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B5817C-47BE-A177-6636-98764F4CA671}"/>
              </a:ext>
            </a:extLst>
          </p:cNvPr>
          <p:cNvSpPr>
            <a:spLocks noGrp="1"/>
          </p:cNvSpPr>
          <p:nvPr>
            <p:ph type="title"/>
          </p:nvPr>
        </p:nvSpPr>
        <p:spPr>
          <a:xfrm>
            <a:off x="838200" y="608330"/>
            <a:ext cx="10515600" cy="729615"/>
          </a:xfrm>
        </p:spPr>
        <p:txBody>
          <a:bodyPr>
            <a:noAutofit/>
          </a:bodyPr>
          <a:lstStyle/>
          <a:p>
            <a:pPr algn="ctr">
              <a:lnSpc>
                <a:spcPts val="8170"/>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Journal Names</a:t>
            </a:r>
          </a:p>
        </p:txBody>
      </p:sp>
      <p:pic>
        <p:nvPicPr>
          <p:cNvPr id="8" name="Picture 7">
            <a:extLst>
              <a:ext uri="{FF2B5EF4-FFF2-40B4-BE49-F238E27FC236}">
                <a16:creationId xmlns:a16="http://schemas.microsoft.com/office/drawing/2014/main" id="{757A8BA5-ED00-DF53-33A6-D163D0EBC9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7318"/>
            <a:ext cx="1417559" cy="1303240"/>
          </a:xfrm>
          <a:prstGeom prst="rect">
            <a:avLst/>
          </a:prstGeom>
        </p:spPr>
      </p:pic>
      <p:pic>
        <p:nvPicPr>
          <p:cNvPr id="9" name="Picture 8">
            <a:extLst>
              <a:ext uri="{FF2B5EF4-FFF2-40B4-BE49-F238E27FC236}">
                <a16:creationId xmlns:a16="http://schemas.microsoft.com/office/drawing/2014/main" id="{29C286A1-7066-7963-7360-C443776ADE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graphicFrame>
        <p:nvGraphicFramePr>
          <p:cNvPr id="4" name="Table 3">
            <a:extLst>
              <a:ext uri="{FF2B5EF4-FFF2-40B4-BE49-F238E27FC236}">
                <a16:creationId xmlns:a16="http://schemas.microsoft.com/office/drawing/2014/main" id="{9504368A-BA03-37F9-36F4-CCFD0D6F5C57}"/>
              </a:ext>
            </a:extLst>
          </p:cNvPr>
          <p:cNvGraphicFramePr>
            <a:graphicFrameLocks noGrp="1"/>
          </p:cNvGraphicFramePr>
          <p:nvPr>
            <p:extLst>
              <p:ext uri="{D42A27DB-BD31-4B8C-83A1-F6EECF244321}">
                <p14:modId xmlns:p14="http://schemas.microsoft.com/office/powerpoint/2010/main" val="350766189"/>
              </p:ext>
            </p:extLst>
          </p:nvPr>
        </p:nvGraphicFramePr>
        <p:xfrm>
          <a:off x="1417559" y="1748957"/>
          <a:ext cx="8154859" cy="2383526"/>
        </p:xfrm>
        <a:graphic>
          <a:graphicData uri="http://schemas.openxmlformats.org/drawingml/2006/table">
            <a:tbl>
              <a:tblPr firstRow="1" firstCol="1" bandRow="1">
                <a:tableStyleId>{5C22544A-7EE6-4342-B048-85BDC9FD1C3A}</a:tableStyleId>
              </a:tblPr>
              <a:tblGrid>
                <a:gridCol w="2103218">
                  <a:extLst>
                    <a:ext uri="{9D8B030D-6E8A-4147-A177-3AD203B41FA5}">
                      <a16:colId xmlns:a16="http://schemas.microsoft.com/office/drawing/2014/main" val="3966420358"/>
                    </a:ext>
                  </a:extLst>
                </a:gridCol>
                <a:gridCol w="6051641">
                  <a:extLst>
                    <a:ext uri="{9D8B030D-6E8A-4147-A177-3AD203B41FA5}">
                      <a16:colId xmlns:a16="http://schemas.microsoft.com/office/drawing/2014/main" val="3312013099"/>
                    </a:ext>
                  </a:extLst>
                </a:gridCol>
              </a:tblGrid>
              <a:tr h="537122">
                <a:tc>
                  <a:txBody>
                    <a:bodyPr/>
                    <a:lstStyle/>
                    <a:p>
                      <a:pPr>
                        <a:lnSpc>
                          <a:spcPct val="150000"/>
                        </a:lnSpc>
                        <a:spcBef>
                          <a:spcPts val="600"/>
                        </a:spcBef>
                        <a:buNone/>
                      </a:pPr>
                      <a:r>
                        <a:rPr lang="en-US" sz="1800" b="1" kern="1400">
                          <a:effectLst/>
                          <a:latin typeface="Arial" panose="020B0604020202020204" pitchFamily="34" charset="0"/>
                          <a:cs typeface="Arial" panose="020B0604020202020204" pitchFamily="34" charset="0"/>
                        </a:rPr>
                        <a:t>Process code</a:t>
                      </a:r>
                      <a:endParaRPr lang="en-US" sz="18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a:lnSpc>
                          <a:spcPct val="150000"/>
                        </a:lnSpc>
                        <a:spcBef>
                          <a:spcPts val="600"/>
                        </a:spcBef>
                        <a:buNone/>
                      </a:pPr>
                      <a:r>
                        <a:rPr lang="en-US" sz="1800" b="1" kern="1400">
                          <a:effectLst/>
                          <a:latin typeface="Arial" panose="020B0604020202020204" pitchFamily="34" charset="0"/>
                          <a:cs typeface="Arial" panose="020B0604020202020204" pitchFamily="34" charset="0"/>
                        </a:rPr>
                        <a:t>01.03.01. Financial Management</a:t>
                      </a:r>
                      <a:endParaRPr lang="en-US" sz="18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477415322"/>
                  </a:ext>
                </a:extLst>
              </a:tr>
              <a:tr h="537122">
                <a:tc>
                  <a:txBody>
                    <a:bodyPr/>
                    <a:lstStyle/>
                    <a:p>
                      <a:pPr>
                        <a:lnSpc>
                          <a:spcPct val="150000"/>
                        </a:lnSpc>
                        <a:spcBef>
                          <a:spcPts val="600"/>
                        </a:spcBef>
                        <a:buNone/>
                      </a:pPr>
                      <a:r>
                        <a:rPr lang="en-US" sz="1800" b="1" kern="1400">
                          <a:effectLst/>
                          <a:latin typeface="Arial" panose="020B0604020202020204" pitchFamily="34" charset="0"/>
                          <a:cs typeface="Arial" panose="020B0604020202020204" pitchFamily="34" charset="0"/>
                        </a:rPr>
                        <a:t>Process name</a:t>
                      </a:r>
                      <a:endParaRPr lang="en-US" sz="18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a:lnSpc>
                          <a:spcPct val="150000"/>
                        </a:lnSpc>
                        <a:spcBef>
                          <a:spcPts val="600"/>
                        </a:spcBef>
                        <a:buNone/>
                      </a:pPr>
                      <a:r>
                        <a:rPr lang="en-US" sz="1800" b="1" kern="1400">
                          <a:effectLst/>
                          <a:latin typeface="Arial" panose="020B0604020202020204" pitchFamily="34" charset="0"/>
                          <a:cs typeface="Arial" panose="020B0604020202020204" pitchFamily="34" charset="0"/>
                        </a:rPr>
                        <a:t>Journal names</a:t>
                      </a:r>
                      <a:endParaRPr lang="en-US" sz="18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648972869"/>
                  </a:ext>
                </a:extLst>
              </a:tr>
              <a:tr h="537122">
                <a:tc>
                  <a:txBody>
                    <a:bodyPr/>
                    <a:lstStyle/>
                    <a:p>
                      <a:pPr>
                        <a:lnSpc>
                          <a:spcPct val="150000"/>
                        </a:lnSpc>
                        <a:spcBef>
                          <a:spcPts val="600"/>
                        </a:spcBef>
                        <a:buNone/>
                      </a:pPr>
                      <a:r>
                        <a:rPr lang="en-US" sz="1800" b="1" kern="1400" dirty="0">
                          <a:effectLst/>
                          <a:latin typeface="Arial" panose="020B0604020202020204" pitchFamily="34" charset="0"/>
                          <a:cs typeface="Arial" panose="020B0604020202020204" pitchFamily="34" charset="0"/>
                        </a:rPr>
                        <a:t>Process description</a:t>
                      </a:r>
                      <a:endParaRPr lang="en-US" sz="1800" b="1" kern="1400" dirty="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a:lnSpc>
                          <a:spcPct val="150000"/>
                        </a:lnSpc>
                        <a:spcBef>
                          <a:spcPts val="600"/>
                        </a:spcBef>
                        <a:buNone/>
                      </a:pPr>
                      <a:r>
                        <a:rPr lang="en-US" sz="1800" b="1" kern="1400" dirty="0">
                          <a:effectLst/>
                          <a:latin typeface="Arial" panose="020B0604020202020204" pitchFamily="34" charset="0"/>
                          <a:cs typeface="Arial" panose="020B0604020202020204" pitchFamily="34" charset="0"/>
                        </a:rPr>
                        <a:t>Create Journal names</a:t>
                      </a:r>
                      <a:endParaRPr lang="en-US" sz="1800" b="1" kern="1400" dirty="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1883653044"/>
                  </a:ext>
                </a:extLst>
              </a:tr>
              <a:tr h="537122">
                <a:tc>
                  <a:txBody>
                    <a:bodyPr/>
                    <a:lstStyle/>
                    <a:p>
                      <a:pPr>
                        <a:lnSpc>
                          <a:spcPct val="150000"/>
                        </a:lnSpc>
                        <a:spcBef>
                          <a:spcPts val="600"/>
                        </a:spcBef>
                        <a:buNone/>
                      </a:pPr>
                      <a:r>
                        <a:rPr lang="en-US" sz="1800" b="1" kern="1400">
                          <a:effectLst/>
                          <a:latin typeface="Arial" panose="020B0604020202020204" pitchFamily="34" charset="0"/>
                          <a:cs typeface="Arial" panose="020B0604020202020204" pitchFamily="34" charset="0"/>
                        </a:rPr>
                        <a:t>Form path</a:t>
                      </a:r>
                      <a:endParaRPr lang="en-US" sz="1800" b="1" kern="140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tc>
                  <a:txBody>
                    <a:bodyPr/>
                    <a:lstStyle/>
                    <a:p>
                      <a:pPr>
                        <a:lnSpc>
                          <a:spcPct val="150000"/>
                        </a:lnSpc>
                        <a:spcBef>
                          <a:spcPts val="600"/>
                        </a:spcBef>
                        <a:buNone/>
                      </a:pPr>
                      <a:r>
                        <a:rPr lang="en-US" sz="1800" b="1" kern="1400" dirty="0">
                          <a:effectLst/>
                          <a:latin typeface="Arial" panose="020B0604020202020204" pitchFamily="34" charset="0"/>
                          <a:cs typeface="Arial" panose="020B0604020202020204" pitchFamily="34" charset="0"/>
                        </a:rPr>
                        <a:t>General Ledger &gt;&gt; Journals Setup &gt;&gt; Journal names</a:t>
                      </a:r>
                      <a:endParaRPr lang="en-US" sz="1800" b="1" kern="1400" dirty="0">
                        <a:effectLst/>
                        <a:latin typeface="Arial" panose="020B0604020202020204" pitchFamily="34" charset="0"/>
                        <a:ea typeface="MS Mincho" panose="02020609040205080304" pitchFamily="49" charset="-128"/>
                        <a:cs typeface="Arial" panose="020B0604020202020204" pitchFamily="34" charset="0"/>
                      </a:endParaRPr>
                    </a:p>
                  </a:txBody>
                  <a:tcPr marL="68580" marR="68580" marT="0" marB="0"/>
                </a:tc>
                <a:extLst>
                  <a:ext uri="{0D108BD9-81ED-4DB2-BD59-A6C34878D82A}">
                    <a16:rowId xmlns:a16="http://schemas.microsoft.com/office/drawing/2014/main" val="1766799238"/>
                  </a:ext>
                </a:extLst>
              </a:tr>
            </a:tbl>
          </a:graphicData>
        </a:graphic>
      </p:graphicFrame>
    </p:spTree>
    <p:extLst>
      <p:ext uri="{BB962C8B-B14F-4D97-AF65-F5344CB8AC3E}">
        <p14:creationId xmlns:p14="http://schemas.microsoft.com/office/powerpoint/2010/main" val="32574515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0A36308-4AA7-BF61-E1A4-90A5EBDF8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C67FE-9517-8F3C-0855-CA1CBDA11D17}"/>
              </a:ext>
            </a:extLst>
          </p:cNvPr>
          <p:cNvSpPr>
            <a:spLocks noGrp="1"/>
          </p:cNvSpPr>
          <p:nvPr>
            <p:ph type="title"/>
          </p:nvPr>
        </p:nvSpPr>
        <p:spPr>
          <a:xfrm>
            <a:off x="838199" y="207951"/>
            <a:ext cx="10515600" cy="729615"/>
          </a:xfrm>
        </p:spPr>
        <p:txBody>
          <a:bodyPr>
            <a:noAutofit/>
          </a:bodyPr>
          <a:lstStyle/>
          <a:p>
            <a:pPr algn="ctr">
              <a:lnSpc>
                <a:spcPts val="8170"/>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Journal Names</a:t>
            </a:r>
          </a:p>
        </p:txBody>
      </p:sp>
      <p:pic>
        <p:nvPicPr>
          <p:cNvPr id="8" name="Picture 7">
            <a:extLst>
              <a:ext uri="{FF2B5EF4-FFF2-40B4-BE49-F238E27FC236}">
                <a16:creationId xmlns:a16="http://schemas.microsoft.com/office/drawing/2014/main" id="{BFE55302-D249-BD0A-B7A4-3DC3622C2B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78862"/>
            <a:ext cx="1417559" cy="1303240"/>
          </a:xfrm>
          <a:prstGeom prst="rect">
            <a:avLst/>
          </a:prstGeom>
        </p:spPr>
      </p:pic>
      <p:pic>
        <p:nvPicPr>
          <p:cNvPr id="9" name="Picture 8">
            <a:extLst>
              <a:ext uri="{FF2B5EF4-FFF2-40B4-BE49-F238E27FC236}">
                <a16:creationId xmlns:a16="http://schemas.microsoft.com/office/drawing/2014/main" id="{34BE4D8C-F41B-1DE3-EB69-0B02AB0221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pic>
        <p:nvPicPr>
          <p:cNvPr id="5" name="Picture 4">
            <a:extLst>
              <a:ext uri="{FF2B5EF4-FFF2-40B4-BE49-F238E27FC236}">
                <a16:creationId xmlns:a16="http://schemas.microsoft.com/office/drawing/2014/main" id="{1B82F689-13D1-CBA1-353D-C52DB5D41C9E}"/>
              </a:ext>
            </a:extLst>
          </p:cNvPr>
          <p:cNvPicPr>
            <a:picLocks noChangeAspect="1"/>
          </p:cNvPicPr>
          <p:nvPr/>
        </p:nvPicPr>
        <p:blipFill>
          <a:blip r:embed="rId4"/>
          <a:stretch>
            <a:fillRect/>
          </a:stretch>
        </p:blipFill>
        <p:spPr>
          <a:xfrm>
            <a:off x="0" y="1294738"/>
            <a:ext cx="12191727" cy="2677655"/>
          </a:xfrm>
          <a:prstGeom prst="rect">
            <a:avLst/>
          </a:prstGeom>
        </p:spPr>
      </p:pic>
      <p:sp>
        <p:nvSpPr>
          <p:cNvPr id="7" name="TextBox 6">
            <a:extLst>
              <a:ext uri="{FF2B5EF4-FFF2-40B4-BE49-F238E27FC236}">
                <a16:creationId xmlns:a16="http://schemas.microsoft.com/office/drawing/2014/main" id="{CE3C6177-7571-12DD-A96C-9D4B58E9AA8C}"/>
              </a:ext>
            </a:extLst>
          </p:cNvPr>
          <p:cNvSpPr txBox="1"/>
          <p:nvPr/>
        </p:nvSpPr>
        <p:spPr>
          <a:xfrm>
            <a:off x="2362" y="3972393"/>
            <a:ext cx="11351437" cy="2677656"/>
          </a:xfrm>
          <a:prstGeom prst="rect">
            <a:avLst/>
          </a:prstGeom>
          <a:noFill/>
        </p:spPr>
        <p:txBody>
          <a:bodyPr wrap="square">
            <a:spAutoFit/>
          </a:bodyPr>
          <a:lstStyle/>
          <a:p>
            <a:r>
              <a:rPr lang="en-US" dirty="0"/>
              <a:t>	</a:t>
            </a:r>
            <a:r>
              <a:rPr lang="en-US" sz="2400" b="1" dirty="0">
                <a:solidFill>
                  <a:srgbClr val="002060"/>
                </a:solidFill>
              </a:rPr>
              <a:t>Screen Information:</a:t>
            </a:r>
          </a:p>
          <a:p>
            <a:r>
              <a:rPr lang="en-US" dirty="0"/>
              <a:t>1</a:t>
            </a:r>
            <a:r>
              <a:rPr lang="en-US" b="1" dirty="0"/>
              <a:t>. Enter a recognizable journal name in the Name field.</a:t>
            </a:r>
          </a:p>
          <a:p>
            <a:r>
              <a:rPr lang="en-US" b="1" dirty="0"/>
              <a:t>2. Enter a description of the journal that clearly describes the purpose of the journal in the Description field.</a:t>
            </a:r>
          </a:p>
          <a:p>
            <a:r>
              <a:rPr lang="en-US" b="1" dirty="0"/>
              <a:t>3. Select the type of journal in the Journal type list. The journal type determines what the journal is used for and in which module it is available. For example, the customer payment Journal type is used only for customer payment journals.</a:t>
            </a:r>
          </a:p>
          <a:p>
            <a:r>
              <a:rPr lang="en-US" b="1" dirty="0"/>
              <a:t>4. Approval is to activate the approval of certain users on the journal transactions before posting.</a:t>
            </a:r>
          </a:p>
          <a:p>
            <a:r>
              <a:rPr lang="en-US" b="1" dirty="0"/>
              <a:t>5. Blocking is to allow only certain users to use this journal</a:t>
            </a:r>
          </a:p>
          <a:p>
            <a:r>
              <a:rPr lang="en-US" b="1" dirty="0"/>
              <a:t>6. Voucher series is the number sequence (serial) of the vouchers in the selected journal</a:t>
            </a:r>
          </a:p>
        </p:txBody>
      </p:sp>
      <p:cxnSp>
        <p:nvCxnSpPr>
          <p:cNvPr id="11" name="Straight Arrow Connector 10">
            <a:extLst>
              <a:ext uri="{FF2B5EF4-FFF2-40B4-BE49-F238E27FC236}">
                <a16:creationId xmlns:a16="http://schemas.microsoft.com/office/drawing/2014/main" id="{978021C1-99AE-4F25-E4EB-6BCCE1C1944C}"/>
              </a:ext>
            </a:extLst>
          </p:cNvPr>
          <p:cNvCxnSpPr/>
          <p:nvPr/>
        </p:nvCxnSpPr>
        <p:spPr>
          <a:xfrm flipV="1">
            <a:off x="2794000" y="2070100"/>
            <a:ext cx="584200" cy="3810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F23E55F7-45CC-1561-443C-7170F8F1D92E}"/>
              </a:ext>
            </a:extLst>
          </p:cNvPr>
          <p:cNvCxnSpPr/>
          <p:nvPr/>
        </p:nvCxnSpPr>
        <p:spPr>
          <a:xfrm flipV="1">
            <a:off x="5029200" y="2882900"/>
            <a:ext cx="520700" cy="2540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2375D6AB-7E9B-168C-C997-4F399515B9A4}"/>
              </a:ext>
            </a:extLst>
          </p:cNvPr>
          <p:cNvCxnSpPr/>
          <p:nvPr/>
        </p:nvCxnSpPr>
        <p:spPr>
          <a:xfrm flipV="1">
            <a:off x="1028700" y="1549400"/>
            <a:ext cx="388859" cy="3302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240C096A-717E-98EB-64A5-32073776C20F}"/>
              </a:ext>
            </a:extLst>
          </p:cNvPr>
          <p:cNvCxnSpPr/>
          <p:nvPr/>
        </p:nvCxnSpPr>
        <p:spPr>
          <a:xfrm flipV="1">
            <a:off x="4000500" y="2070100"/>
            <a:ext cx="381000" cy="4699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075114C4-BC07-97E9-5CF0-90165075FC3F}"/>
              </a:ext>
            </a:extLst>
          </p:cNvPr>
          <p:cNvCxnSpPr/>
          <p:nvPr/>
        </p:nvCxnSpPr>
        <p:spPr>
          <a:xfrm flipV="1">
            <a:off x="2794000" y="2451100"/>
            <a:ext cx="774700" cy="4318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976289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817071"/>
            <a:ext cx="10515600" cy="822543"/>
          </a:xfrm>
        </p:spPr>
        <p:txBody>
          <a:bodyPr>
            <a:noAutofit/>
          </a:bodyPr>
          <a:lstStyle/>
          <a:p>
            <a:pPr algn="ctr">
              <a:lnSpc>
                <a:spcPts val="8170"/>
              </a:lnSpc>
            </a:pPr>
            <a:r>
              <a:rPr lang="en-US" sz="3600" b="1" dirty="0">
                <a:solidFill>
                  <a:schemeClr val="tx2"/>
                </a:solidFill>
                <a:latin typeface="Bright Retro"/>
                <a:ea typeface="Bright Retro"/>
                <a:cs typeface="Bright Retro"/>
                <a:sym typeface="Bright Retro"/>
              </a:rPr>
              <a:t>Account Payable</a:t>
            </a:r>
          </a:p>
        </p:txBody>
      </p:sp>
      <p:graphicFrame>
        <p:nvGraphicFramePr>
          <p:cNvPr id="4" name="Diagram 3"/>
          <p:cNvGraphicFramePr/>
          <p:nvPr/>
        </p:nvGraphicFramePr>
        <p:xfrm>
          <a:off x="3299380" y="1856650"/>
          <a:ext cx="5759779" cy="45479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38200" y="264628"/>
            <a:ext cx="1417559" cy="1303240"/>
          </a:xfrm>
          <a:prstGeom prst="rect">
            <a:avLst/>
          </a:prstGeom>
        </p:spPr>
      </p:pic>
      <p:pic>
        <p:nvPicPr>
          <p:cNvPr id="9" name="Picture 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16952" y="15770"/>
            <a:ext cx="1774776" cy="69334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817071"/>
            <a:ext cx="10515600" cy="822543"/>
          </a:xfrm>
        </p:spPr>
        <p:txBody>
          <a:bodyPr>
            <a:noAutofit/>
          </a:bodyPr>
          <a:lstStyle/>
          <a:p>
            <a:pPr algn="ctr">
              <a:lnSpc>
                <a:spcPts val="8170"/>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Vendor Groups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40168"/>
            <a:ext cx="1417559" cy="1303240"/>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graphicFrame>
        <p:nvGraphicFramePr>
          <p:cNvPr id="6" name="Table 5">
            <a:extLst>
              <a:ext uri="{FF2B5EF4-FFF2-40B4-BE49-F238E27FC236}">
                <a16:creationId xmlns:a16="http://schemas.microsoft.com/office/drawing/2014/main" id="{31A4ED6E-BD43-70D4-D78F-8BE41C113DCD}"/>
              </a:ext>
            </a:extLst>
          </p:cNvPr>
          <p:cNvGraphicFramePr>
            <a:graphicFrameLocks noGrp="1"/>
          </p:cNvGraphicFramePr>
          <p:nvPr>
            <p:extLst>
              <p:ext uri="{D42A27DB-BD31-4B8C-83A1-F6EECF244321}">
                <p14:modId xmlns:p14="http://schemas.microsoft.com/office/powerpoint/2010/main" val="1021589537"/>
              </p:ext>
            </p:extLst>
          </p:nvPr>
        </p:nvGraphicFramePr>
        <p:xfrm>
          <a:off x="1417559" y="2424938"/>
          <a:ext cx="8132841" cy="1475740"/>
        </p:xfrm>
        <a:graphic>
          <a:graphicData uri="http://schemas.openxmlformats.org/drawingml/2006/table">
            <a:tbl>
              <a:tblPr firstRow="1" firstCol="1" bandRow="1">
                <a:tableStyleId>{5C22544A-7EE6-4342-B048-85BDC9FD1C3A}</a:tableStyleId>
              </a:tblPr>
              <a:tblGrid>
                <a:gridCol w="2097540">
                  <a:extLst>
                    <a:ext uri="{9D8B030D-6E8A-4147-A177-3AD203B41FA5}">
                      <a16:colId xmlns:a16="http://schemas.microsoft.com/office/drawing/2014/main" val="2891701510"/>
                    </a:ext>
                  </a:extLst>
                </a:gridCol>
                <a:gridCol w="6035301">
                  <a:extLst>
                    <a:ext uri="{9D8B030D-6E8A-4147-A177-3AD203B41FA5}">
                      <a16:colId xmlns:a16="http://schemas.microsoft.com/office/drawing/2014/main" val="1843070625"/>
                    </a:ext>
                  </a:extLst>
                </a:gridCol>
              </a:tblGrid>
              <a:tr h="190500">
                <a:tc>
                  <a:txBody>
                    <a:bodyPr/>
                    <a:lstStyle/>
                    <a:p>
                      <a:pPr>
                        <a:lnSpc>
                          <a:spcPct val="150000"/>
                        </a:lnSpc>
                        <a:spcBef>
                          <a:spcPts val="600"/>
                        </a:spcBef>
                        <a:buNone/>
                      </a:pPr>
                      <a:r>
                        <a:rPr lang="en-US" sz="1800" b="1" kern="1400">
                          <a:effectLst/>
                        </a:rPr>
                        <a:t>Process code</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a:effectLst/>
                        </a:rPr>
                        <a:t>04.01.01. Financial Management</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33790233"/>
                  </a:ext>
                </a:extLst>
              </a:tr>
              <a:tr h="190500">
                <a:tc>
                  <a:txBody>
                    <a:bodyPr/>
                    <a:lstStyle/>
                    <a:p>
                      <a:pPr>
                        <a:lnSpc>
                          <a:spcPct val="150000"/>
                        </a:lnSpc>
                        <a:spcBef>
                          <a:spcPts val="600"/>
                        </a:spcBef>
                        <a:buNone/>
                      </a:pPr>
                      <a:r>
                        <a:rPr lang="en-US" sz="1800" b="1" kern="1400">
                          <a:effectLst/>
                        </a:rPr>
                        <a:t>Process name</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a:effectLst/>
                        </a:rPr>
                        <a:t>Vendor Groups</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46086293"/>
                  </a:ext>
                </a:extLst>
              </a:tr>
              <a:tr h="190500">
                <a:tc>
                  <a:txBody>
                    <a:bodyPr/>
                    <a:lstStyle/>
                    <a:p>
                      <a:pPr>
                        <a:lnSpc>
                          <a:spcPct val="150000"/>
                        </a:lnSpc>
                        <a:spcBef>
                          <a:spcPts val="600"/>
                        </a:spcBef>
                        <a:buNone/>
                      </a:pPr>
                      <a:r>
                        <a:rPr lang="en-US" sz="1800" b="1" kern="1400">
                          <a:effectLst/>
                        </a:rPr>
                        <a:t>Process description</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a:effectLst/>
                        </a:rPr>
                        <a:t>Vendor Groups</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25655115"/>
                  </a:ext>
                </a:extLst>
              </a:tr>
              <a:tr h="266065">
                <a:tc>
                  <a:txBody>
                    <a:bodyPr/>
                    <a:lstStyle/>
                    <a:p>
                      <a:pPr>
                        <a:lnSpc>
                          <a:spcPct val="150000"/>
                        </a:lnSpc>
                        <a:spcBef>
                          <a:spcPts val="600"/>
                        </a:spcBef>
                        <a:buNone/>
                      </a:pPr>
                      <a:r>
                        <a:rPr lang="en-US" sz="1800" b="1" kern="1400">
                          <a:effectLst/>
                        </a:rPr>
                        <a:t>Form path</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dirty="0">
                          <a:effectLst/>
                        </a:rPr>
                        <a:t>Accounts payable &gt;&gt; Vendors &gt;&gt; Vendor Groups</a:t>
                      </a:r>
                      <a:endParaRPr lang="en-US" sz="1800" b="1" kern="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9321164"/>
                  </a:ext>
                </a:extLst>
              </a:tr>
            </a:tbl>
          </a:graphicData>
        </a:graphic>
      </p:graphicFrame>
      <p:sp>
        <p:nvSpPr>
          <p:cNvPr id="10" name="TextBox 9">
            <a:extLst>
              <a:ext uri="{FF2B5EF4-FFF2-40B4-BE49-F238E27FC236}">
                <a16:creationId xmlns:a16="http://schemas.microsoft.com/office/drawing/2014/main" id="{E6F7BB66-AC48-623B-893C-D33D694696B9}"/>
              </a:ext>
            </a:extLst>
          </p:cNvPr>
          <p:cNvSpPr txBox="1"/>
          <p:nvPr/>
        </p:nvSpPr>
        <p:spPr>
          <a:xfrm>
            <a:off x="393700" y="4192538"/>
            <a:ext cx="10023252" cy="1477328"/>
          </a:xfrm>
          <a:prstGeom prst="rect">
            <a:avLst/>
          </a:prstGeom>
          <a:noFill/>
        </p:spPr>
        <p:txBody>
          <a:bodyPr wrap="square">
            <a:spAutoFit/>
          </a:bodyPr>
          <a:lstStyle/>
          <a:p>
            <a:r>
              <a:rPr lang="en-US" b="1" dirty="0"/>
              <a:t>* Use vendor groups to set up certain information that always defaults when you enter a new vendor.</a:t>
            </a:r>
          </a:p>
          <a:p>
            <a:r>
              <a:rPr lang="en-US" b="1" dirty="0"/>
              <a:t>*For example, use the vendor group to set up automatic posting to General *Ledger accounts generated by vendor transactions. </a:t>
            </a:r>
          </a:p>
          <a:p>
            <a:r>
              <a:rPr lang="en-US" b="1" dirty="0"/>
              <a:t>*In the Vendor groups form, set up vendor groups. You must set up at least one vendor group, because a vendor group must be specified when you create a new vendor.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C494C4F-7027-B31A-C4D9-1214A74DB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1E063-AB1D-4488-47E7-D5C362CCFD37}"/>
              </a:ext>
            </a:extLst>
          </p:cNvPr>
          <p:cNvSpPr>
            <a:spLocks noGrp="1"/>
          </p:cNvSpPr>
          <p:nvPr>
            <p:ph type="title"/>
          </p:nvPr>
        </p:nvSpPr>
        <p:spPr>
          <a:xfrm>
            <a:off x="838200" y="817071"/>
            <a:ext cx="10515600" cy="822543"/>
          </a:xfrm>
        </p:spPr>
        <p:txBody>
          <a:bodyPr>
            <a:noAutofit/>
          </a:bodyPr>
          <a:lstStyle/>
          <a:p>
            <a:pPr algn="ctr">
              <a:lnSpc>
                <a:spcPts val="8170"/>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Vendor Groups</a:t>
            </a:r>
          </a:p>
        </p:txBody>
      </p:sp>
      <p:pic>
        <p:nvPicPr>
          <p:cNvPr id="5" name="Picture 4">
            <a:extLst>
              <a:ext uri="{FF2B5EF4-FFF2-40B4-BE49-F238E27FC236}">
                <a16:creationId xmlns:a16="http://schemas.microsoft.com/office/drawing/2014/main" id="{57036CBB-EFB9-E95D-DD81-FD09737D7BD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40168"/>
            <a:ext cx="1417559" cy="1303240"/>
          </a:xfrm>
          <a:prstGeom prst="rect">
            <a:avLst/>
          </a:prstGeom>
        </p:spPr>
      </p:pic>
      <p:pic>
        <p:nvPicPr>
          <p:cNvPr id="9" name="Picture 8">
            <a:extLst>
              <a:ext uri="{FF2B5EF4-FFF2-40B4-BE49-F238E27FC236}">
                <a16:creationId xmlns:a16="http://schemas.microsoft.com/office/drawing/2014/main" id="{03E7DB18-79F9-DC9E-0451-4E7E9EE2D4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pic>
        <p:nvPicPr>
          <p:cNvPr id="4" name="Picture 3">
            <a:extLst>
              <a:ext uri="{FF2B5EF4-FFF2-40B4-BE49-F238E27FC236}">
                <a16:creationId xmlns:a16="http://schemas.microsoft.com/office/drawing/2014/main" id="{26B5C5A6-FE2B-2FFE-8624-4FEE2187E357}"/>
              </a:ext>
            </a:extLst>
          </p:cNvPr>
          <p:cNvPicPr>
            <a:picLocks noChangeAspect="1"/>
          </p:cNvPicPr>
          <p:nvPr/>
        </p:nvPicPr>
        <p:blipFill>
          <a:blip r:embed="rId4"/>
          <a:stretch>
            <a:fillRect/>
          </a:stretch>
        </p:blipFill>
        <p:spPr>
          <a:xfrm>
            <a:off x="0" y="1763443"/>
            <a:ext cx="12191728" cy="2884757"/>
          </a:xfrm>
          <a:prstGeom prst="rect">
            <a:avLst/>
          </a:prstGeom>
        </p:spPr>
      </p:pic>
      <p:sp>
        <p:nvSpPr>
          <p:cNvPr id="7" name="TextBox 6">
            <a:extLst>
              <a:ext uri="{FF2B5EF4-FFF2-40B4-BE49-F238E27FC236}">
                <a16:creationId xmlns:a16="http://schemas.microsoft.com/office/drawing/2014/main" id="{7F0F9162-64D9-C21B-82C1-B59A9407487D}"/>
              </a:ext>
            </a:extLst>
          </p:cNvPr>
          <p:cNvSpPr txBox="1"/>
          <p:nvPr/>
        </p:nvSpPr>
        <p:spPr>
          <a:xfrm>
            <a:off x="139700" y="4702738"/>
            <a:ext cx="7493000" cy="1754326"/>
          </a:xfrm>
          <a:prstGeom prst="rect">
            <a:avLst/>
          </a:prstGeom>
          <a:noFill/>
        </p:spPr>
        <p:txBody>
          <a:bodyPr wrap="square">
            <a:spAutoFit/>
          </a:bodyPr>
          <a:lstStyle/>
          <a:p>
            <a:r>
              <a:rPr lang="en-US" b="1" dirty="0">
                <a:solidFill>
                  <a:srgbClr val="002060"/>
                </a:solidFill>
              </a:rPr>
              <a:t>Screen Information</a:t>
            </a:r>
            <a:br>
              <a:rPr lang="en-US" dirty="0"/>
            </a:br>
            <a:endParaRPr lang="en-US" dirty="0"/>
          </a:p>
          <a:p>
            <a:r>
              <a:rPr lang="en-US" b="1" dirty="0"/>
              <a:t>1. Click the New button to create a new record.</a:t>
            </a:r>
          </a:p>
          <a:p>
            <a:r>
              <a:rPr lang="en-US" b="1" dirty="0"/>
              <a:t>2. Enter a short name or code for the vendor group in the Vendor group field. This name is used throughout the system.</a:t>
            </a:r>
          </a:p>
          <a:p>
            <a:r>
              <a:rPr lang="en-US" b="1" dirty="0"/>
              <a:t>3. Enter the full name of the vendor group in the Description field. </a:t>
            </a:r>
          </a:p>
        </p:txBody>
      </p:sp>
      <p:cxnSp>
        <p:nvCxnSpPr>
          <p:cNvPr id="11" name="Straight Arrow Connector 10">
            <a:extLst>
              <a:ext uri="{FF2B5EF4-FFF2-40B4-BE49-F238E27FC236}">
                <a16:creationId xmlns:a16="http://schemas.microsoft.com/office/drawing/2014/main" id="{023EA05C-9C0D-CC3F-3977-9A49CA14C7EA}"/>
              </a:ext>
            </a:extLst>
          </p:cNvPr>
          <p:cNvCxnSpPr/>
          <p:nvPr/>
        </p:nvCxnSpPr>
        <p:spPr>
          <a:xfrm flipV="1">
            <a:off x="1143000" y="2146300"/>
            <a:ext cx="177800" cy="3175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007286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3"/>
          <p:cNvSpPr txBox="1"/>
          <p:nvPr/>
        </p:nvSpPr>
        <p:spPr>
          <a:xfrm>
            <a:off x="3503295" y="220345"/>
            <a:ext cx="5186045" cy="1405255"/>
          </a:xfrm>
          <a:prstGeom prst="rect">
            <a:avLst/>
          </a:prstGeom>
        </p:spPr>
        <p:txBody>
          <a:bodyPr wrap="square" lIns="0" tIns="0" rIns="0" bIns="0" rtlCol="0" anchor="t">
            <a:noAutofit/>
          </a:bodyPr>
          <a:lstStyle/>
          <a:p>
            <a:pPr algn="ctr">
              <a:lnSpc>
                <a:spcPts val="8170"/>
              </a:lnSpc>
            </a:pPr>
            <a:r>
              <a:rPr lang="en-US" sz="3600" b="1" dirty="0">
                <a:solidFill>
                  <a:schemeClr val="tx2"/>
                </a:solidFill>
                <a:latin typeface="Bright Retro"/>
                <a:ea typeface="Bright Retro"/>
                <a:cs typeface="Bright Retro"/>
                <a:sym typeface="Bright Retro"/>
              </a:rPr>
              <a:t>Create New Vendors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67"/>
            <a:ext cx="1417559" cy="1303240"/>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graphicFrame>
        <p:nvGraphicFramePr>
          <p:cNvPr id="7" name="Table 6">
            <a:extLst>
              <a:ext uri="{FF2B5EF4-FFF2-40B4-BE49-F238E27FC236}">
                <a16:creationId xmlns:a16="http://schemas.microsoft.com/office/drawing/2014/main" id="{ED3D9136-103D-8FC8-6ADC-2CF92F54CF29}"/>
              </a:ext>
            </a:extLst>
          </p:cNvPr>
          <p:cNvGraphicFramePr>
            <a:graphicFrameLocks noGrp="1"/>
          </p:cNvGraphicFramePr>
          <p:nvPr>
            <p:extLst>
              <p:ext uri="{D42A27DB-BD31-4B8C-83A1-F6EECF244321}">
                <p14:modId xmlns:p14="http://schemas.microsoft.com/office/powerpoint/2010/main" val="573890335"/>
              </p:ext>
            </p:extLst>
          </p:nvPr>
        </p:nvGraphicFramePr>
        <p:xfrm>
          <a:off x="1828800" y="1092200"/>
          <a:ext cx="7642225" cy="1739900"/>
        </p:xfrm>
        <a:graphic>
          <a:graphicData uri="http://schemas.openxmlformats.org/drawingml/2006/table">
            <a:tbl>
              <a:tblPr firstRow="1" firstCol="1" bandRow="1">
                <a:tableStyleId>{5C22544A-7EE6-4342-B048-85BDC9FD1C3A}</a:tableStyleId>
              </a:tblPr>
              <a:tblGrid>
                <a:gridCol w="1971005">
                  <a:extLst>
                    <a:ext uri="{9D8B030D-6E8A-4147-A177-3AD203B41FA5}">
                      <a16:colId xmlns:a16="http://schemas.microsoft.com/office/drawing/2014/main" val="773853520"/>
                    </a:ext>
                  </a:extLst>
                </a:gridCol>
                <a:gridCol w="5671220">
                  <a:extLst>
                    <a:ext uri="{9D8B030D-6E8A-4147-A177-3AD203B41FA5}">
                      <a16:colId xmlns:a16="http://schemas.microsoft.com/office/drawing/2014/main" val="3618575265"/>
                    </a:ext>
                  </a:extLst>
                </a:gridCol>
              </a:tblGrid>
              <a:tr h="434975">
                <a:tc>
                  <a:txBody>
                    <a:bodyPr/>
                    <a:lstStyle/>
                    <a:p>
                      <a:pPr>
                        <a:lnSpc>
                          <a:spcPct val="150000"/>
                        </a:lnSpc>
                        <a:spcBef>
                          <a:spcPts val="600"/>
                        </a:spcBef>
                        <a:buNone/>
                      </a:pPr>
                      <a:r>
                        <a:rPr lang="en-US" sz="1800" kern="1400">
                          <a:effectLst/>
                        </a:rPr>
                        <a:t>Process code</a:t>
                      </a:r>
                      <a:endParaRPr lang="en-US" sz="1800"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a:effectLst/>
                        </a:rPr>
                        <a:t>04.01.02. Financial Management</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71236757"/>
                  </a:ext>
                </a:extLst>
              </a:tr>
              <a:tr h="434975">
                <a:tc>
                  <a:txBody>
                    <a:bodyPr/>
                    <a:lstStyle/>
                    <a:p>
                      <a:pPr>
                        <a:lnSpc>
                          <a:spcPct val="150000"/>
                        </a:lnSpc>
                        <a:spcBef>
                          <a:spcPts val="600"/>
                        </a:spcBef>
                        <a:buNone/>
                      </a:pPr>
                      <a:r>
                        <a:rPr lang="en-US" sz="1800" kern="1400">
                          <a:effectLst/>
                        </a:rPr>
                        <a:t>Process name</a:t>
                      </a:r>
                      <a:endParaRPr lang="en-US" sz="1800"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dirty="0">
                          <a:effectLst/>
                        </a:rPr>
                        <a:t>Create New Vendor</a:t>
                      </a:r>
                      <a:endParaRPr lang="en-US" sz="1800" b="1" kern="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5000610"/>
                  </a:ext>
                </a:extLst>
              </a:tr>
              <a:tr h="434975">
                <a:tc>
                  <a:txBody>
                    <a:bodyPr/>
                    <a:lstStyle/>
                    <a:p>
                      <a:pPr>
                        <a:lnSpc>
                          <a:spcPct val="150000"/>
                        </a:lnSpc>
                        <a:spcBef>
                          <a:spcPts val="600"/>
                        </a:spcBef>
                        <a:buNone/>
                      </a:pPr>
                      <a:r>
                        <a:rPr lang="en-US" sz="1800" kern="1400" dirty="0">
                          <a:effectLst/>
                        </a:rPr>
                        <a:t>Process description</a:t>
                      </a:r>
                      <a:endParaRPr lang="en-US" sz="1800" kern="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a:effectLst/>
                        </a:rPr>
                        <a:t>Create New Vendors </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12196402"/>
                  </a:ext>
                </a:extLst>
              </a:tr>
              <a:tr h="434975">
                <a:tc>
                  <a:txBody>
                    <a:bodyPr/>
                    <a:lstStyle/>
                    <a:p>
                      <a:pPr>
                        <a:lnSpc>
                          <a:spcPct val="150000"/>
                        </a:lnSpc>
                        <a:spcBef>
                          <a:spcPts val="600"/>
                        </a:spcBef>
                        <a:buNone/>
                      </a:pPr>
                      <a:r>
                        <a:rPr lang="en-US" sz="1800" kern="1400">
                          <a:effectLst/>
                        </a:rPr>
                        <a:t>Form path</a:t>
                      </a:r>
                      <a:endParaRPr lang="en-US" sz="1800"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dirty="0">
                          <a:effectLst/>
                        </a:rPr>
                        <a:t>Accounts payable &gt; Vendors &gt; All Vendors</a:t>
                      </a:r>
                      <a:endParaRPr lang="en-US" sz="1800" b="1" kern="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94114831"/>
                  </a:ext>
                </a:extLst>
              </a:tr>
            </a:tbl>
          </a:graphicData>
        </a:graphic>
      </p:graphicFrame>
      <p:pic>
        <p:nvPicPr>
          <p:cNvPr id="11" name="Picture 10">
            <a:extLst>
              <a:ext uri="{FF2B5EF4-FFF2-40B4-BE49-F238E27FC236}">
                <a16:creationId xmlns:a16="http://schemas.microsoft.com/office/drawing/2014/main" id="{0868B730-40EB-E1CD-DC05-C0AD5090B5C3}"/>
              </a:ext>
            </a:extLst>
          </p:cNvPr>
          <p:cNvPicPr>
            <a:picLocks noChangeAspect="1"/>
          </p:cNvPicPr>
          <p:nvPr/>
        </p:nvPicPr>
        <p:blipFill>
          <a:blip r:embed="rId4"/>
          <a:stretch>
            <a:fillRect/>
          </a:stretch>
        </p:blipFill>
        <p:spPr>
          <a:xfrm>
            <a:off x="0" y="2832100"/>
            <a:ext cx="12192000" cy="4025900"/>
          </a:xfrm>
          <a:prstGeom prst="rect">
            <a:avLst/>
          </a:prstGeom>
        </p:spPr>
      </p:pic>
      <p:cxnSp>
        <p:nvCxnSpPr>
          <p:cNvPr id="15" name="Straight Arrow Connector 14">
            <a:extLst>
              <a:ext uri="{FF2B5EF4-FFF2-40B4-BE49-F238E27FC236}">
                <a16:creationId xmlns:a16="http://schemas.microsoft.com/office/drawing/2014/main" id="{2841FD22-7825-1E04-B5AB-1A1ACAA1F8BD}"/>
              </a:ext>
            </a:extLst>
          </p:cNvPr>
          <p:cNvCxnSpPr/>
          <p:nvPr/>
        </p:nvCxnSpPr>
        <p:spPr>
          <a:xfrm flipV="1">
            <a:off x="863600" y="3429000"/>
            <a:ext cx="279400" cy="5334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ABCAE19-FA3C-5DD9-1799-77D021CA09A9}"/>
            </a:ext>
          </a:extLst>
        </p:cNvPr>
        <p:cNvGrpSpPr/>
        <p:nvPr/>
      </p:nvGrpSpPr>
      <p:grpSpPr>
        <a:xfrm>
          <a:off x="0" y="0"/>
          <a:ext cx="0" cy="0"/>
          <a:chOff x="0" y="0"/>
          <a:chExt cx="0" cy="0"/>
        </a:xfrm>
      </p:grpSpPr>
      <p:sp>
        <p:nvSpPr>
          <p:cNvPr id="6" name="TextBox 3">
            <a:extLst>
              <a:ext uri="{FF2B5EF4-FFF2-40B4-BE49-F238E27FC236}">
                <a16:creationId xmlns:a16="http://schemas.microsoft.com/office/drawing/2014/main" id="{4737B84D-25BD-AAC4-9729-88304C763184}"/>
              </a:ext>
            </a:extLst>
          </p:cNvPr>
          <p:cNvSpPr txBox="1"/>
          <p:nvPr/>
        </p:nvSpPr>
        <p:spPr>
          <a:xfrm>
            <a:off x="3503295" y="220345"/>
            <a:ext cx="5186045" cy="1262665"/>
          </a:xfrm>
          <a:prstGeom prst="rect">
            <a:avLst/>
          </a:prstGeom>
        </p:spPr>
        <p:txBody>
          <a:bodyPr wrap="square" lIns="0" tIns="0" rIns="0" bIns="0" rtlCol="0" anchor="t">
            <a:noAutofit/>
          </a:bodyPr>
          <a:lstStyle/>
          <a:p>
            <a:pPr algn="ctr">
              <a:lnSpc>
                <a:spcPts val="8170"/>
              </a:lnSpc>
            </a:pPr>
            <a:r>
              <a:rPr lang="en-US" sz="3600" b="1" dirty="0">
                <a:solidFill>
                  <a:schemeClr val="tx2"/>
                </a:solidFill>
                <a:latin typeface="Bright Retro"/>
                <a:ea typeface="Bright Retro"/>
                <a:cs typeface="Bright Retro"/>
                <a:sym typeface="Bright Retro"/>
              </a:rPr>
              <a:t>Create New Vendors</a:t>
            </a:r>
          </a:p>
        </p:txBody>
      </p:sp>
      <p:pic>
        <p:nvPicPr>
          <p:cNvPr id="4" name="Picture 3">
            <a:extLst>
              <a:ext uri="{FF2B5EF4-FFF2-40B4-BE49-F238E27FC236}">
                <a16:creationId xmlns:a16="http://schemas.microsoft.com/office/drawing/2014/main" id="{D6027F03-C567-C71A-FB4F-B2D762FC246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67"/>
            <a:ext cx="1417559" cy="1303240"/>
          </a:xfrm>
          <a:prstGeom prst="rect">
            <a:avLst/>
          </a:prstGeom>
        </p:spPr>
      </p:pic>
      <p:pic>
        <p:nvPicPr>
          <p:cNvPr id="9" name="Picture 8">
            <a:extLst>
              <a:ext uri="{FF2B5EF4-FFF2-40B4-BE49-F238E27FC236}">
                <a16:creationId xmlns:a16="http://schemas.microsoft.com/office/drawing/2014/main" id="{466CF4BB-3E15-7D5D-B912-8E9F1713DA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pic>
        <p:nvPicPr>
          <p:cNvPr id="3" name="Picture 2">
            <a:extLst>
              <a:ext uri="{FF2B5EF4-FFF2-40B4-BE49-F238E27FC236}">
                <a16:creationId xmlns:a16="http://schemas.microsoft.com/office/drawing/2014/main" id="{2C8A9784-AEBE-E772-3D98-BA83B5BC69B9}"/>
              </a:ext>
            </a:extLst>
          </p:cNvPr>
          <p:cNvPicPr>
            <a:picLocks noChangeAspect="1"/>
          </p:cNvPicPr>
          <p:nvPr/>
        </p:nvPicPr>
        <p:blipFill>
          <a:blip r:embed="rId4"/>
          <a:stretch>
            <a:fillRect/>
          </a:stretch>
        </p:blipFill>
        <p:spPr>
          <a:xfrm>
            <a:off x="0" y="1955906"/>
            <a:ext cx="12191728" cy="3168285"/>
          </a:xfrm>
          <a:prstGeom prst="rect">
            <a:avLst/>
          </a:prstGeom>
        </p:spPr>
      </p:pic>
      <p:sp>
        <p:nvSpPr>
          <p:cNvPr id="8" name="TextBox 7">
            <a:extLst>
              <a:ext uri="{FF2B5EF4-FFF2-40B4-BE49-F238E27FC236}">
                <a16:creationId xmlns:a16="http://schemas.microsoft.com/office/drawing/2014/main" id="{D51D23D9-0743-233C-D945-7497B76C452D}"/>
              </a:ext>
            </a:extLst>
          </p:cNvPr>
          <p:cNvSpPr txBox="1"/>
          <p:nvPr/>
        </p:nvSpPr>
        <p:spPr>
          <a:xfrm>
            <a:off x="1092200" y="1483010"/>
            <a:ext cx="8318500"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1-	Click “New” to open the Vendor form for creation of new vendor.</a:t>
            </a:r>
            <a:endParaRPr lang="ar-EG" b="1"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BBCC02C-FE1B-B4A7-3F51-4A3FE499D3D0}"/>
              </a:ext>
            </a:extLst>
          </p:cNvPr>
          <p:cNvSpPr txBox="1"/>
          <p:nvPr/>
        </p:nvSpPr>
        <p:spPr>
          <a:xfrm>
            <a:off x="0" y="5124192"/>
            <a:ext cx="7025005" cy="1477328"/>
          </a:xfrm>
          <a:prstGeom prst="rect">
            <a:avLst/>
          </a:prstGeom>
          <a:noFill/>
        </p:spPr>
        <p:txBody>
          <a:bodyPr wrap="square">
            <a:spAutoFit/>
          </a:bodyPr>
          <a:lstStyle/>
          <a:p>
            <a:r>
              <a:rPr lang="en-US" b="1" dirty="0">
                <a:solidFill>
                  <a:srgbClr val="002060"/>
                </a:solidFill>
              </a:rPr>
              <a:t>Screen Information</a:t>
            </a:r>
          </a:p>
          <a:p>
            <a:r>
              <a:rPr lang="en-US" dirty="0"/>
              <a:t>1. Enter the Vendor ID with up to 10 characters in the Vendor account field application will generate it automatically.</a:t>
            </a:r>
          </a:p>
          <a:p>
            <a:r>
              <a:rPr lang="en-US" dirty="0"/>
              <a:t>2. Enter the vendor’s name with up to 30 characters in the Name field.</a:t>
            </a:r>
          </a:p>
          <a:p>
            <a:r>
              <a:rPr lang="en-US" dirty="0"/>
              <a:t>3. Select the vendor group to which the vendor belongs in the Group list.</a:t>
            </a:r>
          </a:p>
        </p:txBody>
      </p:sp>
      <p:cxnSp>
        <p:nvCxnSpPr>
          <p:cNvPr id="14" name="Straight Arrow Connector 13">
            <a:extLst>
              <a:ext uri="{FF2B5EF4-FFF2-40B4-BE49-F238E27FC236}">
                <a16:creationId xmlns:a16="http://schemas.microsoft.com/office/drawing/2014/main" id="{4B8C4AAB-DC91-413A-5B6D-39466F73DE08}"/>
              </a:ext>
            </a:extLst>
          </p:cNvPr>
          <p:cNvCxnSpPr>
            <a:cxnSpLocks/>
          </p:cNvCxnSpPr>
          <p:nvPr/>
        </p:nvCxnSpPr>
        <p:spPr>
          <a:xfrm flipV="1">
            <a:off x="939800" y="2374900"/>
            <a:ext cx="342900" cy="4572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CB70E7B3-F4FF-8F26-51E2-904CF2347047}"/>
              </a:ext>
            </a:extLst>
          </p:cNvPr>
          <p:cNvCxnSpPr/>
          <p:nvPr/>
        </p:nvCxnSpPr>
        <p:spPr>
          <a:xfrm flipV="1">
            <a:off x="241300" y="4254500"/>
            <a:ext cx="215900" cy="3810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9" name="Straight Arrow Connector 18">
            <a:extLst>
              <a:ext uri="{FF2B5EF4-FFF2-40B4-BE49-F238E27FC236}">
                <a16:creationId xmlns:a16="http://schemas.microsoft.com/office/drawing/2014/main" id="{A198B8DA-91DC-67C9-86B2-FE282F4001D2}"/>
              </a:ext>
            </a:extLst>
          </p:cNvPr>
          <p:cNvCxnSpPr/>
          <p:nvPr/>
        </p:nvCxnSpPr>
        <p:spPr>
          <a:xfrm flipV="1">
            <a:off x="1828800" y="4076700"/>
            <a:ext cx="431800" cy="3556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1" name="Straight Arrow Connector 20">
            <a:extLst>
              <a:ext uri="{FF2B5EF4-FFF2-40B4-BE49-F238E27FC236}">
                <a16:creationId xmlns:a16="http://schemas.microsoft.com/office/drawing/2014/main" id="{CC80E87F-1FFE-D8F1-5786-E3369CB0B25C}"/>
              </a:ext>
            </a:extLst>
          </p:cNvPr>
          <p:cNvCxnSpPr/>
          <p:nvPr/>
        </p:nvCxnSpPr>
        <p:spPr>
          <a:xfrm flipV="1">
            <a:off x="1866900" y="4635500"/>
            <a:ext cx="406400" cy="48869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393712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6045AE8-CD74-7746-8AF5-A52850BB08B6}"/>
            </a:ext>
          </a:extLst>
        </p:cNvPr>
        <p:cNvGrpSpPr/>
        <p:nvPr/>
      </p:nvGrpSpPr>
      <p:grpSpPr>
        <a:xfrm>
          <a:off x="0" y="0"/>
          <a:ext cx="0" cy="0"/>
          <a:chOff x="0" y="0"/>
          <a:chExt cx="0" cy="0"/>
        </a:xfrm>
      </p:grpSpPr>
      <p:sp>
        <p:nvSpPr>
          <p:cNvPr id="6" name="TextBox 3">
            <a:extLst>
              <a:ext uri="{FF2B5EF4-FFF2-40B4-BE49-F238E27FC236}">
                <a16:creationId xmlns:a16="http://schemas.microsoft.com/office/drawing/2014/main" id="{6FAF1D84-DABB-78D9-D21B-4912AB523C28}"/>
              </a:ext>
            </a:extLst>
          </p:cNvPr>
          <p:cNvSpPr txBox="1"/>
          <p:nvPr/>
        </p:nvSpPr>
        <p:spPr>
          <a:xfrm>
            <a:off x="3503295" y="220345"/>
            <a:ext cx="5186045" cy="1262665"/>
          </a:xfrm>
          <a:prstGeom prst="rect">
            <a:avLst/>
          </a:prstGeom>
        </p:spPr>
        <p:txBody>
          <a:bodyPr wrap="square" lIns="0" tIns="0" rIns="0" bIns="0" rtlCol="0" anchor="t">
            <a:noAutofit/>
          </a:bodyPr>
          <a:lstStyle/>
          <a:p>
            <a:pPr algn="ctr">
              <a:lnSpc>
                <a:spcPts val="8170"/>
              </a:lnSpc>
            </a:pPr>
            <a:r>
              <a:rPr lang="en-US" sz="3600" b="1" dirty="0">
                <a:solidFill>
                  <a:schemeClr val="tx2"/>
                </a:solidFill>
                <a:latin typeface="Bright Retro"/>
                <a:ea typeface="Bright Retro"/>
                <a:cs typeface="Bright Retro"/>
                <a:sym typeface="Bright Retro"/>
              </a:rPr>
              <a:t>Create New Vendors</a:t>
            </a:r>
          </a:p>
        </p:txBody>
      </p:sp>
      <p:pic>
        <p:nvPicPr>
          <p:cNvPr id="4" name="Picture 3">
            <a:extLst>
              <a:ext uri="{FF2B5EF4-FFF2-40B4-BE49-F238E27FC236}">
                <a16:creationId xmlns:a16="http://schemas.microsoft.com/office/drawing/2014/main" id="{5C6559D4-3ADC-8D67-E320-1408530DFD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67"/>
            <a:ext cx="1417559" cy="1303240"/>
          </a:xfrm>
          <a:prstGeom prst="rect">
            <a:avLst/>
          </a:prstGeom>
        </p:spPr>
      </p:pic>
      <p:pic>
        <p:nvPicPr>
          <p:cNvPr id="9" name="Picture 8">
            <a:extLst>
              <a:ext uri="{FF2B5EF4-FFF2-40B4-BE49-F238E27FC236}">
                <a16:creationId xmlns:a16="http://schemas.microsoft.com/office/drawing/2014/main" id="{51919F23-40A8-4066-FA1C-BA7A2A9BD5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pic>
        <p:nvPicPr>
          <p:cNvPr id="5" name="Picture 4">
            <a:extLst>
              <a:ext uri="{FF2B5EF4-FFF2-40B4-BE49-F238E27FC236}">
                <a16:creationId xmlns:a16="http://schemas.microsoft.com/office/drawing/2014/main" id="{5FD3B70C-B358-92BD-14D6-41E916F399E3}"/>
              </a:ext>
            </a:extLst>
          </p:cNvPr>
          <p:cNvPicPr>
            <a:picLocks noChangeAspect="1"/>
          </p:cNvPicPr>
          <p:nvPr/>
        </p:nvPicPr>
        <p:blipFill>
          <a:blip r:embed="rId4"/>
          <a:stretch>
            <a:fillRect/>
          </a:stretch>
        </p:blipFill>
        <p:spPr>
          <a:xfrm>
            <a:off x="0" y="1483009"/>
            <a:ext cx="10517068" cy="2098017"/>
          </a:xfrm>
          <a:prstGeom prst="rect">
            <a:avLst/>
          </a:prstGeom>
        </p:spPr>
      </p:pic>
      <p:sp>
        <p:nvSpPr>
          <p:cNvPr id="10" name="TextBox 9">
            <a:extLst>
              <a:ext uri="{FF2B5EF4-FFF2-40B4-BE49-F238E27FC236}">
                <a16:creationId xmlns:a16="http://schemas.microsoft.com/office/drawing/2014/main" id="{EC071A4E-DAFB-3067-E751-9C04518197AC}"/>
              </a:ext>
            </a:extLst>
          </p:cNvPr>
          <p:cNvSpPr txBox="1"/>
          <p:nvPr/>
        </p:nvSpPr>
        <p:spPr>
          <a:xfrm>
            <a:off x="0" y="4186127"/>
            <a:ext cx="6096000"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4. select the default vendor currency.</a:t>
            </a:r>
            <a:endParaRPr lang="ar-EG"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009885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24F63050-E245-6BC2-C231-32C56E1630E7}"/>
            </a:ext>
          </a:extLst>
        </p:cNvPr>
        <p:cNvGrpSpPr/>
        <p:nvPr/>
      </p:nvGrpSpPr>
      <p:grpSpPr>
        <a:xfrm>
          <a:off x="0" y="0"/>
          <a:ext cx="0" cy="0"/>
          <a:chOff x="0" y="0"/>
          <a:chExt cx="0" cy="0"/>
        </a:xfrm>
      </p:grpSpPr>
      <p:sp>
        <p:nvSpPr>
          <p:cNvPr id="6" name="TextBox 3">
            <a:extLst>
              <a:ext uri="{FF2B5EF4-FFF2-40B4-BE49-F238E27FC236}">
                <a16:creationId xmlns:a16="http://schemas.microsoft.com/office/drawing/2014/main" id="{90ED4E0E-FDF9-8287-FDC9-3D714496A73F}"/>
              </a:ext>
            </a:extLst>
          </p:cNvPr>
          <p:cNvSpPr txBox="1"/>
          <p:nvPr/>
        </p:nvSpPr>
        <p:spPr>
          <a:xfrm>
            <a:off x="3503295" y="220345"/>
            <a:ext cx="5186045" cy="1262665"/>
          </a:xfrm>
          <a:prstGeom prst="rect">
            <a:avLst/>
          </a:prstGeom>
        </p:spPr>
        <p:txBody>
          <a:bodyPr wrap="square" lIns="0" tIns="0" rIns="0" bIns="0" rtlCol="0" anchor="t">
            <a:noAutofit/>
          </a:bodyPr>
          <a:lstStyle/>
          <a:p>
            <a:pPr algn="ctr">
              <a:lnSpc>
                <a:spcPts val="8170"/>
              </a:lnSpc>
            </a:pPr>
            <a:r>
              <a:rPr lang="en-US" sz="3600" b="1" dirty="0">
                <a:solidFill>
                  <a:schemeClr val="tx2"/>
                </a:solidFill>
                <a:latin typeface="Bright Retro"/>
                <a:ea typeface="Bright Retro"/>
                <a:cs typeface="Bright Retro"/>
                <a:sym typeface="Bright Retro"/>
              </a:rPr>
              <a:t>Create New Vendors</a:t>
            </a:r>
          </a:p>
        </p:txBody>
      </p:sp>
      <p:pic>
        <p:nvPicPr>
          <p:cNvPr id="4" name="Picture 3">
            <a:extLst>
              <a:ext uri="{FF2B5EF4-FFF2-40B4-BE49-F238E27FC236}">
                <a16:creationId xmlns:a16="http://schemas.microsoft.com/office/drawing/2014/main" id="{E7EDC21E-A3A5-CA54-3AFF-46A35FF9006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67"/>
            <a:ext cx="1417559" cy="1303240"/>
          </a:xfrm>
          <a:prstGeom prst="rect">
            <a:avLst/>
          </a:prstGeom>
        </p:spPr>
      </p:pic>
      <p:pic>
        <p:nvPicPr>
          <p:cNvPr id="9" name="Picture 8">
            <a:extLst>
              <a:ext uri="{FF2B5EF4-FFF2-40B4-BE49-F238E27FC236}">
                <a16:creationId xmlns:a16="http://schemas.microsoft.com/office/drawing/2014/main" id="{68F7F4D6-2DF7-68FF-3DBE-BADB6C9E2B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pic>
        <p:nvPicPr>
          <p:cNvPr id="3" name="Picture 2">
            <a:extLst>
              <a:ext uri="{FF2B5EF4-FFF2-40B4-BE49-F238E27FC236}">
                <a16:creationId xmlns:a16="http://schemas.microsoft.com/office/drawing/2014/main" id="{ECB1C410-AAE1-9D5C-8859-0FE3F4841D0D}"/>
              </a:ext>
            </a:extLst>
          </p:cNvPr>
          <p:cNvPicPr>
            <a:picLocks noChangeAspect="1"/>
          </p:cNvPicPr>
          <p:nvPr/>
        </p:nvPicPr>
        <p:blipFill>
          <a:blip r:embed="rId4"/>
          <a:stretch>
            <a:fillRect/>
          </a:stretch>
        </p:blipFill>
        <p:spPr>
          <a:xfrm>
            <a:off x="0" y="1461813"/>
            <a:ext cx="12191728" cy="3046687"/>
          </a:xfrm>
          <a:prstGeom prst="rect">
            <a:avLst/>
          </a:prstGeom>
        </p:spPr>
      </p:pic>
      <p:sp>
        <p:nvSpPr>
          <p:cNvPr id="8" name="TextBox 7">
            <a:extLst>
              <a:ext uri="{FF2B5EF4-FFF2-40B4-BE49-F238E27FC236}">
                <a16:creationId xmlns:a16="http://schemas.microsoft.com/office/drawing/2014/main" id="{3BB322CA-8103-65D0-B220-E35F3C38485A}"/>
              </a:ext>
            </a:extLst>
          </p:cNvPr>
          <p:cNvSpPr txBox="1"/>
          <p:nvPr/>
        </p:nvSpPr>
        <p:spPr>
          <a:xfrm>
            <a:off x="330200" y="4815406"/>
            <a:ext cx="6096000" cy="646331"/>
          </a:xfrm>
          <a:prstGeom prst="rect">
            <a:avLst/>
          </a:prstGeom>
          <a:noFill/>
        </p:spPr>
        <p:txBody>
          <a:bodyPr wrap="square">
            <a:spAutoFit/>
          </a:bodyPr>
          <a:lstStyle/>
          <a:p>
            <a:r>
              <a:rPr lang="en-US" b="1" dirty="0"/>
              <a:t>5. Enter the vendor's addresses on the Addresses Fast Tab.</a:t>
            </a:r>
          </a:p>
          <a:p>
            <a:r>
              <a:rPr lang="en-US" b="1" dirty="0"/>
              <a:t>6. click the registration ID</a:t>
            </a:r>
          </a:p>
        </p:txBody>
      </p:sp>
      <p:cxnSp>
        <p:nvCxnSpPr>
          <p:cNvPr id="12" name="Straight Arrow Connector 11">
            <a:extLst>
              <a:ext uri="{FF2B5EF4-FFF2-40B4-BE49-F238E27FC236}">
                <a16:creationId xmlns:a16="http://schemas.microsoft.com/office/drawing/2014/main" id="{C6D3FBDF-606E-EF68-0280-234D0B8BC3F6}"/>
              </a:ext>
            </a:extLst>
          </p:cNvPr>
          <p:cNvCxnSpPr/>
          <p:nvPr/>
        </p:nvCxnSpPr>
        <p:spPr>
          <a:xfrm flipV="1">
            <a:off x="7848600" y="1752600"/>
            <a:ext cx="584200" cy="6858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267572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CB4E1EE-D2B1-EE2A-3864-AB635972F2D5}"/>
            </a:ext>
          </a:extLst>
        </p:cNvPr>
        <p:cNvGrpSpPr/>
        <p:nvPr/>
      </p:nvGrpSpPr>
      <p:grpSpPr>
        <a:xfrm>
          <a:off x="0" y="0"/>
          <a:ext cx="0" cy="0"/>
          <a:chOff x="0" y="0"/>
          <a:chExt cx="0" cy="0"/>
        </a:xfrm>
      </p:grpSpPr>
      <p:sp>
        <p:nvSpPr>
          <p:cNvPr id="6" name="TextBox 3">
            <a:extLst>
              <a:ext uri="{FF2B5EF4-FFF2-40B4-BE49-F238E27FC236}">
                <a16:creationId xmlns:a16="http://schemas.microsoft.com/office/drawing/2014/main" id="{6D5DB58D-BCE2-74FE-0B8E-72571AFF4E62}"/>
              </a:ext>
            </a:extLst>
          </p:cNvPr>
          <p:cNvSpPr txBox="1"/>
          <p:nvPr/>
        </p:nvSpPr>
        <p:spPr>
          <a:xfrm>
            <a:off x="3503295" y="220345"/>
            <a:ext cx="5186045" cy="1262665"/>
          </a:xfrm>
          <a:prstGeom prst="rect">
            <a:avLst/>
          </a:prstGeom>
        </p:spPr>
        <p:txBody>
          <a:bodyPr wrap="square" lIns="0" tIns="0" rIns="0" bIns="0" rtlCol="0" anchor="t">
            <a:noAutofit/>
          </a:bodyPr>
          <a:lstStyle/>
          <a:p>
            <a:pPr algn="ctr">
              <a:lnSpc>
                <a:spcPts val="8170"/>
              </a:lnSpc>
            </a:pPr>
            <a:r>
              <a:rPr lang="en-US" sz="3600" b="1" dirty="0">
                <a:solidFill>
                  <a:schemeClr val="tx2"/>
                </a:solidFill>
                <a:latin typeface="Bright Retro"/>
                <a:ea typeface="Bright Retro"/>
                <a:cs typeface="Bright Retro"/>
                <a:sym typeface="Bright Retro"/>
              </a:rPr>
              <a:t>Create New Vendors</a:t>
            </a:r>
          </a:p>
        </p:txBody>
      </p:sp>
      <p:pic>
        <p:nvPicPr>
          <p:cNvPr id="4" name="Picture 3">
            <a:extLst>
              <a:ext uri="{FF2B5EF4-FFF2-40B4-BE49-F238E27FC236}">
                <a16:creationId xmlns:a16="http://schemas.microsoft.com/office/drawing/2014/main" id="{052FBAEF-B90D-304F-61F8-35A049553D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67"/>
            <a:ext cx="1417559" cy="1303240"/>
          </a:xfrm>
          <a:prstGeom prst="rect">
            <a:avLst/>
          </a:prstGeom>
        </p:spPr>
      </p:pic>
      <p:pic>
        <p:nvPicPr>
          <p:cNvPr id="9" name="Picture 8">
            <a:extLst>
              <a:ext uri="{FF2B5EF4-FFF2-40B4-BE49-F238E27FC236}">
                <a16:creationId xmlns:a16="http://schemas.microsoft.com/office/drawing/2014/main" id="{E5EFA80E-E2B3-BB38-E539-0072D15C6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pic>
        <p:nvPicPr>
          <p:cNvPr id="5" name="Picture 4">
            <a:extLst>
              <a:ext uri="{FF2B5EF4-FFF2-40B4-BE49-F238E27FC236}">
                <a16:creationId xmlns:a16="http://schemas.microsoft.com/office/drawing/2014/main" id="{F0C612F1-ACBD-3B08-DE3A-30CDE79A46D4}"/>
              </a:ext>
            </a:extLst>
          </p:cNvPr>
          <p:cNvPicPr>
            <a:picLocks noChangeAspect="1"/>
          </p:cNvPicPr>
          <p:nvPr/>
        </p:nvPicPr>
        <p:blipFill>
          <a:blip r:embed="rId4"/>
          <a:stretch>
            <a:fillRect/>
          </a:stretch>
        </p:blipFill>
        <p:spPr>
          <a:xfrm>
            <a:off x="1" y="1155700"/>
            <a:ext cx="12192000" cy="2603500"/>
          </a:xfrm>
          <a:prstGeom prst="rect">
            <a:avLst/>
          </a:prstGeom>
        </p:spPr>
      </p:pic>
      <p:sp>
        <p:nvSpPr>
          <p:cNvPr id="14" name="TextBox 13">
            <a:extLst>
              <a:ext uri="{FF2B5EF4-FFF2-40B4-BE49-F238E27FC236}">
                <a16:creationId xmlns:a16="http://schemas.microsoft.com/office/drawing/2014/main" id="{CA03F6B3-B28D-4242-88AB-D50CED7E38F5}"/>
              </a:ext>
            </a:extLst>
          </p:cNvPr>
          <p:cNvSpPr txBox="1"/>
          <p:nvPr/>
        </p:nvSpPr>
        <p:spPr>
          <a:xfrm>
            <a:off x="0" y="3994140"/>
            <a:ext cx="11899900" cy="2031325"/>
          </a:xfrm>
          <a:prstGeom prst="rect">
            <a:avLst/>
          </a:prstGeom>
          <a:noFill/>
        </p:spPr>
        <p:txBody>
          <a:bodyPr wrap="square">
            <a:spAutoFit/>
          </a:bodyPr>
          <a:lstStyle/>
          <a:p>
            <a:r>
              <a:rPr lang="en-US" b="1" dirty="0"/>
              <a:t>9-you can add invoice account which is more like parent-child relationship where finance side is owned by invoice account and order processing / fulfillment is done by order account. If left blank, then invoice account is same as vendor account.</a:t>
            </a:r>
          </a:p>
          <a:p>
            <a:r>
              <a:rPr lang="en-US" b="1" dirty="0"/>
              <a:t>10- You can set up a default tax profile ( Withholding tax &amp; Sales tax) for a vendor. </a:t>
            </a:r>
            <a:br>
              <a:rPr lang="en-US" b="1" dirty="0"/>
            </a:br>
            <a:r>
              <a:rPr lang="en-US" b="1" dirty="0"/>
              <a:t>By default, the tax information is used when you create transactions for the customer or vendor. </a:t>
            </a:r>
            <a:br>
              <a:rPr lang="en-US" b="1" dirty="0"/>
            </a:br>
            <a:r>
              <a:rPr lang="en-US" b="1" dirty="0"/>
              <a:t>However, you can change the default information for individual transactions if you have to.</a:t>
            </a:r>
            <a:br>
              <a:rPr lang="en-US" b="1" dirty="0"/>
            </a:br>
            <a:endParaRPr lang="en-US" b="1" dirty="0"/>
          </a:p>
          <a:p>
            <a:r>
              <a:rPr lang="en-US" b="1" dirty="0"/>
              <a:t>Note  Withholding tax will not be calculated if the Calculate withholding tax checkbox is not switched on for this vendor.</a:t>
            </a:r>
          </a:p>
        </p:txBody>
      </p:sp>
    </p:spTree>
    <p:extLst>
      <p:ext uri="{BB962C8B-B14F-4D97-AF65-F5344CB8AC3E}">
        <p14:creationId xmlns:p14="http://schemas.microsoft.com/office/powerpoint/2010/main" val="31310214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3"/>
          <p:cNvSpPr txBox="1"/>
          <p:nvPr/>
        </p:nvSpPr>
        <p:spPr>
          <a:xfrm>
            <a:off x="1779481" y="513975"/>
            <a:ext cx="8633026" cy="804545"/>
          </a:xfrm>
          <a:prstGeom prst="rect">
            <a:avLst/>
          </a:prstGeom>
        </p:spPr>
        <p:txBody>
          <a:bodyPr wrap="square" lIns="0" tIns="0" rIns="0" bIns="0" rtlCol="0" anchor="t">
            <a:spAutoFit/>
          </a:bodyPr>
          <a:lstStyle/>
          <a:p>
            <a:pPr algn="ctr">
              <a:lnSpc>
                <a:spcPts val="627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Vendor Posting profiles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64628"/>
            <a:ext cx="1417559" cy="130324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2507" y="-105"/>
            <a:ext cx="1774776" cy="693347"/>
          </a:xfrm>
          <a:prstGeom prst="rect">
            <a:avLst/>
          </a:prstGeom>
        </p:spPr>
      </p:pic>
      <p:graphicFrame>
        <p:nvGraphicFramePr>
          <p:cNvPr id="2" name="Table 1">
            <a:extLst>
              <a:ext uri="{FF2B5EF4-FFF2-40B4-BE49-F238E27FC236}">
                <a16:creationId xmlns:a16="http://schemas.microsoft.com/office/drawing/2014/main" id="{CB345BE9-BB04-A631-CF34-B048F9735107}"/>
              </a:ext>
            </a:extLst>
          </p:cNvPr>
          <p:cNvGraphicFramePr>
            <a:graphicFrameLocks noGrp="1"/>
          </p:cNvGraphicFramePr>
          <p:nvPr>
            <p:extLst>
              <p:ext uri="{D42A27DB-BD31-4B8C-83A1-F6EECF244321}">
                <p14:modId xmlns:p14="http://schemas.microsoft.com/office/powerpoint/2010/main" val="3506445134"/>
              </p:ext>
            </p:extLst>
          </p:nvPr>
        </p:nvGraphicFramePr>
        <p:xfrm>
          <a:off x="1957286" y="1439288"/>
          <a:ext cx="7718425" cy="1475740"/>
        </p:xfrm>
        <a:graphic>
          <a:graphicData uri="http://schemas.openxmlformats.org/drawingml/2006/table">
            <a:tbl>
              <a:tblPr firstRow="1" firstCol="1" bandRow="1">
                <a:tableStyleId>{5C22544A-7EE6-4342-B048-85BDC9FD1C3A}</a:tableStyleId>
              </a:tblPr>
              <a:tblGrid>
                <a:gridCol w="1990658">
                  <a:extLst>
                    <a:ext uri="{9D8B030D-6E8A-4147-A177-3AD203B41FA5}">
                      <a16:colId xmlns:a16="http://schemas.microsoft.com/office/drawing/2014/main" val="1823192156"/>
                    </a:ext>
                  </a:extLst>
                </a:gridCol>
                <a:gridCol w="5727767">
                  <a:extLst>
                    <a:ext uri="{9D8B030D-6E8A-4147-A177-3AD203B41FA5}">
                      <a16:colId xmlns:a16="http://schemas.microsoft.com/office/drawing/2014/main" val="1960435945"/>
                    </a:ext>
                  </a:extLst>
                </a:gridCol>
              </a:tblGrid>
              <a:tr h="190500">
                <a:tc>
                  <a:txBody>
                    <a:bodyPr/>
                    <a:lstStyle/>
                    <a:p>
                      <a:pPr>
                        <a:lnSpc>
                          <a:spcPct val="150000"/>
                        </a:lnSpc>
                        <a:spcBef>
                          <a:spcPts val="600"/>
                        </a:spcBef>
                        <a:buNone/>
                      </a:pPr>
                      <a:r>
                        <a:rPr lang="en-US" sz="1800" b="1" kern="1400">
                          <a:effectLst/>
                        </a:rPr>
                        <a:t>Process code</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a:effectLst/>
                        </a:rPr>
                        <a:t>04.01.03. Financial Management</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54190982"/>
                  </a:ext>
                </a:extLst>
              </a:tr>
              <a:tr h="190500">
                <a:tc>
                  <a:txBody>
                    <a:bodyPr/>
                    <a:lstStyle/>
                    <a:p>
                      <a:pPr>
                        <a:lnSpc>
                          <a:spcPct val="150000"/>
                        </a:lnSpc>
                        <a:spcBef>
                          <a:spcPts val="600"/>
                        </a:spcBef>
                        <a:buNone/>
                      </a:pPr>
                      <a:r>
                        <a:rPr lang="en-US" sz="1800" b="1" kern="1400">
                          <a:effectLst/>
                        </a:rPr>
                        <a:t>Process name</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a:effectLst/>
                        </a:rPr>
                        <a:t>Vendor Posting Profile</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23730330"/>
                  </a:ext>
                </a:extLst>
              </a:tr>
              <a:tr h="190500">
                <a:tc>
                  <a:txBody>
                    <a:bodyPr/>
                    <a:lstStyle/>
                    <a:p>
                      <a:pPr>
                        <a:lnSpc>
                          <a:spcPct val="150000"/>
                        </a:lnSpc>
                        <a:spcBef>
                          <a:spcPts val="600"/>
                        </a:spcBef>
                        <a:buNone/>
                      </a:pPr>
                      <a:r>
                        <a:rPr lang="en-US" sz="1800" b="1" kern="1400">
                          <a:effectLst/>
                        </a:rPr>
                        <a:t>Process description</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a:effectLst/>
                        </a:rPr>
                        <a:t>Vendor Posting Profile</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86272393"/>
                  </a:ext>
                </a:extLst>
              </a:tr>
              <a:tr h="95885">
                <a:tc>
                  <a:txBody>
                    <a:bodyPr/>
                    <a:lstStyle/>
                    <a:p>
                      <a:pPr>
                        <a:lnSpc>
                          <a:spcPct val="150000"/>
                        </a:lnSpc>
                        <a:spcBef>
                          <a:spcPts val="600"/>
                        </a:spcBef>
                        <a:buNone/>
                      </a:pPr>
                      <a:r>
                        <a:rPr lang="en-US" sz="1800" b="1" kern="1400">
                          <a:effectLst/>
                        </a:rPr>
                        <a:t>Form path</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dirty="0">
                          <a:effectLst/>
                        </a:rPr>
                        <a:t>Accounts payable &gt; Setup &gt; Vendor Posting Profiles</a:t>
                      </a:r>
                      <a:endParaRPr lang="en-US" sz="1800" b="1" kern="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40992670"/>
                  </a:ext>
                </a:extLst>
              </a:tr>
            </a:tbl>
          </a:graphicData>
        </a:graphic>
      </p:graphicFrame>
      <p:sp>
        <p:nvSpPr>
          <p:cNvPr id="9" name="TextBox 8">
            <a:extLst>
              <a:ext uri="{FF2B5EF4-FFF2-40B4-BE49-F238E27FC236}">
                <a16:creationId xmlns:a16="http://schemas.microsoft.com/office/drawing/2014/main" id="{11D98368-3FBA-CFAC-2811-8682CE518A0E}"/>
              </a:ext>
            </a:extLst>
          </p:cNvPr>
          <p:cNvSpPr txBox="1"/>
          <p:nvPr/>
        </p:nvSpPr>
        <p:spPr>
          <a:xfrm>
            <a:off x="1790700" y="3162300"/>
            <a:ext cx="7885011" cy="923330"/>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Vendor posting profiles enable you to assign general ledger accounts and document settings to all vendors, a group of vendors, or a single vendor. </a:t>
            </a:r>
            <a:endParaRPr lang="ar-EG" b="1" dirty="0">
              <a:latin typeface="Arial" panose="020B0604020202020204" pitchFamily="34" charset="0"/>
              <a:cs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1FE074E-4586-E6F1-0EA6-8FC26721DC2B}"/>
            </a:ext>
          </a:extLst>
        </p:cNvPr>
        <p:cNvGrpSpPr/>
        <p:nvPr/>
      </p:nvGrpSpPr>
      <p:grpSpPr>
        <a:xfrm>
          <a:off x="0" y="0"/>
          <a:ext cx="0" cy="0"/>
          <a:chOff x="0" y="0"/>
          <a:chExt cx="0" cy="0"/>
        </a:xfrm>
      </p:grpSpPr>
      <p:sp>
        <p:nvSpPr>
          <p:cNvPr id="6" name="TextBox 3">
            <a:extLst>
              <a:ext uri="{FF2B5EF4-FFF2-40B4-BE49-F238E27FC236}">
                <a16:creationId xmlns:a16="http://schemas.microsoft.com/office/drawing/2014/main" id="{69A57C69-8697-6614-79DA-3892A7082195}"/>
              </a:ext>
            </a:extLst>
          </p:cNvPr>
          <p:cNvSpPr txBox="1"/>
          <p:nvPr/>
        </p:nvSpPr>
        <p:spPr>
          <a:xfrm>
            <a:off x="1779481" y="513975"/>
            <a:ext cx="8633026" cy="804545"/>
          </a:xfrm>
          <a:prstGeom prst="rect">
            <a:avLst/>
          </a:prstGeom>
        </p:spPr>
        <p:txBody>
          <a:bodyPr wrap="square" lIns="0" tIns="0" rIns="0" bIns="0" rtlCol="0" anchor="t">
            <a:spAutoFit/>
          </a:bodyPr>
          <a:lstStyle/>
          <a:p>
            <a:pPr algn="ctr">
              <a:lnSpc>
                <a:spcPts val="627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Vendor Posting profiles</a:t>
            </a:r>
          </a:p>
        </p:txBody>
      </p:sp>
      <p:pic>
        <p:nvPicPr>
          <p:cNvPr id="4" name="Picture 3">
            <a:extLst>
              <a:ext uri="{FF2B5EF4-FFF2-40B4-BE49-F238E27FC236}">
                <a16:creationId xmlns:a16="http://schemas.microsoft.com/office/drawing/2014/main" id="{57A7B573-BDA0-B8B7-5B6D-50E43B1D51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64628"/>
            <a:ext cx="1417559" cy="1303240"/>
          </a:xfrm>
          <a:prstGeom prst="rect">
            <a:avLst/>
          </a:prstGeom>
        </p:spPr>
      </p:pic>
      <p:pic>
        <p:nvPicPr>
          <p:cNvPr id="5" name="Picture 4">
            <a:extLst>
              <a:ext uri="{FF2B5EF4-FFF2-40B4-BE49-F238E27FC236}">
                <a16:creationId xmlns:a16="http://schemas.microsoft.com/office/drawing/2014/main" id="{4773F228-488D-9A17-AA2F-F164AC70F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2507" y="-105"/>
            <a:ext cx="1774776" cy="693347"/>
          </a:xfrm>
          <a:prstGeom prst="rect">
            <a:avLst/>
          </a:prstGeom>
        </p:spPr>
      </p:pic>
      <p:pic>
        <p:nvPicPr>
          <p:cNvPr id="8" name="Picture 7">
            <a:extLst>
              <a:ext uri="{FF2B5EF4-FFF2-40B4-BE49-F238E27FC236}">
                <a16:creationId xmlns:a16="http://schemas.microsoft.com/office/drawing/2014/main" id="{ECCD5E35-EE8D-7C93-E0E9-B97C0713CA7C}"/>
              </a:ext>
            </a:extLst>
          </p:cNvPr>
          <p:cNvPicPr>
            <a:picLocks noChangeAspect="1"/>
          </p:cNvPicPr>
          <p:nvPr/>
        </p:nvPicPr>
        <p:blipFill>
          <a:blip r:embed="rId4"/>
          <a:stretch>
            <a:fillRect/>
          </a:stretch>
        </p:blipFill>
        <p:spPr>
          <a:xfrm>
            <a:off x="-19050" y="1635616"/>
            <a:ext cx="12192000" cy="2794000"/>
          </a:xfrm>
          <a:prstGeom prst="rect">
            <a:avLst/>
          </a:prstGeom>
        </p:spPr>
      </p:pic>
      <p:sp>
        <p:nvSpPr>
          <p:cNvPr id="12" name="TextBox 11">
            <a:extLst>
              <a:ext uri="{FF2B5EF4-FFF2-40B4-BE49-F238E27FC236}">
                <a16:creationId xmlns:a16="http://schemas.microsoft.com/office/drawing/2014/main" id="{D59735F7-8289-F1FA-2385-A6AF1FB976F5}"/>
              </a:ext>
            </a:extLst>
          </p:cNvPr>
          <p:cNvSpPr txBox="1"/>
          <p:nvPr/>
        </p:nvSpPr>
        <p:spPr>
          <a:xfrm>
            <a:off x="139700" y="4497365"/>
            <a:ext cx="11874500" cy="2308324"/>
          </a:xfrm>
          <a:prstGeom prst="rect">
            <a:avLst/>
          </a:prstGeom>
          <a:noFill/>
        </p:spPr>
        <p:txBody>
          <a:bodyPr wrap="square">
            <a:spAutoFit/>
          </a:bodyPr>
          <a:lstStyle/>
          <a:p>
            <a:r>
              <a:rPr lang="en-US" b="1" dirty="0">
                <a:solidFill>
                  <a:srgbClr val="002060"/>
                </a:solidFill>
              </a:rPr>
              <a:t>Screen Information</a:t>
            </a:r>
          </a:p>
          <a:p>
            <a:r>
              <a:rPr lang="en-US" sz="1400" b="1" dirty="0"/>
              <a:t>1. Click the New button to create a new record.</a:t>
            </a:r>
          </a:p>
          <a:p>
            <a:r>
              <a:rPr lang="en-US" sz="1400" b="1" dirty="0"/>
              <a:t>2. Enter a code or a short name for the posting profile in the Posting profile field.</a:t>
            </a:r>
          </a:p>
          <a:p>
            <a:r>
              <a:rPr lang="en-US" sz="1400" b="1" dirty="0"/>
              <a:t>3. Enter a description of the posting profile in the Description field.</a:t>
            </a:r>
          </a:p>
          <a:p>
            <a:r>
              <a:rPr lang="en-US" sz="1400" b="1" dirty="0"/>
              <a:t>4. From the Vendor posting profiles form, click the Setup Fast Tab.</a:t>
            </a:r>
          </a:p>
          <a:p>
            <a:r>
              <a:rPr lang="en-US" sz="1400" b="1" dirty="0"/>
              <a:t>5. Click the Add button to add a new line.</a:t>
            </a:r>
          </a:p>
          <a:p>
            <a:r>
              <a:rPr lang="en-US" sz="1400" b="1" dirty="0"/>
              <a:t>6. Select an Account code:</a:t>
            </a:r>
          </a:p>
          <a:p>
            <a:r>
              <a:rPr lang="en-US" sz="1400" b="1" dirty="0"/>
              <a:t>	Table</a:t>
            </a:r>
          </a:p>
          <a:p>
            <a:r>
              <a:rPr lang="en-US" sz="1400" b="1" dirty="0"/>
              <a:t>	Group</a:t>
            </a:r>
          </a:p>
          <a:p>
            <a:r>
              <a:rPr lang="en-US" sz="1400" b="1" dirty="0"/>
              <a:t>	All</a:t>
            </a:r>
          </a:p>
        </p:txBody>
      </p:sp>
      <p:cxnSp>
        <p:nvCxnSpPr>
          <p:cNvPr id="14" name="Straight Arrow Connector 13">
            <a:extLst>
              <a:ext uri="{FF2B5EF4-FFF2-40B4-BE49-F238E27FC236}">
                <a16:creationId xmlns:a16="http://schemas.microsoft.com/office/drawing/2014/main" id="{F8D80916-5533-583D-F69E-CFFD16B80954}"/>
              </a:ext>
            </a:extLst>
          </p:cNvPr>
          <p:cNvCxnSpPr/>
          <p:nvPr/>
        </p:nvCxnSpPr>
        <p:spPr>
          <a:xfrm flipV="1">
            <a:off x="876300" y="2095500"/>
            <a:ext cx="444500" cy="6223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5C569989-DAC7-B1FB-C1B3-79CEC7C8AA02}"/>
              </a:ext>
            </a:extLst>
          </p:cNvPr>
          <p:cNvCxnSpPr/>
          <p:nvPr/>
        </p:nvCxnSpPr>
        <p:spPr>
          <a:xfrm flipV="1">
            <a:off x="2108200" y="2717800"/>
            <a:ext cx="660400" cy="7112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1E6138E9-7B3C-2E9A-4481-315D55B7FC6F}"/>
              </a:ext>
            </a:extLst>
          </p:cNvPr>
          <p:cNvCxnSpPr/>
          <p:nvPr/>
        </p:nvCxnSpPr>
        <p:spPr>
          <a:xfrm flipV="1">
            <a:off x="2311400" y="3517900"/>
            <a:ext cx="431800" cy="6096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a:extLst>
              <a:ext uri="{FF2B5EF4-FFF2-40B4-BE49-F238E27FC236}">
                <a16:creationId xmlns:a16="http://schemas.microsoft.com/office/drawing/2014/main" id="{C86B8B35-DC22-FF09-E796-C6B800B01801}"/>
              </a:ext>
            </a:extLst>
          </p:cNvPr>
          <p:cNvCxnSpPr/>
          <p:nvPr/>
        </p:nvCxnSpPr>
        <p:spPr>
          <a:xfrm flipV="1">
            <a:off x="4953000" y="3721100"/>
            <a:ext cx="723900" cy="3556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2" name="Straight Arrow Connector 21">
            <a:extLst>
              <a:ext uri="{FF2B5EF4-FFF2-40B4-BE49-F238E27FC236}">
                <a16:creationId xmlns:a16="http://schemas.microsoft.com/office/drawing/2014/main" id="{FD22D909-0F32-0BF0-5EEB-2245879E9543}"/>
              </a:ext>
            </a:extLst>
          </p:cNvPr>
          <p:cNvCxnSpPr/>
          <p:nvPr/>
        </p:nvCxnSpPr>
        <p:spPr>
          <a:xfrm flipV="1">
            <a:off x="7442200" y="3314700"/>
            <a:ext cx="406400" cy="2032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34400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2EC01E5C-D4A7-E78A-5D2E-EEE2CE8B65D8}"/>
            </a:ext>
          </a:extLst>
        </p:cNvPr>
        <p:cNvGrpSpPr/>
        <p:nvPr/>
      </p:nvGrpSpPr>
      <p:grpSpPr>
        <a:xfrm>
          <a:off x="0" y="0"/>
          <a:ext cx="0" cy="0"/>
          <a:chOff x="0" y="0"/>
          <a:chExt cx="0" cy="0"/>
        </a:xfrm>
      </p:grpSpPr>
      <p:sp>
        <p:nvSpPr>
          <p:cNvPr id="6" name="TextBox 3">
            <a:extLst>
              <a:ext uri="{FF2B5EF4-FFF2-40B4-BE49-F238E27FC236}">
                <a16:creationId xmlns:a16="http://schemas.microsoft.com/office/drawing/2014/main" id="{AF54FDAF-0B81-BDD4-6C49-2C34CFFEAF17}"/>
              </a:ext>
            </a:extLst>
          </p:cNvPr>
          <p:cNvSpPr txBox="1"/>
          <p:nvPr/>
        </p:nvSpPr>
        <p:spPr>
          <a:xfrm>
            <a:off x="1779481" y="513975"/>
            <a:ext cx="8633026" cy="804545"/>
          </a:xfrm>
          <a:prstGeom prst="rect">
            <a:avLst/>
          </a:prstGeom>
        </p:spPr>
        <p:txBody>
          <a:bodyPr wrap="square" lIns="0" tIns="0" rIns="0" bIns="0" rtlCol="0" anchor="t">
            <a:spAutoFit/>
          </a:bodyPr>
          <a:lstStyle/>
          <a:p>
            <a:pPr algn="ctr">
              <a:lnSpc>
                <a:spcPts val="627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Vendor Posting profiles</a:t>
            </a:r>
          </a:p>
        </p:txBody>
      </p:sp>
      <p:pic>
        <p:nvPicPr>
          <p:cNvPr id="4" name="Picture 3">
            <a:extLst>
              <a:ext uri="{FF2B5EF4-FFF2-40B4-BE49-F238E27FC236}">
                <a16:creationId xmlns:a16="http://schemas.microsoft.com/office/drawing/2014/main" id="{AA79ADE8-713C-EED1-5B33-5A1007EE6A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64628"/>
            <a:ext cx="1417559" cy="1303240"/>
          </a:xfrm>
          <a:prstGeom prst="rect">
            <a:avLst/>
          </a:prstGeom>
        </p:spPr>
      </p:pic>
      <p:pic>
        <p:nvPicPr>
          <p:cNvPr id="5" name="Picture 4">
            <a:extLst>
              <a:ext uri="{FF2B5EF4-FFF2-40B4-BE49-F238E27FC236}">
                <a16:creationId xmlns:a16="http://schemas.microsoft.com/office/drawing/2014/main" id="{7265190F-7DCA-B684-9868-F83C6F033C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2507" y="-105"/>
            <a:ext cx="1774776" cy="693347"/>
          </a:xfrm>
          <a:prstGeom prst="rect">
            <a:avLst/>
          </a:prstGeom>
        </p:spPr>
      </p:pic>
      <p:sp>
        <p:nvSpPr>
          <p:cNvPr id="9" name="TextBox 8">
            <a:extLst>
              <a:ext uri="{FF2B5EF4-FFF2-40B4-BE49-F238E27FC236}">
                <a16:creationId xmlns:a16="http://schemas.microsoft.com/office/drawing/2014/main" id="{962CD6E4-563C-F4B1-9C33-557CF7D79404}"/>
              </a:ext>
            </a:extLst>
          </p:cNvPr>
          <p:cNvSpPr txBox="1"/>
          <p:nvPr/>
        </p:nvSpPr>
        <p:spPr>
          <a:xfrm>
            <a:off x="292100" y="1988741"/>
            <a:ext cx="11633200" cy="2585323"/>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7. Specify which vendors belong to the current posting profile in the Account/Group number field.</a:t>
            </a:r>
          </a:p>
          <a:p>
            <a:r>
              <a:rPr lang="en-US" b="1" dirty="0">
                <a:latin typeface="Arial" panose="020B0604020202020204" pitchFamily="34" charset="0"/>
                <a:cs typeface="Arial" panose="020B0604020202020204" pitchFamily="34" charset="0"/>
              </a:rPr>
              <a:t>If Table is selected in the Account code field, enter the account number of the vendor to whom the posting profile relates.</a:t>
            </a:r>
            <a:br>
              <a:rPr lang="en-US" b="1" dirty="0">
                <a:latin typeface="Arial" panose="020B0604020202020204" pitchFamily="34" charset="0"/>
                <a:cs typeface="Arial" panose="020B0604020202020204" pitchFamily="34" charset="0"/>
              </a:rPr>
            </a:br>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If Group is selected in the Account code field, enter the vendor group to which the posting profile relates.</a:t>
            </a:r>
          </a:p>
          <a:p>
            <a:r>
              <a:rPr lang="en-US" b="1" dirty="0">
                <a:latin typeface="Arial" panose="020B0604020202020204" pitchFamily="34" charset="0"/>
                <a:cs typeface="Arial" panose="020B0604020202020204" pitchFamily="34" charset="0"/>
              </a:rPr>
              <a:t>If All is selected in the Account code field, do not fill in the field.</a:t>
            </a:r>
            <a:br>
              <a:rPr lang="en-US" b="1" dirty="0">
                <a:latin typeface="Arial" panose="020B0604020202020204" pitchFamily="34" charset="0"/>
                <a:cs typeface="Arial" panose="020B0604020202020204" pitchFamily="34" charset="0"/>
              </a:rPr>
            </a:br>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8. Select the account number of the ledger account that is used as the vendor summary account (Accounts Payable) for the vendor(s) to whom the posting profile relates in the Summary account field.</a:t>
            </a:r>
          </a:p>
        </p:txBody>
      </p:sp>
    </p:spTree>
    <p:extLst>
      <p:ext uri="{BB962C8B-B14F-4D97-AF65-F5344CB8AC3E}">
        <p14:creationId xmlns:p14="http://schemas.microsoft.com/office/powerpoint/2010/main" val="4386578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99A163E-BC51-A088-DCAB-13EF67809EB5}"/>
            </a:ext>
          </a:extLst>
        </p:cNvPr>
        <p:cNvGrpSpPr/>
        <p:nvPr/>
      </p:nvGrpSpPr>
      <p:grpSpPr>
        <a:xfrm>
          <a:off x="0" y="0"/>
          <a:ext cx="0" cy="0"/>
          <a:chOff x="0" y="0"/>
          <a:chExt cx="0" cy="0"/>
        </a:xfrm>
      </p:grpSpPr>
      <p:sp>
        <p:nvSpPr>
          <p:cNvPr id="6" name="TextBox 3">
            <a:extLst>
              <a:ext uri="{FF2B5EF4-FFF2-40B4-BE49-F238E27FC236}">
                <a16:creationId xmlns:a16="http://schemas.microsoft.com/office/drawing/2014/main" id="{D381F032-C13A-4192-461F-3C215FA849B9}"/>
              </a:ext>
            </a:extLst>
          </p:cNvPr>
          <p:cNvSpPr txBox="1"/>
          <p:nvPr/>
        </p:nvSpPr>
        <p:spPr>
          <a:xfrm>
            <a:off x="1779480" y="513975"/>
            <a:ext cx="8869470" cy="711028"/>
          </a:xfrm>
          <a:prstGeom prst="rect">
            <a:avLst/>
          </a:prstGeom>
        </p:spPr>
        <p:txBody>
          <a:bodyPr wrap="square" lIns="0" tIns="0" rIns="0" bIns="0" rtlCol="0" anchor="t">
            <a:spAutoFit/>
          </a:bodyPr>
          <a:lstStyle/>
          <a:p>
            <a:pPr algn="ctr">
              <a:lnSpc>
                <a:spcPts val="627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Accounts Payable Parameters</a:t>
            </a:r>
          </a:p>
        </p:txBody>
      </p:sp>
      <p:pic>
        <p:nvPicPr>
          <p:cNvPr id="4" name="Picture 3">
            <a:extLst>
              <a:ext uri="{FF2B5EF4-FFF2-40B4-BE49-F238E27FC236}">
                <a16:creationId xmlns:a16="http://schemas.microsoft.com/office/drawing/2014/main" id="{38331171-0D15-379A-2650-FDB79F4DF8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675" y="41622"/>
            <a:ext cx="1417559" cy="1303240"/>
          </a:xfrm>
          <a:prstGeom prst="rect">
            <a:avLst/>
          </a:prstGeom>
        </p:spPr>
      </p:pic>
      <p:pic>
        <p:nvPicPr>
          <p:cNvPr id="5" name="Picture 4">
            <a:extLst>
              <a:ext uri="{FF2B5EF4-FFF2-40B4-BE49-F238E27FC236}">
                <a16:creationId xmlns:a16="http://schemas.microsoft.com/office/drawing/2014/main" id="{94FDEF2B-D011-9D25-CD77-F24FFBB6D7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2507" y="-105"/>
            <a:ext cx="1774776" cy="693347"/>
          </a:xfrm>
          <a:prstGeom prst="rect">
            <a:avLst/>
          </a:prstGeom>
        </p:spPr>
      </p:pic>
      <p:sp>
        <p:nvSpPr>
          <p:cNvPr id="3" name="TextBox 2">
            <a:extLst>
              <a:ext uri="{FF2B5EF4-FFF2-40B4-BE49-F238E27FC236}">
                <a16:creationId xmlns:a16="http://schemas.microsoft.com/office/drawing/2014/main" id="{F0CAAE5A-9F19-7332-DA86-21F492B1FD49}"/>
              </a:ext>
            </a:extLst>
          </p:cNvPr>
          <p:cNvSpPr txBox="1"/>
          <p:nvPr/>
        </p:nvSpPr>
        <p:spPr>
          <a:xfrm>
            <a:off x="66674" y="1225003"/>
            <a:ext cx="10582275" cy="1200329"/>
          </a:xfrm>
          <a:prstGeom prst="rect">
            <a:avLst/>
          </a:prstGeom>
          <a:noFill/>
        </p:spPr>
        <p:txBody>
          <a:bodyPr wrap="square">
            <a:spAutoFit/>
          </a:bodyPr>
          <a:lstStyle/>
          <a:p>
            <a:r>
              <a:rPr lang="en-US" b="1" dirty="0"/>
              <a:t>Form path</a:t>
            </a:r>
          </a:p>
          <a:p>
            <a:r>
              <a:rPr lang="en-US" b="1" dirty="0"/>
              <a:t>Accounts Payable → Setup → Accounts Payable Parameters</a:t>
            </a:r>
          </a:p>
          <a:p>
            <a:r>
              <a:rPr lang="en-US" b="1" dirty="0"/>
              <a:t>Explanation</a:t>
            </a:r>
          </a:p>
          <a:p>
            <a:r>
              <a:rPr lang="en-US" b="1" dirty="0"/>
              <a:t>Important settings for the Accounts Payable module were configured to control vendor transactions</a:t>
            </a:r>
            <a:r>
              <a:rPr lang="en-US" dirty="0"/>
              <a:t>.</a:t>
            </a:r>
          </a:p>
        </p:txBody>
      </p:sp>
      <p:pic>
        <p:nvPicPr>
          <p:cNvPr id="7" name="Picture 6">
            <a:extLst>
              <a:ext uri="{FF2B5EF4-FFF2-40B4-BE49-F238E27FC236}">
                <a16:creationId xmlns:a16="http://schemas.microsoft.com/office/drawing/2014/main" id="{D05B6B44-7271-3BB1-CD6C-2AB6F86CB5E5}"/>
              </a:ext>
            </a:extLst>
          </p:cNvPr>
          <p:cNvPicPr>
            <a:picLocks noChangeAspect="1"/>
          </p:cNvPicPr>
          <p:nvPr/>
        </p:nvPicPr>
        <p:blipFill>
          <a:blip r:embed="rId4"/>
          <a:stretch>
            <a:fillRect/>
          </a:stretch>
        </p:blipFill>
        <p:spPr>
          <a:xfrm>
            <a:off x="0" y="2333625"/>
            <a:ext cx="12192000" cy="4524375"/>
          </a:xfrm>
          <a:prstGeom prst="rect">
            <a:avLst/>
          </a:prstGeom>
        </p:spPr>
      </p:pic>
      <p:cxnSp>
        <p:nvCxnSpPr>
          <p:cNvPr id="10" name="Straight Arrow Connector 9">
            <a:extLst>
              <a:ext uri="{FF2B5EF4-FFF2-40B4-BE49-F238E27FC236}">
                <a16:creationId xmlns:a16="http://schemas.microsoft.com/office/drawing/2014/main" id="{41B3D014-D29E-0C25-DFED-546E7E2CC559}"/>
              </a:ext>
            </a:extLst>
          </p:cNvPr>
          <p:cNvCxnSpPr/>
          <p:nvPr/>
        </p:nvCxnSpPr>
        <p:spPr>
          <a:xfrm flipV="1">
            <a:off x="1779480" y="4762500"/>
            <a:ext cx="709720" cy="6604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541189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53D21027-B66F-E4F5-9D7E-B27C19936B66}"/>
            </a:ext>
          </a:extLst>
        </p:cNvPr>
        <p:cNvGrpSpPr/>
        <p:nvPr/>
      </p:nvGrpSpPr>
      <p:grpSpPr>
        <a:xfrm>
          <a:off x="0" y="0"/>
          <a:ext cx="0" cy="0"/>
          <a:chOff x="0" y="0"/>
          <a:chExt cx="0" cy="0"/>
        </a:xfrm>
      </p:grpSpPr>
      <p:sp>
        <p:nvSpPr>
          <p:cNvPr id="6" name="TextBox 3">
            <a:extLst>
              <a:ext uri="{FF2B5EF4-FFF2-40B4-BE49-F238E27FC236}">
                <a16:creationId xmlns:a16="http://schemas.microsoft.com/office/drawing/2014/main" id="{E6B0E34D-D74A-5EE8-5A22-298917046AF3}"/>
              </a:ext>
            </a:extLst>
          </p:cNvPr>
          <p:cNvSpPr txBox="1"/>
          <p:nvPr/>
        </p:nvSpPr>
        <p:spPr>
          <a:xfrm>
            <a:off x="1779481" y="513975"/>
            <a:ext cx="8633026" cy="711028"/>
          </a:xfrm>
          <a:prstGeom prst="rect">
            <a:avLst/>
          </a:prstGeom>
        </p:spPr>
        <p:txBody>
          <a:bodyPr wrap="square" lIns="0" tIns="0" rIns="0" bIns="0" rtlCol="0" anchor="t">
            <a:spAutoFit/>
          </a:bodyPr>
          <a:lstStyle/>
          <a:p>
            <a:pPr algn="ctr">
              <a:lnSpc>
                <a:spcPts val="627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Methods of Payment</a:t>
            </a:r>
          </a:p>
        </p:txBody>
      </p:sp>
      <p:pic>
        <p:nvPicPr>
          <p:cNvPr id="4" name="Picture 3">
            <a:extLst>
              <a:ext uri="{FF2B5EF4-FFF2-40B4-BE49-F238E27FC236}">
                <a16:creationId xmlns:a16="http://schemas.microsoft.com/office/drawing/2014/main" id="{8D33AABC-6E83-76B2-7C19-0E58BA1E4A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64628"/>
            <a:ext cx="1417559" cy="1303240"/>
          </a:xfrm>
          <a:prstGeom prst="rect">
            <a:avLst/>
          </a:prstGeom>
        </p:spPr>
      </p:pic>
      <p:pic>
        <p:nvPicPr>
          <p:cNvPr id="5" name="Picture 4">
            <a:extLst>
              <a:ext uri="{FF2B5EF4-FFF2-40B4-BE49-F238E27FC236}">
                <a16:creationId xmlns:a16="http://schemas.microsoft.com/office/drawing/2014/main" id="{E615162F-239E-4565-C027-8DB5790108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2507" y="-105"/>
            <a:ext cx="1774776" cy="693347"/>
          </a:xfrm>
          <a:prstGeom prst="rect">
            <a:avLst/>
          </a:prstGeom>
        </p:spPr>
      </p:pic>
      <p:graphicFrame>
        <p:nvGraphicFramePr>
          <p:cNvPr id="2" name="Table 1">
            <a:extLst>
              <a:ext uri="{FF2B5EF4-FFF2-40B4-BE49-F238E27FC236}">
                <a16:creationId xmlns:a16="http://schemas.microsoft.com/office/drawing/2014/main" id="{0D0C6B6F-FBE3-BEF6-5F50-656DF3BABB3C}"/>
              </a:ext>
            </a:extLst>
          </p:cNvPr>
          <p:cNvGraphicFramePr>
            <a:graphicFrameLocks noGrp="1"/>
          </p:cNvGraphicFramePr>
          <p:nvPr>
            <p:extLst>
              <p:ext uri="{D42A27DB-BD31-4B8C-83A1-F6EECF244321}">
                <p14:modId xmlns:p14="http://schemas.microsoft.com/office/powerpoint/2010/main" val="290279350"/>
              </p:ext>
            </p:extLst>
          </p:nvPr>
        </p:nvGraphicFramePr>
        <p:xfrm>
          <a:off x="1779481" y="1382077"/>
          <a:ext cx="7628038" cy="1597660"/>
        </p:xfrm>
        <a:graphic>
          <a:graphicData uri="http://schemas.openxmlformats.org/drawingml/2006/table">
            <a:tbl>
              <a:tblPr firstRow="1" firstCol="1" bandRow="1">
                <a:tableStyleId>{5C22544A-7EE6-4342-B048-85BDC9FD1C3A}</a:tableStyleId>
              </a:tblPr>
              <a:tblGrid>
                <a:gridCol w="1967346">
                  <a:extLst>
                    <a:ext uri="{9D8B030D-6E8A-4147-A177-3AD203B41FA5}">
                      <a16:colId xmlns:a16="http://schemas.microsoft.com/office/drawing/2014/main" val="3663593591"/>
                    </a:ext>
                  </a:extLst>
                </a:gridCol>
                <a:gridCol w="5660692">
                  <a:extLst>
                    <a:ext uri="{9D8B030D-6E8A-4147-A177-3AD203B41FA5}">
                      <a16:colId xmlns:a16="http://schemas.microsoft.com/office/drawing/2014/main" val="3765405650"/>
                    </a:ext>
                  </a:extLst>
                </a:gridCol>
              </a:tblGrid>
              <a:tr h="190500">
                <a:tc>
                  <a:txBody>
                    <a:bodyPr/>
                    <a:lstStyle/>
                    <a:p>
                      <a:pPr>
                        <a:lnSpc>
                          <a:spcPct val="150000"/>
                        </a:lnSpc>
                        <a:spcBef>
                          <a:spcPts val="600"/>
                        </a:spcBef>
                        <a:buNone/>
                      </a:pPr>
                      <a:r>
                        <a:rPr lang="en-US" sz="1800" b="1" kern="1400">
                          <a:effectLst/>
                        </a:rPr>
                        <a:t>Process code</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a:effectLst/>
                        </a:rPr>
                        <a:t>04.03.01. Financial Management</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39124352"/>
                  </a:ext>
                </a:extLst>
              </a:tr>
              <a:tr h="190500">
                <a:tc>
                  <a:txBody>
                    <a:bodyPr/>
                    <a:lstStyle/>
                    <a:p>
                      <a:pPr>
                        <a:lnSpc>
                          <a:spcPct val="150000"/>
                        </a:lnSpc>
                        <a:spcBef>
                          <a:spcPts val="600"/>
                        </a:spcBef>
                        <a:buNone/>
                      </a:pPr>
                      <a:r>
                        <a:rPr lang="en-US" sz="1800" b="1" kern="1400">
                          <a:effectLst/>
                        </a:rPr>
                        <a:t>Process name</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a:effectLst/>
                        </a:rPr>
                        <a:t>Methods Of Payment</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21134068"/>
                  </a:ext>
                </a:extLst>
              </a:tr>
              <a:tr h="190500">
                <a:tc>
                  <a:txBody>
                    <a:bodyPr/>
                    <a:lstStyle/>
                    <a:p>
                      <a:pPr>
                        <a:lnSpc>
                          <a:spcPct val="150000"/>
                        </a:lnSpc>
                        <a:spcBef>
                          <a:spcPts val="600"/>
                        </a:spcBef>
                        <a:buNone/>
                      </a:pPr>
                      <a:r>
                        <a:rPr lang="en-US" sz="1800" b="1" kern="1400">
                          <a:effectLst/>
                        </a:rPr>
                        <a:t>Process description</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a:effectLst/>
                        </a:rPr>
                        <a:t>Methods Of Payment</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3088766"/>
                  </a:ext>
                </a:extLst>
              </a:tr>
              <a:tr h="490855">
                <a:tc>
                  <a:txBody>
                    <a:bodyPr/>
                    <a:lstStyle/>
                    <a:p>
                      <a:pPr>
                        <a:lnSpc>
                          <a:spcPct val="150000"/>
                        </a:lnSpc>
                        <a:spcBef>
                          <a:spcPts val="600"/>
                        </a:spcBef>
                        <a:buNone/>
                      </a:pPr>
                      <a:r>
                        <a:rPr lang="en-US" sz="1800" b="1" kern="1400">
                          <a:effectLst/>
                        </a:rPr>
                        <a:t>Form path</a:t>
                      </a:r>
                      <a:endParaRPr lang="en-US" sz="18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b="1" kern="1400" dirty="0">
                          <a:effectLst/>
                        </a:rPr>
                        <a:t>Accounts payable &gt; Payment Setup &gt; methods of Payment</a:t>
                      </a:r>
                      <a:endParaRPr lang="en-US" sz="1800" b="1" kern="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75728268"/>
                  </a:ext>
                </a:extLst>
              </a:tr>
            </a:tbl>
          </a:graphicData>
        </a:graphic>
      </p:graphicFrame>
      <p:sp>
        <p:nvSpPr>
          <p:cNvPr id="7" name="TextBox 6">
            <a:extLst>
              <a:ext uri="{FF2B5EF4-FFF2-40B4-BE49-F238E27FC236}">
                <a16:creationId xmlns:a16="http://schemas.microsoft.com/office/drawing/2014/main" id="{943A2538-A75A-6F58-C96F-37C0DFBEEBAE}"/>
              </a:ext>
            </a:extLst>
          </p:cNvPr>
          <p:cNvSpPr txBox="1"/>
          <p:nvPr/>
        </p:nvSpPr>
        <p:spPr>
          <a:xfrm>
            <a:off x="114300" y="3278099"/>
            <a:ext cx="9293217" cy="1200329"/>
          </a:xfrm>
          <a:prstGeom prst="rect">
            <a:avLst/>
          </a:prstGeom>
          <a:noFill/>
        </p:spPr>
        <p:txBody>
          <a:bodyPr wrap="square">
            <a:spAutoFit/>
          </a:bodyPr>
          <a:lstStyle/>
          <a:p>
            <a:r>
              <a:rPr lang="en-US" b="1" dirty="0"/>
              <a:t>In the Methods of payment form, specify all the methods of payment the company uses to pay its vendors.</a:t>
            </a:r>
            <a:br>
              <a:rPr lang="en-US" b="1" dirty="0"/>
            </a:br>
            <a:r>
              <a:rPr lang="en-US" b="1" dirty="0"/>
              <a:t> For each method of payment, enter information that states how payments should be summarized and posted.</a:t>
            </a:r>
            <a:endParaRPr lang="ar-EG" b="1" dirty="0"/>
          </a:p>
        </p:txBody>
      </p:sp>
    </p:spTree>
    <p:extLst>
      <p:ext uri="{BB962C8B-B14F-4D97-AF65-F5344CB8AC3E}">
        <p14:creationId xmlns:p14="http://schemas.microsoft.com/office/powerpoint/2010/main" val="36748927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B49A86D-F447-17D8-19EB-1422E1AAA1F3}"/>
            </a:ext>
          </a:extLst>
        </p:cNvPr>
        <p:cNvGrpSpPr/>
        <p:nvPr/>
      </p:nvGrpSpPr>
      <p:grpSpPr>
        <a:xfrm>
          <a:off x="0" y="0"/>
          <a:ext cx="0" cy="0"/>
          <a:chOff x="0" y="0"/>
          <a:chExt cx="0" cy="0"/>
        </a:xfrm>
      </p:grpSpPr>
      <p:sp>
        <p:nvSpPr>
          <p:cNvPr id="6" name="TextBox 3">
            <a:extLst>
              <a:ext uri="{FF2B5EF4-FFF2-40B4-BE49-F238E27FC236}">
                <a16:creationId xmlns:a16="http://schemas.microsoft.com/office/drawing/2014/main" id="{0902280E-01EC-F897-5312-A11A3018CA2A}"/>
              </a:ext>
            </a:extLst>
          </p:cNvPr>
          <p:cNvSpPr txBox="1"/>
          <p:nvPr/>
        </p:nvSpPr>
        <p:spPr>
          <a:xfrm>
            <a:off x="1779481" y="513975"/>
            <a:ext cx="8633026" cy="711028"/>
          </a:xfrm>
          <a:prstGeom prst="rect">
            <a:avLst/>
          </a:prstGeom>
        </p:spPr>
        <p:txBody>
          <a:bodyPr wrap="square" lIns="0" tIns="0" rIns="0" bIns="0" rtlCol="0" anchor="t">
            <a:spAutoFit/>
          </a:bodyPr>
          <a:lstStyle/>
          <a:p>
            <a:pPr algn="ctr">
              <a:lnSpc>
                <a:spcPts val="627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Methods of Payment</a:t>
            </a:r>
          </a:p>
        </p:txBody>
      </p:sp>
      <p:pic>
        <p:nvPicPr>
          <p:cNvPr id="4" name="Picture 3">
            <a:extLst>
              <a:ext uri="{FF2B5EF4-FFF2-40B4-BE49-F238E27FC236}">
                <a16:creationId xmlns:a16="http://schemas.microsoft.com/office/drawing/2014/main" id="{43A8F58E-03DB-7EE9-AA8E-8F0D47D04B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64628"/>
            <a:ext cx="1417559" cy="1303240"/>
          </a:xfrm>
          <a:prstGeom prst="rect">
            <a:avLst/>
          </a:prstGeom>
        </p:spPr>
      </p:pic>
      <p:pic>
        <p:nvPicPr>
          <p:cNvPr id="5" name="Picture 4">
            <a:extLst>
              <a:ext uri="{FF2B5EF4-FFF2-40B4-BE49-F238E27FC236}">
                <a16:creationId xmlns:a16="http://schemas.microsoft.com/office/drawing/2014/main" id="{BEF4C834-4BC3-D808-530A-B3A84A2840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2507" y="-105"/>
            <a:ext cx="1774776" cy="693347"/>
          </a:xfrm>
          <a:prstGeom prst="rect">
            <a:avLst/>
          </a:prstGeom>
        </p:spPr>
      </p:pic>
      <p:pic>
        <p:nvPicPr>
          <p:cNvPr id="3" name="Picture 2">
            <a:extLst>
              <a:ext uri="{FF2B5EF4-FFF2-40B4-BE49-F238E27FC236}">
                <a16:creationId xmlns:a16="http://schemas.microsoft.com/office/drawing/2014/main" id="{0495065B-6ABA-1A81-4417-7D8F6FDCCC4E}"/>
              </a:ext>
            </a:extLst>
          </p:cNvPr>
          <p:cNvPicPr>
            <a:picLocks noChangeAspect="1"/>
          </p:cNvPicPr>
          <p:nvPr/>
        </p:nvPicPr>
        <p:blipFill>
          <a:blip r:embed="rId4"/>
          <a:stretch>
            <a:fillRect/>
          </a:stretch>
        </p:blipFill>
        <p:spPr>
          <a:xfrm>
            <a:off x="0" y="1567868"/>
            <a:ext cx="12001500" cy="2483432"/>
          </a:xfrm>
          <a:prstGeom prst="rect">
            <a:avLst/>
          </a:prstGeom>
        </p:spPr>
      </p:pic>
      <p:sp>
        <p:nvSpPr>
          <p:cNvPr id="9" name="TextBox 8">
            <a:extLst>
              <a:ext uri="{FF2B5EF4-FFF2-40B4-BE49-F238E27FC236}">
                <a16:creationId xmlns:a16="http://schemas.microsoft.com/office/drawing/2014/main" id="{9ED4337C-B888-D327-8D34-B954AB55AC1D}"/>
              </a:ext>
            </a:extLst>
          </p:cNvPr>
          <p:cNvSpPr txBox="1"/>
          <p:nvPr/>
        </p:nvSpPr>
        <p:spPr>
          <a:xfrm>
            <a:off x="0" y="3943264"/>
            <a:ext cx="6096000" cy="2893100"/>
          </a:xfrm>
          <a:prstGeom prst="rect">
            <a:avLst/>
          </a:prstGeom>
          <a:noFill/>
        </p:spPr>
        <p:txBody>
          <a:bodyPr wrap="square">
            <a:spAutoFit/>
          </a:bodyPr>
          <a:lstStyle/>
          <a:p>
            <a:r>
              <a:rPr lang="en-US" sz="2000" b="1" dirty="0">
                <a:solidFill>
                  <a:srgbClr val="002060"/>
                </a:solidFill>
              </a:rPr>
              <a:t>Screen Information</a:t>
            </a:r>
          </a:p>
          <a:p>
            <a:r>
              <a:rPr lang="en-US" dirty="0"/>
              <a:t>1- Click the New button to create a new record.</a:t>
            </a:r>
          </a:p>
          <a:p>
            <a:r>
              <a:rPr lang="en-US" dirty="0"/>
              <a:t>2- Enter a name for the new method of payment in the Method of payment field</a:t>
            </a:r>
          </a:p>
          <a:p>
            <a:r>
              <a:rPr lang="en-US" dirty="0"/>
              <a:t>3- Enter a description of the method of payment in the Description field.</a:t>
            </a:r>
          </a:p>
          <a:p>
            <a:r>
              <a:rPr lang="en-US" dirty="0"/>
              <a:t>4- Enter the Account Type (Ledger, Bank….) and the payment account for this method of payment.</a:t>
            </a:r>
          </a:p>
          <a:p>
            <a:r>
              <a:rPr lang="en-US" dirty="0"/>
              <a:t>5- incase of methods of payment checks active checkbox Bridging posting and select main account for Bridging account.</a:t>
            </a:r>
          </a:p>
        </p:txBody>
      </p:sp>
      <p:cxnSp>
        <p:nvCxnSpPr>
          <p:cNvPr id="11" name="Straight Arrow Connector 10">
            <a:extLst>
              <a:ext uri="{FF2B5EF4-FFF2-40B4-BE49-F238E27FC236}">
                <a16:creationId xmlns:a16="http://schemas.microsoft.com/office/drawing/2014/main" id="{642D5BFE-CA88-262B-6C1E-5D67057DF034}"/>
              </a:ext>
            </a:extLst>
          </p:cNvPr>
          <p:cNvCxnSpPr/>
          <p:nvPr/>
        </p:nvCxnSpPr>
        <p:spPr>
          <a:xfrm flipV="1">
            <a:off x="952500" y="1689100"/>
            <a:ext cx="465059" cy="7874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A5ED2FF1-909F-9130-B9D1-49544DAF6334}"/>
              </a:ext>
            </a:extLst>
          </p:cNvPr>
          <p:cNvCxnSpPr/>
          <p:nvPr/>
        </p:nvCxnSpPr>
        <p:spPr>
          <a:xfrm flipV="1">
            <a:off x="3886200" y="3086100"/>
            <a:ext cx="635000" cy="4445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2161640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3"/>
          <p:cNvSpPr txBox="1"/>
          <p:nvPr/>
        </p:nvSpPr>
        <p:spPr>
          <a:xfrm>
            <a:off x="2145665" y="902335"/>
            <a:ext cx="8397240" cy="682625"/>
          </a:xfrm>
          <a:prstGeom prst="rect">
            <a:avLst/>
          </a:prstGeom>
        </p:spPr>
        <p:txBody>
          <a:bodyPr wrap="square" lIns="0" tIns="0" rIns="0" bIns="0" rtlCol="0" anchor="t">
            <a:noAutofit/>
          </a:bodyPr>
          <a:lstStyle/>
          <a:p>
            <a:pPr algn="ctr">
              <a:lnSpc>
                <a:spcPts val="627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Payment Schedules</a:t>
            </a:r>
          </a:p>
        </p:txBody>
      </p:sp>
      <p:pic>
        <p:nvPicPr>
          <p:cNvPr id="7" name="Picture 6"/>
          <p:cNvPicPr>
            <a:picLocks noChangeAspect="1"/>
          </p:cNvPicPr>
          <p:nvPr/>
        </p:nvPicPr>
        <p:blipFill>
          <a:blip r:embed="rId3"/>
          <a:stretch>
            <a:fillRect/>
          </a:stretch>
        </p:blipFill>
        <p:spPr>
          <a:xfrm>
            <a:off x="0" y="2987548"/>
            <a:ext cx="12191999" cy="3870452"/>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21118"/>
            <a:ext cx="1417559" cy="1303240"/>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sp>
        <p:nvSpPr>
          <p:cNvPr id="8" name="TextBox 7">
            <a:extLst>
              <a:ext uri="{FF2B5EF4-FFF2-40B4-BE49-F238E27FC236}">
                <a16:creationId xmlns:a16="http://schemas.microsoft.com/office/drawing/2014/main" id="{18EADBAC-621E-D726-82FC-65A1F89557B8}"/>
              </a:ext>
            </a:extLst>
          </p:cNvPr>
          <p:cNvSpPr txBox="1"/>
          <p:nvPr/>
        </p:nvSpPr>
        <p:spPr>
          <a:xfrm>
            <a:off x="381000" y="1424358"/>
            <a:ext cx="7353300" cy="677108"/>
          </a:xfrm>
          <a:prstGeom prst="rect">
            <a:avLst/>
          </a:prstGeom>
          <a:noFill/>
        </p:spPr>
        <p:txBody>
          <a:bodyPr wrap="square">
            <a:spAutoFit/>
          </a:bodyPr>
          <a:lstStyle/>
          <a:p>
            <a:r>
              <a:rPr lang="en-US" sz="2000" b="1" dirty="0">
                <a:solidFill>
                  <a:srgbClr val="002060"/>
                </a:solidFill>
              </a:rPr>
              <a:t>Form path</a:t>
            </a:r>
          </a:p>
          <a:p>
            <a:r>
              <a:rPr lang="en-US" b="1" dirty="0"/>
              <a:t>Accounts Payable → Setup → Payment schedules</a:t>
            </a:r>
          </a:p>
        </p:txBody>
      </p:sp>
      <p:sp>
        <p:nvSpPr>
          <p:cNvPr id="10" name="TextBox 9">
            <a:extLst>
              <a:ext uri="{FF2B5EF4-FFF2-40B4-BE49-F238E27FC236}">
                <a16:creationId xmlns:a16="http://schemas.microsoft.com/office/drawing/2014/main" id="{8FB87FFC-8A30-68EE-6999-F28CE09D856B}"/>
              </a:ext>
            </a:extLst>
          </p:cNvPr>
          <p:cNvSpPr txBox="1"/>
          <p:nvPr/>
        </p:nvSpPr>
        <p:spPr>
          <a:xfrm>
            <a:off x="381000" y="2060916"/>
            <a:ext cx="6096000" cy="923330"/>
          </a:xfrm>
          <a:prstGeom prst="rect">
            <a:avLst/>
          </a:prstGeom>
          <a:noFill/>
        </p:spPr>
        <p:txBody>
          <a:bodyPr wrap="square">
            <a:spAutoFit/>
          </a:bodyPr>
          <a:lstStyle/>
          <a:p>
            <a:r>
              <a:rPr lang="en-US" dirty="0"/>
              <a:t>A Payment Schedule is a feature used to split a total invoice or payable amount into multiple payments over time, instead of paying the full amount at once.</a:t>
            </a:r>
            <a:endParaRPr lang="ar-EG" dirty="0"/>
          </a:p>
        </p:txBody>
      </p:sp>
      <p:cxnSp>
        <p:nvCxnSpPr>
          <p:cNvPr id="12" name="Straight Arrow Connector 11">
            <a:extLst>
              <a:ext uri="{FF2B5EF4-FFF2-40B4-BE49-F238E27FC236}">
                <a16:creationId xmlns:a16="http://schemas.microsoft.com/office/drawing/2014/main" id="{1F5BD189-FD4C-FBA2-FDF9-992EEA394BF0}"/>
              </a:ext>
            </a:extLst>
          </p:cNvPr>
          <p:cNvCxnSpPr/>
          <p:nvPr/>
        </p:nvCxnSpPr>
        <p:spPr>
          <a:xfrm flipV="1">
            <a:off x="1130300" y="3429000"/>
            <a:ext cx="419100" cy="5461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B094594F-AAD8-1D55-C904-AC554FA0A373}"/>
              </a:ext>
            </a:extLst>
          </p:cNvPr>
          <p:cNvCxnSpPr/>
          <p:nvPr/>
        </p:nvCxnSpPr>
        <p:spPr>
          <a:xfrm flipV="1">
            <a:off x="1803400" y="4178300"/>
            <a:ext cx="800100" cy="6858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3"/>
          <p:cNvSpPr txBox="1"/>
          <p:nvPr/>
        </p:nvSpPr>
        <p:spPr>
          <a:xfrm>
            <a:off x="2524760" y="135394"/>
            <a:ext cx="7142480" cy="1115695"/>
          </a:xfrm>
          <a:prstGeom prst="rect">
            <a:avLst/>
          </a:prstGeom>
        </p:spPr>
        <p:txBody>
          <a:bodyPr wrap="square" lIns="0" tIns="0" rIns="0" bIns="0" rtlCol="0" anchor="t">
            <a:noAutofit/>
          </a:bodyPr>
          <a:lstStyle/>
          <a:p>
            <a:pPr algn="ctr">
              <a:lnSpc>
                <a:spcPts val="654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Payment Terms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05150"/>
            <a:ext cx="12192000" cy="3752850"/>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725" y="-32746"/>
            <a:ext cx="1417559" cy="130324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sp>
        <p:nvSpPr>
          <p:cNvPr id="8" name="TextBox 7">
            <a:extLst>
              <a:ext uri="{FF2B5EF4-FFF2-40B4-BE49-F238E27FC236}">
                <a16:creationId xmlns:a16="http://schemas.microsoft.com/office/drawing/2014/main" id="{FCD77DF7-7E89-72D1-DDCD-FD3F24CE6C3D}"/>
              </a:ext>
            </a:extLst>
          </p:cNvPr>
          <p:cNvSpPr txBox="1"/>
          <p:nvPr/>
        </p:nvSpPr>
        <p:spPr>
          <a:xfrm>
            <a:off x="85725" y="1347551"/>
            <a:ext cx="7924800" cy="1661993"/>
          </a:xfrm>
          <a:prstGeom prst="rect">
            <a:avLst/>
          </a:prstGeom>
          <a:noFill/>
        </p:spPr>
        <p:txBody>
          <a:bodyPr wrap="square">
            <a:spAutoFit/>
          </a:bodyPr>
          <a:lstStyle/>
          <a:p>
            <a:r>
              <a:rPr lang="en-US" b="1" dirty="0">
                <a:solidFill>
                  <a:srgbClr val="002060"/>
                </a:solidFill>
              </a:rPr>
              <a:t>Form path</a:t>
            </a:r>
          </a:p>
          <a:p>
            <a:r>
              <a:rPr lang="en-US" sz="1400" dirty="0">
                <a:latin typeface="Arial" panose="020B0604020202020204" pitchFamily="34" charset="0"/>
                <a:cs typeface="Arial" panose="020B0604020202020204" pitchFamily="34" charset="0"/>
              </a:rPr>
              <a:t>Accounts Payable → Setup → Payment Terms</a:t>
            </a:r>
          </a:p>
          <a:p>
            <a:r>
              <a:rPr lang="en-US" sz="1400" dirty="0">
                <a:latin typeface="Arial" panose="020B0604020202020204" pitchFamily="34" charset="0"/>
                <a:cs typeface="Arial" panose="020B0604020202020204" pitchFamily="34" charset="0"/>
              </a:rPr>
              <a:t>Explanation</a:t>
            </a:r>
          </a:p>
          <a:p>
            <a:r>
              <a:rPr lang="en-US" sz="1400" dirty="0">
                <a:latin typeface="Arial" panose="020B0604020202020204" pitchFamily="34" charset="0"/>
                <a:cs typeface="Arial" panose="020B0604020202020204" pitchFamily="34" charset="0"/>
              </a:rPr>
              <a:t>Payment terms define when vendor invoices must be paid.</a:t>
            </a:r>
          </a:p>
          <a:p>
            <a:r>
              <a:rPr lang="en-US" sz="1400" dirty="0">
                <a:latin typeface="Arial" panose="020B0604020202020204" pitchFamily="34" charset="0"/>
                <a:cs typeface="Arial" panose="020B0604020202020204" pitchFamily="34" charset="0"/>
              </a:rPr>
              <a:t>Examples created:</a:t>
            </a:r>
          </a:p>
          <a:p>
            <a:r>
              <a:rPr lang="en-US" sz="1400" dirty="0">
                <a:latin typeface="Arial" panose="020B0604020202020204" pitchFamily="34" charset="0"/>
                <a:cs typeface="Arial" panose="020B0604020202020204" pitchFamily="34" charset="0"/>
              </a:rPr>
              <a:t>• Net 15</a:t>
            </a:r>
          </a:p>
          <a:p>
            <a:r>
              <a:rPr lang="en-US" sz="1400" dirty="0">
                <a:latin typeface="Arial" panose="020B0604020202020204" pitchFamily="34" charset="0"/>
                <a:cs typeface="Arial" panose="020B0604020202020204" pitchFamily="34" charset="0"/>
              </a:rPr>
              <a:t>• Net 30</a:t>
            </a:r>
          </a:p>
        </p:txBody>
      </p:sp>
      <p:cxnSp>
        <p:nvCxnSpPr>
          <p:cNvPr id="10" name="Straight Arrow Connector 9">
            <a:extLst>
              <a:ext uri="{FF2B5EF4-FFF2-40B4-BE49-F238E27FC236}">
                <a16:creationId xmlns:a16="http://schemas.microsoft.com/office/drawing/2014/main" id="{9462C406-B6A7-AFE6-EAA4-E18C9E3B6C93}"/>
              </a:ext>
            </a:extLst>
          </p:cNvPr>
          <p:cNvCxnSpPr/>
          <p:nvPr/>
        </p:nvCxnSpPr>
        <p:spPr>
          <a:xfrm flipV="1">
            <a:off x="1003300" y="3644900"/>
            <a:ext cx="499984" cy="9779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FC7C91D2-6195-A979-B260-9BB7868D7912}"/>
              </a:ext>
            </a:extLst>
          </p:cNvPr>
          <p:cNvCxnSpPr/>
          <p:nvPr/>
        </p:nvCxnSpPr>
        <p:spPr>
          <a:xfrm flipV="1">
            <a:off x="1803400" y="4660900"/>
            <a:ext cx="721360" cy="8890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BC0B2C29-95C7-6B76-B2C4-7A7A1E894CFA}"/>
              </a:ext>
            </a:extLst>
          </p:cNvPr>
          <p:cNvCxnSpPr/>
          <p:nvPr/>
        </p:nvCxnSpPr>
        <p:spPr>
          <a:xfrm flipV="1">
            <a:off x="3657600" y="5905500"/>
            <a:ext cx="1092200" cy="4572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E8BD7A44-FBDF-E9DE-21FA-796B2402DEA3}"/>
              </a:ext>
            </a:extLst>
          </p:cNvPr>
          <p:cNvCxnSpPr/>
          <p:nvPr/>
        </p:nvCxnSpPr>
        <p:spPr>
          <a:xfrm flipV="1">
            <a:off x="1803400" y="5549900"/>
            <a:ext cx="721360" cy="6731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3"/>
          <p:cNvSpPr txBox="1"/>
          <p:nvPr/>
        </p:nvSpPr>
        <p:spPr>
          <a:xfrm>
            <a:off x="2052129" y="229496"/>
            <a:ext cx="6891402" cy="769620"/>
          </a:xfrm>
          <a:prstGeom prst="rect">
            <a:avLst/>
          </a:prstGeom>
        </p:spPr>
        <p:txBody>
          <a:bodyPr wrap="square" lIns="0" tIns="0" rIns="0" bIns="0" rtlCol="0" anchor="t">
            <a:spAutoFit/>
          </a:bodyPr>
          <a:lstStyle/>
          <a:p>
            <a:pPr algn="ctr">
              <a:lnSpc>
                <a:spcPts val="600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Cash Discounts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45454"/>
            <a:ext cx="12192000" cy="3712545"/>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1622"/>
            <a:ext cx="1417559" cy="130324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sp>
        <p:nvSpPr>
          <p:cNvPr id="8" name="TextBox 7">
            <a:extLst>
              <a:ext uri="{FF2B5EF4-FFF2-40B4-BE49-F238E27FC236}">
                <a16:creationId xmlns:a16="http://schemas.microsoft.com/office/drawing/2014/main" id="{145F4D59-1DDD-5274-DFA1-80D75200D110}"/>
              </a:ext>
            </a:extLst>
          </p:cNvPr>
          <p:cNvSpPr txBox="1"/>
          <p:nvPr/>
        </p:nvSpPr>
        <p:spPr>
          <a:xfrm>
            <a:off x="0" y="1668126"/>
            <a:ext cx="6096000" cy="1477328"/>
          </a:xfrm>
          <a:prstGeom prst="rect">
            <a:avLst/>
          </a:prstGeom>
          <a:noFill/>
        </p:spPr>
        <p:txBody>
          <a:bodyPr wrap="square">
            <a:spAutoFit/>
          </a:bodyPr>
          <a:lstStyle/>
          <a:p>
            <a:r>
              <a:rPr lang="en-US" sz="2000" b="1" dirty="0">
                <a:solidFill>
                  <a:srgbClr val="002060"/>
                </a:solidFill>
              </a:rPr>
              <a:t>Form path</a:t>
            </a:r>
          </a:p>
          <a:p>
            <a:r>
              <a:rPr lang="en-US" sz="1400" dirty="0">
                <a:latin typeface="Arial" panose="020B0604020202020204" pitchFamily="34" charset="0"/>
                <a:cs typeface="Arial" panose="020B0604020202020204" pitchFamily="34" charset="0"/>
              </a:rPr>
              <a:t>Accounts Payable → Setup → Cash Discounts</a:t>
            </a:r>
          </a:p>
          <a:p>
            <a:r>
              <a:rPr lang="en-US" sz="1400" dirty="0">
                <a:latin typeface="Arial" panose="020B0604020202020204" pitchFamily="34" charset="0"/>
                <a:cs typeface="Arial" panose="020B0604020202020204" pitchFamily="34" charset="0"/>
              </a:rPr>
              <a:t>Explanation</a:t>
            </a:r>
          </a:p>
          <a:p>
            <a:r>
              <a:rPr lang="en-US" sz="1400" dirty="0">
                <a:latin typeface="Arial" panose="020B0604020202020204" pitchFamily="34" charset="0"/>
                <a:cs typeface="Arial" panose="020B0604020202020204" pitchFamily="34" charset="0"/>
              </a:rPr>
              <a:t>Cash discounts were configured to allow early payment discounts.</a:t>
            </a:r>
          </a:p>
          <a:p>
            <a:r>
              <a:rPr lang="en-US" sz="1400" dirty="0">
                <a:latin typeface="Arial" panose="020B0604020202020204" pitchFamily="34" charset="0"/>
                <a:cs typeface="Arial" panose="020B0604020202020204" pitchFamily="34" charset="0"/>
              </a:rPr>
              <a:t>Example:</a:t>
            </a:r>
          </a:p>
          <a:p>
            <a:r>
              <a:rPr lang="en-US" sz="1400" dirty="0">
                <a:latin typeface="Arial" panose="020B0604020202020204" pitchFamily="34" charset="0"/>
                <a:cs typeface="Arial" panose="020B0604020202020204" pitchFamily="34" charset="0"/>
              </a:rPr>
              <a:t>2% discount if paid within 10 days.</a:t>
            </a:r>
          </a:p>
        </p:txBody>
      </p:sp>
      <p:cxnSp>
        <p:nvCxnSpPr>
          <p:cNvPr id="10" name="Straight Arrow Connector 9">
            <a:extLst>
              <a:ext uri="{FF2B5EF4-FFF2-40B4-BE49-F238E27FC236}">
                <a16:creationId xmlns:a16="http://schemas.microsoft.com/office/drawing/2014/main" id="{8D6082D3-E65A-471F-9767-F8E8A51C9A67}"/>
              </a:ext>
            </a:extLst>
          </p:cNvPr>
          <p:cNvCxnSpPr/>
          <p:nvPr/>
        </p:nvCxnSpPr>
        <p:spPr>
          <a:xfrm flipV="1">
            <a:off x="825500" y="3517900"/>
            <a:ext cx="592059" cy="9906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AFF36908-AEDC-42EF-7BA3-ADB182FAE004}"/>
              </a:ext>
            </a:extLst>
          </p:cNvPr>
          <p:cNvCxnSpPr/>
          <p:nvPr/>
        </p:nvCxnSpPr>
        <p:spPr>
          <a:xfrm flipV="1">
            <a:off x="1663700" y="4419600"/>
            <a:ext cx="749300" cy="77027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67477388-4808-41D0-0ACC-4E4D08E57637}"/>
              </a:ext>
            </a:extLst>
          </p:cNvPr>
          <p:cNvCxnSpPr/>
          <p:nvPr/>
        </p:nvCxnSpPr>
        <p:spPr>
          <a:xfrm flipV="1">
            <a:off x="1417559" y="6311900"/>
            <a:ext cx="982741" cy="3429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147EAC4C-5946-0E37-F233-11790F0ABF5F}"/>
              </a:ext>
            </a:extLst>
          </p:cNvPr>
          <p:cNvCxnSpPr/>
          <p:nvPr/>
        </p:nvCxnSpPr>
        <p:spPr>
          <a:xfrm flipV="1">
            <a:off x="4229100" y="5664200"/>
            <a:ext cx="520700" cy="3556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2F32088C-3477-2CC1-8F2C-5844D4E81996}"/>
              </a:ext>
            </a:extLst>
          </p:cNvPr>
          <p:cNvCxnSpPr/>
          <p:nvPr/>
        </p:nvCxnSpPr>
        <p:spPr>
          <a:xfrm flipV="1">
            <a:off x="2052129" y="6654800"/>
            <a:ext cx="754571" cy="16157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CDA0654-8418-1E86-7BE0-CB767A9AECA4}"/>
            </a:ext>
          </a:extLst>
        </p:cNvPr>
        <p:cNvGrpSpPr/>
        <p:nvPr/>
      </p:nvGrpSpPr>
      <p:grpSpPr>
        <a:xfrm>
          <a:off x="0" y="0"/>
          <a:ext cx="0" cy="0"/>
          <a:chOff x="0" y="0"/>
          <a:chExt cx="0" cy="0"/>
        </a:xfrm>
      </p:grpSpPr>
      <p:sp>
        <p:nvSpPr>
          <p:cNvPr id="6" name="TextBox 3">
            <a:extLst>
              <a:ext uri="{FF2B5EF4-FFF2-40B4-BE49-F238E27FC236}">
                <a16:creationId xmlns:a16="http://schemas.microsoft.com/office/drawing/2014/main" id="{38FCAC22-53EC-AF46-2AB9-075620C89CD4}"/>
              </a:ext>
            </a:extLst>
          </p:cNvPr>
          <p:cNvSpPr txBox="1"/>
          <p:nvPr/>
        </p:nvSpPr>
        <p:spPr>
          <a:xfrm>
            <a:off x="2650490" y="693420"/>
            <a:ext cx="6891655" cy="696595"/>
          </a:xfrm>
          <a:prstGeom prst="rect">
            <a:avLst/>
          </a:prstGeom>
        </p:spPr>
        <p:txBody>
          <a:bodyPr wrap="square" lIns="0" tIns="0" rIns="0" bIns="0" rtlCol="0" anchor="t">
            <a:noAutofit/>
          </a:bodyPr>
          <a:lstStyle/>
          <a:p>
            <a:pPr algn="ctr">
              <a:lnSpc>
                <a:spcPts val="636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Invoice Journal</a:t>
            </a:r>
          </a:p>
        </p:txBody>
      </p:sp>
      <p:pic>
        <p:nvPicPr>
          <p:cNvPr id="4" name="Picture 3">
            <a:extLst>
              <a:ext uri="{FF2B5EF4-FFF2-40B4-BE49-F238E27FC236}">
                <a16:creationId xmlns:a16="http://schemas.microsoft.com/office/drawing/2014/main" id="{C64E46F6-9607-BAD7-F60B-9D76EDC6E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310" y="86828"/>
            <a:ext cx="1417559" cy="1303240"/>
          </a:xfrm>
          <a:prstGeom prst="rect">
            <a:avLst/>
          </a:prstGeom>
        </p:spPr>
      </p:pic>
      <p:pic>
        <p:nvPicPr>
          <p:cNvPr id="9" name="Picture 8">
            <a:extLst>
              <a:ext uri="{FF2B5EF4-FFF2-40B4-BE49-F238E27FC236}">
                <a16:creationId xmlns:a16="http://schemas.microsoft.com/office/drawing/2014/main" id="{AF705B7C-07A0-D7B8-94D1-3B95C33B23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graphicFrame>
        <p:nvGraphicFramePr>
          <p:cNvPr id="5" name="Table 4">
            <a:extLst>
              <a:ext uri="{FF2B5EF4-FFF2-40B4-BE49-F238E27FC236}">
                <a16:creationId xmlns:a16="http://schemas.microsoft.com/office/drawing/2014/main" id="{FAE23247-ACC1-78BE-66FD-ED21B2D559D4}"/>
              </a:ext>
            </a:extLst>
          </p:cNvPr>
          <p:cNvGraphicFramePr>
            <a:graphicFrameLocks noGrp="1"/>
          </p:cNvGraphicFramePr>
          <p:nvPr>
            <p:extLst>
              <p:ext uri="{D42A27DB-BD31-4B8C-83A1-F6EECF244321}">
                <p14:modId xmlns:p14="http://schemas.microsoft.com/office/powerpoint/2010/main" val="91820694"/>
              </p:ext>
            </p:extLst>
          </p:nvPr>
        </p:nvGraphicFramePr>
        <p:xfrm>
          <a:off x="1814197" y="1577848"/>
          <a:ext cx="6891654" cy="1467868"/>
        </p:xfrm>
        <a:graphic>
          <a:graphicData uri="http://schemas.openxmlformats.org/drawingml/2006/table">
            <a:tbl>
              <a:tblPr firstRow="1" firstCol="1" bandRow="1">
                <a:tableStyleId>{5C22544A-7EE6-4342-B048-85BDC9FD1C3A}</a:tableStyleId>
              </a:tblPr>
              <a:tblGrid>
                <a:gridCol w="1777425">
                  <a:extLst>
                    <a:ext uri="{9D8B030D-6E8A-4147-A177-3AD203B41FA5}">
                      <a16:colId xmlns:a16="http://schemas.microsoft.com/office/drawing/2014/main" val="132184903"/>
                    </a:ext>
                  </a:extLst>
                </a:gridCol>
                <a:gridCol w="5114229">
                  <a:extLst>
                    <a:ext uri="{9D8B030D-6E8A-4147-A177-3AD203B41FA5}">
                      <a16:colId xmlns:a16="http://schemas.microsoft.com/office/drawing/2014/main" val="519462769"/>
                    </a:ext>
                  </a:extLst>
                </a:gridCol>
              </a:tblGrid>
              <a:tr h="190500">
                <a:tc>
                  <a:txBody>
                    <a:bodyPr/>
                    <a:lstStyle/>
                    <a:p>
                      <a:pPr>
                        <a:lnSpc>
                          <a:spcPct val="150000"/>
                        </a:lnSpc>
                        <a:spcBef>
                          <a:spcPts val="600"/>
                        </a:spcBef>
                        <a:buNone/>
                      </a:pPr>
                      <a:r>
                        <a:rPr lang="en-US" sz="1400" b="1" kern="1400">
                          <a:effectLst/>
                        </a:rPr>
                        <a:t>Process code</a:t>
                      </a:r>
                      <a:endParaRPr lang="en-US" sz="14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400" b="1" kern="1400" dirty="0">
                          <a:effectLst/>
                        </a:rPr>
                        <a:t>04.02.02. Financial Management</a:t>
                      </a:r>
                      <a:endParaRPr lang="en-US" sz="1400" b="1" kern="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261421609"/>
                  </a:ext>
                </a:extLst>
              </a:tr>
              <a:tr h="190500">
                <a:tc>
                  <a:txBody>
                    <a:bodyPr/>
                    <a:lstStyle/>
                    <a:p>
                      <a:pPr>
                        <a:lnSpc>
                          <a:spcPct val="150000"/>
                        </a:lnSpc>
                        <a:spcBef>
                          <a:spcPts val="600"/>
                        </a:spcBef>
                        <a:buNone/>
                      </a:pPr>
                      <a:r>
                        <a:rPr lang="en-US" sz="1400" b="1" kern="1400" dirty="0">
                          <a:effectLst/>
                        </a:rPr>
                        <a:t>Process name</a:t>
                      </a:r>
                      <a:endParaRPr lang="en-US" sz="1400" b="1" kern="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400" b="1" kern="1400">
                          <a:effectLst/>
                        </a:rPr>
                        <a:t>Invoice Journal</a:t>
                      </a:r>
                      <a:endParaRPr lang="en-US" sz="14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92518624"/>
                  </a:ext>
                </a:extLst>
              </a:tr>
              <a:tr h="190500">
                <a:tc>
                  <a:txBody>
                    <a:bodyPr/>
                    <a:lstStyle/>
                    <a:p>
                      <a:pPr>
                        <a:lnSpc>
                          <a:spcPct val="150000"/>
                        </a:lnSpc>
                        <a:spcBef>
                          <a:spcPts val="600"/>
                        </a:spcBef>
                        <a:buNone/>
                      </a:pPr>
                      <a:r>
                        <a:rPr lang="en-US" sz="1400" b="1" kern="1400">
                          <a:effectLst/>
                        </a:rPr>
                        <a:t>Process description</a:t>
                      </a:r>
                      <a:endParaRPr lang="en-US" sz="14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400" b="1" kern="1400" dirty="0">
                          <a:effectLst/>
                        </a:rPr>
                        <a:t>Invoice Journal will be used to record the purchasing transactions of services</a:t>
                      </a:r>
                      <a:endParaRPr lang="en-US" sz="1400" b="1" kern="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27330920"/>
                  </a:ext>
                </a:extLst>
              </a:tr>
              <a:tr h="225425">
                <a:tc>
                  <a:txBody>
                    <a:bodyPr/>
                    <a:lstStyle/>
                    <a:p>
                      <a:pPr>
                        <a:lnSpc>
                          <a:spcPct val="150000"/>
                        </a:lnSpc>
                        <a:spcBef>
                          <a:spcPts val="600"/>
                        </a:spcBef>
                        <a:buNone/>
                      </a:pPr>
                      <a:r>
                        <a:rPr lang="en-US" sz="1400" b="1" kern="1400">
                          <a:effectLst/>
                        </a:rPr>
                        <a:t>Form path</a:t>
                      </a:r>
                      <a:endParaRPr lang="en-US" sz="1400" b="1"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400" b="1" kern="1400" dirty="0">
                          <a:effectLst/>
                        </a:rPr>
                        <a:t>Accounts payable &gt; Invoices&gt; Invoice Journal</a:t>
                      </a:r>
                      <a:endParaRPr lang="en-US" sz="1400" b="1" kern="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52903495"/>
                  </a:ext>
                </a:extLst>
              </a:tr>
            </a:tbl>
          </a:graphicData>
        </a:graphic>
      </p:graphicFrame>
      <p:sp>
        <p:nvSpPr>
          <p:cNvPr id="7" name="TextBox 6">
            <a:extLst>
              <a:ext uri="{FF2B5EF4-FFF2-40B4-BE49-F238E27FC236}">
                <a16:creationId xmlns:a16="http://schemas.microsoft.com/office/drawing/2014/main" id="{27966939-F327-C120-ADEB-CCD0E786B503}"/>
              </a:ext>
            </a:extLst>
          </p:cNvPr>
          <p:cNvSpPr txBox="1"/>
          <p:nvPr/>
        </p:nvSpPr>
        <p:spPr>
          <a:xfrm>
            <a:off x="2114550" y="3233549"/>
            <a:ext cx="6324600" cy="646331"/>
          </a:xfrm>
          <a:prstGeom prst="rect">
            <a:avLst/>
          </a:prstGeom>
          <a:noFill/>
        </p:spPr>
        <p:txBody>
          <a:bodyPr wrap="square">
            <a:spAutoFit/>
          </a:bodyPr>
          <a:lstStyle/>
          <a:p>
            <a:r>
              <a:rPr lang="en-US" b="1" dirty="0"/>
              <a:t>Click “New” and choose the invoice journal and enter the required description for the journal</a:t>
            </a:r>
            <a:endParaRPr lang="ar-EG" b="1" dirty="0"/>
          </a:p>
        </p:txBody>
      </p:sp>
    </p:spTree>
    <p:extLst>
      <p:ext uri="{BB962C8B-B14F-4D97-AF65-F5344CB8AC3E}">
        <p14:creationId xmlns:p14="http://schemas.microsoft.com/office/powerpoint/2010/main" val="24724341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3"/>
          <p:cNvSpPr txBox="1"/>
          <p:nvPr/>
        </p:nvSpPr>
        <p:spPr>
          <a:xfrm>
            <a:off x="2505083" y="392110"/>
            <a:ext cx="6891655" cy="696595"/>
          </a:xfrm>
          <a:prstGeom prst="rect">
            <a:avLst/>
          </a:prstGeom>
        </p:spPr>
        <p:txBody>
          <a:bodyPr wrap="square" lIns="0" tIns="0" rIns="0" bIns="0" rtlCol="0" anchor="t">
            <a:noAutofit/>
          </a:bodyPr>
          <a:lstStyle/>
          <a:p>
            <a:pPr algn="ctr">
              <a:lnSpc>
                <a:spcPts val="636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Invoice Journal</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310" y="86828"/>
            <a:ext cx="1417559" cy="1303240"/>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pic>
        <p:nvPicPr>
          <p:cNvPr id="7" name="Picture 6">
            <a:extLst>
              <a:ext uri="{FF2B5EF4-FFF2-40B4-BE49-F238E27FC236}">
                <a16:creationId xmlns:a16="http://schemas.microsoft.com/office/drawing/2014/main" id="{40D45493-CAF9-C0C5-329F-B1BAE0EA53FC}"/>
              </a:ext>
            </a:extLst>
          </p:cNvPr>
          <p:cNvPicPr>
            <a:picLocks noChangeAspect="1"/>
          </p:cNvPicPr>
          <p:nvPr/>
        </p:nvPicPr>
        <p:blipFill>
          <a:blip r:embed="rId4"/>
          <a:stretch>
            <a:fillRect/>
          </a:stretch>
        </p:blipFill>
        <p:spPr>
          <a:xfrm>
            <a:off x="0" y="1390069"/>
            <a:ext cx="12191728" cy="2902531"/>
          </a:xfrm>
          <a:prstGeom prst="rect">
            <a:avLst/>
          </a:prstGeom>
        </p:spPr>
      </p:pic>
      <p:sp>
        <p:nvSpPr>
          <p:cNvPr id="11" name="TextBox 10">
            <a:extLst>
              <a:ext uri="{FF2B5EF4-FFF2-40B4-BE49-F238E27FC236}">
                <a16:creationId xmlns:a16="http://schemas.microsoft.com/office/drawing/2014/main" id="{E764DFA0-827D-9A70-53AF-590F9212C6D9}"/>
              </a:ext>
            </a:extLst>
          </p:cNvPr>
          <p:cNvSpPr txBox="1"/>
          <p:nvPr/>
        </p:nvSpPr>
        <p:spPr>
          <a:xfrm>
            <a:off x="2301874" y="4292600"/>
            <a:ext cx="7553325" cy="369332"/>
          </a:xfrm>
          <a:prstGeom prst="rect">
            <a:avLst/>
          </a:prstGeom>
          <a:noFill/>
        </p:spPr>
        <p:txBody>
          <a:bodyPr wrap="square">
            <a:spAutoFit/>
          </a:bodyPr>
          <a:lstStyle/>
          <a:p>
            <a:r>
              <a:rPr lang="en-US" b="1" dirty="0"/>
              <a:t>Click “Lines” to open the journal voucher screen to record the invoice.</a:t>
            </a:r>
            <a:endParaRPr lang="ar-EG" b="1" dirty="0"/>
          </a:p>
        </p:txBody>
      </p:sp>
      <p:pic>
        <p:nvPicPr>
          <p:cNvPr id="13" name="Picture 12">
            <a:extLst>
              <a:ext uri="{FF2B5EF4-FFF2-40B4-BE49-F238E27FC236}">
                <a16:creationId xmlns:a16="http://schemas.microsoft.com/office/drawing/2014/main" id="{1DC0B48E-EFDD-F263-5EA5-303CFCB8A288}"/>
              </a:ext>
            </a:extLst>
          </p:cNvPr>
          <p:cNvPicPr>
            <a:picLocks noChangeAspect="1"/>
          </p:cNvPicPr>
          <p:nvPr/>
        </p:nvPicPr>
        <p:blipFill>
          <a:blip r:embed="rId5"/>
          <a:stretch>
            <a:fillRect/>
          </a:stretch>
        </p:blipFill>
        <p:spPr>
          <a:xfrm>
            <a:off x="0" y="4661932"/>
            <a:ext cx="12046910" cy="2196069"/>
          </a:xfrm>
          <a:prstGeom prst="rect">
            <a:avLst/>
          </a:prstGeom>
        </p:spPr>
      </p:pic>
      <p:cxnSp>
        <p:nvCxnSpPr>
          <p:cNvPr id="15" name="Straight Arrow Connector 14">
            <a:extLst>
              <a:ext uri="{FF2B5EF4-FFF2-40B4-BE49-F238E27FC236}">
                <a16:creationId xmlns:a16="http://schemas.microsoft.com/office/drawing/2014/main" id="{37503760-3F92-184B-ADA8-87DC9C8275D8}"/>
              </a:ext>
            </a:extLst>
          </p:cNvPr>
          <p:cNvCxnSpPr/>
          <p:nvPr/>
        </p:nvCxnSpPr>
        <p:spPr>
          <a:xfrm flipV="1">
            <a:off x="914400" y="1651000"/>
            <a:ext cx="355600" cy="4064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3F9C05D-4907-7B4F-5A14-2D5472AA2CB9}"/>
            </a:ext>
          </a:extLst>
        </p:cNvPr>
        <p:cNvGrpSpPr/>
        <p:nvPr/>
      </p:nvGrpSpPr>
      <p:grpSpPr>
        <a:xfrm>
          <a:off x="0" y="0"/>
          <a:ext cx="0" cy="0"/>
          <a:chOff x="0" y="0"/>
          <a:chExt cx="0" cy="0"/>
        </a:xfrm>
      </p:grpSpPr>
      <p:sp>
        <p:nvSpPr>
          <p:cNvPr id="6" name="TextBox 3">
            <a:extLst>
              <a:ext uri="{FF2B5EF4-FFF2-40B4-BE49-F238E27FC236}">
                <a16:creationId xmlns:a16="http://schemas.microsoft.com/office/drawing/2014/main" id="{2FB9B4CF-0055-564F-7B53-37800E9FDC5E}"/>
              </a:ext>
            </a:extLst>
          </p:cNvPr>
          <p:cNvSpPr txBox="1"/>
          <p:nvPr/>
        </p:nvSpPr>
        <p:spPr>
          <a:xfrm>
            <a:off x="2650490" y="693420"/>
            <a:ext cx="6891655" cy="696595"/>
          </a:xfrm>
          <a:prstGeom prst="rect">
            <a:avLst/>
          </a:prstGeom>
        </p:spPr>
        <p:txBody>
          <a:bodyPr wrap="square" lIns="0" tIns="0" rIns="0" bIns="0" rtlCol="0" anchor="t">
            <a:noAutofit/>
          </a:bodyPr>
          <a:lstStyle/>
          <a:p>
            <a:pPr algn="ctr">
              <a:lnSpc>
                <a:spcPts val="636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Invoice Journal</a:t>
            </a:r>
          </a:p>
        </p:txBody>
      </p:sp>
      <p:pic>
        <p:nvPicPr>
          <p:cNvPr id="4" name="Picture 3">
            <a:extLst>
              <a:ext uri="{FF2B5EF4-FFF2-40B4-BE49-F238E27FC236}">
                <a16:creationId xmlns:a16="http://schemas.microsoft.com/office/drawing/2014/main" id="{D79B380C-557C-8409-6B32-7008A088F17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310" y="86828"/>
            <a:ext cx="1417559" cy="1303240"/>
          </a:xfrm>
          <a:prstGeom prst="rect">
            <a:avLst/>
          </a:prstGeom>
        </p:spPr>
      </p:pic>
      <p:pic>
        <p:nvPicPr>
          <p:cNvPr id="9" name="Picture 8">
            <a:extLst>
              <a:ext uri="{FF2B5EF4-FFF2-40B4-BE49-F238E27FC236}">
                <a16:creationId xmlns:a16="http://schemas.microsoft.com/office/drawing/2014/main" id="{9B8EE38E-2BCF-8305-5737-DBE0DC359C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sp>
        <p:nvSpPr>
          <p:cNvPr id="7" name="TextBox 6">
            <a:extLst>
              <a:ext uri="{FF2B5EF4-FFF2-40B4-BE49-F238E27FC236}">
                <a16:creationId xmlns:a16="http://schemas.microsoft.com/office/drawing/2014/main" id="{EC04D0C3-6E75-6A66-1704-56B36C8EF2FC}"/>
              </a:ext>
            </a:extLst>
          </p:cNvPr>
          <p:cNvSpPr txBox="1"/>
          <p:nvPr/>
        </p:nvSpPr>
        <p:spPr>
          <a:xfrm>
            <a:off x="67309" y="1751965"/>
            <a:ext cx="11990433" cy="4308872"/>
          </a:xfrm>
          <a:prstGeom prst="rect">
            <a:avLst/>
          </a:prstGeom>
          <a:noFill/>
        </p:spPr>
        <p:txBody>
          <a:bodyPr wrap="square">
            <a:spAutoFit/>
          </a:bodyPr>
          <a:lstStyle/>
          <a:p>
            <a:r>
              <a:rPr lang="en-US" sz="2000" b="1" dirty="0">
                <a:solidFill>
                  <a:srgbClr val="002060"/>
                </a:solidFill>
              </a:rPr>
              <a:t>Screen Information</a:t>
            </a:r>
            <a:br>
              <a:rPr lang="en-US" sz="2000" b="1" dirty="0">
                <a:solidFill>
                  <a:srgbClr val="002060"/>
                </a:solidFill>
              </a:rPr>
            </a:br>
            <a:endParaRPr lang="en-US" sz="2000" b="1" dirty="0">
              <a:solidFill>
                <a:srgbClr val="002060"/>
              </a:solidFill>
            </a:endParaRPr>
          </a:p>
          <a:p>
            <a:r>
              <a:rPr lang="en-US" b="1" dirty="0"/>
              <a:t>1- Enter the posting date in the Date field. The system date displays, but you can change it.</a:t>
            </a:r>
            <a:br>
              <a:rPr lang="en-US" b="1" dirty="0"/>
            </a:br>
            <a:endParaRPr lang="en-US" b="1" dirty="0"/>
          </a:p>
          <a:p>
            <a:r>
              <a:rPr lang="en-US" b="1" dirty="0"/>
              <a:t>2-The Voucher is entered automatically according to the number sequence attached to the journal.</a:t>
            </a:r>
            <a:br>
              <a:rPr lang="en-US" b="1" dirty="0"/>
            </a:br>
            <a:endParaRPr lang="en-US" b="1" dirty="0"/>
          </a:p>
          <a:p>
            <a:r>
              <a:rPr lang="en-US" b="1" dirty="0"/>
              <a:t>3- Select the vendor to register the invoice of in the Account field.</a:t>
            </a:r>
            <a:br>
              <a:rPr lang="en-US" b="1" dirty="0"/>
            </a:br>
            <a:endParaRPr lang="en-US" b="1" dirty="0"/>
          </a:p>
          <a:p>
            <a:r>
              <a:rPr lang="en-US" b="1" dirty="0"/>
              <a:t>4- Enter the invoice number in the Invoice field. You cannot post the invoice register if you do not specify an invoice number.</a:t>
            </a:r>
            <a:br>
              <a:rPr lang="en-US" b="1" dirty="0"/>
            </a:br>
            <a:endParaRPr lang="en-US" b="1" dirty="0"/>
          </a:p>
          <a:p>
            <a:r>
              <a:rPr lang="en-US" b="1" dirty="0"/>
              <a:t>5- Select the description regarding the transaction in the Description field. </a:t>
            </a:r>
            <a:br>
              <a:rPr lang="en-US" b="1" dirty="0"/>
            </a:br>
            <a:endParaRPr lang="en-US" b="1" dirty="0"/>
          </a:p>
          <a:p>
            <a:r>
              <a:rPr lang="en-US" b="1" dirty="0"/>
              <a:t>6- Enter the appropriate amount in the given currency Credit fields. Select the offset account type and account.</a:t>
            </a:r>
            <a:br>
              <a:rPr lang="en-US" b="1" dirty="0"/>
            </a:br>
            <a:endParaRPr lang="en-US" b="1" dirty="0"/>
          </a:p>
          <a:p>
            <a:r>
              <a:rPr lang="en-US" b="1" dirty="0"/>
              <a:t>7- Select the currency.</a:t>
            </a:r>
          </a:p>
        </p:txBody>
      </p:sp>
    </p:spTree>
    <p:extLst>
      <p:ext uri="{BB962C8B-B14F-4D97-AF65-F5344CB8AC3E}">
        <p14:creationId xmlns:p14="http://schemas.microsoft.com/office/powerpoint/2010/main" val="9178831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3"/>
          <p:cNvSpPr txBox="1"/>
          <p:nvPr/>
        </p:nvSpPr>
        <p:spPr>
          <a:xfrm>
            <a:off x="3135596" y="185983"/>
            <a:ext cx="5214232" cy="730265"/>
          </a:xfrm>
          <a:prstGeom prst="rect">
            <a:avLst/>
          </a:prstGeom>
        </p:spPr>
        <p:txBody>
          <a:bodyPr wrap="square" lIns="0" tIns="0" rIns="0" bIns="0" rtlCol="0" anchor="t">
            <a:spAutoFit/>
          </a:bodyPr>
          <a:lstStyle/>
          <a:p>
            <a:pPr algn="ctr">
              <a:lnSpc>
                <a:spcPts val="645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Payment Journal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64628"/>
            <a:ext cx="1417559" cy="130324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graphicFrame>
        <p:nvGraphicFramePr>
          <p:cNvPr id="11" name="Table 10">
            <a:extLst>
              <a:ext uri="{FF2B5EF4-FFF2-40B4-BE49-F238E27FC236}">
                <a16:creationId xmlns:a16="http://schemas.microsoft.com/office/drawing/2014/main" id="{7E574E72-CBDE-2F79-8697-6723264C68AE}"/>
              </a:ext>
            </a:extLst>
          </p:cNvPr>
          <p:cNvGraphicFramePr>
            <a:graphicFrameLocks noGrp="1"/>
          </p:cNvGraphicFramePr>
          <p:nvPr>
            <p:extLst>
              <p:ext uri="{D42A27DB-BD31-4B8C-83A1-F6EECF244321}">
                <p14:modId xmlns:p14="http://schemas.microsoft.com/office/powerpoint/2010/main" val="247328186"/>
              </p:ext>
            </p:extLst>
          </p:nvPr>
        </p:nvGraphicFramePr>
        <p:xfrm>
          <a:off x="2381250" y="916248"/>
          <a:ext cx="7162800" cy="2038854"/>
        </p:xfrm>
        <a:graphic>
          <a:graphicData uri="http://schemas.openxmlformats.org/drawingml/2006/table">
            <a:tbl>
              <a:tblPr firstRow="1" firstCol="1" bandRow="1">
                <a:tableStyleId>{5C22544A-7EE6-4342-B048-85BDC9FD1C3A}</a:tableStyleId>
              </a:tblPr>
              <a:tblGrid>
                <a:gridCol w="1847357">
                  <a:extLst>
                    <a:ext uri="{9D8B030D-6E8A-4147-A177-3AD203B41FA5}">
                      <a16:colId xmlns:a16="http://schemas.microsoft.com/office/drawing/2014/main" val="1789835839"/>
                    </a:ext>
                  </a:extLst>
                </a:gridCol>
                <a:gridCol w="5315443">
                  <a:extLst>
                    <a:ext uri="{9D8B030D-6E8A-4147-A177-3AD203B41FA5}">
                      <a16:colId xmlns:a16="http://schemas.microsoft.com/office/drawing/2014/main" val="3000760232"/>
                    </a:ext>
                  </a:extLst>
                </a:gridCol>
              </a:tblGrid>
              <a:tr h="260890">
                <a:tc>
                  <a:txBody>
                    <a:bodyPr/>
                    <a:lstStyle/>
                    <a:p>
                      <a:pPr>
                        <a:lnSpc>
                          <a:spcPct val="150000"/>
                        </a:lnSpc>
                        <a:spcBef>
                          <a:spcPts val="600"/>
                        </a:spcBef>
                        <a:buNone/>
                      </a:pPr>
                      <a:r>
                        <a:rPr lang="en-US" sz="1800" kern="1400">
                          <a:effectLst/>
                        </a:rPr>
                        <a:t>Process code</a:t>
                      </a:r>
                      <a:endParaRPr lang="en-US" sz="1800"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kern="1400">
                          <a:effectLst/>
                        </a:rPr>
                        <a:t>04.04.01. Financial Management</a:t>
                      </a:r>
                      <a:endParaRPr lang="en-US" sz="1800"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03287553"/>
                  </a:ext>
                </a:extLst>
              </a:tr>
              <a:tr h="260890">
                <a:tc>
                  <a:txBody>
                    <a:bodyPr/>
                    <a:lstStyle/>
                    <a:p>
                      <a:pPr>
                        <a:lnSpc>
                          <a:spcPct val="150000"/>
                        </a:lnSpc>
                        <a:spcBef>
                          <a:spcPts val="600"/>
                        </a:spcBef>
                        <a:buNone/>
                      </a:pPr>
                      <a:r>
                        <a:rPr lang="en-US" sz="1800" kern="1400">
                          <a:effectLst/>
                        </a:rPr>
                        <a:t>Process name</a:t>
                      </a:r>
                      <a:endParaRPr lang="en-US" sz="1800"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kern="1400" dirty="0">
                          <a:effectLst/>
                        </a:rPr>
                        <a:t>Payment Journal</a:t>
                      </a:r>
                      <a:endParaRPr lang="en-US" sz="1800" kern="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24420005"/>
                  </a:ext>
                </a:extLst>
              </a:tr>
              <a:tr h="260890">
                <a:tc>
                  <a:txBody>
                    <a:bodyPr/>
                    <a:lstStyle/>
                    <a:p>
                      <a:pPr>
                        <a:lnSpc>
                          <a:spcPct val="150000"/>
                        </a:lnSpc>
                        <a:spcBef>
                          <a:spcPts val="600"/>
                        </a:spcBef>
                        <a:buNone/>
                      </a:pPr>
                      <a:r>
                        <a:rPr lang="en-US" sz="1800" kern="1400">
                          <a:effectLst/>
                        </a:rPr>
                        <a:t>Process description</a:t>
                      </a:r>
                      <a:endParaRPr lang="en-US" sz="1800"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kern="1400" dirty="0">
                          <a:effectLst/>
                        </a:rPr>
                        <a:t>Payment To vendor </a:t>
                      </a:r>
                      <a:endParaRPr lang="en-US" sz="1800" kern="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70399918"/>
                  </a:ext>
                </a:extLst>
              </a:tr>
              <a:tr h="520569">
                <a:tc>
                  <a:txBody>
                    <a:bodyPr/>
                    <a:lstStyle/>
                    <a:p>
                      <a:pPr>
                        <a:lnSpc>
                          <a:spcPct val="150000"/>
                        </a:lnSpc>
                        <a:spcBef>
                          <a:spcPts val="600"/>
                        </a:spcBef>
                        <a:buNone/>
                      </a:pPr>
                      <a:r>
                        <a:rPr lang="en-US" sz="1800" kern="1400">
                          <a:effectLst/>
                        </a:rPr>
                        <a:t>Form path</a:t>
                      </a:r>
                      <a:endParaRPr lang="en-US" sz="1800" kern="14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Bef>
                          <a:spcPts val="600"/>
                        </a:spcBef>
                        <a:buNone/>
                      </a:pPr>
                      <a:r>
                        <a:rPr lang="en-US" sz="1800" kern="1400" dirty="0">
                          <a:effectLst/>
                        </a:rPr>
                        <a:t>Account payable &gt; Payments &gt; Payment Journals</a:t>
                      </a:r>
                      <a:endParaRPr lang="en-US" sz="1800" kern="14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92350221"/>
                  </a:ext>
                </a:extLst>
              </a:tr>
            </a:tbl>
          </a:graphicData>
        </a:graphic>
      </p:graphicFrame>
      <p:sp>
        <p:nvSpPr>
          <p:cNvPr id="13" name="TextBox 12">
            <a:extLst>
              <a:ext uri="{FF2B5EF4-FFF2-40B4-BE49-F238E27FC236}">
                <a16:creationId xmlns:a16="http://schemas.microsoft.com/office/drawing/2014/main" id="{30828067-F10D-F784-171A-56AD2FBB6875}"/>
              </a:ext>
            </a:extLst>
          </p:cNvPr>
          <p:cNvSpPr txBox="1"/>
          <p:nvPr/>
        </p:nvSpPr>
        <p:spPr>
          <a:xfrm>
            <a:off x="609600" y="3184096"/>
            <a:ext cx="7848600" cy="1200329"/>
          </a:xfrm>
          <a:prstGeom prst="rect">
            <a:avLst/>
          </a:prstGeom>
          <a:noFill/>
        </p:spPr>
        <p:txBody>
          <a:bodyPr wrap="square">
            <a:spAutoFit/>
          </a:bodyPr>
          <a:lstStyle/>
          <a:p>
            <a:r>
              <a:rPr lang="en-US" dirty="0"/>
              <a:t>1- Go to Accounts payable &gt; Payments &gt; Payment journal. </a:t>
            </a:r>
          </a:p>
          <a:p>
            <a:r>
              <a:rPr lang="en-US" dirty="0"/>
              <a:t>2- Click New to create a new payment journal.</a:t>
            </a:r>
          </a:p>
          <a:p>
            <a:r>
              <a:rPr lang="en-US" dirty="0"/>
              <a:t>3- Select journal name and enter Description. </a:t>
            </a:r>
          </a:p>
          <a:p>
            <a:r>
              <a:rPr lang="en-US" dirty="0"/>
              <a:t>4- Click lines to open the chosen journal and record the payment voucher.</a:t>
            </a:r>
          </a:p>
        </p:txBody>
      </p:sp>
      <p:pic>
        <p:nvPicPr>
          <p:cNvPr id="15" name="Picture 14">
            <a:extLst>
              <a:ext uri="{FF2B5EF4-FFF2-40B4-BE49-F238E27FC236}">
                <a16:creationId xmlns:a16="http://schemas.microsoft.com/office/drawing/2014/main" id="{02940E61-9BB4-8A11-78F3-9F1C4EE41DCD}"/>
              </a:ext>
            </a:extLst>
          </p:cNvPr>
          <p:cNvPicPr>
            <a:picLocks noChangeAspect="1"/>
          </p:cNvPicPr>
          <p:nvPr/>
        </p:nvPicPr>
        <p:blipFill>
          <a:blip r:embed="rId4"/>
          <a:stretch>
            <a:fillRect/>
          </a:stretch>
        </p:blipFill>
        <p:spPr>
          <a:xfrm>
            <a:off x="-1" y="4114633"/>
            <a:ext cx="11096625" cy="2743367"/>
          </a:xfrm>
          <a:prstGeom prst="rect">
            <a:avLst/>
          </a:prstGeom>
        </p:spPr>
      </p:pic>
      <p:cxnSp>
        <p:nvCxnSpPr>
          <p:cNvPr id="17" name="Straight Arrow Connector 16">
            <a:extLst>
              <a:ext uri="{FF2B5EF4-FFF2-40B4-BE49-F238E27FC236}">
                <a16:creationId xmlns:a16="http://schemas.microsoft.com/office/drawing/2014/main" id="{27F73184-47AD-95A2-B9A3-87592B91339C}"/>
              </a:ext>
            </a:extLst>
          </p:cNvPr>
          <p:cNvCxnSpPr/>
          <p:nvPr/>
        </p:nvCxnSpPr>
        <p:spPr>
          <a:xfrm flipV="1">
            <a:off x="609600" y="4384425"/>
            <a:ext cx="807959" cy="70827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47AB0E1-A864-1C78-949D-C3D3B53B5B1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726E438-0BA9-1E2C-6CEC-030A23B91F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64628"/>
            <a:ext cx="1417559" cy="1303240"/>
          </a:xfrm>
          <a:prstGeom prst="rect">
            <a:avLst/>
          </a:prstGeom>
        </p:spPr>
      </p:pic>
      <p:pic>
        <p:nvPicPr>
          <p:cNvPr id="5" name="Picture 4">
            <a:extLst>
              <a:ext uri="{FF2B5EF4-FFF2-40B4-BE49-F238E27FC236}">
                <a16:creationId xmlns:a16="http://schemas.microsoft.com/office/drawing/2014/main" id="{230241B8-89A3-F315-24F5-40CE6FAE87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pic>
        <p:nvPicPr>
          <p:cNvPr id="8" name="Picture 7">
            <a:extLst>
              <a:ext uri="{FF2B5EF4-FFF2-40B4-BE49-F238E27FC236}">
                <a16:creationId xmlns:a16="http://schemas.microsoft.com/office/drawing/2014/main" id="{967A4D4F-891A-6228-C615-BBD5E5844EEE}"/>
              </a:ext>
            </a:extLst>
          </p:cNvPr>
          <p:cNvPicPr>
            <a:picLocks noChangeAspect="1"/>
          </p:cNvPicPr>
          <p:nvPr/>
        </p:nvPicPr>
        <p:blipFill>
          <a:blip r:embed="rId4"/>
          <a:stretch>
            <a:fillRect/>
          </a:stretch>
        </p:blipFill>
        <p:spPr>
          <a:xfrm>
            <a:off x="1" y="1381125"/>
            <a:ext cx="12191728" cy="3564747"/>
          </a:xfrm>
          <a:prstGeom prst="rect">
            <a:avLst/>
          </a:prstGeom>
        </p:spPr>
      </p:pic>
      <p:sp>
        <p:nvSpPr>
          <p:cNvPr id="10" name="TextBox 9">
            <a:extLst>
              <a:ext uri="{FF2B5EF4-FFF2-40B4-BE49-F238E27FC236}">
                <a16:creationId xmlns:a16="http://schemas.microsoft.com/office/drawing/2014/main" id="{582CE537-C24C-4212-CAE2-7FB061B3C0C8}"/>
              </a:ext>
            </a:extLst>
          </p:cNvPr>
          <p:cNvSpPr txBox="1"/>
          <p:nvPr/>
        </p:nvSpPr>
        <p:spPr>
          <a:xfrm>
            <a:off x="-1" y="4945872"/>
            <a:ext cx="10201276" cy="1754326"/>
          </a:xfrm>
          <a:prstGeom prst="rect">
            <a:avLst/>
          </a:prstGeom>
          <a:noFill/>
        </p:spPr>
        <p:txBody>
          <a:bodyPr wrap="square">
            <a:spAutoFit/>
          </a:bodyPr>
          <a:lstStyle/>
          <a:p>
            <a:r>
              <a:rPr lang="en-US" dirty="0"/>
              <a:t>5- Invoices can be paid in full or partially through the payment vouchers.</a:t>
            </a:r>
          </a:p>
          <a:p>
            <a:r>
              <a:rPr lang="en-US" dirty="0"/>
              <a:t>6- The payment information can be manually filled or choose the vendor in the voucher and then choose “settle Transactions” and select the invoice that is needed to be paid, and the system will generate the information required to be filled.</a:t>
            </a:r>
          </a:p>
          <a:p>
            <a:r>
              <a:rPr lang="en-US" dirty="0"/>
              <a:t>7- This will open “Settle Open Transactions” screen from which to choose the invoice to be paid from the list of open invoices of the chosen vendor.</a:t>
            </a:r>
          </a:p>
        </p:txBody>
      </p:sp>
      <p:cxnSp>
        <p:nvCxnSpPr>
          <p:cNvPr id="12" name="Straight Arrow Connector 11">
            <a:extLst>
              <a:ext uri="{FF2B5EF4-FFF2-40B4-BE49-F238E27FC236}">
                <a16:creationId xmlns:a16="http://schemas.microsoft.com/office/drawing/2014/main" id="{C0615FAA-BF80-6E30-A95D-04A06A444063}"/>
              </a:ext>
            </a:extLst>
          </p:cNvPr>
          <p:cNvCxnSpPr/>
          <p:nvPr/>
        </p:nvCxnSpPr>
        <p:spPr>
          <a:xfrm flipV="1">
            <a:off x="5080000" y="4572000"/>
            <a:ext cx="1397000" cy="37387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3D4A1D1C-DF6F-9A4F-8C09-7BABE1F784C6}"/>
              </a:ext>
            </a:extLst>
          </p:cNvPr>
          <p:cNvCxnSpPr/>
          <p:nvPr/>
        </p:nvCxnSpPr>
        <p:spPr>
          <a:xfrm flipV="1">
            <a:off x="9144000" y="4635500"/>
            <a:ext cx="774700" cy="4064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458700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F9FE2DEC-F90B-0616-1CC1-1373F2B66B7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DEF1E76-AA4D-6929-5DC1-547D520CCD2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64628"/>
            <a:ext cx="1417559" cy="1303240"/>
          </a:xfrm>
          <a:prstGeom prst="rect">
            <a:avLst/>
          </a:prstGeom>
        </p:spPr>
      </p:pic>
      <p:pic>
        <p:nvPicPr>
          <p:cNvPr id="5" name="Picture 4">
            <a:extLst>
              <a:ext uri="{FF2B5EF4-FFF2-40B4-BE49-F238E27FC236}">
                <a16:creationId xmlns:a16="http://schemas.microsoft.com/office/drawing/2014/main" id="{5A718547-8D4F-AC6E-13DE-3A30702D27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pic>
        <p:nvPicPr>
          <p:cNvPr id="3" name="Picture 2">
            <a:extLst>
              <a:ext uri="{FF2B5EF4-FFF2-40B4-BE49-F238E27FC236}">
                <a16:creationId xmlns:a16="http://schemas.microsoft.com/office/drawing/2014/main" id="{6EA6E75B-7245-3FC5-D22E-3D453459F02E}"/>
              </a:ext>
            </a:extLst>
          </p:cNvPr>
          <p:cNvPicPr>
            <a:picLocks noGrp="1" noRot="1" noChangeAspect="1" noMove="1" noResize="1" noEditPoints="1" noAdjustHandles="1" noChangeArrowheads="1" noChangeShapeType="1" noCrop="1"/>
          </p:cNvPicPr>
          <p:nvPr/>
        </p:nvPicPr>
        <p:blipFill>
          <a:blip r:embed="rId4"/>
          <a:stretch>
            <a:fillRect/>
          </a:stretch>
        </p:blipFill>
        <p:spPr>
          <a:xfrm>
            <a:off x="0" y="1638301"/>
            <a:ext cx="12191728" cy="4019370"/>
          </a:xfrm>
          <a:prstGeom prst="rect">
            <a:avLst/>
          </a:prstGeom>
        </p:spPr>
      </p:pic>
      <p:sp>
        <p:nvSpPr>
          <p:cNvPr id="7" name="TextBox 6">
            <a:extLst>
              <a:ext uri="{FF2B5EF4-FFF2-40B4-BE49-F238E27FC236}">
                <a16:creationId xmlns:a16="http://schemas.microsoft.com/office/drawing/2014/main" id="{C72E601B-3646-441A-6F98-64EA2F11ECCD}"/>
              </a:ext>
            </a:extLst>
          </p:cNvPr>
          <p:cNvSpPr txBox="1"/>
          <p:nvPr/>
        </p:nvSpPr>
        <p:spPr>
          <a:xfrm>
            <a:off x="-136" y="5657671"/>
            <a:ext cx="6096000" cy="1200329"/>
          </a:xfrm>
          <a:prstGeom prst="rect">
            <a:avLst/>
          </a:prstGeom>
          <a:noFill/>
        </p:spPr>
        <p:txBody>
          <a:bodyPr wrap="square">
            <a:spAutoFit/>
          </a:bodyPr>
          <a:lstStyle/>
          <a:p>
            <a:r>
              <a:rPr lang="en-US" dirty="0"/>
              <a:t>8- Check the box in the “Mark” column to choose the invoice or several invoices.</a:t>
            </a:r>
          </a:p>
          <a:p>
            <a:r>
              <a:rPr lang="en-US" dirty="0"/>
              <a:t>9- withholding tax will be automatically calculated if you set the Calculate withholding tax checkbox to Yes in the vendor card.</a:t>
            </a:r>
          </a:p>
        </p:txBody>
      </p:sp>
      <p:cxnSp>
        <p:nvCxnSpPr>
          <p:cNvPr id="11" name="Straight Arrow Connector 10">
            <a:extLst>
              <a:ext uri="{FF2B5EF4-FFF2-40B4-BE49-F238E27FC236}">
                <a16:creationId xmlns:a16="http://schemas.microsoft.com/office/drawing/2014/main" id="{16920A5A-F0EE-FB22-8187-42137DD50D9A}"/>
              </a:ext>
            </a:extLst>
          </p:cNvPr>
          <p:cNvCxnSpPr/>
          <p:nvPr/>
        </p:nvCxnSpPr>
        <p:spPr>
          <a:xfrm flipV="1">
            <a:off x="520700" y="3136900"/>
            <a:ext cx="647700" cy="4191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2822475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0DC68D0-7BB5-ECA9-C1A6-9801A566CD0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FDDEB13-6401-07E5-910C-D991B9A0D7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64628"/>
            <a:ext cx="1417559" cy="1303240"/>
          </a:xfrm>
          <a:prstGeom prst="rect">
            <a:avLst/>
          </a:prstGeom>
        </p:spPr>
      </p:pic>
      <p:pic>
        <p:nvPicPr>
          <p:cNvPr id="5" name="Picture 4">
            <a:extLst>
              <a:ext uri="{FF2B5EF4-FFF2-40B4-BE49-F238E27FC236}">
                <a16:creationId xmlns:a16="http://schemas.microsoft.com/office/drawing/2014/main" id="{F6D23307-25F8-217B-B331-EC16AF95D1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sp>
        <p:nvSpPr>
          <p:cNvPr id="6" name="TextBox 5">
            <a:extLst>
              <a:ext uri="{FF2B5EF4-FFF2-40B4-BE49-F238E27FC236}">
                <a16:creationId xmlns:a16="http://schemas.microsoft.com/office/drawing/2014/main" id="{6F2B3C18-43F6-F028-6502-8A0FCD830607}"/>
              </a:ext>
            </a:extLst>
          </p:cNvPr>
          <p:cNvSpPr txBox="1"/>
          <p:nvPr/>
        </p:nvSpPr>
        <p:spPr>
          <a:xfrm>
            <a:off x="2143125" y="1419910"/>
            <a:ext cx="6096000" cy="646331"/>
          </a:xfrm>
          <a:prstGeom prst="rect">
            <a:avLst/>
          </a:prstGeom>
          <a:noFill/>
        </p:spPr>
        <p:txBody>
          <a:bodyPr wrap="square">
            <a:spAutoFit/>
          </a:bodyPr>
          <a:lstStyle/>
          <a:p>
            <a:r>
              <a:rPr lang="en-US" dirty="0"/>
              <a:t>10- Then user can choose the method of payment or chose offset account and post.</a:t>
            </a:r>
            <a:endParaRPr lang="ar-EG" dirty="0"/>
          </a:p>
        </p:txBody>
      </p:sp>
      <p:pic>
        <p:nvPicPr>
          <p:cNvPr id="9" name="Picture 8">
            <a:extLst>
              <a:ext uri="{FF2B5EF4-FFF2-40B4-BE49-F238E27FC236}">
                <a16:creationId xmlns:a16="http://schemas.microsoft.com/office/drawing/2014/main" id="{6DD043FF-96EA-FBFC-107C-E5E53FA27ED0}"/>
              </a:ext>
            </a:extLst>
          </p:cNvPr>
          <p:cNvPicPr>
            <a:picLocks noChangeAspect="1"/>
          </p:cNvPicPr>
          <p:nvPr/>
        </p:nvPicPr>
        <p:blipFill>
          <a:blip r:embed="rId4"/>
          <a:stretch>
            <a:fillRect/>
          </a:stretch>
        </p:blipFill>
        <p:spPr>
          <a:xfrm>
            <a:off x="0" y="2323975"/>
            <a:ext cx="10801350" cy="1790950"/>
          </a:xfrm>
          <a:prstGeom prst="rect">
            <a:avLst/>
          </a:prstGeom>
        </p:spPr>
      </p:pic>
      <p:cxnSp>
        <p:nvCxnSpPr>
          <p:cNvPr id="11" name="Straight Arrow Connector 10">
            <a:extLst>
              <a:ext uri="{FF2B5EF4-FFF2-40B4-BE49-F238E27FC236}">
                <a16:creationId xmlns:a16="http://schemas.microsoft.com/office/drawing/2014/main" id="{47F08401-6A8C-4864-101C-0259DB7B3441}"/>
              </a:ext>
            </a:extLst>
          </p:cNvPr>
          <p:cNvCxnSpPr/>
          <p:nvPr/>
        </p:nvCxnSpPr>
        <p:spPr>
          <a:xfrm flipV="1">
            <a:off x="4762500" y="3568700"/>
            <a:ext cx="927100" cy="4445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7195195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rot="10800000" flipV="1">
            <a:off x="838200" y="1690688"/>
            <a:ext cx="10515600" cy="3785552"/>
          </a:xfrm>
        </p:spPr>
        <p:txBody>
          <a:bodyPr>
            <a:normAutofit/>
          </a:bodyPr>
          <a:lstStyle/>
          <a:p>
            <a:pPr algn="ctr"/>
            <a:r>
              <a:rPr lang="en-GB" sz="6000" b="1" dirty="0">
                <a:solidFill>
                  <a:schemeClr val="tx2"/>
                </a:solidFill>
              </a:rPr>
              <a:t>Financial reports related to Vendor balances </a:t>
            </a:r>
            <a:endParaRPr lang="ar-EG" sz="6000" b="1" dirty="0">
              <a:solidFill>
                <a:schemeClr val="tx2"/>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68108"/>
            <a:ext cx="1417559" cy="1303240"/>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3"/>
          <p:cNvSpPr txBox="1"/>
          <p:nvPr/>
        </p:nvSpPr>
        <p:spPr>
          <a:xfrm>
            <a:off x="2670258" y="778957"/>
            <a:ext cx="6851483" cy="746760"/>
          </a:xfrm>
          <a:prstGeom prst="rect">
            <a:avLst/>
          </a:prstGeom>
        </p:spPr>
        <p:txBody>
          <a:bodyPr wrap="square" lIns="0" tIns="0" rIns="0" bIns="0" rtlCol="0" anchor="t">
            <a:spAutoFit/>
          </a:bodyPr>
          <a:lstStyle/>
          <a:p>
            <a:pPr algn="ctr">
              <a:lnSpc>
                <a:spcPts val="582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Vendor Transactions Report</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80" y="138898"/>
            <a:ext cx="1417559" cy="1303240"/>
          </a:xfrm>
          <a:prstGeom prst="rect">
            <a:avLst/>
          </a:prstGeom>
        </p:spPr>
      </p:pic>
      <p:pic>
        <p:nvPicPr>
          <p:cNvPr id="9" name="Picture 8"/>
          <p:cNvPicPr>
            <a:picLocks noChangeAspect="1"/>
          </p:cNvPicPr>
          <p:nvPr/>
        </p:nvPicPr>
        <p:blipFill>
          <a:blip r:embed="rId3"/>
          <a:stretch>
            <a:fillRect/>
          </a:stretch>
        </p:blipFill>
        <p:spPr>
          <a:xfrm>
            <a:off x="0" y="3095377"/>
            <a:ext cx="12192000" cy="3751230"/>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sp>
        <p:nvSpPr>
          <p:cNvPr id="3" name="TextBox 2">
            <a:extLst>
              <a:ext uri="{FF2B5EF4-FFF2-40B4-BE49-F238E27FC236}">
                <a16:creationId xmlns:a16="http://schemas.microsoft.com/office/drawing/2014/main" id="{34ABC051-D61F-6A88-4B5E-86159BB3D785}"/>
              </a:ext>
            </a:extLst>
          </p:cNvPr>
          <p:cNvSpPr txBox="1"/>
          <p:nvPr/>
        </p:nvSpPr>
        <p:spPr>
          <a:xfrm>
            <a:off x="0" y="1525717"/>
            <a:ext cx="7696200" cy="1569660"/>
          </a:xfrm>
          <a:prstGeom prst="rect">
            <a:avLst/>
          </a:prstGeom>
          <a:noFill/>
        </p:spPr>
        <p:txBody>
          <a:bodyPr wrap="square">
            <a:spAutoFit/>
          </a:bodyPr>
          <a:lstStyle/>
          <a:p>
            <a:r>
              <a:rPr lang="en-US" sz="2400" b="1" dirty="0">
                <a:solidFill>
                  <a:srgbClr val="002060"/>
                </a:solidFill>
              </a:rPr>
              <a:t>Form path</a:t>
            </a:r>
          </a:p>
          <a:p>
            <a:r>
              <a:rPr lang="en-US" b="1" dirty="0"/>
              <a:t>Accounts Payable → Inquiries → Vendor transaction</a:t>
            </a:r>
            <a:br>
              <a:rPr lang="en-US" b="1" dirty="0"/>
            </a:br>
            <a:r>
              <a:rPr lang="en-US" b="1" dirty="0"/>
              <a:t>Description</a:t>
            </a:r>
            <a:br>
              <a:rPr lang="en-US" b="1" dirty="0"/>
            </a:br>
            <a:r>
              <a:rPr lang="en-US" b="1" dirty="0"/>
              <a:t>This report display all financial transactions redated to vendors within a specific period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6" name="TextBox 3"/>
          <p:cNvSpPr txBox="1"/>
          <p:nvPr/>
        </p:nvSpPr>
        <p:spPr>
          <a:xfrm>
            <a:off x="2525486" y="538846"/>
            <a:ext cx="6851483" cy="746760"/>
          </a:xfrm>
          <a:prstGeom prst="rect">
            <a:avLst/>
          </a:prstGeom>
        </p:spPr>
        <p:txBody>
          <a:bodyPr wrap="square" lIns="0" tIns="0" rIns="0" bIns="0" rtlCol="0" anchor="t">
            <a:spAutoFit/>
          </a:bodyPr>
          <a:lstStyle/>
          <a:p>
            <a:pPr algn="ctr">
              <a:lnSpc>
                <a:spcPts val="582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Vendor balance list</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945" y="168743"/>
            <a:ext cx="1417559" cy="1303240"/>
          </a:xfrm>
          <a:prstGeom prst="rect">
            <a:avLst/>
          </a:prstGeom>
        </p:spPr>
      </p:pic>
      <p:pic>
        <p:nvPicPr>
          <p:cNvPr id="7" name="Picture 6"/>
          <p:cNvPicPr>
            <a:picLocks noChangeAspect="1"/>
          </p:cNvPicPr>
          <p:nvPr/>
        </p:nvPicPr>
        <p:blipFill>
          <a:blip r:embed="rId3"/>
          <a:stretch>
            <a:fillRect/>
          </a:stretch>
        </p:blipFill>
        <p:spPr>
          <a:xfrm>
            <a:off x="0" y="2832020"/>
            <a:ext cx="12192000" cy="4025980"/>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sp>
        <p:nvSpPr>
          <p:cNvPr id="10" name="TextBox 9">
            <a:extLst>
              <a:ext uri="{FF2B5EF4-FFF2-40B4-BE49-F238E27FC236}">
                <a16:creationId xmlns:a16="http://schemas.microsoft.com/office/drawing/2014/main" id="{BDCDBE4C-C7CF-C941-FBA7-437FF6759274}"/>
              </a:ext>
            </a:extLst>
          </p:cNvPr>
          <p:cNvSpPr txBox="1"/>
          <p:nvPr/>
        </p:nvSpPr>
        <p:spPr>
          <a:xfrm>
            <a:off x="67944" y="1600914"/>
            <a:ext cx="6256655" cy="1231106"/>
          </a:xfrm>
          <a:prstGeom prst="rect">
            <a:avLst/>
          </a:prstGeom>
          <a:noFill/>
        </p:spPr>
        <p:txBody>
          <a:bodyPr wrap="square">
            <a:spAutoFit/>
          </a:bodyPr>
          <a:lstStyle/>
          <a:p>
            <a:r>
              <a:rPr lang="en-US" sz="2000" b="1" dirty="0">
                <a:solidFill>
                  <a:srgbClr val="002060"/>
                </a:solidFill>
              </a:rPr>
              <a:t>Form path</a:t>
            </a:r>
          </a:p>
          <a:p>
            <a:r>
              <a:rPr lang="en-US" b="1" dirty="0"/>
              <a:t>Accounts Payable → Inquiries → Vendor Balance</a:t>
            </a:r>
            <a:br>
              <a:rPr lang="en-US" b="1" dirty="0"/>
            </a:br>
            <a:r>
              <a:rPr lang="en-US" b="1" dirty="0"/>
              <a:t>Description</a:t>
            </a:r>
            <a:br>
              <a:rPr lang="en-US" b="1" dirty="0"/>
            </a:br>
            <a:r>
              <a:rPr lang="en-US" b="1" dirty="0"/>
              <a:t>This report shows the balance owed to each Vendor</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p:cNvSpPr txBox="1"/>
          <p:nvPr/>
        </p:nvSpPr>
        <p:spPr>
          <a:xfrm>
            <a:off x="918342" y="778957"/>
            <a:ext cx="10337103" cy="815975"/>
          </a:xfrm>
          <a:prstGeom prst="rect">
            <a:avLst/>
          </a:prstGeom>
        </p:spPr>
        <p:txBody>
          <a:bodyPr lIns="0" tIns="0" rIns="0" bIns="0" rtlCol="0" anchor="t">
            <a:spAutoFit/>
          </a:bodyPr>
          <a:lstStyle/>
          <a:p>
            <a:pPr algn="ctr">
              <a:lnSpc>
                <a:spcPts val="6365"/>
              </a:lnSpc>
            </a:pPr>
            <a:r>
              <a:rPr lang="en-US" sz="3600" b="1" dirty="0">
                <a:solidFill>
                  <a:schemeClr val="tx2"/>
                </a:solidFill>
                <a:latin typeface="Arial" panose="020B0604020202020204" pitchFamily="34" charset="0"/>
                <a:ea typeface="Bright Retro"/>
                <a:cs typeface="Arial" panose="020B0604020202020204" pitchFamily="34" charset="0"/>
                <a:sym typeface="Bright Retro"/>
              </a:rPr>
              <a:t>Vendor Aging Report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10323"/>
            <a:ext cx="1417559" cy="1303240"/>
          </a:xfrm>
          <a:prstGeom prst="rect">
            <a:avLst/>
          </a:prstGeom>
        </p:spPr>
      </p:pic>
      <p:pic>
        <p:nvPicPr>
          <p:cNvPr id="7" name="Picture 6"/>
          <p:cNvPicPr>
            <a:picLocks noChangeAspect="1"/>
          </p:cNvPicPr>
          <p:nvPr/>
        </p:nvPicPr>
        <p:blipFill>
          <a:blip r:embed="rId3"/>
          <a:stretch>
            <a:fillRect/>
          </a:stretch>
        </p:blipFill>
        <p:spPr>
          <a:xfrm>
            <a:off x="0" y="2832020"/>
            <a:ext cx="12192000" cy="4033276"/>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16952" y="-24235"/>
            <a:ext cx="1774776" cy="693347"/>
          </a:xfrm>
          <a:prstGeom prst="rect">
            <a:avLst/>
          </a:prstGeom>
        </p:spPr>
      </p:pic>
      <p:sp>
        <p:nvSpPr>
          <p:cNvPr id="2" name="TextBox 1">
            <a:extLst>
              <a:ext uri="{FF2B5EF4-FFF2-40B4-BE49-F238E27FC236}">
                <a16:creationId xmlns:a16="http://schemas.microsoft.com/office/drawing/2014/main" id="{044CEA2F-D205-DF44-CB11-A08181786716}"/>
              </a:ext>
            </a:extLst>
          </p:cNvPr>
          <p:cNvSpPr txBox="1"/>
          <p:nvPr/>
        </p:nvSpPr>
        <p:spPr>
          <a:xfrm>
            <a:off x="67944" y="1600914"/>
            <a:ext cx="6256655" cy="1231106"/>
          </a:xfrm>
          <a:prstGeom prst="rect">
            <a:avLst/>
          </a:prstGeom>
          <a:noFill/>
        </p:spPr>
        <p:txBody>
          <a:bodyPr wrap="square">
            <a:spAutoFit/>
          </a:bodyPr>
          <a:lstStyle/>
          <a:p>
            <a:r>
              <a:rPr lang="en-US" sz="2000" b="1" dirty="0">
                <a:solidFill>
                  <a:srgbClr val="002060"/>
                </a:solidFill>
              </a:rPr>
              <a:t>Form path</a:t>
            </a:r>
          </a:p>
          <a:p>
            <a:r>
              <a:rPr lang="en-US" b="1" dirty="0"/>
              <a:t>Accounts Payable → Inquiries → Vendor aging report</a:t>
            </a:r>
            <a:br>
              <a:rPr lang="en-US" b="1" dirty="0"/>
            </a:br>
            <a:r>
              <a:rPr lang="en-US" b="1" dirty="0"/>
              <a:t>Description</a:t>
            </a:r>
            <a:br>
              <a:rPr lang="en-US" b="1" dirty="0"/>
            </a:br>
            <a:r>
              <a:rPr lang="en-US" b="1" dirty="0"/>
              <a:t>Shows vendor aging balances classified based on aging periods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6365" y="-229"/>
            <a:ext cx="1417559" cy="1303240"/>
          </a:xfrm>
          <a:prstGeom prst="rect">
            <a:avLst/>
          </a:prstGeom>
        </p:spPr>
      </p:pic>
      <p:sp>
        <p:nvSpPr>
          <p:cNvPr id="3" name="Title 1"/>
          <p:cNvSpPr txBox="1"/>
          <p:nvPr/>
        </p:nvSpPr>
        <p:spPr>
          <a:xfrm>
            <a:off x="277793" y="1458410"/>
            <a:ext cx="11771454" cy="5399591"/>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ln w="0"/>
                <a:solidFill>
                  <a:schemeClr val="accent5">
                    <a:lumMod val="50000"/>
                  </a:schemeClr>
                </a:solidFill>
                <a:effectLst>
                  <a:outerShdw blurRad="38100" dist="19050" dir="2700000" algn="tl" rotWithShape="0">
                    <a:schemeClr val="dk1">
                      <a:alpha val="40000"/>
                    </a:schemeClr>
                  </a:outerShdw>
                </a:effectLst>
                <a:latin typeface="Aharoni" panose="020F0502020204030204" pitchFamily="2" charset="-79"/>
                <a:cs typeface="Aharoni" panose="020F0502020204030204" pitchFamily="2" charset="-79"/>
              </a:rPr>
              <a:t>Conclusion</a:t>
            </a:r>
          </a:p>
          <a:p>
            <a:r>
              <a:rPr lang="en-US" sz="2400" b="1" dirty="0">
                <a:solidFill>
                  <a:schemeClr val="tx2"/>
                </a:solidFill>
                <a:latin typeface="Aharoni" panose="020F0502020204030204" pitchFamily="2" charset="-79"/>
                <a:cs typeface="Aharoni" panose="020F0502020204030204" pitchFamily="2" charset="-79"/>
              </a:rPr>
              <a:t>Project Summary:</a:t>
            </a:r>
            <a:br>
              <a:rPr lang="en-US" sz="2000" b="1" dirty="0"/>
            </a:br>
            <a:r>
              <a:rPr lang="en-US" sz="2000" b="1" dirty="0">
                <a:ln w="0"/>
                <a:solidFill>
                  <a:schemeClr val="tx1"/>
                </a:solidFill>
                <a:effectLst>
                  <a:outerShdw blurRad="38100" dist="25400" dir="5400000" algn="ctr" rotWithShape="0">
                    <a:srgbClr val="6E747A">
                      <a:alpha val="43000"/>
                    </a:srgbClr>
                  </a:outerShdw>
                </a:effectLst>
                <a:latin typeface="Arial Narrow" panose="020B0606020202030204" charset="0"/>
                <a:cs typeface="Arial Narrow" panose="020B0606020202030204" charset="0"/>
              </a:rPr>
              <a:t>The Accounts Payable Implementation Project in Microsoft Dynamics 365 Finance successfully established a structured and automated AP process, covering vendor setup, invoice management, payment processing, and reporting.</a:t>
            </a:r>
            <a:endParaRPr lang="en-US" sz="2000" b="1" dirty="0">
              <a:ln w="0"/>
              <a:solidFill>
                <a:schemeClr val="accent1"/>
              </a:solidFill>
              <a:effectLst>
                <a:outerShdw blurRad="38100" dist="25400" dir="5400000" algn="ctr" rotWithShape="0">
                  <a:srgbClr val="6E747A">
                    <a:alpha val="43000"/>
                  </a:srgbClr>
                </a:outerShdw>
              </a:effectLst>
            </a:endParaRPr>
          </a:p>
          <a:p>
            <a:endParaRPr lang="en-US" sz="2000" b="1" dirty="0"/>
          </a:p>
          <a:p>
            <a:r>
              <a:rPr lang="en-US" sz="2400" b="1" dirty="0">
                <a:solidFill>
                  <a:schemeClr val="tx2"/>
                </a:solidFill>
                <a:latin typeface="Aharoni" panose="020F0502020204030204" pitchFamily="2" charset="-79"/>
                <a:cs typeface="Aharoni" panose="020F0502020204030204" pitchFamily="2" charset="-79"/>
              </a:rPr>
              <a:t>Key Achievements:</a:t>
            </a:r>
          </a:p>
          <a:p>
            <a:r>
              <a:rPr lang="en-US" sz="2000" b="1" dirty="0">
                <a:ln w="0"/>
                <a:solidFill>
                  <a:schemeClr val="tx1"/>
                </a:solidFill>
                <a:effectLst>
                  <a:outerShdw blurRad="38100" dist="25400" dir="5400000" algn="ctr" rotWithShape="0">
                    <a:srgbClr val="6E747A">
                      <a:alpha val="43000"/>
                    </a:srgbClr>
                  </a:outerShdw>
                </a:effectLst>
                <a:latin typeface="Arial Narrow" panose="020B0606020202030204" charset="0"/>
                <a:cs typeface="Arial Narrow" panose="020B0606020202030204" charset="0"/>
              </a:rPr>
              <a:t>Configured legal entities, vendor groups, and posting profiles for accurate financial transactions. </a:t>
            </a:r>
          </a:p>
          <a:p>
            <a:r>
              <a:rPr lang="en-US" sz="2000" b="1" dirty="0">
                <a:ln w="0"/>
                <a:solidFill>
                  <a:schemeClr val="tx1"/>
                </a:solidFill>
                <a:effectLst>
                  <a:outerShdw blurRad="38100" dist="25400" dir="5400000" algn="ctr" rotWithShape="0">
                    <a:srgbClr val="6E747A">
                      <a:alpha val="43000"/>
                    </a:srgbClr>
                  </a:outerShdw>
                </a:effectLst>
                <a:latin typeface="Arial Narrow" panose="020B0606020202030204" charset="0"/>
                <a:cs typeface="Arial Narrow" panose="020B0606020202030204" charset="0"/>
              </a:rPr>
              <a:t>Streamlined invoice journals, settlement processes, and payment methods for operational efficiency. </a:t>
            </a:r>
          </a:p>
          <a:p>
            <a:r>
              <a:rPr lang="en-US" sz="2000" b="1" dirty="0">
                <a:ln w="0"/>
                <a:solidFill>
                  <a:schemeClr val="tx1"/>
                </a:solidFill>
                <a:effectLst>
                  <a:outerShdw blurRad="38100" dist="25400" dir="5400000" algn="ctr" rotWithShape="0">
                    <a:srgbClr val="6E747A">
                      <a:alpha val="43000"/>
                    </a:srgbClr>
                  </a:outerShdw>
                </a:effectLst>
                <a:latin typeface="Arial Narrow" panose="020B0606020202030204" charset="0"/>
                <a:cs typeface="Arial Narrow" panose="020B0606020202030204" charset="0"/>
              </a:rPr>
              <a:t>Implemented payment schedules, terms of payment, and cash discounts to optimize cash flow. </a:t>
            </a:r>
          </a:p>
          <a:p>
            <a:r>
              <a:rPr lang="en-US" sz="2000" b="1" dirty="0">
                <a:ln w="0"/>
                <a:solidFill>
                  <a:schemeClr val="tx1"/>
                </a:solidFill>
                <a:effectLst>
                  <a:outerShdw blurRad="38100" dist="25400" dir="5400000" algn="ctr" rotWithShape="0">
                    <a:srgbClr val="6E747A">
                      <a:alpha val="43000"/>
                    </a:srgbClr>
                  </a:outerShdw>
                </a:effectLst>
                <a:latin typeface="Arial Narrow" panose="020B0606020202030204" charset="0"/>
                <a:cs typeface="Arial Narrow" panose="020B0606020202030204" charset="0"/>
              </a:rPr>
              <a:t>Generated vendor reports and aging analysis to enhance monitoring and decision-making. </a:t>
            </a:r>
          </a:p>
          <a:p>
            <a:endParaRPr lang="en-US" sz="2000" b="1" dirty="0"/>
          </a:p>
          <a:p>
            <a:r>
              <a:rPr lang="en-US" sz="2400" b="1" dirty="0">
                <a:solidFill>
                  <a:schemeClr val="tx2"/>
                </a:solidFill>
                <a:latin typeface="Aharoni" panose="020F0502020204030204" pitchFamily="2" charset="-79"/>
                <a:cs typeface="Aharoni" panose="020F0502020204030204" pitchFamily="2" charset="-79"/>
              </a:rPr>
              <a:t>Benefits Realized:</a:t>
            </a:r>
          </a:p>
          <a:p>
            <a:r>
              <a:rPr lang="en-US" sz="2000" b="1" dirty="0">
                <a:ln w="0"/>
                <a:solidFill>
                  <a:schemeClr val="tx1"/>
                </a:solidFill>
                <a:effectLst>
                  <a:outerShdw blurRad="38100" dist="25400" dir="5400000" algn="ctr" rotWithShape="0">
                    <a:srgbClr val="6E747A">
                      <a:alpha val="43000"/>
                    </a:srgbClr>
                  </a:outerShdw>
                </a:effectLst>
                <a:latin typeface="Arial Narrow" panose="020B0606020202030204" charset="0"/>
                <a:cs typeface="Arial Narrow" panose="020B0606020202030204" charset="0"/>
              </a:rPr>
              <a:t>Improved accuracy and consistency in vendor transactions. </a:t>
            </a:r>
          </a:p>
          <a:p>
            <a:r>
              <a:rPr lang="en-US" sz="2000" b="1" dirty="0">
                <a:ln w="0"/>
                <a:solidFill>
                  <a:schemeClr val="tx1"/>
                </a:solidFill>
                <a:effectLst>
                  <a:outerShdw blurRad="38100" dist="25400" dir="5400000" algn="ctr" rotWithShape="0">
                    <a:srgbClr val="6E747A">
                      <a:alpha val="43000"/>
                    </a:srgbClr>
                  </a:outerShdw>
                </a:effectLst>
                <a:latin typeface="Arial Narrow" panose="020B0606020202030204" charset="0"/>
                <a:cs typeface="Arial Narrow" panose="020B0606020202030204" charset="0"/>
              </a:rPr>
              <a:t>Enhanced control and compliance with financial policies. </a:t>
            </a:r>
          </a:p>
          <a:p>
            <a:r>
              <a:rPr lang="en-US" sz="2000" b="1" dirty="0">
                <a:ln w="0"/>
                <a:solidFill>
                  <a:schemeClr val="tx1"/>
                </a:solidFill>
                <a:effectLst>
                  <a:outerShdw blurRad="38100" dist="25400" dir="5400000" algn="ctr" rotWithShape="0">
                    <a:srgbClr val="6E747A">
                      <a:alpha val="43000"/>
                    </a:srgbClr>
                  </a:outerShdw>
                </a:effectLst>
                <a:latin typeface="Arial Narrow" panose="020B0606020202030204" charset="0"/>
                <a:cs typeface="Arial Narrow" panose="020B0606020202030204" charset="0"/>
              </a:rPr>
              <a:t>Increased efficiency in accounts payable processing. </a:t>
            </a:r>
          </a:p>
          <a:p>
            <a:r>
              <a:rPr lang="en-US" sz="2000" b="1" dirty="0">
                <a:ln w="0"/>
                <a:solidFill>
                  <a:schemeClr val="tx1"/>
                </a:solidFill>
                <a:effectLst>
                  <a:outerShdw blurRad="38100" dist="25400" dir="5400000" algn="ctr" rotWithShape="0">
                    <a:srgbClr val="6E747A">
                      <a:alpha val="43000"/>
                    </a:srgbClr>
                  </a:outerShdw>
                </a:effectLst>
                <a:latin typeface="Arial Narrow" panose="020B0606020202030204" charset="0"/>
                <a:cs typeface="Arial Narrow" panose="020B0606020202030204" charset="0"/>
              </a:rPr>
              <a:t>Better visibility into outstanding liabilities and cash management.</a:t>
            </a:r>
            <a:r>
              <a:rPr lang="en-US" sz="2000" b="1" dirty="0">
                <a:ln w="0"/>
                <a:solidFill>
                  <a:schemeClr val="accent1"/>
                </a:solidFill>
                <a:effectLst>
                  <a:outerShdw blurRad="38100" dist="25400" dir="5400000" algn="ctr" rotWithShape="0">
                    <a:srgbClr val="6E747A">
                      <a:alpha val="43000"/>
                    </a:srgbClr>
                  </a:outerShdw>
                </a:effectLst>
              </a:rPr>
              <a:t> </a:t>
            </a:r>
          </a:p>
          <a:p>
            <a:endParaRPr lang="en-US" sz="2000" b="1" dirty="0">
              <a:ln w="0"/>
              <a:solidFill>
                <a:schemeClr val="accent1"/>
              </a:solidFill>
              <a:effectLst>
                <a:outerShdw blurRad="38100" dist="25400" dir="5400000" algn="ctr" rotWithShape="0">
                  <a:srgbClr val="6E747A">
                    <a:alpha val="43000"/>
                  </a:srgbClr>
                </a:outerShdw>
              </a:effectLst>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6952" y="-105"/>
            <a:ext cx="1774776" cy="693347"/>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gradFill>
          <a:gsLst>
            <a:gs pos="62678">
              <a:srgbClr val="BBCEE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p:cNvSpPr txBox="1"/>
          <p:nvPr/>
        </p:nvSpPr>
        <p:spPr>
          <a:xfrm>
            <a:off x="3334657" y="1047007"/>
            <a:ext cx="5868365" cy="4008085"/>
          </a:xfrm>
          <a:prstGeom prst="rect">
            <a:avLst/>
          </a:prstGeom>
          <a:noFill/>
        </p:spPr>
        <p:txBody>
          <a:bodyPr wrap="square">
            <a:spAutoFit/>
          </a:bodyPr>
          <a:lstStyle/>
          <a:p>
            <a:pPr algn="ctr">
              <a:lnSpc>
                <a:spcPts val="16000"/>
              </a:lnSpc>
            </a:pPr>
            <a:r>
              <a:rPr lang="en-US" sz="9600" dirty="0">
                <a:solidFill>
                  <a:schemeClr val="tx2"/>
                </a:solidFill>
                <a:latin typeface="Bright Retro"/>
                <a:ea typeface="Bright Retro"/>
                <a:cs typeface="Bright Retro"/>
                <a:sym typeface="Bright Retro"/>
              </a:rPr>
              <a:t>Thank </a:t>
            </a:r>
          </a:p>
          <a:p>
            <a:pPr algn="ctr">
              <a:lnSpc>
                <a:spcPts val="16000"/>
              </a:lnSpc>
            </a:pPr>
            <a:r>
              <a:rPr lang="en-US" sz="9600" dirty="0">
                <a:solidFill>
                  <a:schemeClr val="tx2"/>
                </a:solidFill>
                <a:latin typeface="Bright Retro"/>
                <a:ea typeface="Bright Retro"/>
                <a:cs typeface="Bright Retro"/>
                <a:sym typeface="Bright Retro"/>
              </a:rPr>
              <a:t>You!</a:t>
            </a:r>
          </a:p>
        </p:txBody>
      </p:sp>
      <p:pic>
        <p:nvPicPr>
          <p:cNvPr id="2" name="Picture 1"/>
          <p:cNvPicPr>
            <a:picLocks noChangeAspect="1"/>
          </p:cNvPicPr>
          <p:nvPr/>
        </p:nvPicPr>
        <p:blipFill>
          <a:blip r:embed="rId2"/>
          <a:stretch>
            <a:fillRect/>
          </a:stretch>
        </p:blipFill>
        <p:spPr>
          <a:xfrm>
            <a:off x="4180959" y="5458568"/>
            <a:ext cx="4175760" cy="70485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1920" y="380063"/>
            <a:ext cx="1586664" cy="797789"/>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200" y="264628"/>
            <a:ext cx="1417559" cy="1303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 calcmode="lin" valueType="num">
                                      <p:cBhvr>
                                        <p:cTn id="12"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475</TotalTime>
  <Words>2835</Words>
  <Application>Microsoft Office PowerPoint</Application>
  <PresentationFormat>Widescreen</PresentationFormat>
  <Paragraphs>337</Paragraphs>
  <Slides>54</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54</vt:i4>
      </vt:variant>
    </vt:vector>
  </HeadingPairs>
  <TitlesOfParts>
    <vt:vector size="65" baseType="lpstr">
      <vt:lpstr>Aharoni</vt:lpstr>
      <vt:lpstr>Algerian</vt:lpstr>
      <vt:lpstr>Arial</vt:lpstr>
      <vt:lpstr>Arial Narrow</vt:lpstr>
      <vt:lpstr>Bright Retro</vt:lpstr>
      <vt:lpstr>Calibri</vt:lpstr>
      <vt:lpstr>Calibri Light</vt:lpstr>
      <vt:lpstr>Kulachat Slab</vt:lpstr>
      <vt:lpstr>Segoe UI</vt:lpstr>
      <vt:lpstr>Wingdings</vt:lpstr>
      <vt:lpstr>Office Theme</vt:lpstr>
      <vt:lpstr>Accounts Payable Implementation Project  Microsoft Dynamics 365 Finance</vt:lpstr>
      <vt:lpstr> Team Members </vt:lpstr>
      <vt:lpstr>Introduction</vt:lpstr>
      <vt:lpstr> Project Overview</vt:lpstr>
      <vt:lpstr>Client Requirements  </vt:lpstr>
      <vt:lpstr>Company Financial Setup Legal entities  The first step is to create a new Legal Entity containing the company name, country, and company data.  </vt:lpstr>
      <vt:lpstr>General Ledger Setup  Financial Setup </vt:lpstr>
      <vt:lpstr>Charts of accounts</vt:lpstr>
      <vt:lpstr>•  Create the main accounts in the chart of accounts.</vt:lpstr>
      <vt:lpstr> </vt:lpstr>
      <vt:lpstr> </vt:lpstr>
      <vt:lpstr>Financial Dimensions</vt:lpstr>
      <vt:lpstr>Financial Dimensions</vt:lpstr>
      <vt:lpstr>Financial Dimensions</vt:lpstr>
      <vt:lpstr>Financial dimensions</vt:lpstr>
      <vt:lpstr>Fiscal Calendar </vt:lpstr>
      <vt:lpstr>* We will create fiscal calendar start in 1/1 and end in 31/12</vt:lpstr>
      <vt:lpstr>Screen Information:</vt:lpstr>
      <vt:lpstr>Configure Account Structures.</vt:lpstr>
      <vt:lpstr>Configure account structures</vt:lpstr>
      <vt:lpstr>Currency Exchange Rate</vt:lpstr>
      <vt:lpstr>Currency Exchange Rate</vt:lpstr>
      <vt:lpstr>Journal Names</vt:lpstr>
      <vt:lpstr>Journal Names</vt:lpstr>
      <vt:lpstr>Account Payable</vt:lpstr>
      <vt:lpstr>Vendor Groups</vt:lpstr>
      <vt:lpstr>Vendor Groups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Financial reports related to Vendor balances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Samir Abdelazim</dc:creator>
  <cp:lastModifiedBy>Belal Hassan Saber</cp:lastModifiedBy>
  <cp:revision>49</cp:revision>
  <dcterms:created xsi:type="dcterms:W3CDTF">2025-11-21T17:27:00Z</dcterms:created>
  <dcterms:modified xsi:type="dcterms:W3CDTF">2026-04-01T08:25:13Z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29BAA9B3FF1E4433A125764BF546201D_12</vt:lpwstr>
  </property>
  <property fmtid="{D5CDD505-2E9C-101B-9397-08002B2CF9AE}" pid="3" name="KSOProductBuildVer">
    <vt:lpwstr>1033-12.2.0.23196</vt:lpwstr>
  </property>
</Properties>
</file>