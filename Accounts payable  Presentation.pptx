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57"/>
  </p:notesMasterIdLst>
  <p:sldIdLst>
    <p:sldId id="256" r:id="rId2"/>
    <p:sldId id="257" r:id="rId3"/>
    <p:sldId id="258" r:id="rId4"/>
    <p:sldId id="259" r:id="rId5"/>
    <p:sldId id="260" r:id="rId6"/>
    <p:sldId id="291" r:id="rId7"/>
    <p:sldId id="275" r:id="rId8"/>
    <p:sldId id="292" r:id="rId9"/>
    <p:sldId id="277" r:id="rId10"/>
    <p:sldId id="293" r:id="rId11"/>
    <p:sldId id="294" r:id="rId12"/>
    <p:sldId id="295" r:id="rId13"/>
    <p:sldId id="296" r:id="rId14"/>
    <p:sldId id="297" r:id="rId15"/>
    <p:sldId id="281" r:id="rId16"/>
    <p:sldId id="298" r:id="rId17"/>
    <p:sldId id="299" r:id="rId18"/>
    <p:sldId id="300" r:id="rId19"/>
    <p:sldId id="301" r:id="rId20"/>
    <p:sldId id="288" r:id="rId21"/>
    <p:sldId id="303" r:id="rId22"/>
    <p:sldId id="305" r:id="rId23"/>
    <p:sldId id="325" r:id="rId24"/>
    <p:sldId id="306" r:id="rId25"/>
    <p:sldId id="307" r:id="rId26"/>
    <p:sldId id="286" r:id="rId27"/>
    <p:sldId id="261" r:id="rId28"/>
    <p:sldId id="309" r:id="rId29"/>
    <p:sldId id="267" r:id="rId30"/>
    <p:sldId id="311" r:id="rId31"/>
    <p:sldId id="312" r:id="rId32"/>
    <p:sldId id="313" r:id="rId33"/>
    <p:sldId id="314" r:id="rId34"/>
    <p:sldId id="262" r:id="rId35"/>
    <p:sldId id="315" r:id="rId36"/>
    <p:sldId id="316" r:id="rId37"/>
    <p:sldId id="319" r:id="rId38"/>
    <p:sldId id="317" r:id="rId39"/>
    <p:sldId id="318" r:id="rId40"/>
    <p:sldId id="264" r:id="rId41"/>
    <p:sldId id="265" r:id="rId42"/>
    <p:sldId id="266" r:id="rId43"/>
    <p:sldId id="320" r:id="rId44"/>
    <p:sldId id="269" r:id="rId45"/>
    <p:sldId id="321" r:id="rId46"/>
    <p:sldId id="270" r:id="rId47"/>
    <p:sldId id="322" r:id="rId48"/>
    <p:sldId id="323" r:id="rId49"/>
    <p:sldId id="324" r:id="rId50"/>
    <p:sldId id="271" r:id="rId51"/>
    <p:sldId id="272" r:id="rId52"/>
    <p:sldId id="283" r:id="rId53"/>
    <p:sldId id="273" r:id="rId54"/>
    <p:sldId id="289" r:id="rId55"/>
    <p:sldId id="274" r:id="rId56"/>
  </p:sldIdLst>
  <p:sldSz cx="12192000" cy="6858000"/>
  <p:notesSz cx="6858000" cy="9144000"/>
  <p:defaultTextStyle>
    <a:defPPr>
      <a:defRPr lang="ar-EG"/>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5603" autoAdjust="0"/>
  </p:normalViewPr>
  <p:slideViewPr>
    <p:cSldViewPr snapToGrid="0">
      <p:cViewPr varScale="1">
        <p:scale>
          <a:sx n="92" d="100"/>
          <a:sy n="92" d="100"/>
        </p:scale>
        <p:origin x="672"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tableStyles" Target="tableStyle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s>
</file>

<file path=ppt/diagrams/colors1.xml><?xml version="1.0" encoding="utf-8"?>
<dgm:colorsDef xmlns:dgm="http://schemas.openxmlformats.org/drawingml/2006/diagram" xmlns:a="http://schemas.openxmlformats.org/drawingml/2006/main" uniqueId="urn:microsoft.com/office/officeart/2005/8/colors/accent1_4#1">
  <dgm:title val=""/>
  <dgm:desc val=""/>
  <dgm:catLst>
    <dgm:cat type="accent1" pri="11400"/>
  </dgm:catLst>
  <dgm:styleLbl name="align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align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align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alignNode1">
    <dgm:fillClrLst meth="cycle">
      <a:schemeClr val="accent1">
        <a:shade val="50000"/>
      </a:schemeClr>
      <a:schemeClr val="accent1">
        <a:tint val="55000"/>
      </a:schemeClr>
    </dgm:fillClrLst>
    <dgm:linClrLst meth="cycle">
      <a:schemeClr val="accent1">
        <a:shade val="50000"/>
      </a:schemeClr>
      <a:schemeClr val="accent1">
        <a:tint val="55000"/>
      </a:schemeClr>
    </dgm:linClrLst>
    <dgm:effectClrLst/>
    <dgm:txLinClrLst/>
    <dgm:txFillClrLst/>
    <dgm:txEffectClrLst/>
  </dgm:styleLbl>
  <dgm:styleLbl name="asst0">
    <dgm:fillClrLst meth="repeat">
      <a:schemeClr val="accent1">
        <a:shade val="80000"/>
      </a:schemeClr>
    </dgm:fillClrLst>
    <dgm:linClrLst meth="repeat">
      <a:schemeClr val="lt1"/>
    </dgm:linClrLst>
    <dgm:effectClrLst/>
    <dgm:txLinClrLst/>
    <dgm:txFillClrLst/>
    <dgm:txEffectClrLst/>
  </dgm:styleLbl>
  <dgm:styleLbl name="asst1">
    <dgm:fillClrLst meth="repeat">
      <a:schemeClr val="accent1">
        <a:shade val="80000"/>
      </a:schemeClr>
    </dgm:fillClrLst>
    <dgm:linClrLst meth="repeat">
      <a:schemeClr val="lt1"/>
    </dgm:linClrLst>
    <dgm:effectClrLst/>
    <dgm:txLinClrLst/>
    <dgm:txFillClrLst/>
    <dgm:txEffectClrLst/>
  </dgm:styleLbl>
  <dgm:styleLbl name="asst2">
    <dgm:fillClrLst>
      <a:schemeClr val="accent1">
        <a:tint val="90000"/>
      </a:schemeClr>
    </dgm:fillClrLst>
    <dgm:linClrLst meth="repeat">
      <a:schemeClr val="lt1"/>
    </dgm:linClrLst>
    <dgm:effectClrLst/>
    <dgm:txLinClrLst/>
    <dgm:txFillClrLst/>
    <dgm:txEffectClrLst/>
  </dgm:styleLbl>
  <dgm:styleLbl name="asst3">
    <dgm:fillClrLst>
      <a:schemeClr val="accent1">
        <a:tint val="70000"/>
      </a:schemeClr>
    </dgm:fillClrLst>
    <dgm:linClrLst meth="repeat">
      <a:schemeClr val="lt1"/>
    </dgm:linClrLst>
    <dgm:effectClrLst/>
    <dgm:txLinClrLst/>
    <dgm:txFillClrLst/>
    <dgm:txEffectClrLst/>
  </dgm:styleLbl>
  <dgm:styleLbl name="asst4">
    <dgm:fillClrLst>
      <a:schemeClr val="accent1">
        <a:tint val="50000"/>
      </a:schemeClr>
    </dgm:fillClrLst>
    <dgm:linClrLst meth="repeat">
      <a:schemeClr val="lt1"/>
    </dgm:linClrLst>
    <dgm:effectClrLst/>
    <dgm:txLinClrLst/>
    <dgm:txFillClrLst/>
    <dgm:txEffectClrLst/>
  </dgm:styleLbl>
  <dgm:styleLbl name="b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bgAccFollowNode1">
    <dgm:fillClrLst meth="repeat">
      <a:schemeClr val="accent1">
        <a:alpha val="90000"/>
        <a:tint val="55000"/>
      </a:schemeClr>
    </dgm:fillClrLst>
    <dgm:linClrLst meth="repeat">
      <a:schemeClr val="lt1"/>
    </dgm:linClrLst>
    <dgm:effectClrLst/>
    <dgm:txLinClrLst/>
    <dgm:txFillClrLst meth="repeat">
      <a:schemeClr val="dk1"/>
    </dgm:txFillClrLst>
    <dgm:txEffectClrLst/>
  </dgm:styleLbl>
  <dgm:styleLbl name="b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55000"/>
      </a:schemeClr>
    </dgm:fillClrLst>
    <dgm:linClrLst meth="repeat">
      <a:schemeClr val="dk1"/>
    </dgm:linClrLst>
    <dgm:effectClrLst/>
    <dgm:txLinClrLst/>
    <dgm:txFillClrLst meth="repeat">
      <a:schemeClr val="dk1"/>
    </dgm:txFillClrLst>
    <dgm:txEffectClrLst/>
  </dgm:styleLbl>
  <dgm:styleLbl name="b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callout">
    <dgm:fillClrLst meth="repeat">
      <a:schemeClr val="accent1"/>
    </dgm:fillClrLst>
    <dgm:linClrLst meth="repeat">
      <a:schemeClr val="accent1"/>
    </dgm:linClrLst>
    <dgm:effectClrLst/>
    <dgm:txLinClrLst/>
    <dgm:txFillClrLst meth="repeat">
      <a:schemeClr val="tx1"/>
    </dgm:txFillClrLst>
    <dgm:txEffectClrLst/>
  </dgm:styleLbl>
  <dgm:styleLbl name="con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dkBgShp">
    <dgm:fillClrLst meth="repeat">
      <a:schemeClr val="accent1">
        <a:shade val="90000"/>
      </a:schemeClr>
    </dgm:fillClrLst>
    <dgm:linClrLst meth="repeat">
      <a:schemeClr val="dk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a:shade val="80000"/>
      </a:schemeClr>
    </dgm:linClrLst>
    <dgm:effectClrLst/>
    <dgm:txLinClrLst/>
    <dgm:txFillClrLst meth="repeat">
      <a:schemeClr val="dk1"/>
    </dgm:txFillClrLst>
    <dgm:txEffectClrLst/>
  </dgm:styleLbl>
  <dgm:styleLbl name="fgAcc1">
    <dgm:fillClrLst meth="repeat">
      <a:schemeClr val="lt1">
        <a:alpha val="90000"/>
      </a:schemeClr>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a:tint val="90000"/>
      </a:schemeClr>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a:tint val="70000"/>
      </a:schemeClr>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a:tint val="50000"/>
      </a:schemeClr>
    </dgm:linClrLst>
    <dgm:effectClrLst/>
    <dgm:txLinClrLst/>
    <dgm:txFillClrLst meth="repeat">
      <a:schemeClr val="dk1"/>
    </dgm:txFillClrLst>
    <dgm:txEffectClrLst/>
  </dgm:styleLbl>
  <dgm:styleLbl name="fgAccFollowNode1">
    <dgm:fillClrLst meth="repeat">
      <a:schemeClr val="accent1">
        <a:alpha val="90000"/>
        <a:tint val="55000"/>
      </a:schemeClr>
    </dgm:fillClrLst>
    <dgm:linClrLst meth="repeat">
      <a:schemeClr val="accent1">
        <a:alpha val="90000"/>
        <a:tint val="55000"/>
      </a:schemeClr>
    </dgm:linClrLst>
    <dgm:effectClrLst/>
    <dgm:txLinClrLst/>
    <dgm:txFillClrLst meth="repeat">
      <a:schemeClr val="dk1"/>
    </dgm:txFillClrLst>
    <dgm:txEffectClrLst/>
  </dgm:styleLbl>
  <dgm:styleLbl name="fgImgPlace1">
    <dgm:fillClrLst>
      <a:schemeClr val="accent1">
        <a:tint val="50000"/>
      </a:schemeClr>
      <a:schemeClr val="accent1">
        <a:tint val="55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55000"/>
      </a:schemeClr>
    </dgm:fillClrLst>
    <dgm:linClrLst meth="repeat">
      <a:schemeClr val="lt1"/>
    </dgm:linClrLst>
    <dgm:effectClrLst/>
    <dgm:txLinClrLst/>
    <dgm:txFillClrLst meth="repeat">
      <a:schemeClr val="dk1"/>
    </dgm:txFillClrLst>
    <dgm:txEffectClrLst/>
  </dgm:styleLbl>
  <dgm:styleLbl name="fg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ln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node0">
    <dgm:fillClrLst meth="cycle">
      <a:schemeClr val="accent1">
        <a:shade val="60000"/>
      </a:schemeClr>
    </dgm:fillClrLst>
    <dgm:linClrLst meth="repeat">
      <a:schemeClr val="lt1"/>
    </dgm:linClrLst>
    <dgm:effectClrLst/>
    <dgm:txLinClrLst/>
    <dgm:txFillClrLst/>
    <dgm:txEffectClrLst/>
  </dgm:styleLbl>
  <dgm:styleLbl name="node1">
    <dgm:fillClrLst meth="cycle">
      <a:schemeClr val="accent1">
        <a:shade val="50000"/>
      </a:schemeClr>
      <a:schemeClr val="accent1">
        <a:tint val="55000"/>
      </a:schemeClr>
    </dgm:fillClrLst>
    <dgm:linClrLst meth="repeat">
      <a:schemeClr val="lt1"/>
    </dgm:linClrLst>
    <dgm:effectClrLst/>
    <dgm:txLinClrLst/>
    <dgm:txFillClrLst/>
    <dgm:txEffectClrLst/>
  </dgm:styleLbl>
  <dgm:styleLbl name="node2">
    <dgm:fillClrLst>
      <a:schemeClr val="accent1">
        <a:shade val="80000"/>
      </a:schemeClr>
    </dgm:fillClrLst>
    <dgm:linClrLst meth="repeat">
      <a:schemeClr val="lt1"/>
    </dgm:linClrLst>
    <dgm:effectClrLst/>
    <dgm:txLinClrLst/>
    <dgm:txFillClrLst/>
    <dgm:txEffectClrLst/>
  </dgm:styleLbl>
  <dgm:styleLbl name="node3">
    <dgm:fillClrLst>
      <a:schemeClr val="accent1">
        <a:tint val="99000"/>
      </a:schemeClr>
    </dgm:fillClrLst>
    <dgm:linClrLst meth="repeat">
      <a:schemeClr val="lt1"/>
    </dgm:linClrLst>
    <dgm:effectClrLst/>
    <dgm:txLinClrLst/>
    <dgm:txFillClrLst/>
    <dgm:txEffectClrLst/>
  </dgm:styleLbl>
  <dgm:styleLbl name="node4">
    <dgm:fillClrLst>
      <a:schemeClr val="accent1">
        <a:tint val="70000"/>
      </a:schemeClr>
    </dgm:fillClrLst>
    <dgm:linClrLst meth="repeat">
      <a:schemeClr val="lt1"/>
    </dgm:linClrLst>
    <dgm:effectClrLst/>
    <dgm:txLinClrLst/>
    <dgm:txFillClrLst/>
    <dgm:txEffectClrLst/>
  </dgm:styleLbl>
  <dgm:styleLbl name="parChTrans1D1">
    <dgm:fillClrLst meth="repeat">
      <a:schemeClr val="accent1">
        <a:shade val="80000"/>
      </a:schemeClr>
    </dgm:fillClrLst>
    <dgm:linClrLst meth="repeat">
      <a:schemeClr val="accent1">
        <a:shade val="80000"/>
      </a:schemeClr>
    </dgm:linClrLst>
    <dgm:effectClrLst/>
    <dgm:txLinClrLst/>
    <dgm:txFillClrLst meth="repeat">
      <a:schemeClr val="tx1"/>
    </dgm:txFillClrLst>
    <dgm:txEffectClrLst/>
  </dgm:styleLbl>
  <dgm:styleLbl name="parChTrans1D2">
    <dgm:fillClrLst meth="repeat">
      <a:schemeClr val="accent1">
        <a:tint val="90000"/>
      </a:schemeClr>
    </dgm:fillClrLst>
    <dgm:linClrLst meth="repeat">
      <a:schemeClr val="accent1">
        <a:tint val="90000"/>
      </a:schemeClr>
    </dgm:linClrLst>
    <dgm:effectClrLst/>
    <dgm:txLinClrLst/>
    <dgm:txFillClrLst meth="repeat">
      <a:schemeClr val="tx1"/>
    </dgm:txFillClrLst>
    <dgm:txEffectClrLst/>
  </dgm:styleLbl>
  <dgm:styleLbl name="parChTrans1D3">
    <dgm:fillClrLst meth="repeat">
      <a:schemeClr val="accent1">
        <a:tint val="70000"/>
      </a:schemeClr>
    </dgm:fillClrLst>
    <dgm:linClrLst meth="repeat">
      <a:schemeClr val="accent1">
        <a:tint val="70000"/>
      </a:schemeClr>
    </dgm:linClrLst>
    <dgm:effectClrLst/>
    <dgm:txLinClrLst/>
    <dgm:txFillClrLst meth="repeat">
      <a:schemeClr val="tx1"/>
    </dgm:txFillClrLst>
    <dgm:txEffectClrLst/>
  </dgm:styleLbl>
  <dgm:styleLbl name="parChTrans1D4">
    <dgm:fillClrLst meth="repeat">
      <a:schemeClr val="accent1">
        <a:tint val="50000"/>
      </a:schemeClr>
    </dgm:fillClrLst>
    <dgm:linClrLst meth="repeat">
      <a:schemeClr val="accent1">
        <a:tint val="5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shade val="80000"/>
      </a:schemeClr>
    </dgm:linClrLst>
    <dgm:effectClrLst/>
    <dgm:txLinClrLst/>
    <dgm:txFillClrLst/>
    <dgm:txEffectClrLst/>
  </dgm:styleLbl>
  <dgm:styleLbl name="parChTrans2D2">
    <dgm:fillClrLst meth="repeat">
      <a:schemeClr val="accent1">
        <a:tint val="90000"/>
      </a:schemeClr>
    </dgm:fillClrLst>
    <dgm:linClrLst meth="repeat">
      <a:schemeClr val="accent1">
        <a:tint val="90000"/>
      </a:schemeClr>
    </dgm:linClrLst>
    <dgm:effectClrLst/>
    <dgm:txLinClrLst/>
    <dgm:txFillClrLst/>
    <dgm:txEffectClrLst/>
  </dgm:styleLbl>
  <dgm:styleLbl name="parChTrans2D3">
    <dgm:fillClrLst meth="repeat">
      <a:schemeClr val="accent1">
        <a:tint val="70000"/>
      </a:schemeClr>
    </dgm:fillClrLst>
    <dgm:linClrLst meth="repeat">
      <a:schemeClr val="accent1">
        <a:tint val="70000"/>
      </a:schemeClr>
    </dgm:linClrLst>
    <dgm:effectClrLst/>
    <dgm:txLinClrLst/>
    <dgm:txFillClrLst/>
    <dgm:txEffectClrLst/>
  </dgm:styleLbl>
  <dgm:styleLbl name="parChTrans2D4">
    <dgm:fillClrLst meth="repeat">
      <a:schemeClr val="accent1">
        <a:tint val="50000"/>
      </a:schemeClr>
    </dgm:fillClrLst>
    <dgm:linClrLst meth="repeat">
      <a:schemeClr val="accent1">
        <a:tint val="50000"/>
      </a:schemeClr>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meth="repeat">
      <a:schemeClr val="tx1"/>
    </dgm:txFillClrLst>
    <dgm:txEffectClrLst/>
  </dgm:styleLbl>
  <dgm:styleLbl name="sibTrans2D1">
    <dgm:fillClrLst meth="cycle">
      <a:schemeClr val="accent1">
        <a:shade val="90000"/>
      </a:schemeClr>
      <a:schemeClr val="accent1">
        <a:tint val="50000"/>
      </a:schemeClr>
    </dgm:fillClrLst>
    <dgm:linClrLst meth="cycle">
      <a:schemeClr val="accent1">
        <a:shade val="90000"/>
      </a:schemeClr>
      <a:schemeClr val="accent1">
        <a:tint val="5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cycle">
      <a:schemeClr val="accent1">
        <a:shade val="50000"/>
      </a:schemeClr>
      <a:schemeClr val="accent1">
        <a:tint val="55000"/>
      </a:schemeClr>
    </dgm:linClrLst>
    <dgm:effectClrLst/>
    <dgm:txLinClrLst/>
    <dgm:txFillClrLst meth="repeat">
      <a:schemeClr val="dk1"/>
    </dgm:txFillClrLst>
    <dgm:txEffectClrLst/>
  </dgm:styleLbl>
  <dgm:styleLbl name="trAlignAcc1">
    <dgm:fillClrLst meth="repeat">
      <a:schemeClr val="lt1">
        <a:alpha val="55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55000"/>
      </a:schemeClr>
    </dgm:fillClrLst>
    <dgm:linClrLst meth="repeat">
      <a:schemeClr val="accent1"/>
    </dgm:linClrLst>
    <dgm:effectClrLst/>
    <dgm:txLinClrLst/>
    <dgm:txFillClrLst meth="repeat">
      <a:schemeClr val="lt1"/>
    </dgm:txFillClrLst>
    <dgm:txEffectClrLst/>
  </dgm:styleLbl>
  <dgm:styleLbl name="vennNode1">
    <dgm:fillClrLst meth="cycle">
      <a:schemeClr val="accent1">
        <a:shade val="80000"/>
        <a:alpha val="50000"/>
      </a:schemeClr>
      <a:schemeClr val="accent1">
        <a:tint val="50000"/>
        <a:alpha val="50000"/>
      </a:schemeClr>
    </dgm:fillClrLst>
    <dgm:linClrLst meth="repeat">
      <a:schemeClr val="lt1"/>
    </dgm:linClrLst>
    <dgm:effectClrLst/>
    <dgm:txLinClrLst/>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colorsDef>
</file>

<file path=ppt/diagrams/data1.xml><?xml version="1.0" encoding="utf-8"?>
<dgm:dataModel xmlns:dgm="http://schemas.openxmlformats.org/drawingml/2006/diagram" xmlns:a="http://schemas.openxmlformats.org/drawingml/2006/main">
  <dgm:ptLst>
    <dgm:pt modelId="{66434515-E61A-4E1F-8949-1AB78E98171B}" type="doc">
      <dgm:prSet loTypeId="urn:microsoft.com/office/officeart/2008/layout/HorizontalMultiLevelHierarchy#1" loCatId="hierarchy" qsTypeId="urn:microsoft.com/office/officeart/2005/8/quickstyle/simple4#1" qsCatId="simple" csTypeId="urn:microsoft.com/office/officeart/2005/8/colors/accent1_4#1" csCatId="accent1" phldr="1"/>
      <dgm:spPr/>
      <dgm:t>
        <a:bodyPr/>
        <a:lstStyle/>
        <a:p>
          <a:endParaRPr lang="en-US"/>
        </a:p>
      </dgm:t>
    </dgm:pt>
    <dgm:pt modelId="{460E9D1A-F5CD-4956-8B45-174B6843A7CF}">
      <dgm:prSet phldrT="[Text]" custT="1"/>
      <dgm:spPr>
        <a:solidFill>
          <a:schemeClr val="accent4">
            <a:lumMod val="75000"/>
          </a:schemeClr>
        </a:solidFill>
      </dgm:spPr>
      <dgm:t>
        <a:bodyPr/>
        <a:lstStyle/>
        <a:p>
          <a:r>
            <a:rPr lang="en-US" sz="3600" b="1">
              <a:latin typeface="Arial" panose="020B0604020202020204" pitchFamily="34" charset="0"/>
              <a:cs typeface="Arial" panose="020B0604020202020204" pitchFamily="34" charset="0"/>
            </a:rPr>
            <a:t>General Ledger</a:t>
          </a:r>
        </a:p>
      </dgm:t>
    </dgm:pt>
    <dgm:pt modelId="{2149BF68-F7B3-40DA-B0D5-D512CA022826}" type="parTrans" cxnId="{5779AFBB-6A27-4077-B081-2E4791B84940}">
      <dgm:prSet/>
      <dgm:spPr/>
      <dgm:t>
        <a:bodyPr/>
        <a:lstStyle/>
        <a:p>
          <a:endParaRPr lang="en-US"/>
        </a:p>
      </dgm:t>
    </dgm:pt>
    <dgm:pt modelId="{28BC7BDC-A221-451C-BFC4-1D0BF515F568}" type="sibTrans" cxnId="{5779AFBB-6A27-4077-B081-2E4791B84940}">
      <dgm:prSet/>
      <dgm:spPr/>
      <dgm:t>
        <a:bodyPr/>
        <a:lstStyle/>
        <a:p>
          <a:endParaRPr lang="en-US"/>
        </a:p>
      </dgm:t>
    </dgm:pt>
    <dgm:pt modelId="{65C40021-C367-461A-A380-0EAE03363BFA}">
      <dgm:prSet phldrT="[Text]" custT="1"/>
      <dgm:spPr>
        <a:solidFill>
          <a:schemeClr val="accent4">
            <a:lumMod val="75000"/>
          </a:schemeClr>
        </a:solidFill>
      </dgm:spPr>
      <dgm:t>
        <a:bodyPr/>
        <a:lstStyle/>
        <a:p>
          <a:r>
            <a:rPr lang="en-US" sz="2000" b="1" u="none" dirty="0">
              <a:latin typeface="Arial" panose="020B0604020202020204" pitchFamily="34" charset="0"/>
              <a:cs typeface="Arial" panose="020B0604020202020204" pitchFamily="34" charset="0"/>
            </a:rPr>
            <a:t>Chart of accounts</a:t>
          </a:r>
          <a:endParaRPr lang="en-US" sz="2000" b="1" dirty="0">
            <a:latin typeface="Arial" panose="020B0604020202020204" pitchFamily="34" charset="0"/>
            <a:cs typeface="Arial" panose="020B0604020202020204" pitchFamily="34" charset="0"/>
          </a:endParaRPr>
        </a:p>
      </dgm:t>
    </dgm:pt>
    <dgm:pt modelId="{DC1032F2-0220-4DAA-A6B5-F6AF12C3AC35}" type="parTrans" cxnId="{8D0DC982-A746-43CB-B52E-D30E5C070CE9}">
      <dgm:prSet/>
      <dgm:spPr>
        <a:solidFill>
          <a:schemeClr val="accent4">
            <a:lumMod val="75000"/>
          </a:schemeClr>
        </a:solidFill>
      </dgm:spPr>
      <dgm:t>
        <a:bodyPr/>
        <a:lstStyle/>
        <a:p>
          <a:endParaRPr lang="en-US"/>
        </a:p>
      </dgm:t>
    </dgm:pt>
    <dgm:pt modelId="{C7BD7A24-46E1-4D6C-BCBE-00A73B61BA3B}" type="sibTrans" cxnId="{8D0DC982-A746-43CB-B52E-D30E5C070CE9}">
      <dgm:prSet/>
      <dgm:spPr/>
      <dgm:t>
        <a:bodyPr/>
        <a:lstStyle/>
        <a:p>
          <a:endParaRPr lang="en-US"/>
        </a:p>
      </dgm:t>
    </dgm:pt>
    <dgm:pt modelId="{D7294BB1-0FC6-47DA-A892-471FEAE155CA}">
      <dgm:prSet phldrT="[Text]" custT="1"/>
      <dgm:spPr>
        <a:solidFill>
          <a:schemeClr val="accent4">
            <a:lumMod val="75000"/>
          </a:schemeClr>
        </a:solidFill>
      </dgm:spPr>
      <dgm:t>
        <a:bodyPr/>
        <a:lstStyle/>
        <a:p>
          <a:r>
            <a:rPr lang="en-US" sz="2000" b="1" u="none">
              <a:latin typeface="Arial" panose="020B0604020202020204" pitchFamily="34" charset="0"/>
              <a:cs typeface="Arial" panose="020B0604020202020204" pitchFamily="34" charset="0"/>
            </a:rPr>
            <a:t>Financial dimensions</a:t>
          </a:r>
          <a:endParaRPr lang="en-US" sz="2000" b="1">
            <a:latin typeface="Arial" panose="020B0604020202020204" pitchFamily="34" charset="0"/>
            <a:cs typeface="Arial" panose="020B0604020202020204" pitchFamily="34" charset="0"/>
          </a:endParaRPr>
        </a:p>
      </dgm:t>
    </dgm:pt>
    <dgm:pt modelId="{672A8ADB-5E8D-4D45-BA5A-F194CD7AACCD}" type="parTrans" cxnId="{F2F3F8A7-0570-428E-A78F-E5D6B06E7E18}">
      <dgm:prSet/>
      <dgm:spPr/>
      <dgm:t>
        <a:bodyPr/>
        <a:lstStyle/>
        <a:p>
          <a:endParaRPr lang="en-US"/>
        </a:p>
      </dgm:t>
    </dgm:pt>
    <dgm:pt modelId="{59BF0AF1-90DE-4FE9-A2A6-D6203AF9A340}" type="sibTrans" cxnId="{F2F3F8A7-0570-428E-A78F-E5D6B06E7E18}">
      <dgm:prSet/>
      <dgm:spPr/>
      <dgm:t>
        <a:bodyPr/>
        <a:lstStyle/>
        <a:p>
          <a:endParaRPr lang="en-US"/>
        </a:p>
      </dgm:t>
    </dgm:pt>
    <dgm:pt modelId="{20C37E46-7CD0-4CFC-8BD7-3887CE7691BD}">
      <dgm:prSet custT="1"/>
      <dgm:spPr>
        <a:solidFill>
          <a:schemeClr val="accent4">
            <a:lumMod val="75000"/>
          </a:schemeClr>
        </a:solidFill>
      </dgm:spPr>
      <dgm:t>
        <a:bodyPr/>
        <a:lstStyle/>
        <a:p>
          <a:r>
            <a:rPr lang="en-US" sz="2000" b="1" u="none">
              <a:latin typeface="Arial" panose="020B0604020202020204" pitchFamily="34" charset="0"/>
              <a:cs typeface="Arial" panose="020B0604020202020204" pitchFamily="34" charset="0"/>
            </a:rPr>
            <a:t>Fiscal calendars</a:t>
          </a:r>
          <a:endParaRPr lang="en-US" sz="2000" b="1">
            <a:latin typeface="Arial" panose="020B0604020202020204" pitchFamily="34" charset="0"/>
            <a:cs typeface="Arial" panose="020B0604020202020204" pitchFamily="34" charset="0"/>
          </a:endParaRPr>
        </a:p>
      </dgm:t>
    </dgm:pt>
    <dgm:pt modelId="{43E924D9-A68C-4B21-B72E-BA3AB6269BF9}" type="parTrans" cxnId="{251237D7-98A5-4C8B-AC96-EA1D8836546E}">
      <dgm:prSet/>
      <dgm:spPr/>
      <dgm:t>
        <a:bodyPr/>
        <a:lstStyle/>
        <a:p>
          <a:endParaRPr lang="en-US"/>
        </a:p>
      </dgm:t>
    </dgm:pt>
    <dgm:pt modelId="{42EB45D6-B969-4694-BEA3-2E41F3029D0B}" type="sibTrans" cxnId="{251237D7-98A5-4C8B-AC96-EA1D8836546E}">
      <dgm:prSet/>
      <dgm:spPr/>
      <dgm:t>
        <a:bodyPr/>
        <a:lstStyle/>
        <a:p>
          <a:endParaRPr lang="en-US"/>
        </a:p>
      </dgm:t>
    </dgm:pt>
    <dgm:pt modelId="{75EF6D61-38B1-4B92-A810-BC06479F4105}">
      <dgm:prSet phldrT="[Text]" custT="1"/>
      <dgm:spPr>
        <a:solidFill>
          <a:schemeClr val="accent4">
            <a:lumMod val="75000"/>
          </a:schemeClr>
        </a:solidFill>
      </dgm:spPr>
      <dgm:t>
        <a:bodyPr/>
        <a:lstStyle/>
        <a:p>
          <a:r>
            <a:rPr lang="en-US" sz="2000" b="1" u="none">
              <a:latin typeface="Arial" panose="020B0604020202020204" pitchFamily="34" charset="0"/>
              <a:cs typeface="Arial" panose="020B0604020202020204" pitchFamily="34" charset="0"/>
            </a:rPr>
            <a:t>Configure account structures</a:t>
          </a:r>
          <a:endParaRPr lang="en-US" sz="2000" b="1">
            <a:latin typeface="Arial" panose="020B0604020202020204" pitchFamily="34" charset="0"/>
            <a:cs typeface="Arial" panose="020B0604020202020204" pitchFamily="34" charset="0"/>
          </a:endParaRPr>
        </a:p>
      </dgm:t>
    </dgm:pt>
    <dgm:pt modelId="{A1ECAFAE-760D-4A65-864A-7925A16DC917}" type="sibTrans" cxnId="{6BCD0D7F-F58B-46F7-81D1-8F6FA018C19F}">
      <dgm:prSet/>
      <dgm:spPr/>
      <dgm:t>
        <a:bodyPr/>
        <a:lstStyle/>
        <a:p>
          <a:endParaRPr lang="en-US"/>
        </a:p>
      </dgm:t>
    </dgm:pt>
    <dgm:pt modelId="{37CB25F0-1FE0-420C-BF7C-698AFA263131}" type="parTrans" cxnId="{6BCD0D7F-F58B-46F7-81D1-8F6FA018C19F}">
      <dgm:prSet/>
      <dgm:spPr/>
      <dgm:t>
        <a:bodyPr/>
        <a:lstStyle/>
        <a:p>
          <a:endParaRPr lang="en-US"/>
        </a:p>
      </dgm:t>
    </dgm:pt>
    <dgm:pt modelId="{F91E7683-1C43-4EDE-B334-B92250EA3D2C}">
      <dgm:prSet custT="1"/>
      <dgm:spPr>
        <a:solidFill>
          <a:schemeClr val="accent4">
            <a:lumMod val="75000"/>
          </a:schemeClr>
        </a:solidFill>
      </dgm:spPr>
      <dgm:t>
        <a:bodyPr/>
        <a:lstStyle/>
        <a:p>
          <a:r>
            <a:rPr lang="en-US" sz="2000" b="1" u="none">
              <a:latin typeface="Arial" panose="020B0604020202020204" pitchFamily="34" charset="0"/>
              <a:cs typeface="Arial" panose="020B0604020202020204" pitchFamily="34" charset="0"/>
            </a:rPr>
            <a:t>Currency exchange rates</a:t>
          </a:r>
          <a:endParaRPr lang="en-US" sz="2000" b="1">
            <a:latin typeface="Arial" panose="020B0604020202020204" pitchFamily="34" charset="0"/>
            <a:cs typeface="Arial" panose="020B0604020202020204" pitchFamily="34" charset="0"/>
          </a:endParaRPr>
        </a:p>
      </dgm:t>
    </dgm:pt>
    <dgm:pt modelId="{B0E7EA63-F29F-4FE2-BE55-E23AA67493C1}" type="parTrans" cxnId="{B09FF320-7577-4C8A-B107-7726694AEDC0}">
      <dgm:prSet/>
      <dgm:spPr/>
      <dgm:t>
        <a:bodyPr/>
        <a:lstStyle/>
        <a:p>
          <a:endParaRPr lang="en-US"/>
        </a:p>
      </dgm:t>
    </dgm:pt>
    <dgm:pt modelId="{D1FEDA96-A17F-4458-9C42-8FBAF457AF43}" type="sibTrans" cxnId="{B09FF320-7577-4C8A-B107-7726694AEDC0}">
      <dgm:prSet/>
      <dgm:spPr/>
      <dgm:t>
        <a:bodyPr/>
        <a:lstStyle/>
        <a:p>
          <a:endParaRPr lang="en-US"/>
        </a:p>
      </dgm:t>
    </dgm:pt>
    <dgm:pt modelId="{726FC7BD-94BC-4230-AB77-DC2BEFD27BC0}">
      <dgm:prSet custT="1"/>
      <dgm:spPr>
        <a:solidFill>
          <a:schemeClr val="accent4">
            <a:lumMod val="75000"/>
          </a:schemeClr>
        </a:solidFill>
      </dgm:spPr>
      <dgm:t>
        <a:bodyPr/>
        <a:lstStyle/>
        <a:p>
          <a:r>
            <a:rPr lang="en-US" sz="2000" b="1" u="none">
              <a:latin typeface="Arial" panose="020B0604020202020204" pitchFamily="34" charset="0"/>
              <a:cs typeface="Arial" panose="020B0604020202020204" pitchFamily="34" charset="0"/>
            </a:rPr>
            <a:t>Journal names</a:t>
          </a:r>
          <a:endParaRPr lang="en-US" sz="2000" b="1">
            <a:latin typeface="Arial" panose="020B0604020202020204" pitchFamily="34" charset="0"/>
            <a:cs typeface="Arial" panose="020B0604020202020204" pitchFamily="34" charset="0"/>
          </a:endParaRPr>
        </a:p>
      </dgm:t>
    </dgm:pt>
    <dgm:pt modelId="{E0657223-E7CE-4F43-905C-C7E231614C43}" type="parTrans" cxnId="{0D3520DA-DB2D-46A2-A335-D14E9A97C7C4}">
      <dgm:prSet/>
      <dgm:spPr/>
      <dgm:t>
        <a:bodyPr/>
        <a:lstStyle/>
        <a:p>
          <a:endParaRPr lang="en-US"/>
        </a:p>
      </dgm:t>
    </dgm:pt>
    <dgm:pt modelId="{AF3333B7-7968-4804-BA32-309888B90D23}" type="sibTrans" cxnId="{0D3520DA-DB2D-46A2-A335-D14E9A97C7C4}">
      <dgm:prSet/>
      <dgm:spPr/>
      <dgm:t>
        <a:bodyPr/>
        <a:lstStyle/>
        <a:p>
          <a:endParaRPr lang="en-US"/>
        </a:p>
      </dgm:t>
    </dgm:pt>
    <dgm:pt modelId="{EC4B3A01-77C3-4F38-A759-1942EB8E8773}" type="pres">
      <dgm:prSet presAssocID="{66434515-E61A-4E1F-8949-1AB78E98171B}" presName="Name0" presStyleCnt="0">
        <dgm:presLayoutVars>
          <dgm:chPref val="1"/>
          <dgm:dir/>
          <dgm:animOne val="branch"/>
          <dgm:animLvl val="lvl"/>
          <dgm:resizeHandles val="exact"/>
        </dgm:presLayoutVars>
      </dgm:prSet>
      <dgm:spPr/>
    </dgm:pt>
    <dgm:pt modelId="{88930A1C-D113-4DF9-9EAC-2C2CEC4DB2D4}" type="pres">
      <dgm:prSet presAssocID="{460E9D1A-F5CD-4956-8B45-174B6843A7CF}" presName="root1" presStyleCnt="0"/>
      <dgm:spPr/>
    </dgm:pt>
    <dgm:pt modelId="{D47A84ED-9820-4776-AD39-007F45442665}" type="pres">
      <dgm:prSet presAssocID="{460E9D1A-F5CD-4956-8B45-174B6843A7CF}" presName="LevelOneTextNode" presStyleLbl="node0" presStyleIdx="0" presStyleCnt="1" custScaleY="134922">
        <dgm:presLayoutVars>
          <dgm:chPref val="3"/>
        </dgm:presLayoutVars>
      </dgm:prSet>
      <dgm:spPr/>
    </dgm:pt>
    <dgm:pt modelId="{807DB972-3F3D-4375-A300-CF679DAD972B}" type="pres">
      <dgm:prSet presAssocID="{460E9D1A-F5CD-4956-8B45-174B6843A7CF}" presName="level2hierChild" presStyleCnt="0"/>
      <dgm:spPr/>
    </dgm:pt>
    <dgm:pt modelId="{C00648CC-6D3F-454C-8CD4-6A9309192E23}" type="pres">
      <dgm:prSet presAssocID="{DC1032F2-0220-4DAA-A6B5-F6AF12C3AC35}" presName="conn2-1" presStyleLbl="parChTrans1D2" presStyleIdx="0" presStyleCnt="6"/>
      <dgm:spPr/>
    </dgm:pt>
    <dgm:pt modelId="{53A5A953-6BE5-47C7-A33B-61A8CC88E903}" type="pres">
      <dgm:prSet presAssocID="{DC1032F2-0220-4DAA-A6B5-F6AF12C3AC35}" presName="connTx" presStyleLbl="parChTrans1D2" presStyleIdx="0" presStyleCnt="6"/>
      <dgm:spPr/>
    </dgm:pt>
    <dgm:pt modelId="{C307079F-3EF2-436D-9D14-2BE7448243F3}" type="pres">
      <dgm:prSet presAssocID="{65C40021-C367-461A-A380-0EAE03363BFA}" presName="root2" presStyleCnt="0"/>
      <dgm:spPr/>
    </dgm:pt>
    <dgm:pt modelId="{B2E2E14D-ADD3-4A7E-BF6A-74858AF2BA48}" type="pres">
      <dgm:prSet presAssocID="{65C40021-C367-461A-A380-0EAE03363BFA}" presName="LevelTwoTextNode" presStyleLbl="node2" presStyleIdx="0" presStyleCnt="6" custScaleX="222037" custLinFactNeighborY="-7795">
        <dgm:presLayoutVars>
          <dgm:chPref val="3"/>
        </dgm:presLayoutVars>
      </dgm:prSet>
      <dgm:spPr/>
    </dgm:pt>
    <dgm:pt modelId="{10438273-59EB-44CF-A4FD-E019D0A6FBF5}" type="pres">
      <dgm:prSet presAssocID="{65C40021-C367-461A-A380-0EAE03363BFA}" presName="level3hierChild" presStyleCnt="0"/>
      <dgm:spPr/>
    </dgm:pt>
    <dgm:pt modelId="{F0D76F55-CBA0-4E39-8DA0-72A777C2D1A5}" type="pres">
      <dgm:prSet presAssocID="{672A8ADB-5E8D-4D45-BA5A-F194CD7AACCD}" presName="conn2-1" presStyleLbl="parChTrans1D2" presStyleIdx="1" presStyleCnt="6"/>
      <dgm:spPr/>
    </dgm:pt>
    <dgm:pt modelId="{9E0D5FA1-02E3-41D4-A671-2ECB9E608ACA}" type="pres">
      <dgm:prSet presAssocID="{672A8ADB-5E8D-4D45-BA5A-F194CD7AACCD}" presName="connTx" presStyleLbl="parChTrans1D2" presStyleIdx="1" presStyleCnt="6"/>
      <dgm:spPr/>
    </dgm:pt>
    <dgm:pt modelId="{5F4D309C-D3B2-4E19-AE08-DB4FF5B4FB0C}" type="pres">
      <dgm:prSet presAssocID="{D7294BB1-0FC6-47DA-A892-471FEAE155CA}" presName="root2" presStyleCnt="0"/>
      <dgm:spPr/>
    </dgm:pt>
    <dgm:pt modelId="{D2D33781-ACFC-4A6E-BD5C-AFE4F5AF39B5}" type="pres">
      <dgm:prSet presAssocID="{D7294BB1-0FC6-47DA-A892-471FEAE155CA}" presName="LevelTwoTextNode" presStyleLbl="node2" presStyleIdx="1" presStyleCnt="6" custScaleX="222796" custLinFactNeighborY="-2398">
        <dgm:presLayoutVars>
          <dgm:chPref val="3"/>
        </dgm:presLayoutVars>
      </dgm:prSet>
      <dgm:spPr/>
    </dgm:pt>
    <dgm:pt modelId="{D8F475CB-179A-4564-A4F4-B675159B6A84}" type="pres">
      <dgm:prSet presAssocID="{D7294BB1-0FC6-47DA-A892-471FEAE155CA}" presName="level3hierChild" presStyleCnt="0"/>
      <dgm:spPr/>
    </dgm:pt>
    <dgm:pt modelId="{7809FDE1-8E5B-46B3-B95D-A457688FC748}" type="pres">
      <dgm:prSet presAssocID="{43E924D9-A68C-4B21-B72E-BA3AB6269BF9}" presName="conn2-1" presStyleLbl="parChTrans1D2" presStyleIdx="2" presStyleCnt="6"/>
      <dgm:spPr/>
    </dgm:pt>
    <dgm:pt modelId="{D6B03088-1308-4029-A165-5F51C93F89EC}" type="pres">
      <dgm:prSet presAssocID="{43E924D9-A68C-4B21-B72E-BA3AB6269BF9}" presName="connTx" presStyleLbl="parChTrans1D2" presStyleIdx="2" presStyleCnt="6"/>
      <dgm:spPr/>
    </dgm:pt>
    <dgm:pt modelId="{C436CCF7-15BF-4060-851D-C15CDF88CCE5}" type="pres">
      <dgm:prSet presAssocID="{20C37E46-7CD0-4CFC-8BD7-3887CE7691BD}" presName="root2" presStyleCnt="0"/>
      <dgm:spPr/>
    </dgm:pt>
    <dgm:pt modelId="{3BCDF5CC-40A6-466D-A9DA-D3D24711EBCF}" type="pres">
      <dgm:prSet presAssocID="{20C37E46-7CD0-4CFC-8BD7-3887CE7691BD}" presName="LevelTwoTextNode" presStyleLbl="node2" presStyleIdx="2" presStyleCnt="6" custScaleX="222796">
        <dgm:presLayoutVars>
          <dgm:chPref val="3"/>
        </dgm:presLayoutVars>
      </dgm:prSet>
      <dgm:spPr/>
    </dgm:pt>
    <dgm:pt modelId="{B2D2307B-5E58-4653-90E4-D558EEB4785A}" type="pres">
      <dgm:prSet presAssocID="{20C37E46-7CD0-4CFC-8BD7-3887CE7691BD}" presName="level3hierChild" presStyleCnt="0"/>
      <dgm:spPr/>
    </dgm:pt>
    <dgm:pt modelId="{91F712EB-4CB6-4F2C-8880-9202214D8316}" type="pres">
      <dgm:prSet presAssocID="{37CB25F0-1FE0-420C-BF7C-698AFA263131}" presName="conn2-1" presStyleLbl="parChTrans1D2" presStyleIdx="3" presStyleCnt="6"/>
      <dgm:spPr/>
    </dgm:pt>
    <dgm:pt modelId="{66C2B094-7D65-41CE-A8A9-4F362217CFB1}" type="pres">
      <dgm:prSet presAssocID="{37CB25F0-1FE0-420C-BF7C-698AFA263131}" presName="connTx" presStyleLbl="parChTrans1D2" presStyleIdx="3" presStyleCnt="6"/>
      <dgm:spPr/>
    </dgm:pt>
    <dgm:pt modelId="{3F1ECF21-3397-4089-A611-6CA4D1317034}" type="pres">
      <dgm:prSet presAssocID="{75EF6D61-38B1-4B92-A810-BC06479F4105}" presName="root2" presStyleCnt="0"/>
      <dgm:spPr/>
    </dgm:pt>
    <dgm:pt modelId="{EC6B3D8A-F821-4497-9325-E2BDF9D8E150}" type="pres">
      <dgm:prSet presAssocID="{75EF6D61-38B1-4B92-A810-BC06479F4105}" presName="LevelTwoTextNode" presStyleLbl="node2" presStyleIdx="3" presStyleCnt="6" custScaleX="221991">
        <dgm:presLayoutVars>
          <dgm:chPref val="3"/>
        </dgm:presLayoutVars>
      </dgm:prSet>
      <dgm:spPr/>
    </dgm:pt>
    <dgm:pt modelId="{68F1EA68-6EF0-4343-B6B4-EF9A12972BA4}" type="pres">
      <dgm:prSet presAssocID="{75EF6D61-38B1-4B92-A810-BC06479F4105}" presName="level3hierChild" presStyleCnt="0"/>
      <dgm:spPr/>
    </dgm:pt>
    <dgm:pt modelId="{F7A3DCE2-9B69-481E-A64F-16A35CA592D9}" type="pres">
      <dgm:prSet presAssocID="{B0E7EA63-F29F-4FE2-BE55-E23AA67493C1}" presName="conn2-1" presStyleLbl="parChTrans1D2" presStyleIdx="4" presStyleCnt="6"/>
      <dgm:spPr/>
    </dgm:pt>
    <dgm:pt modelId="{8EE8A7B6-6EC7-4BC8-A548-534EB2ABBDA0}" type="pres">
      <dgm:prSet presAssocID="{B0E7EA63-F29F-4FE2-BE55-E23AA67493C1}" presName="connTx" presStyleLbl="parChTrans1D2" presStyleIdx="4" presStyleCnt="6"/>
      <dgm:spPr/>
    </dgm:pt>
    <dgm:pt modelId="{6EE1E237-AA65-4457-A534-D2A2CD82A43A}" type="pres">
      <dgm:prSet presAssocID="{F91E7683-1C43-4EDE-B334-B92250EA3D2C}" presName="root2" presStyleCnt="0"/>
      <dgm:spPr/>
    </dgm:pt>
    <dgm:pt modelId="{DD6F950C-AB1B-43CD-877B-3A127AC4094C}" type="pres">
      <dgm:prSet presAssocID="{F91E7683-1C43-4EDE-B334-B92250EA3D2C}" presName="LevelTwoTextNode" presStyleLbl="node2" presStyleIdx="4" presStyleCnt="6" custScaleX="220440">
        <dgm:presLayoutVars>
          <dgm:chPref val="3"/>
        </dgm:presLayoutVars>
      </dgm:prSet>
      <dgm:spPr/>
    </dgm:pt>
    <dgm:pt modelId="{E6AA018D-1DFB-49C4-94D0-68B8B76EC790}" type="pres">
      <dgm:prSet presAssocID="{F91E7683-1C43-4EDE-B334-B92250EA3D2C}" presName="level3hierChild" presStyleCnt="0"/>
      <dgm:spPr/>
    </dgm:pt>
    <dgm:pt modelId="{F0CC0C21-32CF-4930-83A6-EE11C2C6DD38}" type="pres">
      <dgm:prSet presAssocID="{E0657223-E7CE-4F43-905C-C7E231614C43}" presName="conn2-1" presStyleLbl="parChTrans1D2" presStyleIdx="5" presStyleCnt="6"/>
      <dgm:spPr/>
    </dgm:pt>
    <dgm:pt modelId="{675DDFEA-EAC5-4B7D-8121-4DA1E30ED12B}" type="pres">
      <dgm:prSet presAssocID="{E0657223-E7CE-4F43-905C-C7E231614C43}" presName="connTx" presStyleLbl="parChTrans1D2" presStyleIdx="5" presStyleCnt="6"/>
      <dgm:spPr/>
    </dgm:pt>
    <dgm:pt modelId="{04ECF238-A666-4516-A655-B4D2516C4087}" type="pres">
      <dgm:prSet presAssocID="{726FC7BD-94BC-4230-AB77-DC2BEFD27BC0}" presName="root2" presStyleCnt="0"/>
      <dgm:spPr/>
    </dgm:pt>
    <dgm:pt modelId="{36AF66B7-49A3-4F7E-B7B6-17177D50997B}" type="pres">
      <dgm:prSet presAssocID="{726FC7BD-94BC-4230-AB77-DC2BEFD27BC0}" presName="LevelTwoTextNode" presStyleLbl="node2" presStyleIdx="5" presStyleCnt="6" custScaleX="218850">
        <dgm:presLayoutVars>
          <dgm:chPref val="3"/>
        </dgm:presLayoutVars>
      </dgm:prSet>
      <dgm:spPr/>
    </dgm:pt>
    <dgm:pt modelId="{0B735E93-6C61-441C-9E2B-AD70C09A5498}" type="pres">
      <dgm:prSet presAssocID="{726FC7BD-94BC-4230-AB77-DC2BEFD27BC0}" presName="level3hierChild" presStyleCnt="0"/>
      <dgm:spPr/>
    </dgm:pt>
  </dgm:ptLst>
  <dgm:cxnLst>
    <dgm:cxn modelId="{3E91D503-7799-45D8-A78D-38D63D4941CF}" type="presOf" srcId="{B0E7EA63-F29F-4FE2-BE55-E23AA67493C1}" destId="{8EE8A7B6-6EC7-4BC8-A548-534EB2ABBDA0}" srcOrd="1" destOrd="0" presId="urn:microsoft.com/office/officeart/2008/layout/HorizontalMultiLevelHierarchy#1"/>
    <dgm:cxn modelId="{6B59270B-26ED-4B38-96BC-550E7B811500}" type="presOf" srcId="{B0E7EA63-F29F-4FE2-BE55-E23AA67493C1}" destId="{F7A3DCE2-9B69-481E-A64F-16A35CA592D9}" srcOrd="0" destOrd="0" presId="urn:microsoft.com/office/officeart/2008/layout/HorizontalMultiLevelHierarchy#1"/>
    <dgm:cxn modelId="{B78BFF0B-49BF-4F95-923D-71C81C2F184E}" type="presOf" srcId="{75EF6D61-38B1-4B92-A810-BC06479F4105}" destId="{EC6B3D8A-F821-4497-9325-E2BDF9D8E150}" srcOrd="0" destOrd="0" presId="urn:microsoft.com/office/officeart/2008/layout/HorizontalMultiLevelHierarchy#1"/>
    <dgm:cxn modelId="{7C64D311-FEC8-41B6-8505-791C74FD27D7}" type="presOf" srcId="{D7294BB1-0FC6-47DA-A892-471FEAE155CA}" destId="{D2D33781-ACFC-4A6E-BD5C-AFE4F5AF39B5}" srcOrd="0" destOrd="0" presId="urn:microsoft.com/office/officeart/2008/layout/HorizontalMultiLevelHierarchy#1"/>
    <dgm:cxn modelId="{0F095514-E067-4BFF-B00B-8F10D893F76D}" type="presOf" srcId="{DC1032F2-0220-4DAA-A6B5-F6AF12C3AC35}" destId="{C00648CC-6D3F-454C-8CD4-6A9309192E23}" srcOrd="0" destOrd="0" presId="urn:microsoft.com/office/officeart/2008/layout/HorizontalMultiLevelHierarchy#1"/>
    <dgm:cxn modelId="{B09FF320-7577-4C8A-B107-7726694AEDC0}" srcId="{460E9D1A-F5CD-4956-8B45-174B6843A7CF}" destId="{F91E7683-1C43-4EDE-B334-B92250EA3D2C}" srcOrd="4" destOrd="0" parTransId="{B0E7EA63-F29F-4FE2-BE55-E23AA67493C1}" sibTransId="{D1FEDA96-A17F-4458-9C42-8FBAF457AF43}"/>
    <dgm:cxn modelId="{ABD58623-48F8-4358-8D31-B1AE0B3757CE}" type="presOf" srcId="{43E924D9-A68C-4B21-B72E-BA3AB6269BF9}" destId="{7809FDE1-8E5B-46B3-B95D-A457688FC748}" srcOrd="0" destOrd="0" presId="urn:microsoft.com/office/officeart/2008/layout/HorizontalMultiLevelHierarchy#1"/>
    <dgm:cxn modelId="{AA7F482B-F7ED-48D9-866D-C7499BB0D549}" type="presOf" srcId="{65C40021-C367-461A-A380-0EAE03363BFA}" destId="{B2E2E14D-ADD3-4A7E-BF6A-74858AF2BA48}" srcOrd="0" destOrd="0" presId="urn:microsoft.com/office/officeart/2008/layout/HorizontalMultiLevelHierarchy#1"/>
    <dgm:cxn modelId="{DD3CA82E-FA9F-4E28-BBE0-5F17BC0672D6}" type="presOf" srcId="{672A8ADB-5E8D-4D45-BA5A-F194CD7AACCD}" destId="{F0D76F55-CBA0-4E39-8DA0-72A777C2D1A5}" srcOrd="0" destOrd="0" presId="urn:microsoft.com/office/officeart/2008/layout/HorizontalMultiLevelHierarchy#1"/>
    <dgm:cxn modelId="{972CF15C-778E-44B9-97FE-694E664DA047}" type="presOf" srcId="{E0657223-E7CE-4F43-905C-C7E231614C43}" destId="{675DDFEA-EAC5-4B7D-8121-4DA1E30ED12B}" srcOrd="1" destOrd="0" presId="urn:microsoft.com/office/officeart/2008/layout/HorizontalMultiLevelHierarchy#1"/>
    <dgm:cxn modelId="{A6DCC45D-2B0B-4F76-BC92-584CAD53BCF4}" type="presOf" srcId="{460E9D1A-F5CD-4956-8B45-174B6843A7CF}" destId="{D47A84ED-9820-4776-AD39-007F45442665}" srcOrd="0" destOrd="0" presId="urn:microsoft.com/office/officeart/2008/layout/HorizontalMultiLevelHierarchy#1"/>
    <dgm:cxn modelId="{C323E941-A25E-4EAF-870C-8D70F72F1D35}" type="presOf" srcId="{F91E7683-1C43-4EDE-B334-B92250EA3D2C}" destId="{DD6F950C-AB1B-43CD-877B-3A127AC4094C}" srcOrd="0" destOrd="0" presId="urn:microsoft.com/office/officeart/2008/layout/HorizontalMultiLevelHierarchy#1"/>
    <dgm:cxn modelId="{1B197C49-7CAD-465C-BBDE-6203F915CE36}" type="presOf" srcId="{DC1032F2-0220-4DAA-A6B5-F6AF12C3AC35}" destId="{53A5A953-6BE5-47C7-A33B-61A8CC88E903}" srcOrd="1" destOrd="0" presId="urn:microsoft.com/office/officeart/2008/layout/HorizontalMultiLevelHierarchy#1"/>
    <dgm:cxn modelId="{12C55176-B82D-44B6-9A4E-806DA912B976}" type="presOf" srcId="{20C37E46-7CD0-4CFC-8BD7-3887CE7691BD}" destId="{3BCDF5CC-40A6-466D-A9DA-D3D24711EBCF}" srcOrd="0" destOrd="0" presId="urn:microsoft.com/office/officeart/2008/layout/HorizontalMultiLevelHierarchy#1"/>
    <dgm:cxn modelId="{C631F67A-7BA9-43FB-BA85-407A118D0CBF}" type="presOf" srcId="{672A8ADB-5E8D-4D45-BA5A-F194CD7AACCD}" destId="{9E0D5FA1-02E3-41D4-A671-2ECB9E608ACA}" srcOrd="1" destOrd="0" presId="urn:microsoft.com/office/officeart/2008/layout/HorizontalMultiLevelHierarchy#1"/>
    <dgm:cxn modelId="{6BCD0D7F-F58B-46F7-81D1-8F6FA018C19F}" srcId="{460E9D1A-F5CD-4956-8B45-174B6843A7CF}" destId="{75EF6D61-38B1-4B92-A810-BC06479F4105}" srcOrd="3" destOrd="0" parTransId="{37CB25F0-1FE0-420C-BF7C-698AFA263131}" sibTransId="{A1ECAFAE-760D-4A65-864A-7925A16DC917}"/>
    <dgm:cxn modelId="{8D0DC982-A746-43CB-B52E-D30E5C070CE9}" srcId="{460E9D1A-F5CD-4956-8B45-174B6843A7CF}" destId="{65C40021-C367-461A-A380-0EAE03363BFA}" srcOrd="0" destOrd="0" parTransId="{DC1032F2-0220-4DAA-A6B5-F6AF12C3AC35}" sibTransId="{C7BD7A24-46E1-4D6C-BCBE-00A73B61BA3B}"/>
    <dgm:cxn modelId="{CB09BAA5-69E9-4C39-B3F7-90C790D129FA}" type="presOf" srcId="{E0657223-E7CE-4F43-905C-C7E231614C43}" destId="{F0CC0C21-32CF-4930-83A6-EE11C2C6DD38}" srcOrd="0" destOrd="0" presId="urn:microsoft.com/office/officeart/2008/layout/HorizontalMultiLevelHierarchy#1"/>
    <dgm:cxn modelId="{F2F3F8A7-0570-428E-A78F-E5D6B06E7E18}" srcId="{460E9D1A-F5CD-4956-8B45-174B6843A7CF}" destId="{D7294BB1-0FC6-47DA-A892-471FEAE155CA}" srcOrd="1" destOrd="0" parTransId="{672A8ADB-5E8D-4D45-BA5A-F194CD7AACCD}" sibTransId="{59BF0AF1-90DE-4FE9-A2A6-D6203AF9A340}"/>
    <dgm:cxn modelId="{D11ADBB5-7F39-43CB-ACC2-BF46B4765654}" type="presOf" srcId="{37CB25F0-1FE0-420C-BF7C-698AFA263131}" destId="{66C2B094-7D65-41CE-A8A9-4F362217CFB1}" srcOrd="1" destOrd="0" presId="urn:microsoft.com/office/officeart/2008/layout/HorizontalMultiLevelHierarchy#1"/>
    <dgm:cxn modelId="{4E87B3B7-06A2-44EF-A536-DA213DF4A8C9}" type="presOf" srcId="{66434515-E61A-4E1F-8949-1AB78E98171B}" destId="{EC4B3A01-77C3-4F38-A759-1942EB8E8773}" srcOrd="0" destOrd="0" presId="urn:microsoft.com/office/officeart/2008/layout/HorizontalMultiLevelHierarchy#1"/>
    <dgm:cxn modelId="{5779AFBB-6A27-4077-B081-2E4791B84940}" srcId="{66434515-E61A-4E1F-8949-1AB78E98171B}" destId="{460E9D1A-F5CD-4956-8B45-174B6843A7CF}" srcOrd="0" destOrd="0" parTransId="{2149BF68-F7B3-40DA-B0D5-D512CA022826}" sibTransId="{28BC7BDC-A221-451C-BFC4-1D0BF515F568}"/>
    <dgm:cxn modelId="{251237D7-98A5-4C8B-AC96-EA1D8836546E}" srcId="{460E9D1A-F5CD-4956-8B45-174B6843A7CF}" destId="{20C37E46-7CD0-4CFC-8BD7-3887CE7691BD}" srcOrd="2" destOrd="0" parTransId="{43E924D9-A68C-4B21-B72E-BA3AB6269BF9}" sibTransId="{42EB45D6-B969-4694-BEA3-2E41F3029D0B}"/>
    <dgm:cxn modelId="{0D3520DA-DB2D-46A2-A335-D14E9A97C7C4}" srcId="{460E9D1A-F5CD-4956-8B45-174B6843A7CF}" destId="{726FC7BD-94BC-4230-AB77-DC2BEFD27BC0}" srcOrd="5" destOrd="0" parTransId="{E0657223-E7CE-4F43-905C-C7E231614C43}" sibTransId="{AF3333B7-7968-4804-BA32-309888B90D23}"/>
    <dgm:cxn modelId="{06C79AE2-036A-4F1D-9496-F218196B1B93}" type="presOf" srcId="{726FC7BD-94BC-4230-AB77-DC2BEFD27BC0}" destId="{36AF66B7-49A3-4F7E-B7B6-17177D50997B}" srcOrd="0" destOrd="0" presId="urn:microsoft.com/office/officeart/2008/layout/HorizontalMultiLevelHierarchy#1"/>
    <dgm:cxn modelId="{B67195F4-B9B9-4EB1-AF3A-2833792EBF6D}" type="presOf" srcId="{43E924D9-A68C-4B21-B72E-BA3AB6269BF9}" destId="{D6B03088-1308-4029-A165-5F51C93F89EC}" srcOrd="1" destOrd="0" presId="urn:microsoft.com/office/officeart/2008/layout/HorizontalMultiLevelHierarchy#1"/>
    <dgm:cxn modelId="{6D2B7DF6-3179-4CE4-AC20-BA03D0E0EDE1}" type="presOf" srcId="{37CB25F0-1FE0-420C-BF7C-698AFA263131}" destId="{91F712EB-4CB6-4F2C-8880-9202214D8316}" srcOrd="0" destOrd="0" presId="urn:microsoft.com/office/officeart/2008/layout/HorizontalMultiLevelHierarchy#1"/>
    <dgm:cxn modelId="{76041E81-E1DB-4070-8626-F06E20D274D4}" type="presParOf" srcId="{EC4B3A01-77C3-4F38-A759-1942EB8E8773}" destId="{88930A1C-D113-4DF9-9EAC-2C2CEC4DB2D4}" srcOrd="0" destOrd="0" presId="urn:microsoft.com/office/officeart/2008/layout/HorizontalMultiLevelHierarchy#1"/>
    <dgm:cxn modelId="{CD8DC6F0-67D2-45AF-9B7F-04FC59A9C5A8}" type="presParOf" srcId="{88930A1C-D113-4DF9-9EAC-2C2CEC4DB2D4}" destId="{D47A84ED-9820-4776-AD39-007F45442665}" srcOrd="0" destOrd="0" presId="urn:microsoft.com/office/officeart/2008/layout/HorizontalMultiLevelHierarchy#1"/>
    <dgm:cxn modelId="{E0BCFA03-7A30-4802-AB32-8D0D0107DC49}" type="presParOf" srcId="{88930A1C-D113-4DF9-9EAC-2C2CEC4DB2D4}" destId="{807DB972-3F3D-4375-A300-CF679DAD972B}" srcOrd="1" destOrd="0" presId="urn:microsoft.com/office/officeart/2008/layout/HorizontalMultiLevelHierarchy#1"/>
    <dgm:cxn modelId="{E88FC492-29DD-4D49-AC98-AD7C7E92E444}" type="presParOf" srcId="{807DB972-3F3D-4375-A300-CF679DAD972B}" destId="{C00648CC-6D3F-454C-8CD4-6A9309192E23}" srcOrd="0" destOrd="0" presId="urn:microsoft.com/office/officeart/2008/layout/HorizontalMultiLevelHierarchy#1"/>
    <dgm:cxn modelId="{F6F2A3B8-8FB3-44EF-A318-CCD1E6FA6AB8}" type="presParOf" srcId="{C00648CC-6D3F-454C-8CD4-6A9309192E23}" destId="{53A5A953-6BE5-47C7-A33B-61A8CC88E903}" srcOrd="0" destOrd="0" presId="urn:microsoft.com/office/officeart/2008/layout/HorizontalMultiLevelHierarchy#1"/>
    <dgm:cxn modelId="{F4A4AB01-8EC5-4418-B557-AC8227B7CE0B}" type="presParOf" srcId="{807DB972-3F3D-4375-A300-CF679DAD972B}" destId="{C307079F-3EF2-436D-9D14-2BE7448243F3}" srcOrd="1" destOrd="0" presId="urn:microsoft.com/office/officeart/2008/layout/HorizontalMultiLevelHierarchy#1"/>
    <dgm:cxn modelId="{D04DFE4C-49AF-4BE8-9219-B8F4414FEC7A}" type="presParOf" srcId="{C307079F-3EF2-436D-9D14-2BE7448243F3}" destId="{B2E2E14D-ADD3-4A7E-BF6A-74858AF2BA48}" srcOrd="0" destOrd="0" presId="urn:microsoft.com/office/officeart/2008/layout/HorizontalMultiLevelHierarchy#1"/>
    <dgm:cxn modelId="{F13C5E5F-B6E7-40EA-A1C9-9D2D7C02D71E}" type="presParOf" srcId="{C307079F-3EF2-436D-9D14-2BE7448243F3}" destId="{10438273-59EB-44CF-A4FD-E019D0A6FBF5}" srcOrd="1" destOrd="0" presId="urn:microsoft.com/office/officeart/2008/layout/HorizontalMultiLevelHierarchy#1"/>
    <dgm:cxn modelId="{A9E43A10-C026-4A76-ADCA-C4D32CAE06BD}" type="presParOf" srcId="{807DB972-3F3D-4375-A300-CF679DAD972B}" destId="{F0D76F55-CBA0-4E39-8DA0-72A777C2D1A5}" srcOrd="2" destOrd="0" presId="urn:microsoft.com/office/officeart/2008/layout/HorizontalMultiLevelHierarchy#1"/>
    <dgm:cxn modelId="{D80B4DB5-B46D-43FD-B8F5-8FB6D0CE7BD7}" type="presParOf" srcId="{F0D76F55-CBA0-4E39-8DA0-72A777C2D1A5}" destId="{9E0D5FA1-02E3-41D4-A671-2ECB9E608ACA}" srcOrd="0" destOrd="0" presId="urn:microsoft.com/office/officeart/2008/layout/HorizontalMultiLevelHierarchy#1"/>
    <dgm:cxn modelId="{1C9D5EB9-5087-4E73-BA37-BB62C607DEA0}" type="presParOf" srcId="{807DB972-3F3D-4375-A300-CF679DAD972B}" destId="{5F4D309C-D3B2-4E19-AE08-DB4FF5B4FB0C}" srcOrd="3" destOrd="0" presId="urn:microsoft.com/office/officeart/2008/layout/HorizontalMultiLevelHierarchy#1"/>
    <dgm:cxn modelId="{B4A9A38C-5F5B-48B3-A33B-A09F7C71A0B9}" type="presParOf" srcId="{5F4D309C-D3B2-4E19-AE08-DB4FF5B4FB0C}" destId="{D2D33781-ACFC-4A6E-BD5C-AFE4F5AF39B5}" srcOrd="0" destOrd="0" presId="urn:microsoft.com/office/officeart/2008/layout/HorizontalMultiLevelHierarchy#1"/>
    <dgm:cxn modelId="{6DF90560-9439-4D55-9D92-F2DFB3CA129B}" type="presParOf" srcId="{5F4D309C-D3B2-4E19-AE08-DB4FF5B4FB0C}" destId="{D8F475CB-179A-4564-A4F4-B675159B6A84}" srcOrd="1" destOrd="0" presId="urn:microsoft.com/office/officeart/2008/layout/HorizontalMultiLevelHierarchy#1"/>
    <dgm:cxn modelId="{C1984B93-27FE-43D5-A6F6-24FEBE041411}" type="presParOf" srcId="{807DB972-3F3D-4375-A300-CF679DAD972B}" destId="{7809FDE1-8E5B-46B3-B95D-A457688FC748}" srcOrd="4" destOrd="0" presId="urn:microsoft.com/office/officeart/2008/layout/HorizontalMultiLevelHierarchy#1"/>
    <dgm:cxn modelId="{29D488F1-1802-4C9F-B31A-EDA2A7C6A47C}" type="presParOf" srcId="{7809FDE1-8E5B-46B3-B95D-A457688FC748}" destId="{D6B03088-1308-4029-A165-5F51C93F89EC}" srcOrd="0" destOrd="0" presId="urn:microsoft.com/office/officeart/2008/layout/HorizontalMultiLevelHierarchy#1"/>
    <dgm:cxn modelId="{5B4F4C99-90FC-46FE-A362-0EF127AE9B86}" type="presParOf" srcId="{807DB972-3F3D-4375-A300-CF679DAD972B}" destId="{C436CCF7-15BF-4060-851D-C15CDF88CCE5}" srcOrd="5" destOrd="0" presId="urn:microsoft.com/office/officeart/2008/layout/HorizontalMultiLevelHierarchy#1"/>
    <dgm:cxn modelId="{B0DB8B3D-712B-436D-BA1B-D68A3C0542F9}" type="presParOf" srcId="{C436CCF7-15BF-4060-851D-C15CDF88CCE5}" destId="{3BCDF5CC-40A6-466D-A9DA-D3D24711EBCF}" srcOrd="0" destOrd="0" presId="urn:microsoft.com/office/officeart/2008/layout/HorizontalMultiLevelHierarchy#1"/>
    <dgm:cxn modelId="{63945B9B-5CF9-4F81-954D-86F7492FDF4C}" type="presParOf" srcId="{C436CCF7-15BF-4060-851D-C15CDF88CCE5}" destId="{B2D2307B-5E58-4653-90E4-D558EEB4785A}" srcOrd="1" destOrd="0" presId="urn:microsoft.com/office/officeart/2008/layout/HorizontalMultiLevelHierarchy#1"/>
    <dgm:cxn modelId="{CBEB3671-7EE7-4734-A47C-D2EACC078209}" type="presParOf" srcId="{807DB972-3F3D-4375-A300-CF679DAD972B}" destId="{91F712EB-4CB6-4F2C-8880-9202214D8316}" srcOrd="6" destOrd="0" presId="urn:microsoft.com/office/officeart/2008/layout/HorizontalMultiLevelHierarchy#1"/>
    <dgm:cxn modelId="{490BBE62-AE1A-451F-995E-BC9B40EAEA75}" type="presParOf" srcId="{91F712EB-4CB6-4F2C-8880-9202214D8316}" destId="{66C2B094-7D65-41CE-A8A9-4F362217CFB1}" srcOrd="0" destOrd="0" presId="urn:microsoft.com/office/officeart/2008/layout/HorizontalMultiLevelHierarchy#1"/>
    <dgm:cxn modelId="{698125FB-C660-48EC-BBA2-C1DF91E37867}" type="presParOf" srcId="{807DB972-3F3D-4375-A300-CF679DAD972B}" destId="{3F1ECF21-3397-4089-A611-6CA4D1317034}" srcOrd="7" destOrd="0" presId="urn:microsoft.com/office/officeart/2008/layout/HorizontalMultiLevelHierarchy#1"/>
    <dgm:cxn modelId="{71624106-1A54-4E79-A7E4-6565C0602261}" type="presParOf" srcId="{3F1ECF21-3397-4089-A611-6CA4D1317034}" destId="{EC6B3D8A-F821-4497-9325-E2BDF9D8E150}" srcOrd="0" destOrd="0" presId="urn:microsoft.com/office/officeart/2008/layout/HorizontalMultiLevelHierarchy#1"/>
    <dgm:cxn modelId="{A334102B-7E71-46E9-A5C1-000A0AC310EB}" type="presParOf" srcId="{3F1ECF21-3397-4089-A611-6CA4D1317034}" destId="{68F1EA68-6EF0-4343-B6B4-EF9A12972BA4}" srcOrd="1" destOrd="0" presId="urn:microsoft.com/office/officeart/2008/layout/HorizontalMultiLevelHierarchy#1"/>
    <dgm:cxn modelId="{4DAAB6AF-EABD-47CD-A192-850C9DD81011}" type="presParOf" srcId="{807DB972-3F3D-4375-A300-CF679DAD972B}" destId="{F7A3DCE2-9B69-481E-A64F-16A35CA592D9}" srcOrd="8" destOrd="0" presId="urn:microsoft.com/office/officeart/2008/layout/HorizontalMultiLevelHierarchy#1"/>
    <dgm:cxn modelId="{A21771AF-695D-4BA0-A9BA-D5C8A27209A7}" type="presParOf" srcId="{F7A3DCE2-9B69-481E-A64F-16A35CA592D9}" destId="{8EE8A7B6-6EC7-4BC8-A548-534EB2ABBDA0}" srcOrd="0" destOrd="0" presId="urn:microsoft.com/office/officeart/2008/layout/HorizontalMultiLevelHierarchy#1"/>
    <dgm:cxn modelId="{3E217D4D-255F-4B1E-BAFF-459EA7BDF3C9}" type="presParOf" srcId="{807DB972-3F3D-4375-A300-CF679DAD972B}" destId="{6EE1E237-AA65-4457-A534-D2A2CD82A43A}" srcOrd="9" destOrd="0" presId="urn:microsoft.com/office/officeart/2008/layout/HorizontalMultiLevelHierarchy#1"/>
    <dgm:cxn modelId="{E760A966-04F2-4704-8EAA-4A5F2A4F2D49}" type="presParOf" srcId="{6EE1E237-AA65-4457-A534-D2A2CD82A43A}" destId="{DD6F950C-AB1B-43CD-877B-3A127AC4094C}" srcOrd="0" destOrd="0" presId="urn:microsoft.com/office/officeart/2008/layout/HorizontalMultiLevelHierarchy#1"/>
    <dgm:cxn modelId="{01EFAE11-B310-4180-AE69-4CABDCFC99C6}" type="presParOf" srcId="{6EE1E237-AA65-4457-A534-D2A2CD82A43A}" destId="{E6AA018D-1DFB-49C4-94D0-68B8B76EC790}" srcOrd="1" destOrd="0" presId="urn:microsoft.com/office/officeart/2008/layout/HorizontalMultiLevelHierarchy#1"/>
    <dgm:cxn modelId="{D85DD814-2EFA-4070-B1A8-9FA3843E9029}" type="presParOf" srcId="{807DB972-3F3D-4375-A300-CF679DAD972B}" destId="{F0CC0C21-32CF-4930-83A6-EE11C2C6DD38}" srcOrd="10" destOrd="0" presId="urn:microsoft.com/office/officeart/2008/layout/HorizontalMultiLevelHierarchy#1"/>
    <dgm:cxn modelId="{B43CEB61-1AE8-453E-AAE7-A04116190FA1}" type="presParOf" srcId="{F0CC0C21-32CF-4930-83A6-EE11C2C6DD38}" destId="{675DDFEA-EAC5-4B7D-8121-4DA1E30ED12B}" srcOrd="0" destOrd="0" presId="urn:microsoft.com/office/officeart/2008/layout/HorizontalMultiLevelHierarchy#1"/>
    <dgm:cxn modelId="{94AF3247-B217-4F30-B5F8-760D8CFB7A59}" type="presParOf" srcId="{807DB972-3F3D-4375-A300-CF679DAD972B}" destId="{04ECF238-A666-4516-A655-B4D2516C4087}" srcOrd="11" destOrd="0" presId="urn:microsoft.com/office/officeart/2008/layout/HorizontalMultiLevelHierarchy#1"/>
    <dgm:cxn modelId="{C1EE0582-5BB7-47D4-9FD1-E19F1A3FBB1B}" type="presParOf" srcId="{04ECF238-A666-4516-A655-B4D2516C4087}" destId="{36AF66B7-49A3-4F7E-B7B6-17177D50997B}" srcOrd="0" destOrd="0" presId="urn:microsoft.com/office/officeart/2008/layout/HorizontalMultiLevelHierarchy#1"/>
    <dgm:cxn modelId="{B57A8DE5-F042-459E-9394-51CFEB36F617}" type="presParOf" srcId="{04ECF238-A666-4516-A655-B4D2516C4087}" destId="{0B735E93-6C61-441C-9E2B-AD70C09A5498}" srcOrd="1" destOrd="0" presId="urn:microsoft.com/office/officeart/2008/layout/HorizontalMultiLevelHierarchy#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8A19F26-BA6A-4882-A946-FCB4142A3485}" type="doc">
      <dgm:prSet loTypeId="urn:microsoft.com/office/officeart/2005/8/layout/hierarchy3#1" loCatId="list" qsTypeId="urn:microsoft.com/office/officeart/2005/8/quickstyle/simple2#1" qsCatId="simple" csTypeId="urn:microsoft.com/office/officeart/2005/8/colors/accent1_2#1" csCatId="accent1" phldr="1"/>
      <dgm:spPr/>
      <dgm:t>
        <a:bodyPr/>
        <a:lstStyle/>
        <a:p>
          <a:endParaRPr lang="en-US"/>
        </a:p>
      </dgm:t>
    </dgm:pt>
    <dgm:pt modelId="{49E46C3B-6862-4AF1-B1F7-D302B515A759}">
      <dgm:prSet phldrT="[Text]"/>
      <dgm:spPr/>
      <dgm:t>
        <a:bodyPr/>
        <a:lstStyle/>
        <a:p>
          <a:r>
            <a:rPr lang="en-US" b="1" dirty="0">
              <a:latin typeface="Arial" panose="020B0604020202020204" pitchFamily="34" charset="0"/>
              <a:cs typeface="Arial" panose="020B0604020202020204" pitchFamily="34" charset="0"/>
            </a:rPr>
            <a:t>Setup</a:t>
          </a:r>
        </a:p>
      </dgm:t>
    </dgm:pt>
    <dgm:pt modelId="{DB11FA3C-9827-408B-BF6C-8BF5EBD57751}" type="parTrans" cxnId="{B6189B43-86B7-4EBD-B99A-14B3025DC226}">
      <dgm:prSet/>
      <dgm:spPr/>
      <dgm:t>
        <a:bodyPr/>
        <a:lstStyle/>
        <a:p>
          <a:endParaRPr lang="en-US"/>
        </a:p>
      </dgm:t>
    </dgm:pt>
    <dgm:pt modelId="{F20D307F-68F8-4B3E-8B38-9BACE3972147}" type="sibTrans" cxnId="{B6189B43-86B7-4EBD-B99A-14B3025DC226}">
      <dgm:prSet/>
      <dgm:spPr/>
      <dgm:t>
        <a:bodyPr/>
        <a:lstStyle/>
        <a:p>
          <a:endParaRPr lang="en-US"/>
        </a:p>
      </dgm:t>
    </dgm:pt>
    <dgm:pt modelId="{549ED4AD-AAF3-4740-B4B3-10EA1B832E3A}">
      <dgm:prSet phldrT="[Text]">
        <dgm:style>
          <a:lnRef idx="0">
            <a:scrgbClr r="0" g="0" b="0"/>
          </a:lnRef>
          <a:fillRef idx="0">
            <a:scrgbClr r="0" g="0" b="0"/>
          </a:fillRef>
          <a:effectRef idx="0">
            <a:scrgbClr r="0" g="0" b="0"/>
          </a:effectRef>
          <a:fontRef idx="minor">
            <a:schemeClr val="accent2"/>
          </a:fontRef>
        </dgm:style>
      </dgm:prSet>
      <dgm:spPr>
        <a:noFill/>
        <a:ln w="9525" cap="flat" cmpd="sng" algn="ctr">
          <a:solidFill>
            <a:schemeClr val="accent2"/>
          </a:solidFill>
          <a:prstDash val="solid"/>
          <a:round/>
          <a:headEnd type="none" w="med" len="med"/>
          <a:tailEnd type="none" w="med" len="med"/>
        </a:ln>
      </dgm:spPr>
      <dgm:t>
        <a:bodyPr/>
        <a:lstStyle/>
        <a:p>
          <a:r>
            <a:rPr lang="en-US" b="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Vendor Groups</a:t>
          </a:r>
        </a:p>
      </dgm:t>
    </dgm:pt>
    <dgm:pt modelId="{EC271234-1A4F-47B9-93F8-557B02406F2A}" type="parTrans" cxnId="{FBB6DC7C-42C2-4CBC-B811-EE51BD95702C}">
      <dgm:prSet/>
      <dgm:spPr/>
      <dgm:t>
        <a:bodyPr/>
        <a:lstStyle/>
        <a:p>
          <a:endParaRPr lang="en-US"/>
        </a:p>
      </dgm:t>
    </dgm:pt>
    <dgm:pt modelId="{F7E08830-CA4E-4EEA-B9A9-C322E95B945F}" type="sibTrans" cxnId="{FBB6DC7C-42C2-4CBC-B811-EE51BD95702C}">
      <dgm:prSet/>
      <dgm:spPr/>
      <dgm:t>
        <a:bodyPr/>
        <a:lstStyle/>
        <a:p>
          <a:endParaRPr lang="en-US"/>
        </a:p>
      </dgm:t>
    </dgm:pt>
    <dgm:pt modelId="{451802B4-891C-4A33-A45C-3A7B61791CE8}">
      <dgm:prSet phldrT="[Text]">
        <dgm:style>
          <a:lnRef idx="0">
            <a:scrgbClr r="0" g="0" b="0"/>
          </a:lnRef>
          <a:fillRef idx="0">
            <a:scrgbClr r="0" g="0" b="0"/>
          </a:fillRef>
          <a:effectRef idx="0">
            <a:scrgbClr r="0" g="0" b="0"/>
          </a:effectRef>
          <a:fontRef idx="minor">
            <a:schemeClr val="accent2"/>
          </a:fontRef>
        </dgm:style>
      </dgm:prSet>
      <dgm:spPr>
        <a:noFill/>
        <a:ln w="9525" cap="flat" cmpd="sng" algn="ctr">
          <a:solidFill>
            <a:schemeClr val="accent2"/>
          </a:solidFill>
          <a:prstDash val="solid"/>
          <a:round/>
          <a:headEnd type="none" w="med" len="med"/>
          <a:tailEnd type="none" w="med" len="med"/>
        </a:ln>
      </dgm:spPr>
      <dgm:t>
        <a:bodyPr/>
        <a:lstStyle/>
        <a:p>
          <a:r>
            <a:rPr lang="en-US" b="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Create New Vendors </a:t>
          </a:r>
        </a:p>
      </dgm:t>
    </dgm:pt>
    <dgm:pt modelId="{EC63CCD5-8AC0-4105-82F0-037B32D36FFC}" type="parTrans" cxnId="{5C699149-5BA8-47B5-A29A-FE99FBB66EB5}">
      <dgm:prSet/>
      <dgm:spPr/>
      <dgm:t>
        <a:bodyPr/>
        <a:lstStyle/>
        <a:p>
          <a:endParaRPr lang="en-US"/>
        </a:p>
      </dgm:t>
    </dgm:pt>
    <dgm:pt modelId="{7F1D5A9A-8BBB-4C10-8F06-969D71EE0097}" type="sibTrans" cxnId="{5C699149-5BA8-47B5-A29A-FE99FBB66EB5}">
      <dgm:prSet/>
      <dgm:spPr/>
      <dgm:t>
        <a:bodyPr/>
        <a:lstStyle/>
        <a:p>
          <a:endParaRPr lang="en-US"/>
        </a:p>
      </dgm:t>
    </dgm:pt>
    <dgm:pt modelId="{C9C8E67F-159B-4650-9A11-765DC2D9F045}">
      <dgm:prSet phldrT="[Text]"/>
      <dgm:spPr/>
      <dgm:t>
        <a:bodyPr/>
        <a:lstStyle/>
        <a:p>
          <a:r>
            <a:rPr lang="en-US" b="1">
              <a:latin typeface="Arial" panose="020B0604020202020204" pitchFamily="34" charset="0"/>
              <a:cs typeface="Arial" panose="020B0604020202020204" pitchFamily="34" charset="0"/>
            </a:rPr>
            <a:t>Transaction</a:t>
          </a:r>
        </a:p>
      </dgm:t>
    </dgm:pt>
    <dgm:pt modelId="{7DD9166F-A4A1-4B3D-815A-2452A4643896}" type="parTrans" cxnId="{3678C999-90BF-4041-9292-44A4B4A43E06}">
      <dgm:prSet/>
      <dgm:spPr/>
      <dgm:t>
        <a:bodyPr/>
        <a:lstStyle/>
        <a:p>
          <a:endParaRPr lang="en-US"/>
        </a:p>
      </dgm:t>
    </dgm:pt>
    <dgm:pt modelId="{FBD33AF1-F610-4FE8-8E0F-4F28FEFB0F41}" type="sibTrans" cxnId="{3678C999-90BF-4041-9292-44A4B4A43E06}">
      <dgm:prSet/>
      <dgm:spPr/>
      <dgm:t>
        <a:bodyPr/>
        <a:lstStyle/>
        <a:p>
          <a:endParaRPr lang="en-US"/>
        </a:p>
      </dgm:t>
    </dgm:pt>
    <dgm:pt modelId="{282752DB-15E8-4EB8-A296-769CAA66E87C}">
      <dgm:prSet phldrT="[Text]">
        <dgm:style>
          <a:lnRef idx="0">
            <a:scrgbClr r="0" g="0" b="0"/>
          </a:lnRef>
          <a:fillRef idx="0">
            <a:scrgbClr r="0" g="0" b="0"/>
          </a:fillRef>
          <a:effectRef idx="0">
            <a:scrgbClr r="0" g="0" b="0"/>
          </a:effectRef>
          <a:fontRef idx="minor">
            <a:schemeClr val="accent2"/>
          </a:fontRef>
        </dgm:style>
      </dgm:prSet>
      <dgm:spPr>
        <a:noFill/>
        <a:ln w="9525" cap="flat" cmpd="sng" algn="ctr">
          <a:solidFill>
            <a:schemeClr val="accent2"/>
          </a:solidFill>
          <a:prstDash val="solid"/>
          <a:round/>
          <a:headEnd type="none" w="med" len="med"/>
          <a:tailEnd type="none" w="med" len="med"/>
        </a:ln>
      </dgm:spPr>
      <dgm:t>
        <a:bodyPr/>
        <a:lstStyle/>
        <a:p>
          <a:r>
            <a:rPr lang="en-US" b="0" u="none"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Invoice Journal</a:t>
          </a:r>
          <a:endParaRPr lang="en-US" b="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endParaRPr>
        </a:p>
      </dgm:t>
    </dgm:pt>
    <dgm:pt modelId="{EF080C3A-6666-4761-8B1B-609A6F0B2017}" type="parTrans" cxnId="{699A4442-E87D-4CEB-9926-56DAD620EB8A}">
      <dgm:prSet/>
      <dgm:spPr/>
      <dgm:t>
        <a:bodyPr/>
        <a:lstStyle/>
        <a:p>
          <a:endParaRPr lang="en-US"/>
        </a:p>
      </dgm:t>
    </dgm:pt>
    <dgm:pt modelId="{954AA14C-762A-4517-B05F-25FC186431E4}" type="sibTrans" cxnId="{699A4442-E87D-4CEB-9926-56DAD620EB8A}">
      <dgm:prSet/>
      <dgm:spPr/>
      <dgm:t>
        <a:bodyPr/>
        <a:lstStyle/>
        <a:p>
          <a:endParaRPr lang="en-US"/>
        </a:p>
      </dgm:t>
    </dgm:pt>
    <dgm:pt modelId="{91B90ADC-7944-4AAF-9D0B-5DB4ED1DB4F7}">
      <dgm:prSet>
        <dgm:style>
          <a:lnRef idx="0">
            <a:scrgbClr r="0" g="0" b="0"/>
          </a:lnRef>
          <a:fillRef idx="0">
            <a:scrgbClr r="0" g="0" b="0"/>
          </a:fillRef>
          <a:effectRef idx="0">
            <a:scrgbClr r="0" g="0" b="0"/>
          </a:effectRef>
          <a:fontRef idx="minor">
            <a:schemeClr val="accent2"/>
          </a:fontRef>
        </dgm:style>
      </dgm:prSet>
      <dgm:spPr>
        <a:noFill/>
        <a:ln w="9525" cap="flat" cmpd="sng" algn="ctr">
          <a:solidFill>
            <a:schemeClr val="accent2"/>
          </a:solidFill>
          <a:prstDash val="solid"/>
          <a:round/>
          <a:headEnd type="none" w="med" len="med"/>
          <a:tailEnd type="none" w="med" len="med"/>
        </a:ln>
      </dgm:spPr>
      <dgm:t>
        <a:bodyPr/>
        <a:lstStyle/>
        <a:p>
          <a:r>
            <a:rPr lang="en-US" b="0" u="none"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Methods Of Payment</a:t>
          </a:r>
          <a:endParaRPr lang="en-US" b="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endParaRPr>
        </a:p>
      </dgm:t>
    </dgm:pt>
    <dgm:pt modelId="{09C6E546-4069-45BE-BE35-8A7A53D0920D}" type="parTrans" cxnId="{6F624A28-EF4C-4113-9E8C-4C909BDFF6FA}">
      <dgm:prSet/>
      <dgm:spPr/>
      <dgm:t>
        <a:bodyPr/>
        <a:lstStyle/>
        <a:p>
          <a:endParaRPr lang="en-US"/>
        </a:p>
      </dgm:t>
    </dgm:pt>
    <dgm:pt modelId="{033B119E-1E46-4570-A7D8-708C28842566}" type="sibTrans" cxnId="{6F624A28-EF4C-4113-9E8C-4C909BDFF6FA}">
      <dgm:prSet/>
      <dgm:spPr/>
      <dgm:t>
        <a:bodyPr/>
        <a:lstStyle/>
        <a:p>
          <a:endParaRPr lang="en-US"/>
        </a:p>
      </dgm:t>
    </dgm:pt>
    <dgm:pt modelId="{3245E1D9-AE8F-46F0-86CA-55F5606B01F8}">
      <dgm:prSet phldrT="[Text]">
        <dgm:style>
          <a:lnRef idx="0">
            <a:scrgbClr r="0" g="0" b="0"/>
          </a:lnRef>
          <a:fillRef idx="0">
            <a:scrgbClr r="0" g="0" b="0"/>
          </a:fillRef>
          <a:effectRef idx="0">
            <a:scrgbClr r="0" g="0" b="0"/>
          </a:effectRef>
          <a:fontRef idx="minor">
            <a:schemeClr val="accent2"/>
          </a:fontRef>
        </dgm:style>
      </dgm:prSet>
      <dgm:spPr>
        <a:noFill/>
        <a:ln w="9525" cap="flat" cmpd="sng" algn="ctr">
          <a:solidFill>
            <a:schemeClr val="accent2"/>
          </a:solidFill>
          <a:prstDash val="solid"/>
          <a:round/>
          <a:headEnd type="none" w="med" len="med"/>
          <a:tailEnd type="none" w="med" len="med"/>
        </a:ln>
      </dgm:spPr>
      <dgm:t>
        <a:bodyPr/>
        <a:lstStyle/>
        <a:p>
          <a:r>
            <a:rPr lang="en-US" b="0" u="none"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Vendor Payment Journal</a:t>
          </a:r>
          <a:endParaRPr lang="en-US" b="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endParaRPr>
        </a:p>
      </dgm:t>
    </dgm:pt>
    <dgm:pt modelId="{EE8F1C95-D412-4105-ACDE-CB6C0FCC010F}" type="parTrans" cxnId="{7F26B676-CC27-4E01-9229-6339DCE8AE73}">
      <dgm:prSet/>
      <dgm:spPr/>
      <dgm:t>
        <a:bodyPr/>
        <a:lstStyle/>
        <a:p>
          <a:endParaRPr lang="en-US"/>
        </a:p>
      </dgm:t>
    </dgm:pt>
    <dgm:pt modelId="{5893FC58-0804-43DA-9AF5-E299450E450F}" type="sibTrans" cxnId="{7F26B676-CC27-4E01-9229-6339DCE8AE73}">
      <dgm:prSet/>
      <dgm:spPr/>
      <dgm:t>
        <a:bodyPr/>
        <a:lstStyle/>
        <a:p>
          <a:endParaRPr lang="en-US"/>
        </a:p>
      </dgm:t>
    </dgm:pt>
    <dgm:pt modelId="{5E9B6CFD-DB1D-42EE-B58B-6C7E5E2B5CC0}">
      <dgm:prSet>
        <dgm:style>
          <a:lnRef idx="0">
            <a:scrgbClr r="0" g="0" b="0"/>
          </a:lnRef>
          <a:fillRef idx="0">
            <a:scrgbClr r="0" g="0" b="0"/>
          </a:fillRef>
          <a:effectRef idx="0">
            <a:scrgbClr r="0" g="0" b="0"/>
          </a:effectRef>
          <a:fontRef idx="minor">
            <a:schemeClr val="accent2"/>
          </a:fontRef>
        </dgm:style>
      </dgm:prSet>
      <dgm:spPr>
        <a:noFill/>
        <a:ln w="9525" cap="flat" cmpd="sng" algn="ctr">
          <a:solidFill>
            <a:schemeClr val="accent2"/>
          </a:solidFill>
          <a:prstDash val="solid"/>
          <a:round/>
          <a:headEnd type="none" w="med" len="med"/>
          <a:tailEnd type="none" w="med" len="med"/>
        </a:ln>
      </dgm:spPr>
      <dgm:t>
        <a:bodyPr/>
        <a:lstStyle/>
        <a:p>
          <a:r>
            <a:rPr lang="en-US" b="0"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Vendor Posting Profile</a:t>
          </a:r>
          <a:endParaRPr lang="en-US" b="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endParaRPr>
        </a:p>
      </dgm:t>
    </dgm:pt>
    <dgm:pt modelId="{90541193-737A-4E7F-A2BE-DD855216FE7F}" type="parTrans" cxnId="{1784FC6D-8610-4C12-8461-AB81A2875EA4}">
      <dgm:prSet/>
      <dgm:spPr/>
      <dgm:t>
        <a:bodyPr/>
        <a:lstStyle/>
        <a:p>
          <a:pPr rtl="1"/>
          <a:endParaRPr lang="ar-EG"/>
        </a:p>
      </dgm:t>
    </dgm:pt>
    <dgm:pt modelId="{EC0FC083-FB69-4D28-8BC0-488D1BD5CEA7}" type="sibTrans" cxnId="{1784FC6D-8610-4C12-8461-AB81A2875EA4}">
      <dgm:prSet/>
      <dgm:spPr/>
      <dgm:t>
        <a:bodyPr/>
        <a:lstStyle/>
        <a:p>
          <a:pPr rtl="1"/>
          <a:endParaRPr lang="ar-EG"/>
        </a:p>
      </dgm:t>
    </dgm:pt>
    <dgm:pt modelId="{225D2581-AEE7-4420-8D90-35CCB3479A04}" type="pres">
      <dgm:prSet presAssocID="{A8A19F26-BA6A-4882-A946-FCB4142A3485}" presName="diagram" presStyleCnt="0">
        <dgm:presLayoutVars>
          <dgm:chPref val="1"/>
          <dgm:dir/>
          <dgm:animOne val="branch"/>
          <dgm:animLvl val="lvl"/>
          <dgm:resizeHandles/>
        </dgm:presLayoutVars>
      </dgm:prSet>
      <dgm:spPr/>
    </dgm:pt>
    <dgm:pt modelId="{081AD901-0565-4968-B5B7-42C73EC3E616}" type="pres">
      <dgm:prSet presAssocID="{49E46C3B-6862-4AF1-B1F7-D302B515A759}" presName="root" presStyleCnt="0"/>
      <dgm:spPr/>
    </dgm:pt>
    <dgm:pt modelId="{63922F33-D60F-457F-BD0D-B2D038643986}" type="pres">
      <dgm:prSet presAssocID="{49E46C3B-6862-4AF1-B1F7-D302B515A759}" presName="rootComposite" presStyleCnt="0"/>
      <dgm:spPr/>
    </dgm:pt>
    <dgm:pt modelId="{8227931E-0FA8-4A3C-BA8E-FE4C1465E0AB}" type="pres">
      <dgm:prSet presAssocID="{49E46C3B-6862-4AF1-B1F7-D302B515A759}" presName="rootText" presStyleLbl="node1" presStyleIdx="0" presStyleCnt="2"/>
      <dgm:spPr/>
    </dgm:pt>
    <dgm:pt modelId="{6BDEDCA8-4B45-49EC-BAAB-429C6F78E130}" type="pres">
      <dgm:prSet presAssocID="{49E46C3B-6862-4AF1-B1F7-D302B515A759}" presName="rootConnector" presStyleLbl="node1" presStyleIdx="0" presStyleCnt="2"/>
      <dgm:spPr/>
    </dgm:pt>
    <dgm:pt modelId="{1AAB7039-8F49-47EF-ABC1-333845D01797}" type="pres">
      <dgm:prSet presAssocID="{49E46C3B-6862-4AF1-B1F7-D302B515A759}" presName="childShape" presStyleCnt="0"/>
      <dgm:spPr/>
    </dgm:pt>
    <dgm:pt modelId="{0DCC375F-ADD9-424E-A8A3-A65EFF407B69}" type="pres">
      <dgm:prSet presAssocID="{EC271234-1A4F-47B9-93F8-557B02406F2A}" presName="Name13" presStyleLbl="parChTrans1D2" presStyleIdx="0" presStyleCnt="6"/>
      <dgm:spPr/>
    </dgm:pt>
    <dgm:pt modelId="{BE6122CC-F925-4193-8B5C-EF332E588514}" type="pres">
      <dgm:prSet presAssocID="{549ED4AD-AAF3-4740-B4B3-10EA1B832E3A}" presName="childText" presStyleLbl="bgAcc1" presStyleIdx="0" presStyleCnt="6">
        <dgm:presLayoutVars>
          <dgm:bulletEnabled val="1"/>
        </dgm:presLayoutVars>
      </dgm:prSet>
      <dgm:spPr/>
    </dgm:pt>
    <dgm:pt modelId="{94C51476-1E28-4ADA-ADC4-6A69321C71B8}" type="pres">
      <dgm:prSet presAssocID="{90541193-737A-4E7F-A2BE-DD855216FE7F}" presName="Name13" presStyleLbl="parChTrans1D2" presStyleIdx="1" presStyleCnt="6"/>
      <dgm:spPr/>
    </dgm:pt>
    <dgm:pt modelId="{6ABE029F-4E7E-4B59-BC78-F6AA3DDBBE1E}" type="pres">
      <dgm:prSet presAssocID="{5E9B6CFD-DB1D-42EE-B58B-6C7E5E2B5CC0}" presName="childText" presStyleLbl="bgAcc1" presStyleIdx="1" presStyleCnt="6">
        <dgm:presLayoutVars>
          <dgm:bulletEnabled val="1"/>
        </dgm:presLayoutVars>
      </dgm:prSet>
      <dgm:spPr/>
    </dgm:pt>
    <dgm:pt modelId="{C5A39DCF-9994-48F4-BA2F-F496DCA838E1}" type="pres">
      <dgm:prSet presAssocID="{EC63CCD5-8AC0-4105-82F0-037B32D36FFC}" presName="Name13" presStyleLbl="parChTrans1D2" presStyleIdx="2" presStyleCnt="6"/>
      <dgm:spPr/>
    </dgm:pt>
    <dgm:pt modelId="{60C266C6-0B14-4E4A-8A28-CA218D77E06A}" type="pres">
      <dgm:prSet presAssocID="{451802B4-891C-4A33-A45C-3A7B61791CE8}" presName="childText" presStyleLbl="bgAcc1" presStyleIdx="2" presStyleCnt="6">
        <dgm:presLayoutVars>
          <dgm:bulletEnabled val="1"/>
        </dgm:presLayoutVars>
      </dgm:prSet>
      <dgm:spPr/>
    </dgm:pt>
    <dgm:pt modelId="{080B8C5B-607C-498E-A3F7-46B12553203A}" type="pres">
      <dgm:prSet presAssocID="{09C6E546-4069-45BE-BE35-8A7A53D0920D}" presName="Name13" presStyleLbl="parChTrans1D2" presStyleIdx="3" presStyleCnt="6"/>
      <dgm:spPr/>
    </dgm:pt>
    <dgm:pt modelId="{DD3B17CB-8021-45A8-BAC0-9265FCF5935F}" type="pres">
      <dgm:prSet presAssocID="{91B90ADC-7944-4AAF-9D0B-5DB4ED1DB4F7}" presName="childText" presStyleLbl="bgAcc1" presStyleIdx="3" presStyleCnt="6">
        <dgm:presLayoutVars>
          <dgm:bulletEnabled val="1"/>
        </dgm:presLayoutVars>
      </dgm:prSet>
      <dgm:spPr/>
    </dgm:pt>
    <dgm:pt modelId="{2DEEF42D-A98F-451A-B9A1-5664E427D3A6}" type="pres">
      <dgm:prSet presAssocID="{C9C8E67F-159B-4650-9A11-765DC2D9F045}" presName="root" presStyleCnt="0"/>
      <dgm:spPr/>
    </dgm:pt>
    <dgm:pt modelId="{2ADDF7F7-C2B3-4758-BEDD-50C40719B3A8}" type="pres">
      <dgm:prSet presAssocID="{C9C8E67F-159B-4650-9A11-765DC2D9F045}" presName="rootComposite" presStyleCnt="0"/>
      <dgm:spPr/>
    </dgm:pt>
    <dgm:pt modelId="{E251A480-73AF-44AB-892A-D96847B69061}" type="pres">
      <dgm:prSet presAssocID="{C9C8E67F-159B-4650-9A11-765DC2D9F045}" presName="rootText" presStyleLbl="node1" presStyleIdx="1" presStyleCnt="2"/>
      <dgm:spPr/>
    </dgm:pt>
    <dgm:pt modelId="{4FAB6E38-CC8A-45CC-9D6A-2913C0DF19BF}" type="pres">
      <dgm:prSet presAssocID="{C9C8E67F-159B-4650-9A11-765DC2D9F045}" presName="rootConnector" presStyleLbl="node1" presStyleIdx="1" presStyleCnt="2"/>
      <dgm:spPr/>
    </dgm:pt>
    <dgm:pt modelId="{D7D7BAA7-234B-45B0-B17F-35AC709B5305}" type="pres">
      <dgm:prSet presAssocID="{C9C8E67F-159B-4650-9A11-765DC2D9F045}" presName="childShape" presStyleCnt="0"/>
      <dgm:spPr/>
    </dgm:pt>
    <dgm:pt modelId="{FDF8DB27-57C5-4060-8E22-438E27DD0926}" type="pres">
      <dgm:prSet presAssocID="{EF080C3A-6666-4761-8B1B-609A6F0B2017}" presName="Name13" presStyleLbl="parChTrans1D2" presStyleIdx="4" presStyleCnt="6"/>
      <dgm:spPr/>
    </dgm:pt>
    <dgm:pt modelId="{7F61C5A9-590D-49AB-9F5F-EE52365DED6E}" type="pres">
      <dgm:prSet presAssocID="{282752DB-15E8-4EB8-A296-769CAA66E87C}" presName="childText" presStyleLbl="bgAcc1" presStyleIdx="4" presStyleCnt="6">
        <dgm:presLayoutVars>
          <dgm:bulletEnabled val="1"/>
        </dgm:presLayoutVars>
      </dgm:prSet>
      <dgm:spPr/>
    </dgm:pt>
    <dgm:pt modelId="{0ECC7159-992A-4040-BB1A-70B34690A414}" type="pres">
      <dgm:prSet presAssocID="{EE8F1C95-D412-4105-ACDE-CB6C0FCC010F}" presName="Name13" presStyleLbl="parChTrans1D2" presStyleIdx="5" presStyleCnt="6"/>
      <dgm:spPr/>
    </dgm:pt>
    <dgm:pt modelId="{6FA7C25E-5A93-4DA9-B9B7-6977AD1E7777}" type="pres">
      <dgm:prSet presAssocID="{3245E1D9-AE8F-46F0-86CA-55F5606B01F8}" presName="childText" presStyleLbl="bgAcc1" presStyleIdx="5" presStyleCnt="6">
        <dgm:presLayoutVars>
          <dgm:bulletEnabled val="1"/>
        </dgm:presLayoutVars>
      </dgm:prSet>
      <dgm:spPr/>
    </dgm:pt>
  </dgm:ptLst>
  <dgm:cxnLst>
    <dgm:cxn modelId="{6928F900-48C2-42E8-A855-66ADED8D3702}" type="presOf" srcId="{451802B4-891C-4A33-A45C-3A7B61791CE8}" destId="{60C266C6-0B14-4E4A-8A28-CA218D77E06A}" srcOrd="0" destOrd="0" presId="urn:microsoft.com/office/officeart/2005/8/layout/hierarchy3#1"/>
    <dgm:cxn modelId="{1B6D560D-2D0C-4332-97CD-C969232473E6}" type="presOf" srcId="{09C6E546-4069-45BE-BE35-8A7A53D0920D}" destId="{080B8C5B-607C-498E-A3F7-46B12553203A}" srcOrd="0" destOrd="0" presId="urn:microsoft.com/office/officeart/2005/8/layout/hierarchy3#1"/>
    <dgm:cxn modelId="{0979A812-496D-48AE-9306-649EDEAD6955}" type="presOf" srcId="{91B90ADC-7944-4AAF-9D0B-5DB4ED1DB4F7}" destId="{DD3B17CB-8021-45A8-BAC0-9265FCF5935F}" srcOrd="0" destOrd="0" presId="urn:microsoft.com/office/officeart/2005/8/layout/hierarchy3#1"/>
    <dgm:cxn modelId="{AAF7E120-B5FE-48A7-97A9-3CADE796D617}" type="presOf" srcId="{549ED4AD-AAF3-4740-B4B3-10EA1B832E3A}" destId="{BE6122CC-F925-4193-8B5C-EF332E588514}" srcOrd="0" destOrd="0" presId="urn:microsoft.com/office/officeart/2005/8/layout/hierarchy3#1"/>
    <dgm:cxn modelId="{6F624A28-EF4C-4113-9E8C-4C909BDFF6FA}" srcId="{49E46C3B-6862-4AF1-B1F7-D302B515A759}" destId="{91B90ADC-7944-4AAF-9D0B-5DB4ED1DB4F7}" srcOrd="3" destOrd="0" parTransId="{09C6E546-4069-45BE-BE35-8A7A53D0920D}" sibTransId="{033B119E-1E46-4570-A7D8-708C28842566}"/>
    <dgm:cxn modelId="{498F162E-A7AE-482C-B620-11759B2C33ED}" type="presOf" srcId="{A8A19F26-BA6A-4882-A946-FCB4142A3485}" destId="{225D2581-AEE7-4420-8D90-35CCB3479A04}" srcOrd="0" destOrd="0" presId="urn:microsoft.com/office/officeart/2005/8/layout/hierarchy3#1"/>
    <dgm:cxn modelId="{D8E89537-6E72-473B-BCE5-EC76D95BBABE}" type="presOf" srcId="{49E46C3B-6862-4AF1-B1F7-D302B515A759}" destId="{8227931E-0FA8-4A3C-BA8E-FE4C1465E0AB}" srcOrd="0" destOrd="0" presId="urn:microsoft.com/office/officeart/2005/8/layout/hierarchy3#1"/>
    <dgm:cxn modelId="{1CAC5D41-FA7C-405E-9C5D-BC7A187268EF}" type="presOf" srcId="{EE8F1C95-D412-4105-ACDE-CB6C0FCC010F}" destId="{0ECC7159-992A-4040-BB1A-70B34690A414}" srcOrd="0" destOrd="0" presId="urn:microsoft.com/office/officeart/2005/8/layout/hierarchy3#1"/>
    <dgm:cxn modelId="{699A4442-E87D-4CEB-9926-56DAD620EB8A}" srcId="{C9C8E67F-159B-4650-9A11-765DC2D9F045}" destId="{282752DB-15E8-4EB8-A296-769CAA66E87C}" srcOrd="0" destOrd="0" parTransId="{EF080C3A-6666-4761-8B1B-609A6F0B2017}" sibTransId="{954AA14C-762A-4517-B05F-25FC186431E4}"/>
    <dgm:cxn modelId="{B6189B43-86B7-4EBD-B99A-14B3025DC226}" srcId="{A8A19F26-BA6A-4882-A946-FCB4142A3485}" destId="{49E46C3B-6862-4AF1-B1F7-D302B515A759}" srcOrd="0" destOrd="0" parTransId="{DB11FA3C-9827-408B-BF6C-8BF5EBD57751}" sibTransId="{F20D307F-68F8-4B3E-8B38-9BACE3972147}"/>
    <dgm:cxn modelId="{BEA76966-7AFA-4D6D-960B-974343E150EB}" type="presOf" srcId="{C9C8E67F-159B-4650-9A11-765DC2D9F045}" destId="{E251A480-73AF-44AB-892A-D96847B69061}" srcOrd="0" destOrd="0" presId="urn:microsoft.com/office/officeart/2005/8/layout/hierarchy3#1"/>
    <dgm:cxn modelId="{5C699149-5BA8-47B5-A29A-FE99FBB66EB5}" srcId="{49E46C3B-6862-4AF1-B1F7-D302B515A759}" destId="{451802B4-891C-4A33-A45C-3A7B61791CE8}" srcOrd="2" destOrd="0" parTransId="{EC63CCD5-8AC0-4105-82F0-037B32D36FFC}" sibTransId="{7F1D5A9A-8BBB-4C10-8F06-969D71EE0097}"/>
    <dgm:cxn modelId="{AB93124A-E360-42B8-AED6-08ED9ECB93B2}" type="presOf" srcId="{EC271234-1A4F-47B9-93F8-557B02406F2A}" destId="{0DCC375F-ADD9-424E-A8A3-A65EFF407B69}" srcOrd="0" destOrd="0" presId="urn:microsoft.com/office/officeart/2005/8/layout/hierarchy3#1"/>
    <dgm:cxn modelId="{1784FC6D-8610-4C12-8461-AB81A2875EA4}" srcId="{49E46C3B-6862-4AF1-B1F7-D302B515A759}" destId="{5E9B6CFD-DB1D-42EE-B58B-6C7E5E2B5CC0}" srcOrd="1" destOrd="0" parTransId="{90541193-737A-4E7F-A2BE-DD855216FE7F}" sibTransId="{EC0FC083-FB69-4D28-8BC0-488D1BD5CEA7}"/>
    <dgm:cxn modelId="{4209F270-74AC-4D4A-8356-56D3675F8B8A}" type="presOf" srcId="{282752DB-15E8-4EB8-A296-769CAA66E87C}" destId="{7F61C5A9-590D-49AB-9F5F-EE52365DED6E}" srcOrd="0" destOrd="0" presId="urn:microsoft.com/office/officeart/2005/8/layout/hierarchy3#1"/>
    <dgm:cxn modelId="{7F26B676-CC27-4E01-9229-6339DCE8AE73}" srcId="{C9C8E67F-159B-4650-9A11-765DC2D9F045}" destId="{3245E1D9-AE8F-46F0-86CA-55F5606B01F8}" srcOrd="1" destOrd="0" parTransId="{EE8F1C95-D412-4105-ACDE-CB6C0FCC010F}" sibTransId="{5893FC58-0804-43DA-9AF5-E299450E450F}"/>
    <dgm:cxn modelId="{B8F4A558-D3E4-43FE-8984-51FB5A3D1163}" type="presOf" srcId="{5E9B6CFD-DB1D-42EE-B58B-6C7E5E2B5CC0}" destId="{6ABE029F-4E7E-4B59-BC78-F6AA3DDBBE1E}" srcOrd="0" destOrd="0" presId="urn:microsoft.com/office/officeart/2005/8/layout/hierarchy3#1"/>
    <dgm:cxn modelId="{FBB6DC7C-42C2-4CBC-B811-EE51BD95702C}" srcId="{49E46C3B-6862-4AF1-B1F7-D302B515A759}" destId="{549ED4AD-AAF3-4740-B4B3-10EA1B832E3A}" srcOrd="0" destOrd="0" parTransId="{EC271234-1A4F-47B9-93F8-557B02406F2A}" sibTransId="{F7E08830-CA4E-4EEA-B9A9-C322E95B945F}"/>
    <dgm:cxn modelId="{16FDE982-7DEB-46FB-B472-A12F46BA1C11}" type="presOf" srcId="{EF080C3A-6666-4761-8B1B-609A6F0B2017}" destId="{FDF8DB27-57C5-4060-8E22-438E27DD0926}" srcOrd="0" destOrd="0" presId="urn:microsoft.com/office/officeart/2005/8/layout/hierarchy3#1"/>
    <dgm:cxn modelId="{EC35CB85-73A5-45B0-8CE9-3E77D77ECFE8}" type="presOf" srcId="{3245E1D9-AE8F-46F0-86CA-55F5606B01F8}" destId="{6FA7C25E-5A93-4DA9-B9B7-6977AD1E7777}" srcOrd="0" destOrd="0" presId="urn:microsoft.com/office/officeart/2005/8/layout/hierarchy3#1"/>
    <dgm:cxn modelId="{10BBD394-F23B-41C6-BB3A-E3013241D89B}" type="presOf" srcId="{C9C8E67F-159B-4650-9A11-765DC2D9F045}" destId="{4FAB6E38-CC8A-45CC-9D6A-2913C0DF19BF}" srcOrd="1" destOrd="0" presId="urn:microsoft.com/office/officeart/2005/8/layout/hierarchy3#1"/>
    <dgm:cxn modelId="{3678C999-90BF-4041-9292-44A4B4A43E06}" srcId="{A8A19F26-BA6A-4882-A946-FCB4142A3485}" destId="{C9C8E67F-159B-4650-9A11-765DC2D9F045}" srcOrd="1" destOrd="0" parTransId="{7DD9166F-A4A1-4B3D-815A-2452A4643896}" sibTransId="{FBD33AF1-F610-4FE8-8E0F-4F28FEFB0F41}"/>
    <dgm:cxn modelId="{B1F2B8B6-36CF-40F0-BE60-D9C43441E426}" type="presOf" srcId="{49E46C3B-6862-4AF1-B1F7-D302B515A759}" destId="{6BDEDCA8-4B45-49EC-BAAB-429C6F78E130}" srcOrd="1" destOrd="0" presId="urn:microsoft.com/office/officeart/2005/8/layout/hierarchy3#1"/>
    <dgm:cxn modelId="{4CC61BB9-BD35-40ED-B00A-C5C7AB06A849}" type="presOf" srcId="{90541193-737A-4E7F-A2BE-DD855216FE7F}" destId="{94C51476-1E28-4ADA-ADC4-6A69321C71B8}" srcOrd="0" destOrd="0" presId="urn:microsoft.com/office/officeart/2005/8/layout/hierarchy3#1"/>
    <dgm:cxn modelId="{1324C6F5-750E-4BF6-B4C0-6C77DC487C5B}" type="presOf" srcId="{EC63CCD5-8AC0-4105-82F0-037B32D36FFC}" destId="{C5A39DCF-9994-48F4-BA2F-F496DCA838E1}" srcOrd="0" destOrd="0" presId="urn:microsoft.com/office/officeart/2005/8/layout/hierarchy3#1"/>
    <dgm:cxn modelId="{0C23E0CC-0351-4418-8847-C04E2E463297}" type="presParOf" srcId="{225D2581-AEE7-4420-8D90-35CCB3479A04}" destId="{081AD901-0565-4968-B5B7-42C73EC3E616}" srcOrd="0" destOrd="0" presId="urn:microsoft.com/office/officeart/2005/8/layout/hierarchy3#1"/>
    <dgm:cxn modelId="{0C142503-79D5-4C3A-97DB-51C4D902494C}" type="presParOf" srcId="{081AD901-0565-4968-B5B7-42C73EC3E616}" destId="{63922F33-D60F-457F-BD0D-B2D038643986}" srcOrd="0" destOrd="0" presId="urn:microsoft.com/office/officeart/2005/8/layout/hierarchy3#1"/>
    <dgm:cxn modelId="{C0E51F3E-A101-42DC-B87D-17AECE6FC069}" type="presParOf" srcId="{63922F33-D60F-457F-BD0D-B2D038643986}" destId="{8227931E-0FA8-4A3C-BA8E-FE4C1465E0AB}" srcOrd="0" destOrd="0" presId="urn:microsoft.com/office/officeart/2005/8/layout/hierarchy3#1"/>
    <dgm:cxn modelId="{5B79412B-4053-4F03-B327-607BF2758E9C}" type="presParOf" srcId="{63922F33-D60F-457F-BD0D-B2D038643986}" destId="{6BDEDCA8-4B45-49EC-BAAB-429C6F78E130}" srcOrd="1" destOrd="0" presId="urn:microsoft.com/office/officeart/2005/8/layout/hierarchy3#1"/>
    <dgm:cxn modelId="{8FE7DDC1-BF7E-4264-AA6E-D43B2153D4A0}" type="presParOf" srcId="{081AD901-0565-4968-B5B7-42C73EC3E616}" destId="{1AAB7039-8F49-47EF-ABC1-333845D01797}" srcOrd="1" destOrd="0" presId="urn:microsoft.com/office/officeart/2005/8/layout/hierarchy3#1"/>
    <dgm:cxn modelId="{1FD2842D-33B1-435B-A157-76F3F58F2B95}" type="presParOf" srcId="{1AAB7039-8F49-47EF-ABC1-333845D01797}" destId="{0DCC375F-ADD9-424E-A8A3-A65EFF407B69}" srcOrd="0" destOrd="0" presId="urn:microsoft.com/office/officeart/2005/8/layout/hierarchy3#1"/>
    <dgm:cxn modelId="{3DE298C1-976A-4149-91DC-C7D33BCD3B43}" type="presParOf" srcId="{1AAB7039-8F49-47EF-ABC1-333845D01797}" destId="{BE6122CC-F925-4193-8B5C-EF332E588514}" srcOrd="1" destOrd="0" presId="urn:microsoft.com/office/officeart/2005/8/layout/hierarchy3#1"/>
    <dgm:cxn modelId="{CD8F8C57-2561-4711-B5F1-E88B4B92A510}" type="presParOf" srcId="{1AAB7039-8F49-47EF-ABC1-333845D01797}" destId="{94C51476-1E28-4ADA-ADC4-6A69321C71B8}" srcOrd="2" destOrd="0" presId="urn:microsoft.com/office/officeart/2005/8/layout/hierarchy3#1"/>
    <dgm:cxn modelId="{94DB76C2-FD2D-4291-ADF8-3247D2B7A96D}" type="presParOf" srcId="{1AAB7039-8F49-47EF-ABC1-333845D01797}" destId="{6ABE029F-4E7E-4B59-BC78-F6AA3DDBBE1E}" srcOrd="3" destOrd="0" presId="urn:microsoft.com/office/officeart/2005/8/layout/hierarchy3#1"/>
    <dgm:cxn modelId="{E48785DC-D0BB-4784-947C-4687B6951437}" type="presParOf" srcId="{1AAB7039-8F49-47EF-ABC1-333845D01797}" destId="{C5A39DCF-9994-48F4-BA2F-F496DCA838E1}" srcOrd="4" destOrd="0" presId="urn:microsoft.com/office/officeart/2005/8/layout/hierarchy3#1"/>
    <dgm:cxn modelId="{213B2FD6-1E3D-49DD-9120-95DFA3C9F9A7}" type="presParOf" srcId="{1AAB7039-8F49-47EF-ABC1-333845D01797}" destId="{60C266C6-0B14-4E4A-8A28-CA218D77E06A}" srcOrd="5" destOrd="0" presId="urn:microsoft.com/office/officeart/2005/8/layout/hierarchy3#1"/>
    <dgm:cxn modelId="{A716CBA3-8393-4E79-A000-2C470E93C4EA}" type="presParOf" srcId="{1AAB7039-8F49-47EF-ABC1-333845D01797}" destId="{080B8C5B-607C-498E-A3F7-46B12553203A}" srcOrd="6" destOrd="0" presId="urn:microsoft.com/office/officeart/2005/8/layout/hierarchy3#1"/>
    <dgm:cxn modelId="{5CDDD4E0-9456-45DA-BB0B-0D3290549DB1}" type="presParOf" srcId="{1AAB7039-8F49-47EF-ABC1-333845D01797}" destId="{DD3B17CB-8021-45A8-BAC0-9265FCF5935F}" srcOrd="7" destOrd="0" presId="urn:microsoft.com/office/officeart/2005/8/layout/hierarchy3#1"/>
    <dgm:cxn modelId="{A2519F3B-14E4-47AC-ACF4-A4E5431CF46D}" type="presParOf" srcId="{225D2581-AEE7-4420-8D90-35CCB3479A04}" destId="{2DEEF42D-A98F-451A-B9A1-5664E427D3A6}" srcOrd="1" destOrd="0" presId="urn:microsoft.com/office/officeart/2005/8/layout/hierarchy3#1"/>
    <dgm:cxn modelId="{7FCA9664-D693-4A58-9877-6FCD329A116B}" type="presParOf" srcId="{2DEEF42D-A98F-451A-B9A1-5664E427D3A6}" destId="{2ADDF7F7-C2B3-4758-BEDD-50C40719B3A8}" srcOrd="0" destOrd="0" presId="urn:microsoft.com/office/officeart/2005/8/layout/hierarchy3#1"/>
    <dgm:cxn modelId="{9E94DC3D-121F-4299-A4FA-DB2801F6F9C0}" type="presParOf" srcId="{2ADDF7F7-C2B3-4758-BEDD-50C40719B3A8}" destId="{E251A480-73AF-44AB-892A-D96847B69061}" srcOrd="0" destOrd="0" presId="urn:microsoft.com/office/officeart/2005/8/layout/hierarchy3#1"/>
    <dgm:cxn modelId="{2182CD88-7EC8-4303-923B-982A24FA33CA}" type="presParOf" srcId="{2ADDF7F7-C2B3-4758-BEDD-50C40719B3A8}" destId="{4FAB6E38-CC8A-45CC-9D6A-2913C0DF19BF}" srcOrd="1" destOrd="0" presId="urn:microsoft.com/office/officeart/2005/8/layout/hierarchy3#1"/>
    <dgm:cxn modelId="{26F1AC75-576C-4DFA-8FB4-A8C338E8574C}" type="presParOf" srcId="{2DEEF42D-A98F-451A-B9A1-5664E427D3A6}" destId="{D7D7BAA7-234B-45B0-B17F-35AC709B5305}" srcOrd="1" destOrd="0" presId="urn:microsoft.com/office/officeart/2005/8/layout/hierarchy3#1"/>
    <dgm:cxn modelId="{690DEEC3-9DF3-4BF3-9D6C-81F0EF73B941}" type="presParOf" srcId="{D7D7BAA7-234B-45B0-B17F-35AC709B5305}" destId="{FDF8DB27-57C5-4060-8E22-438E27DD0926}" srcOrd="0" destOrd="0" presId="urn:microsoft.com/office/officeart/2005/8/layout/hierarchy3#1"/>
    <dgm:cxn modelId="{2DE7E18D-25AB-4AD6-A335-D8A4074E0626}" type="presParOf" srcId="{D7D7BAA7-234B-45B0-B17F-35AC709B5305}" destId="{7F61C5A9-590D-49AB-9F5F-EE52365DED6E}" srcOrd="1" destOrd="0" presId="urn:microsoft.com/office/officeart/2005/8/layout/hierarchy3#1"/>
    <dgm:cxn modelId="{E6DCFA00-CA06-47FD-A756-385893548935}" type="presParOf" srcId="{D7D7BAA7-234B-45B0-B17F-35AC709B5305}" destId="{0ECC7159-992A-4040-BB1A-70B34690A414}" srcOrd="2" destOrd="0" presId="urn:microsoft.com/office/officeart/2005/8/layout/hierarchy3#1"/>
    <dgm:cxn modelId="{816155E8-7570-4547-8809-809BD40842CB}" type="presParOf" srcId="{D7D7BAA7-234B-45B0-B17F-35AC709B5305}" destId="{6FA7C25E-5A93-4DA9-B9B7-6977AD1E7777}" srcOrd="3" destOrd="0" presId="urn:microsoft.com/office/officeart/2005/8/layout/hierarchy3#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0CC0C21-32CF-4930-83A6-EE11C2C6DD38}">
      <dsp:nvSpPr>
        <dsp:cNvPr id="0" name=""/>
        <dsp:cNvSpPr/>
      </dsp:nvSpPr>
      <dsp:spPr>
        <a:xfrm>
          <a:off x="1895286" y="2233534"/>
          <a:ext cx="403593" cy="1922608"/>
        </a:xfrm>
        <a:custGeom>
          <a:avLst/>
          <a:gdLst/>
          <a:ahLst/>
          <a:cxnLst/>
          <a:rect l="0" t="0" r="0" b="0"/>
          <a:pathLst>
            <a:path>
              <a:moveTo>
                <a:pt x="0" y="0"/>
              </a:moveTo>
              <a:lnTo>
                <a:pt x="201796" y="0"/>
              </a:lnTo>
              <a:lnTo>
                <a:pt x="201796" y="1922608"/>
              </a:lnTo>
              <a:lnTo>
                <a:pt x="403593" y="1922608"/>
              </a:lnTo>
            </a:path>
          </a:pathLst>
        </a:custGeom>
        <a:noFill/>
        <a:ln w="6350" cap="flat" cmpd="sng" algn="ctr">
          <a:solidFill>
            <a:schemeClr val="accent1">
              <a:tint val="90000"/>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en-US" sz="700" kern="1200"/>
        </a:p>
      </dsp:txBody>
      <dsp:txXfrm>
        <a:off x="2047971" y="3145725"/>
        <a:ext cx="98225" cy="98225"/>
      </dsp:txXfrm>
    </dsp:sp>
    <dsp:sp modelId="{F7A3DCE2-9B69-481E-A64F-16A35CA592D9}">
      <dsp:nvSpPr>
        <dsp:cNvPr id="0" name=""/>
        <dsp:cNvSpPr/>
      </dsp:nvSpPr>
      <dsp:spPr>
        <a:xfrm>
          <a:off x="1895286" y="2233534"/>
          <a:ext cx="403593" cy="1153564"/>
        </a:xfrm>
        <a:custGeom>
          <a:avLst/>
          <a:gdLst/>
          <a:ahLst/>
          <a:cxnLst/>
          <a:rect l="0" t="0" r="0" b="0"/>
          <a:pathLst>
            <a:path>
              <a:moveTo>
                <a:pt x="0" y="0"/>
              </a:moveTo>
              <a:lnTo>
                <a:pt x="201796" y="0"/>
              </a:lnTo>
              <a:lnTo>
                <a:pt x="201796" y="1153564"/>
              </a:lnTo>
              <a:lnTo>
                <a:pt x="403593" y="1153564"/>
              </a:lnTo>
            </a:path>
          </a:pathLst>
        </a:custGeom>
        <a:noFill/>
        <a:ln w="6350" cap="flat" cmpd="sng" algn="ctr">
          <a:solidFill>
            <a:schemeClr val="accent1">
              <a:tint val="90000"/>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066530" y="2779763"/>
        <a:ext cx="61106" cy="61106"/>
      </dsp:txXfrm>
    </dsp:sp>
    <dsp:sp modelId="{91F712EB-4CB6-4F2C-8880-9202214D8316}">
      <dsp:nvSpPr>
        <dsp:cNvPr id="0" name=""/>
        <dsp:cNvSpPr/>
      </dsp:nvSpPr>
      <dsp:spPr>
        <a:xfrm>
          <a:off x="1895286" y="2233534"/>
          <a:ext cx="403593" cy="384521"/>
        </a:xfrm>
        <a:custGeom>
          <a:avLst/>
          <a:gdLst/>
          <a:ahLst/>
          <a:cxnLst/>
          <a:rect l="0" t="0" r="0" b="0"/>
          <a:pathLst>
            <a:path>
              <a:moveTo>
                <a:pt x="0" y="0"/>
              </a:moveTo>
              <a:lnTo>
                <a:pt x="201796" y="0"/>
              </a:lnTo>
              <a:lnTo>
                <a:pt x="201796" y="384521"/>
              </a:lnTo>
              <a:lnTo>
                <a:pt x="403593" y="384521"/>
              </a:lnTo>
            </a:path>
          </a:pathLst>
        </a:custGeom>
        <a:noFill/>
        <a:ln w="6350" cap="flat" cmpd="sng" algn="ctr">
          <a:solidFill>
            <a:schemeClr val="accent1">
              <a:tint val="90000"/>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083147" y="2411859"/>
        <a:ext cx="27872" cy="27872"/>
      </dsp:txXfrm>
    </dsp:sp>
    <dsp:sp modelId="{7809FDE1-8E5B-46B3-B95D-A457688FC748}">
      <dsp:nvSpPr>
        <dsp:cNvPr id="0" name=""/>
        <dsp:cNvSpPr/>
      </dsp:nvSpPr>
      <dsp:spPr>
        <a:xfrm>
          <a:off x="1895286" y="1849012"/>
          <a:ext cx="403593" cy="384521"/>
        </a:xfrm>
        <a:custGeom>
          <a:avLst/>
          <a:gdLst/>
          <a:ahLst/>
          <a:cxnLst/>
          <a:rect l="0" t="0" r="0" b="0"/>
          <a:pathLst>
            <a:path>
              <a:moveTo>
                <a:pt x="0" y="384521"/>
              </a:moveTo>
              <a:lnTo>
                <a:pt x="201796" y="384521"/>
              </a:lnTo>
              <a:lnTo>
                <a:pt x="201796" y="0"/>
              </a:lnTo>
              <a:lnTo>
                <a:pt x="403593" y="0"/>
              </a:lnTo>
            </a:path>
          </a:pathLst>
        </a:custGeom>
        <a:noFill/>
        <a:ln w="6350" cap="flat" cmpd="sng" algn="ctr">
          <a:solidFill>
            <a:schemeClr val="accent1">
              <a:tint val="90000"/>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083147" y="2027337"/>
        <a:ext cx="27872" cy="27872"/>
      </dsp:txXfrm>
    </dsp:sp>
    <dsp:sp modelId="{F0D76F55-CBA0-4E39-8DA0-72A777C2D1A5}">
      <dsp:nvSpPr>
        <dsp:cNvPr id="0" name=""/>
        <dsp:cNvSpPr/>
      </dsp:nvSpPr>
      <dsp:spPr>
        <a:xfrm>
          <a:off x="1895286" y="1065216"/>
          <a:ext cx="403593" cy="1168318"/>
        </a:xfrm>
        <a:custGeom>
          <a:avLst/>
          <a:gdLst/>
          <a:ahLst/>
          <a:cxnLst/>
          <a:rect l="0" t="0" r="0" b="0"/>
          <a:pathLst>
            <a:path>
              <a:moveTo>
                <a:pt x="0" y="1168318"/>
              </a:moveTo>
              <a:lnTo>
                <a:pt x="201796" y="1168318"/>
              </a:lnTo>
              <a:lnTo>
                <a:pt x="201796" y="0"/>
              </a:lnTo>
              <a:lnTo>
                <a:pt x="403593" y="0"/>
              </a:lnTo>
            </a:path>
          </a:pathLst>
        </a:custGeom>
        <a:noFill/>
        <a:ln w="6350" cap="flat" cmpd="sng" algn="ctr">
          <a:solidFill>
            <a:schemeClr val="accent1">
              <a:tint val="90000"/>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US" sz="500" kern="1200"/>
        </a:p>
      </dsp:txBody>
      <dsp:txXfrm>
        <a:off x="2066182" y="1618473"/>
        <a:ext cx="61803" cy="61803"/>
      </dsp:txXfrm>
    </dsp:sp>
    <dsp:sp modelId="{C00648CC-6D3F-454C-8CD4-6A9309192E23}">
      <dsp:nvSpPr>
        <dsp:cNvPr id="0" name=""/>
        <dsp:cNvSpPr/>
      </dsp:nvSpPr>
      <dsp:spPr>
        <a:xfrm>
          <a:off x="1895286" y="307617"/>
          <a:ext cx="403593" cy="1925917"/>
        </a:xfrm>
        <a:custGeom>
          <a:avLst/>
          <a:gdLst/>
          <a:ahLst/>
          <a:cxnLst/>
          <a:rect l="0" t="0" r="0" b="0"/>
          <a:pathLst>
            <a:path>
              <a:moveTo>
                <a:pt x="0" y="1925917"/>
              </a:moveTo>
              <a:lnTo>
                <a:pt x="201796" y="1925917"/>
              </a:lnTo>
              <a:lnTo>
                <a:pt x="201796" y="0"/>
              </a:lnTo>
              <a:lnTo>
                <a:pt x="403593" y="0"/>
              </a:lnTo>
            </a:path>
          </a:pathLst>
        </a:custGeom>
        <a:noFill/>
        <a:ln w="6350" cap="flat" cmpd="sng" algn="ctr">
          <a:solidFill>
            <a:schemeClr val="accent1">
              <a:tint val="90000"/>
              <a:hueOff val="0"/>
              <a:satOff val="0"/>
              <a:lumOff val="0"/>
              <a:alphaOff val="0"/>
            </a:schemeClr>
          </a:solidFill>
          <a:prstDash val="solid"/>
          <a:miter lim="800000"/>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311150">
            <a:lnSpc>
              <a:spcPct val="90000"/>
            </a:lnSpc>
            <a:spcBef>
              <a:spcPct val="0"/>
            </a:spcBef>
            <a:spcAft>
              <a:spcPct val="35000"/>
            </a:spcAft>
            <a:buNone/>
          </a:pPr>
          <a:endParaRPr lang="en-US" sz="700" kern="1200"/>
        </a:p>
      </dsp:txBody>
      <dsp:txXfrm>
        <a:off x="2047890" y="1221382"/>
        <a:ext cx="98387" cy="98387"/>
      </dsp:txXfrm>
    </dsp:sp>
    <dsp:sp modelId="{D47A84ED-9820-4776-AD39-007F45442665}">
      <dsp:nvSpPr>
        <dsp:cNvPr id="0" name=""/>
        <dsp:cNvSpPr/>
      </dsp:nvSpPr>
      <dsp:spPr>
        <a:xfrm rot="16200000">
          <a:off x="-596769" y="1925917"/>
          <a:ext cx="4368878" cy="615234"/>
        </a:xfrm>
        <a:prstGeom prst="rect">
          <a:avLst/>
        </a:prstGeom>
        <a:solidFill>
          <a:schemeClr val="accent4">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22860" tIns="22860" rIns="22860" bIns="22860" numCol="1" spcCol="1270" anchor="ctr" anchorCtr="0">
          <a:noAutofit/>
        </a:bodyPr>
        <a:lstStyle/>
        <a:p>
          <a:pPr marL="0" lvl="0" indent="0" algn="ctr" defTabSz="1600200">
            <a:lnSpc>
              <a:spcPct val="90000"/>
            </a:lnSpc>
            <a:spcBef>
              <a:spcPct val="0"/>
            </a:spcBef>
            <a:spcAft>
              <a:spcPct val="35000"/>
            </a:spcAft>
            <a:buNone/>
          </a:pPr>
          <a:r>
            <a:rPr lang="en-US" sz="3600" b="1" kern="1200">
              <a:latin typeface="Arial" panose="020B0604020202020204" pitchFamily="34" charset="0"/>
              <a:cs typeface="Arial" panose="020B0604020202020204" pitchFamily="34" charset="0"/>
            </a:rPr>
            <a:t>General Ledger</a:t>
          </a:r>
        </a:p>
      </dsp:txBody>
      <dsp:txXfrm>
        <a:off x="-596769" y="1925917"/>
        <a:ext cx="4368878" cy="615234"/>
      </dsp:txXfrm>
    </dsp:sp>
    <dsp:sp modelId="{B2E2E14D-ADD3-4A7E-BF6A-74858AF2BA48}">
      <dsp:nvSpPr>
        <dsp:cNvPr id="0" name=""/>
        <dsp:cNvSpPr/>
      </dsp:nvSpPr>
      <dsp:spPr>
        <a:xfrm>
          <a:off x="2298880" y="0"/>
          <a:ext cx="4480639" cy="615234"/>
        </a:xfrm>
        <a:prstGeom prst="rect">
          <a:avLst/>
        </a:prstGeom>
        <a:solidFill>
          <a:schemeClr val="accent4">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b="1" u="none" kern="1200" dirty="0">
              <a:latin typeface="Arial" panose="020B0604020202020204" pitchFamily="34" charset="0"/>
              <a:cs typeface="Arial" panose="020B0604020202020204" pitchFamily="34" charset="0"/>
            </a:rPr>
            <a:t>Chart of accounts</a:t>
          </a:r>
          <a:endParaRPr lang="en-US" sz="2000" b="1" kern="1200" dirty="0">
            <a:latin typeface="Arial" panose="020B0604020202020204" pitchFamily="34" charset="0"/>
            <a:cs typeface="Arial" panose="020B0604020202020204" pitchFamily="34" charset="0"/>
          </a:endParaRPr>
        </a:p>
      </dsp:txBody>
      <dsp:txXfrm>
        <a:off x="2298880" y="0"/>
        <a:ext cx="4480639" cy="615234"/>
      </dsp:txXfrm>
    </dsp:sp>
    <dsp:sp modelId="{D2D33781-ACFC-4A6E-BD5C-AFE4F5AF39B5}">
      <dsp:nvSpPr>
        <dsp:cNvPr id="0" name=""/>
        <dsp:cNvSpPr/>
      </dsp:nvSpPr>
      <dsp:spPr>
        <a:xfrm>
          <a:off x="2298880" y="757598"/>
          <a:ext cx="4495955" cy="615234"/>
        </a:xfrm>
        <a:prstGeom prst="rect">
          <a:avLst/>
        </a:prstGeom>
        <a:solidFill>
          <a:schemeClr val="accent4">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b="1" u="none" kern="1200">
              <a:latin typeface="Arial" panose="020B0604020202020204" pitchFamily="34" charset="0"/>
              <a:cs typeface="Arial" panose="020B0604020202020204" pitchFamily="34" charset="0"/>
            </a:rPr>
            <a:t>Financial dimensions</a:t>
          </a:r>
          <a:endParaRPr lang="en-US" sz="2000" b="1" kern="1200">
            <a:latin typeface="Arial" panose="020B0604020202020204" pitchFamily="34" charset="0"/>
            <a:cs typeface="Arial" panose="020B0604020202020204" pitchFamily="34" charset="0"/>
          </a:endParaRPr>
        </a:p>
      </dsp:txBody>
      <dsp:txXfrm>
        <a:off x="2298880" y="757598"/>
        <a:ext cx="4495955" cy="615234"/>
      </dsp:txXfrm>
    </dsp:sp>
    <dsp:sp modelId="{3BCDF5CC-40A6-466D-A9DA-D3D24711EBCF}">
      <dsp:nvSpPr>
        <dsp:cNvPr id="0" name=""/>
        <dsp:cNvSpPr/>
      </dsp:nvSpPr>
      <dsp:spPr>
        <a:xfrm>
          <a:off x="2298880" y="1541395"/>
          <a:ext cx="4495955" cy="615234"/>
        </a:xfrm>
        <a:prstGeom prst="rect">
          <a:avLst/>
        </a:prstGeom>
        <a:solidFill>
          <a:schemeClr val="accent4">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b="1" u="none" kern="1200">
              <a:latin typeface="Arial" panose="020B0604020202020204" pitchFamily="34" charset="0"/>
              <a:cs typeface="Arial" panose="020B0604020202020204" pitchFamily="34" charset="0"/>
            </a:rPr>
            <a:t>Fiscal calendars</a:t>
          </a:r>
          <a:endParaRPr lang="en-US" sz="2000" b="1" kern="1200">
            <a:latin typeface="Arial" panose="020B0604020202020204" pitchFamily="34" charset="0"/>
            <a:cs typeface="Arial" panose="020B0604020202020204" pitchFamily="34" charset="0"/>
          </a:endParaRPr>
        </a:p>
      </dsp:txBody>
      <dsp:txXfrm>
        <a:off x="2298880" y="1541395"/>
        <a:ext cx="4495955" cy="615234"/>
      </dsp:txXfrm>
    </dsp:sp>
    <dsp:sp modelId="{EC6B3D8A-F821-4497-9325-E2BDF9D8E150}">
      <dsp:nvSpPr>
        <dsp:cNvPr id="0" name=""/>
        <dsp:cNvSpPr/>
      </dsp:nvSpPr>
      <dsp:spPr>
        <a:xfrm>
          <a:off x="2298880" y="2310438"/>
          <a:ext cx="4479711" cy="615234"/>
        </a:xfrm>
        <a:prstGeom prst="rect">
          <a:avLst/>
        </a:prstGeom>
        <a:solidFill>
          <a:schemeClr val="accent4">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b="1" u="none" kern="1200">
              <a:latin typeface="Arial" panose="020B0604020202020204" pitchFamily="34" charset="0"/>
              <a:cs typeface="Arial" panose="020B0604020202020204" pitchFamily="34" charset="0"/>
            </a:rPr>
            <a:t>Configure account structures</a:t>
          </a:r>
          <a:endParaRPr lang="en-US" sz="2000" b="1" kern="1200">
            <a:latin typeface="Arial" panose="020B0604020202020204" pitchFamily="34" charset="0"/>
            <a:cs typeface="Arial" panose="020B0604020202020204" pitchFamily="34" charset="0"/>
          </a:endParaRPr>
        </a:p>
      </dsp:txBody>
      <dsp:txXfrm>
        <a:off x="2298880" y="2310438"/>
        <a:ext cx="4479711" cy="615234"/>
      </dsp:txXfrm>
    </dsp:sp>
    <dsp:sp modelId="{DD6F950C-AB1B-43CD-877B-3A127AC4094C}">
      <dsp:nvSpPr>
        <dsp:cNvPr id="0" name=""/>
        <dsp:cNvSpPr/>
      </dsp:nvSpPr>
      <dsp:spPr>
        <a:xfrm>
          <a:off x="2298880" y="3079482"/>
          <a:ext cx="4448412" cy="615234"/>
        </a:xfrm>
        <a:prstGeom prst="rect">
          <a:avLst/>
        </a:prstGeom>
        <a:solidFill>
          <a:schemeClr val="accent4">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b="1" u="none" kern="1200">
              <a:latin typeface="Arial" panose="020B0604020202020204" pitchFamily="34" charset="0"/>
              <a:cs typeface="Arial" panose="020B0604020202020204" pitchFamily="34" charset="0"/>
            </a:rPr>
            <a:t>Currency exchange rates</a:t>
          </a:r>
          <a:endParaRPr lang="en-US" sz="2000" b="1" kern="1200">
            <a:latin typeface="Arial" panose="020B0604020202020204" pitchFamily="34" charset="0"/>
            <a:cs typeface="Arial" panose="020B0604020202020204" pitchFamily="34" charset="0"/>
          </a:endParaRPr>
        </a:p>
      </dsp:txBody>
      <dsp:txXfrm>
        <a:off x="2298880" y="3079482"/>
        <a:ext cx="4448412" cy="615234"/>
      </dsp:txXfrm>
    </dsp:sp>
    <dsp:sp modelId="{36AF66B7-49A3-4F7E-B7B6-17177D50997B}">
      <dsp:nvSpPr>
        <dsp:cNvPr id="0" name=""/>
        <dsp:cNvSpPr/>
      </dsp:nvSpPr>
      <dsp:spPr>
        <a:xfrm>
          <a:off x="2298880" y="3848525"/>
          <a:ext cx="4416326" cy="615234"/>
        </a:xfrm>
        <a:prstGeom prst="rect">
          <a:avLst/>
        </a:prstGeom>
        <a:solidFill>
          <a:schemeClr val="accent4">
            <a:lumMod val="75000"/>
          </a:schemeClr>
        </a:soli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2700" tIns="12700" rIns="12700" bIns="12700" numCol="1" spcCol="1270" anchor="ctr" anchorCtr="0">
          <a:noAutofit/>
        </a:bodyPr>
        <a:lstStyle/>
        <a:p>
          <a:pPr marL="0" lvl="0" indent="0" algn="ctr" defTabSz="889000">
            <a:lnSpc>
              <a:spcPct val="90000"/>
            </a:lnSpc>
            <a:spcBef>
              <a:spcPct val="0"/>
            </a:spcBef>
            <a:spcAft>
              <a:spcPct val="35000"/>
            </a:spcAft>
            <a:buNone/>
          </a:pPr>
          <a:r>
            <a:rPr lang="en-US" sz="2000" b="1" u="none" kern="1200">
              <a:latin typeface="Arial" panose="020B0604020202020204" pitchFamily="34" charset="0"/>
              <a:cs typeface="Arial" panose="020B0604020202020204" pitchFamily="34" charset="0"/>
            </a:rPr>
            <a:t>Journal names</a:t>
          </a:r>
          <a:endParaRPr lang="en-US" sz="2000" b="1" kern="1200">
            <a:latin typeface="Arial" panose="020B0604020202020204" pitchFamily="34" charset="0"/>
            <a:cs typeface="Arial" panose="020B0604020202020204" pitchFamily="34" charset="0"/>
          </a:endParaRPr>
        </a:p>
      </dsp:txBody>
      <dsp:txXfrm>
        <a:off x="2298880" y="3848525"/>
        <a:ext cx="4416326" cy="61523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227931E-0FA8-4A3C-BA8E-FE4C1465E0AB}">
      <dsp:nvSpPr>
        <dsp:cNvPr id="0" name=""/>
        <dsp:cNvSpPr/>
      </dsp:nvSpPr>
      <dsp:spPr>
        <a:xfrm>
          <a:off x="1174525" y="160"/>
          <a:ext cx="1515879" cy="757939"/>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36195" tIns="24130" rIns="36195" bIns="24130" numCol="1" spcCol="1270" anchor="ctr" anchorCtr="0">
          <a:noAutofit/>
        </a:bodyPr>
        <a:lstStyle/>
        <a:p>
          <a:pPr marL="0" lvl="0" indent="0" algn="ctr" defTabSz="844550">
            <a:lnSpc>
              <a:spcPct val="90000"/>
            </a:lnSpc>
            <a:spcBef>
              <a:spcPct val="0"/>
            </a:spcBef>
            <a:spcAft>
              <a:spcPct val="35000"/>
            </a:spcAft>
            <a:buNone/>
          </a:pPr>
          <a:r>
            <a:rPr lang="en-US" sz="1900" b="1" kern="1200" dirty="0">
              <a:latin typeface="Arial" panose="020B0604020202020204" pitchFamily="34" charset="0"/>
              <a:cs typeface="Arial" panose="020B0604020202020204" pitchFamily="34" charset="0"/>
            </a:rPr>
            <a:t>Setup</a:t>
          </a:r>
        </a:p>
      </dsp:txBody>
      <dsp:txXfrm>
        <a:off x="1196724" y="22359"/>
        <a:ext cx="1471481" cy="713541"/>
      </dsp:txXfrm>
    </dsp:sp>
    <dsp:sp modelId="{0DCC375F-ADD9-424E-A8A3-A65EFF407B69}">
      <dsp:nvSpPr>
        <dsp:cNvPr id="0" name=""/>
        <dsp:cNvSpPr/>
      </dsp:nvSpPr>
      <dsp:spPr>
        <a:xfrm>
          <a:off x="1326113" y="758100"/>
          <a:ext cx="151587" cy="568454"/>
        </a:xfrm>
        <a:custGeom>
          <a:avLst/>
          <a:gdLst/>
          <a:ahLst/>
          <a:cxnLst/>
          <a:rect l="0" t="0" r="0" b="0"/>
          <a:pathLst>
            <a:path>
              <a:moveTo>
                <a:pt x="0" y="0"/>
              </a:moveTo>
              <a:lnTo>
                <a:pt x="0" y="568454"/>
              </a:lnTo>
              <a:lnTo>
                <a:pt x="151587" y="56845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E6122CC-F925-4193-8B5C-EF332E588514}">
      <dsp:nvSpPr>
        <dsp:cNvPr id="0" name=""/>
        <dsp:cNvSpPr/>
      </dsp:nvSpPr>
      <dsp:spPr>
        <a:xfrm>
          <a:off x="1477701" y="947585"/>
          <a:ext cx="1212703" cy="757939"/>
        </a:xfrm>
        <a:prstGeom prst="roundRect">
          <a:avLst>
            <a:gd name="adj" fmla="val 10000"/>
          </a:avLst>
        </a:prstGeom>
        <a:noFill/>
        <a:ln w="9525" cap="flat" cmpd="sng" algn="ctr">
          <a:solidFill>
            <a:schemeClr val="accent2"/>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2"/>
        </a:fontRef>
      </dsp:style>
      <dsp:txBody>
        <a:bodyPr spcFirstLastPara="0" vert="horz" wrap="square" lIns="30480" tIns="20320" rIns="30480" bIns="20320" numCol="1" spcCol="1270" anchor="ctr" anchorCtr="0">
          <a:noAutofit/>
        </a:bodyPr>
        <a:lstStyle/>
        <a:p>
          <a:pPr marL="0" lvl="0" indent="0" algn="ctr" defTabSz="711200">
            <a:lnSpc>
              <a:spcPct val="90000"/>
            </a:lnSpc>
            <a:spcBef>
              <a:spcPct val="0"/>
            </a:spcBef>
            <a:spcAft>
              <a:spcPct val="35000"/>
            </a:spcAft>
            <a:buNone/>
          </a:pPr>
          <a:r>
            <a:rPr lang="en-US" sz="1600" b="0" kern="120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Vendor Groups</a:t>
          </a:r>
        </a:p>
      </dsp:txBody>
      <dsp:txXfrm>
        <a:off x="1499900" y="969784"/>
        <a:ext cx="1168305" cy="713541"/>
      </dsp:txXfrm>
    </dsp:sp>
    <dsp:sp modelId="{94C51476-1E28-4ADA-ADC4-6A69321C71B8}">
      <dsp:nvSpPr>
        <dsp:cNvPr id="0" name=""/>
        <dsp:cNvSpPr/>
      </dsp:nvSpPr>
      <dsp:spPr>
        <a:xfrm>
          <a:off x="1326113" y="758100"/>
          <a:ext cx="151587" cy="1515879"/>
        </a:xfrm>
        <a:custGeom>
          <a:avLst/>
          <a:gdLst/>
          <a:ahLst/>
          <a:cxnLst/>
          <a:rect l="0" t="0" r="0" b="0"/>
          <a:pathLst>
            <a:path>
              <a:moveTo>
                <a:pt x="0" y="0"/>
              </a:moveTo>
              <a:lnTo>
                <a:pt x="0" y="1515879"/>
              </a:lnTo>
              <a:lnTo>
                <a:pt x="151587" y="151587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ABE029F-4E7E-4B59-BC78-F6AA3DDBBE1E}">
      <dsp:nvSpPr>
        <dsp:cNvPr id="0" name=""/>
        <dsp:cNvSpPr/>
      </dsp:nvSpPr>
      <dsp:spPr>
        <a:xfrm>
          <a:off x="1477701" y="1895009"/>
          <a:ext cx="1212703" cy="757939"/>
        </a:xfrm>
        <a:prstGeom prst="roundRect">
          <a:avLst>
            <a:gd name="adj" fmla="val 10000"/>
          </a:avLst>
        </a:prstGeom>
        <a:noFill/>
        <a:ln w="9525" cap="flat" cmpd="sng" algn="ctr">
          <a:solidFill>
            <a:schemeClr val="accent2"/>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2"/>
        </a:fontRef>
      </dsp:style>
      <dsp:txBody>
        <a:bodyPr spcFirstLastPara="0" vert="horz" wrap="square" lIns="30480" tIns="20320" rIns="30480" bIns="20320" numCol="1" spcCol="1270" anchor="ctr" anchorCtr="0">
          <a:noAutofit/>
        </a:bodyPr>
        <a:lstStyle/>
        <a:p>
          <a:pPr marL="0" lvl="0" indent="0" algn="ctr" defTabSz="711200">
            <a:lnSpc>
              <a:spcPct val="90000"/>
            </a:lnSpc>
            <a:spcBef>
              <a:spcPct val="0"/>
            </a:spcBef>
            <a:spcAft>
              <a:spcPct val="35000"/>
            </a:spcAft>
            <a:buNone/>
          </a:pPr>
          <a:r>
            <a:rPr lang="en-US" sz="1600" b="0" kern="1200"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Vendor Posting Profile</a:t>
          </a:r>
          <a:endParaRPr lang="en-US" sz="1600" b="0" kern="120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endParaRPr>
        </a:p>
      </dsp:txBody>
      <dsp:txXfrm>
        <a:off x="1499900" y="1917208"/>
        <a:ext cx="1168305" cy="713541"/>
      </dsp:txXfrm>
    </dsp:sp>
    <dsp:sp modelId="{C5A39DCF-9994-48F4-BA2F-F496DCA838E1}">
      <dsp:nvSpPr>
        <dsp:cNvPr id="0" name=""/>
        <dsp:cNvSpPr/>
      </dsp:nvSpPr>
      <dsp:spPr>
        <a:xfrm>
          <a:off x="1326113" y="758100"/>
          <a:ext cx="151587" cy="2463303"/>
        </a:xfrm>
        <a:custGeom>
          <a:avLst/>
          <a:gdLst/>
          <a:ahLst/>
          <a:cxnLst/>
          <a:rect l="0" t="0" r="0" b="0"/>
          <a:pathLst>
            <a:path>
              <a:moveTo>
                <a:pt x="0" y="0"/>
              </a:moveTo>
              <a:lnTo>
                <a:pt x="0" y="2463303"/>
              </a:lnTo>
              <a:lnTo>
                <a:pt x="151587" y="2463303"/>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0C266C6-0B14-4E4A-8A28-CA218D77E06A}">
      <dsp:nvSpPr>
        <dsp:cNvPr id="0" name=""/>
        <dsp:cNvSpPr/>
      </dsp:nvSpPr>
      <dsp:spPr>
        <a:xfrm>
          <a:off x="1477701" y="2842434"/>
          <a:ext cx="1212703" cy="757939"/>
        </a:xfrm>
        <a:prstGeom prst="roundRect">
          <a:avLst>
            <a:gd name="adj" fmla="val 10000"/>
          </a:avLst>
        </a:prstGeom>
        <a:noFill/>
        <a:ln w="9525" cap="flat" cmpd="sng" algn="ctr">
          <a:solidFill>
            <a:schemeClr val="accent2"/>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2"/>
        </a:fontRef>
      </dsp:style>
      <dsp:txBody>
        <a:bodyPr spcFirstLastPara="0" vert="horz" wrap="square" lIns="30480" tIns="20320" rIns="30480" bIns="20320" numCol="1" spcCol="1270" anchor="ctr" anchorCtr="0">
          <a:noAutofit/>
        </a:bodyPr>
        <a:lstStyle/>
        <a:p>
          <a:pPr marL="0" lvl="0" indent="0" algn="ctr" defTabSz="711200">
            <a:lnSpc>
              <a:spcPct val="90000"/>
            </a:lnSpc>
            <a:spcBef>
              <a:spcPct val="0"/>
            </a:spcBef>
            <a:spcAft>
              <a:spcPct val="35000"/>
            </a:spcAft>
            <a:buNone/>
          </a:pPr>
          <a:r>
            <a:rPr lang="en-US" sz="1600" b="0" kern="120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Create New Vendors </a:t>
          </a:r>
        </a:p>
      </dsp:txBody>
      <dsp:txXfrm>
        <a:off x="1499900" y="2864633"/>
        <a:ext cx="1168305" cy="713541"/>
      </dsp:txXfrm>
    </dsp:sp>
    <dsp:sp modelId="{080B8C5B-607C-498E-A3F7-46B12553203A}">
      <dsp:nvSpPr>
        <dsp:cNvPr id="0" name=""/>
        <dsp:cNvSpPr/>
      </dsp:nvSpPr>
      <dsp:spPr>
        <a:xfrm>
          <a:off x="1326113" y="758100"/>
          <a:ext cx="151587" cy="3410728"/>
        </a:xfrm>
        <a:custGeom>
          <a:avLst/>
          <a:gdLst/>
          <a:ahLst/>
          <a:cxnLst/>
          <a:rect l="0" t="0" r="0" b="0"/>
          <a:pathLst>
            <a:path>
              <a:moveTo>
                <a:pt x="0" y="0"/>
              </a:moveTo>
              <a:lnTo>
                <a:pt x="0" y="3410728"/>
              </a:lnTo>
              <a:lnTo>
                <a:pt x="151587" y="3410728"/>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D3B17CB-8021-45A8-BAC0-9265FCF5935F}">
      <dsp:nvSpPr>
        <dsp:cNvPr id="0" name=""/>
        <dsp:cNvSpPr/>
      </dsp:nvSpPr>
      <dsp:spPr>
        <a:xfrm>
          <a:off x="1477701" y="3789858"/>
          <a:ext cx="1212703" cy="757939"/>
        </a:xfrm>
        <a:prstGeom prst="roundRect">
          <a:avLst>
            <a:gd name="adj" fmla="val 10000"/>
          </a:avLst>
        </a:prstGeom>
        <a:noFill/>
        <a:ln w="9525" cap="flat" cmpd="sng" algn="ctr">
          <a:solidFill>
            <a:schemeClr val="accent2"/>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2"/>
        </a:fontRef>
      </dsp:style>
      <dsp:txBody>
        <a:bodyPr spcFirstLastPara="0" vert="horz" wrap="square" lIns="30480" tIns="20320" rIns="30480" bIns="20320" numCol="1" spcCol="1270" anchor="ctr" anchorCtr="0">
          <a:noAutofit/>
        </a:bodyPr>
        <a:lstStyle/>
        <a:p>
          <a:pPr marL="0" lvl="0" indent="0" algn="ctr" defTabSz="711200">
            <a:lnSpc>
              <a:spcPct val="90000"/>
            </a:lnSpc>
            <a:spcBef>
              <a:spcPct val="0"/>
            </a:spcBef>
            <a:spcAft>
              <a:spcPct val="35000"/>
            </a:spcAft>
            <a:buNone/>
          </a:pPr>
          <a:r>
            <a:rPr lang="en-US" sz="1600" b="0" u="none" kern="1200"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Methods Of Payment</a:t>
          </a:r>
          <a:endParaRPr lang="en-US" sz="1600" b="0" kern="120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endParaRPr>
        </a:p>
      </dsp:txBody>
      <dsp:txXfrm>
        <a:off x="1499900" y="3812057"/>
        <a:ext cx="1168305" cy="713541"/>
      </dsp:txXfrm>
    </dsp:sp>
    <dsp:sp modelId="{E251A480-73AF-44AB-892A-D96847B69061}">
      <dsp:nvSpPr>
        <dsp:cNvPr id="0" name=""/>
        <dsp:cNvSpPr/>
      </dsp:nvSpPr>
      <dsp:spPr>
        <a:xfrm>
          <a:off x="3069374" y="160"/>
          <a:ext cx="1515879" cy="757939"/>
        </a:xfrm>
        <a:prstGeom prst="roundRect">
          <a:avLst>
            <a:gd name="adj" fmla="val 10000"/>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36195" tIns="24130" rIns="36195" bIns="24130" numCol="1" spcCol="1270" anchor="ctr" anchorCtr="0">
          <a:noAutofit/>
        </a:bodyPr>
        <a:lstStyle/>
        <a:p>
          <a:pPr marL="0" lvl="0" indent="0" algn="ctr" defTabSz="844550">
            <a:lnSpc>
              <a:spcPct val="90000"/>
            </a:lnSpc>
            <a:spcBef>
              <a:spcPct val="0"/>
            </a:spcBef>
            <a:spcAft>
              <a:spcPct val="35000"/>
            </a:spcAft>
            <a:buNone/>
          </a:pPr>
          <a:r>
            <a:rPr lang="en-US" sz="1900" b="1" kern="1200">
              <a:latin typeface="Arial" panose="020B0604020202020204" pitchFamily="34" charset="0"/>
              <a:cs typeface="Arial" panose="020B0604020202020204" pitchFamily="34" charset="0"/>
            </a:rPr>
            <a:t>Transaction</a:t>
          </a:r>
        </a:p>
      </dsp:txBody>
      <dsp:txXfrm>
        <a:off x="3091573" y="22359"/>
        <a:ext cx="1471481" cy="713541"/>
      </dsp:txXfrm>
    </dsp:sp>
    <dsp:sp modelId="{FDF8DB27-57C5-4060-8E22-438E27DD0926}">
      <dsp:nvSpPr>
        <dsp:cNvPr id="0" name=""/>
        <dsp:cNvSpPr/>
      </dsp:nvSpPr>
      <dsp:spPr>
        <a:xfrm>
          <a:off x="3220962" y="758100"/>
          <a:ext cx="151587" cy="568454"/>
        </a:xfrm>
        <a:custGeom>
          <a:avLst/>
          <a:gdLst/>
          <a:ahLst/>
          <a:cxnLst/>
          <a:rect l="0" t="0" r="0" b="0"/>
          <a:pathLst>
            <a:path>
              <a:moveTo>
                <a:pt x="0" y="0"/>
              </a:moveTo>
              <a:lnTo>
                <a:pt x="0" y="568454"/>
              </a:lnTo>
              <a:lnTo>
                <a:pt x="151587" y="568454"/>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F61C5A9-590D-49AB-9F5F-EE52365DED6E}">
      <dsp:nvSpPr>
        <dsp:cNvPr id="0" name=""/>
        <dsp:cNvSpPr/>
      </dsp:nvSpPr>
      <dsp:spPr>
        <a:xfrm>
          <a:off x="3372550" y="947585"/>
          <a:ext cx="1212703" cy="757939"/>
        </a:xfrm>
        <a:prstGeom prst="roundRect">
          <a:avLst>
            <a:gd name="adj" fmla="val 10000"/>
          </a:avLst>
        </a:prstGeom>
        <a:noFill/>
        <a:ln w="9525" cap="flat" cmpd="sng" algn="ctr">
          <a:solidFill>
            <a:schemeClr val="accent2"/>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2"/>
        </a:fontRef>
      </dsp:style>
      <dsp:txBody>
        <a:bodyPr spcFirstLastPara="0" vert="horz" wrap="square" lIns="30480" tIns="20320" rIns="30480" bIns="20320" numCol="1" spcCol="1270" anchor="ctr" anchorCtr="0">
          <a:noAutofit/>
        </a:bodyPr>
        <a:lstStyle/>
        <a:p>
          <a:pPr marL="0" lvl="0" indent="0" algn="ctr" defTabSz="711200">
            <a:lnSpc>
              <a:spcPct val="90000"/>
            </a:lnSpc>
            <a:spcBef>
              <a:spcPct val="0"/>
            </a:spcBef>
            <a:spcAft>
              <a:spcPct val="35000"/>
            </a:spcAft>
            <a:buNone/>
          </a:pPr>
          <a:r>
            <a:rPr lang="en-US" sz="1600" b="0" u="none" kern="1200"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Invoice Journal</a:t>
          </a:r>
          <a:endParaRPr lang="en-US" sz="1600" b="0" kern="120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endParaRPr>
        </a:p>
      </dsp:txBody>
      <dsp:txXfrm>
        <a:off x="3394749" y="969784"/>
        <a:ext cx="1168305" cy="713541"/>
      </dsp:txXfrm>
    </dsp:sp>
    <dsp:sp modelId="{0ECC7159-992A-4040-BB1A-70B34690A414}">
      <dsp:nvSpPr>
        <dsp:cNvPr id="0" name=""/>
        <dsp:cNvSpPr/>
      </dsp:nvSpPr>
      <dsp:spPr>
        <a:xfrm>
          <a:off x="3220962" y="758100"/>
          <a:ext cx="151587" cy="1515879"/>
        </a:xfrm>
        <a:custGeom>
          <a:avLst/>
          <a:gdLst/>
          <a:ahLst/>
          <a:cxnLst/>
          <a:rect l="0" t="0" r="0" b="0"/>
          <a:pathLst>
            <a:path>
              <a:moveTo>
                <a:pt x="0" y="0"/>
              </a:moveTo>
              <a:lnTo>
                <a:pt x="0" y="1515879"/>
              </a:lnTo>
              <a:lnTo>
                <a:pt x="151587" y="1515879"/>
              </a:lnTo>
            </a:path>
          </a:pathLst>
        </a:custGeom>
        <a:noFill/>
        <a:ln w="1270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6FA7C25E-5A93-4DA9-B9B7-6977AD1E7777}">
      <dsp:nvSpPr>
        <dsp:cNvPr id="0" name=""/>
        <dsp:cNvSpPr/>
      </dsp:nvSpPr>
      <dsp:spPr>
        <a:xfrm>
          <a:off x="3372550" y="1895009"/>
          <a:ext cx="1212703" cy="757939"/>
        </a:xfrm>
        <a:prstGeom prst="roundRect">
          <a:avLst>
            <a:gd name="adj" fmla="val 10000"/>
          </a:avLst>
        </a:prstGeom>
        <a:noFill/>
        <a:ln w="9525" cap="flat" cmpd="sng" algn="ctr">
          <a:solidFill>
            <a:schemeClr val="accent2"/>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2"/>
        </a:fontRef>
      </dsp:style>
      <dsp:txBody>
        <a:bodyPr spcFirstLastPara="0" vert="horz" wrap="square" lIns="30480" tIns="20320" rIns="30480" bIns="20320" numCol="1" spcCol="1270" anchor="ctr" anchorCtr="0">
          <a:noAutofit/>
        </a:bodyPr>
        <a:lstStyle/>
        <a:p>
          <a:pPr marL="0" lvl="0" indent="0" algn="ctr" defTabSz="711200">
            <a:lnSpc>
              <a:spcPct val="90000"/>
            </a:lnSpc>
            <a:spcBef>
              <a:spcPct val="0"/>
            </a:spcBef>
            <a:spcAft>
              <a:spcPct val="35000"/>
            </a:spcAft>
            <a:buNone/>
          </a:pPr>
          <a:r>
            <a:rPr lang="en-US" sz="1600" b="0" u="none" kern="1200" cap="none" spc="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Vendor Payment Journal</a:t>
          </a:r>
          <a:endParaRPr lang="en-US" sz="1600" b="0" kern="1200" cap="none" spc="0" dirty="0">
            <a:ln w="0"/>
            <a:solidFill>
              <a:schemeClr val="accent1"/>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endParaRPr>
        </a:p>
      </dsp:txBody>
      <dsp:txXfrm>
        <a:off x="3394749" y="1917208"/>
        <a:ext cx="1168305" cy="713541"/>
      </dsp:txXfrm>
    </dsp:sp>
  </dsp:spTree>
</dsp:drawing>
</file>

<file path=ppt/diagrams/layout1.xml><?xml version="1.0" encoding="utf-8"?>
<dgm:layoutDef xmlns:dgm="http://schemas.openxmlformats.org/drawingml/2006/diagram" xmlns:a="http://schemas.openxmlformats.org/drawingml/2006/main" uniqueId="urn:microsoft.com/office/officeart/2008/layout/HorizontalMultiLevelHierarchy#1">
  <dgm:title val=""/>
  <dgm:desc val=""/>
  <dgm:catLst>
    <dgm:cat type="hierarchy" pri="46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clrData>
  <dgm:layoutNode name="Name0">
    <dgm:varLst>
      <dgm:chPref val="1"/>
      <dgm:dir/>
      <dgm:animOne val="branch"/>
      <dgm:animLvl val="lvl"/>
      <dgm:resizeHandles val="exact"/>
    </dgm:varLst>
    <dgm:choose name="Name1">
      <dgm:if name="Name2" func="var" arg="dir" op="equ" val="norm">
        <dgm:alg type="hierChild">
          <dgm:param type="linDir" val="fromT"/>
          <dgm:param type="chAlign" val="l"/>
        </dgm:alg>
      </dgm:if>
      <dgm:else name="Name3">
        <dgm:alg type="hierChild">
          <dgm:param type="linDir" val="fromT"/>
          <dgm:param type="chAlign" val="r"/>
        </dgm:alg>
      </dgm:else>
    </dgm:choose>
    <dgm:shape xmlns:r="http://schemas.openxmlformats.org/officeDocument/2006/relationships" r:blip="">
      <dgm:adjLst/>
    </dgm:shape>
    <dgm:presOf/>
    <dgm:constrLst>
      <dgm:constr type="h" for="des" forName="LevelOneTextNode" refType="h"/>
      <dgm:constr type="w" for="des" forName="LevelOneTextNode" refType="h" refFor="des" refForName="LevelOneTextNode" fact="0.19"/>
      <dgm:constr type="h" for="des" forName="LevelTwoTextNode" refType="w" refFor="des" refForName="LevelOneTextNode"/>
      <dgm:constr type="w" for="des" forName="LevelTwoTextNode" refType="h" refFor="des" refForName="LevelTwoTextNode" fact="3.28"/>
      <dgm:constr type="sibSp" refType="h" refFor="des" refForName="LevelTwoTextNode" op="equ" fact="0.25"/>
      <dgm:constr type="sibSp" for="des" forName="level2hierChild" refType="h" refFor="des" refForName="LevelTwoTextNode" op="equ" fact="0.25"/>
      <dgm:constr type="sibSp" for="des" forName="level3hierChild" refType="h" refFor="des" refForName="LevelTwoTextNode" op="equ" fact="0.25"/>
      <dgm:constr type="sp" for="des" forName="root1" refType="w" refFor="des" refForName="LevelTwoTextNode" fact="0.2"/>
      <dgm:constr type="sp" for="des" forName="root2" refType="sp" refFor="des" refForName="root1" op="equ"/>
      <dgm:constr type="primFontSz" for="des" forName="LevelOneTextNode" op="equ" val="65"/>
      <dgm:constr type="primFontSz" for="des" forName="LevelTwoTextNode" op="equ" val="65"/>
      <dgm:constr type="primFontSz" for="des" forName="LevelTwoTextNode" refType="primFontSz" refFor="des" refForName="LevelOneTextNode" op="lte"/>
      <dgm:constr type="primFontSz" for="des" forName="connTx" op="equ" val="50"/>
      <dgm:constr type="primFontSz" for="des" forName="connTx" refType="primFontSz" refFor="des" refForName="LevelOneTextNode" op="lte" fact="0.78"/>
    </dgm:constrLst>
    <dgm:forEach name="Name4" axis="ch">
      <dgm:forEach name="Name5" axis="self" ptType="node">
        <dgm:layoutNode name="root1">
          <dgm:choose name="Name6">
            <dgm:if name="Name7" func="var" arg="dir" op="equ" val="norm">
              <dgm:alg type="hierRoot">
                <dgm:param type="hierAlign" val="lCtrCh"/>
              </dgm:alg>
            </dgm:if>
            <dgm:else name="Name8">
              <dgm:alg type="hierRoot">
                <dgm:param type="hierAlign" val="rCtrCh"/>
              </dgm:alg>
            </dgm:else>
          </dgm:choose>
          <dgm:shape xmlns:r="http://schemas.openxmlformats.org/officeDocument/2006/relationships" r:blip="">
            <dgm:adjLst/>
          </dgm:shape>
          <dgm:presOf/>
          <dgm:layoutNode name="LevelOneTextNode" styleLbl="node0">
            <dgm:varLst>
              <dgm:chPref val="3"/>
            </dgm:varLst>
            <dgm:alg type="tx">
              <dgm:param type="autoTxRot" val="grav"/>
            </dgm:alg>
            <dgm:choose name="Name9">
              <dgm:if name="Name10" func="var" arg="dir" op="equ" val="norm">
                <dgm:shape xmlns:r="http://schemas.openxmlformats.org/officeDocument/2006/relationships" rot="270" type="rect" r:blip="">
                  <dgm:adjLst/>
                </dgm:shape>
              </dgm:if>
              <dgm:else name="Name11">
                <dgm:shape xmlns:r="http://schemas.openxmlformats.org/officeDocument/2006/relationships" rot="90" type="rect" r:blip="">
                  <dgm:adjLst/>
                </dgm:shape>
              </dgm:else>
            </dgm:choose>
            <dgm:presOf axis="self"/>
            <dgm:constrLst>
              <dgm:constr type="tMarg" refType="primFontSz" fact="0.05"/>
              <dgm:constr type="bMarg" refType="primFontSz" fact="0.05"/>
              <dgm:constr type="lMarg" refType="primFontSz" fact="0.05"/>
              <dgm:constr type="rMarg" refType="primFontSz" fact="0.05"/>
            </dgm:constrLst>
            <dgm:ruleLst>
              <dgm:rule type="primFontSz" val="2" fact="NaN" max="NaN"/>
            </dgm:ruleLst>
          </dgm:layoutNode>
          <dgm:layoutNode name="level2hierChild">
            <dgm:choose name="Name12">
              <dgm:if name="Name13" func="var" arg="dir" op="equ" val="norm">
                <dgm:alg type="hierChild">
                  <dgm:param type="linDir" val="fromT"/>
                  <dgm:param type="chAlign" val="l"/>
                </dgm:alg>
              </dgm:if>
              <dgm:else name="Name14">
                <dgm:alg type="hierChild">
                  <dgm:param type="linDir" val="fromT"/>
                  <dgm:param type="chAlign" val="r"/>
                </dgm:alg>
              </dgm:else>
            </dgm:choose>
            <dgm:shape xmlns:r="http://schemas.openxmlformats.org/officeDocument/2006/relationships" r:blip="">
              <dgm:adjLst/>
            </dgm:shape>
            <dgm:presOf/>
            <dgm:forEach name="repeat" axis="ch">
              <dgm:forEach name="Name15" axis="self" ptType="parTrans" cnt="1">
                <dgm:layoutNode name="conn2-1">
                  <dgm:choose name="Name16">
                    <dgm:if name="Name17" func="var" arg="dir" op="equ" val="norm">
                      <dgm:alg type="conn">
                        <dgm:param type="dim" val="1D"/>
                        <dgm:param type="endSty" val="noArr"/>
                        <dgm:param type="connRout" val="bend"/>
                        <dgm:param type="begPts" val="midR"/>
                        <dgm:param type="endPts" val="midL"/>
                      </dgm:alg>
                    </dgm:if>
                    <dgm:else name="Name18">
                      <dgm:alg type="conn">
                        <dgm:param type="dim" val="1D"/>
                        <dgm:param type="endSty" val="noArr"/>
                        <dgm:param type="connRout" val="bend"/>
                        <dgm:param type="begPts" val="midL"/>
                        <dgm:param type="endPts" val="midR"/>
                      </dgm:alg>
                    </dgm:else>
                  </dgm:choose>
                  <dgm:shape xmlns:r="http://schemas.openxmlformats.org/officeDocument/2006/relationships" type="conn" r:blip="" zOrderOff="-99999">
                    <dgm:adjLst/>
                  </dgm:shape>
                  <dgm:presOf axis="self"/>
                  <dgm:constrLst>
                    <dgm:constr type="w" val="1"/>
                    <dgm:constr type="h" val="5"/>
                    <dgm:constr type="connDist"/>
                    <dgm:constr type="begPad"/>
                    <dgm:constr type="endPad"/>
                    <dgm:constr type="userA" for="ch" refType="connDist"/>
                  </dgm:constr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h" val="NaN" fact="0.25" max="NaN"/>
                      <dgm:rule type="w" val="NaN" fact="0.8" max="NaN"/>
                      <dgm:rule type="primFontSz" val="5" fact="NaN" max="NaN"/>
                    </dgm:ruleLst>
                  </dgm:layoutNode>
                </dgm:layoutNode>
              </dgm:forEach>
              <dgm:forEach name="Name19" axis="self" ptType="node">
                <dgm:layoutNode name="root2">
                  <dgm:choose name="Name20">
                    <dgm:if name="Name21" func="var" arg="dir" op="equ" val="norm">
                      <dgm:alg type="hierRoot">
                        <dgm:param type="hierAlign" val="lCtrCh"/>
                      </dgm:alg>
                    </dgm:if>
                    <dgm:else name="Name22">
                      <dgm:alg type="hierRoot">
                        <dgm:param type="hierAlign" val="rCtrCh"/>
                      </dgm:alg>
                    </dgm:else>
                  </dgm:choose>
                  <dgm:shape xmlns:r="http://schemas.openxmlformats.org/officeDocument/2006/relationships" r:blip="">
                    <dgm:adjLst/>
                  </dgm:shape>
                  <dgm:presOf/>
                  <dgm:layoutNode name="LevelTwoTextNode">
                    <dgm:varLst>
                      <dgm:chPref val="3"/>
                    </dgm:varLst>
                    <dgm:alg type="tx"/>
                    <dgm:shape xmlns:r="http://schemas.openxmlformats.org/officeDocument/2006/relationships" type="rect" r:blip="">
                      <dgm:adjLst/>
                    </dgm:shape>
                    <dgm:presOf axis="self"/>
                    <dgm:constrLst>
                      <dgm:constr type="tMarg" refType="primFontSz" fact="0.05"/>
                      <dgm:constr type="bMarg" refType="primFontSz" fact="0.05"/>
                      <dgm:constr type="lMarg" refType="primFontSz" fact="0.05"/>
                      <dgm:constr type="rMarg" refType="primFontSz" fact="0.05"/>
                    </dgm:constrLst>
                    <dgm:ruleLst>
                      <dgm:rule type="primFontSz" val="2" fact="NaN" max="NaN"/>
                    </dgm:ruleLst>
                  </dgm:layoutNode>
                  <dgm:layoutNode name="level3hierChild">
                    <dgm:choose name="Name23">
                      <dgm:if name="Name24" func="var" arg="dir" op="equ" val="norm">
                        <dgm:alg type="hierChild">
                          <dgm:param type="linDir" val="fromT"/>
                          <dgm:param type="chAlign" val="l"/>
                        </dgm:alg>
                      </dgm:if>
                      <dgm:else name="Name25">
                        <dgm:alg type="hierChild">
                          <dgm:param type="linDir" val="fromT"/>
                          <dgm:param type="chAlign" val="r"/>
                        </dgm:alg>
                      </dgm:else>
                    </dgm:choose>
                    <dgm:shape xmlns:r="http://schemas.openxmlformats.org/officeDocument/2006/relationships" r:blip="">
                      <dgm:adjLst/>
                    </dgm:shape>
                    <dgm:presOf/>
                    <dgm:forEach name="Name26" ref="repeat"/>
                  </dgm:layoutNode>
                </dgm:layoutNode>
              </dgm:forEach>
            </dgm:forEach>
          </dgm:layoutNode>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3#1">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linDir" val="fromT"/>
              <dgm:param type="chAlign" val="l"/>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srcNode" val="rootConnector"/>
                        <dgm:param type="dim" val="1D"/>
                        <dgm:param type="endSty" val="noArr"/>
                        <dgm:param type="connRout" val="bend"/>
                        <dgm:param type="begPts" val="bCtr"/>
                        <dgm:param type="endPts" val="midL"/>
                      </dgm:alg>
                    </dgm:if>
                    <dgm:else name="Name16">
                      <dgm:alg type="conn">
                        <dgm:param type="srcNode" val="rootConnector"/>
                        <dgm:param type="dim" val="1D"/>
                        <dgm:param type="endSty" val="noArr"/>
                        <dgm:param type="connRout" val="bend"/>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1">
  <dgm:title val=""/>
  <dgm:desc val=""/>
  <dgm:catLst>
    <dgm:cat type="simple" pri="10400"/>
  </dgm:catLst>
  <dgm:scene3d>
    <a:camera prst="orthographicFront"/>
    <a:lightRig rig="threePt" dir="t"/>
  </dgm:scene3d>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1">
  <dgm:title val=""/>
  <dgm:desc val=""/>
  <dgm:catLst>
    <dgm:cat type="simple" pri="10200"/>
  </dgm:catLst>
  <dgm:scene3d>
    <a:camera prst="orthographicFront"/>
    <a:lightRig rig="threePt" dir="t"/>
  </dgm:scene3d>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r">
              <a:defRPr sz="1200"/>
            </a:lvl1pPr>
          </a:lstStyle>
          <a:p>
            <a:endParaRPr lang="ar-E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l">
              <a:defRPr sz="1200"/>
            </a:lvl1pPr>
          </a:lstStyle>
          <a:p>
            <a:fld id="{55834D5A-232F-4D07-A229-F35162E774C7}" type="datetimeFigureOut">
              <a:rPr lang="ar-EG" smtClean="0"/>
              <a:t>17/10/1447</a:t>
            </a:fld>
            <a:endParaRPr lang="ar-E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ar-E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E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r">
              <a:defRPr sz="1200"/>
            </a:lvl1pPr>
          </a:lstStyle>
          <a:p>
            <a:endParaRPr lang="ar-E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l">
              <a:defRPr sz="1200"/>
            </a:lvl1pPr>
          </a:lstStyle>
          <a:p>
            <a:fld id="{C07AFCFC-EA42-4660-BF5A-40C267E59BD6}" type="slidenum">
              <a:rPr lang="ar-EG" smtClean="0"/>
              <a:t>‹#›</a:t>
            </a:fld>
            <a:endParaRPr lang="ar-EG"/>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ar-EG" dirty="0"/>
          </a:p>
        </p:txBody>
      </p:sp>
      <p:sp>
        <p:nvSpPr>
          <p:cNvPr id="4" name="Slide Number Placeholder 3"/>
          <p:cNvSpPr>
            <a:spLocks noGrp="1"/>
          </p:cNvSpPr>
          <p:nvPr>
            <p:ph type="sldNum" sz="quarter" idx="5"/>
          </p:nvPr>
        </p:nvSpPr>
        <p:spPr/>
        <p:txBody>
          <a:bodyPr/>
          <a:lstStyle/>
          <a:p>
            <a:fld id="{C07AFCFC-EA42-4660-BF5A-40C267E59BD6}" type="slidenum">
              <a:rPr lang="ar-EG" smtClean="0"/>
              <a:t>40</a:t>
            </a:fld>
            <a:endParaRPr lang="ar-EG"/>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07AFCFC-EA42-4660-BF5A-40C267E59BD6}" type="slidenum">
              <a:rPr lang="ar-EG" smtClean="0"/>
              <a:t>44</a:t>
            </a:fld>
            <a:endParaRPr lang="ar-EG"/>
          </a:p>
        </p:txBody>
      </p:sp>
    </p:spTree>
    <p:extLst>
      <p:ext uri="{BB962C8B-B14F-4D97-AF65-F5344CB8AC3E}">
        <p14:creationId xmlns:p14="http://schemas.microsoft.com/office/powerpoint/2010/main" val="154095529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ar-EG"/>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ar-EG"/>
          </a:p>
        </p:txBody>
      </p:sp>
      <p:sp>
        <p:nvSpPr>
          <p:cNvPr id="4" name="Date Placeholder 3"/>
          <p:cNvSpPr>
            <a:spLocks noGrp="1"/>
          </p:cNvSpPr>
          <p:nvPr>
            <p:ph type="dt" sz="half" idx="10"/>
          </p:nvPr>
        </p:nvSpPr>
        <p:spPr/>
        <p:txBody>
          <a:bodyPr/>
          <a:lstStyle/>
          <a:p>
            <a:fld id="{11086554-7A8C-46D6-8FF3-84C086167412}" type="datetimeFigureOut">
              <a:rPr lang="ar-EG" smtClean="0"/>
              <a:t>17/10/1447</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ar-EG"/>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EG"/>
          </a:p>
        </p:txBody>
      </p:sp>
      <p:sp>
        <p:nvSpPr>
          <p:cNvPr id="4" name="Date Placeholder 3"/>
          <p:cNvSpPr>
            <a:spLocks noGrp="1"/>
          </p:cNvSpPr>
          <p:nvPr>
            <p:ph type="dt" sz="half" idx="10"/>
          </p:nvPr>
        </p:nvSpPr>
        <p:spPr/>
        <p:txBody>
          <a:bodyPr/>
          <a:lstStyle/>
          <a:p>
            <a:fld id="{11086554-7A8C-46D6-8FF3-84C086167412}" type="datetimeFigureOut">
              <a:rPr lang="ar-EG" smtClean="0"/>
              <a:t>17/10/1447</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ar-EG"/>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086554-7A8C-46D6-8FF3-84C086167412}" type="datetimeFigureOut">
              <a:rPr lang="ar-EG" smtClean="0"/>
              <a:t>17/10/1447</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ar-EG"/>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EG"/>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EG"/>
          </a:p>
        </p:txBody>
      </p:sp>
      <p:sp>
        <p:nvSpPr>
          <p:cNvPr id="5" name="Date Placeholder 4"/>
          <p:cNvSpPr>
            <a:spLocks noGrp="1"/>
          </p:cNvSpPr>
          <p:nvPr>
            <p:ph type="dt" sz="half" idx="10"/>
          </p:nvPr>
        </p:nvSpPr>
        <p:spPr/>
        <p:txBody>
          <a:bodyPr/>
          <a:lstStyle/>
          <a:p>
            <a:fld id="{11086554-7A8C-46D6-8FF3-84C086167412}" type="datetimeFigureOut">
              <a:rPr lang="ar-EG" smtClean="0"/>
              <a:t>17/10/1447</a:t>
            </a:fld>
            <a:endParaRPr lang="ar-EG"/>
          </a:p>
        </p:txBody>
      </p:sp>
      <p:sp>
        <p:nvSpPr>
          <p:cNvPr id="6" name="Footer Placeholder 5"/>
          <p:cNvSpPr>
            <a:spLocks noGrp="1"/>
          </p:cNvSpPr>
          <p:nvPr>
            <p:ph type="ftr" sz="quarter" idx="11"/>
          </p:nvPr>
        </p:nvSpPr>
        <p:spPr/>
        <p:txBody>
          <a:bodyPr/>
          <a:lstStyle/>
          <a:p>
            <a:endParaRPr lang="ar-EG"/>
          </a:p>
        </p:txBody>
      </p:sp>
      <p:sp>
        <p:nvSpPr>
          <p:cNvPr id="7" name="Slide Number Placeholder 6"/>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ar-EG"/>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EG"/>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EG"/>
          </a:p>
        </p:txBody>
      </p:sp>
      <p:sp>
        <p:nvSpPr>
          <p:cNvPr id="7" name="Date Placeholder 6"/>
          <p:cNvSpPr>
            <a:spLocks noGrp="1"/>
          </p:cNvSpPr>
          <p:nvPr>
            <p:ph type="dt" sz="half" idx="10"/>
          </p:nvPr>
        </p:nvSpPr>
        <p:spPr/>
        <p:txBody>
          <a:bodyPr/>
          <a:lstStyle/>
          <a:p>
            <a:fld id="{11086554-7A8C-46D6-8FF3-84C086167412}" type="datetimeFigureOut">
              <a:rPr lang="ar-EG" smtClean="0"/>
              <a:t>17/10/1447</a:t>
            </a:fld>
            <a:endParaRPr lang="ar-EG"/>
          </a:p>
        </p:txBody>
      </p:sp>
      <p:sp>
        <p:nvSpPr>
          <p:cNvPr id="8" name="Footer Placeholder 7"/>
          <p:cNvSpPr>
            <a:spLocks noGrp="1"/>
          </p:cNvSpPr>
          <p:nvPr>
            <p:ph type="ftr" sz="quarter" idx="11"/>
          </p:nvPr>
        </p:nvSpPr>
        <p:spPr/>
        <p:txBody>
          <a:bodyPr/>
          <a:lstStyle/>
          <a:p>
            <a:endParaRPr lang="ar-EG"/>
          </a:p>
        </p:txBody>
      </p:sp>
      <p:sp>
        <p:nvSpPr>
          <p:cNvPr id="9" name="Slide Number Placeholder 8"/>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ar-EG"/>
          </a:p>
        </p:txBody>
      </p:sp>
      <p:sp>
        <p:nvSpPr>
          <p:cNvPr id="3" name="Date Placeholder 2"/>
          <p:cNvSpPr>
            <a:spLocks noGrp="1"/>
          </p:cNvSpPr>
          <p:nvPr>
            <p:ph type="dt" sz="half" idx="10"/>
          </p:nvPr>
        </p:nvSpPr>
        <p:spPr/>
        <p:txBody>
          <a:bodyPr/>
          <a:lstStyle/>
          <a:p>
            <a:fld id="{11086554-7A8C-46D6-8FF3-84C086167412}" type="datetimeFigureOut">
              <a:rPr lang="ar-EG" smtClean="0"/>
              <a:t>17/10/1447</a:t>
            </a:fld>
            <a:endParaRPr lang="ar-EG"/>
          </a:p>
        </p:txBody>
      </p:sp>
      <p:sp>
        <p:nvSpPr>
          <p:cNvPr id="4" name="Footer Placeholder 3"/>
          <p:cNvSpPr>
            <a:spLocks noGrp="1"/>
          </p:cNvSpPr>
          <p:nvPr>
            <p:ph type="ftr" sz="quarter" idx="11"/>
          </p:nvPr>
        </p:nvSpPr>
        <p:spPr/>
        <p:txBody>
          <a:bodyPr/>
          <a:lstStyle/>
          <a:p>
            <a:endParaRPr lang="ar-EG"/>
          </a:p>
        </p:txBody>
      </p:sp>
      <p:sp>
        <p:nvSpPr>
          <p:cNvPr id="5" name="Slide Number Placeholder 4"/>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1086554-7A8C-46D6-8FF3-84C086167412}" type="datetimeFigureOut">
              <a:rPr lang="ar-EG" smtClean="0"/>
              <a:t>17/10/1447</a:t>
            </a:fld>
            <a:endParaRPr lang="ar-EG"/>
          </a:p>
        </p:txBody>
      </p:sp>
      <p:sp>
        <p:nvSpPr>
          <p:cNvPr id="3" name="Footer Placeholder 2"/>
          <p:cNvSpPr>
            <a:spLocks noGrp="1"/>
          </p:cNvSpPr>
          <p:nvPr>
            <p:ph type="ftr" sz="quarter" idx="11"/>
          </p:nvPr>
        </p:nvSpPr>
        <p:spPr/>
        <p:txBody>
          <a:bodyPr/>
          <a:lstStyle/>
          <a:p>
            <a:endParaRPr lang="ar-EG"/>
          </a:p>
        </p:txBody>
      </p:sp>
      <p:sp>
        <p:nvSpPr>
          <p:cNvPr id="4" name="Slide Number Placeholder 3"/>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ar-EG"/>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E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086554-7A8C-46D6-8FF3-84C086167412}" type="datetimeFigureOut">
              <a:rPr lang="ar-EG" smtClean="0"/>
              <a:t>17/10/1447</a:t>
            </a:fld>
            <a:endParaRPr lang="ar-EG"/>
          </a:p>
        </p:txBody>
      </p:sp>
      <p:sp>
        <p:nvSpPr>
          <p:cNvPr id="6" name="Footer Placeholder 5"/>
          <p:cNvSpPr>
            <a:spLocks noGrp="1"/>
          </p:cNvSpPr>
          <p:nvPr>
            <p:ph type="ftr" sz="quarter" idx="11"/>
          </p:nvPr>
        </p:nvSpPr>
        <p:spPr/>
        <p:txBody>
          <a:bodyPr/>
          <a:lstStyle/>
          <a:p>
            <a:endParaRPr lang="ar-EG"/>
          </a:p>
        </p:txBody>
      </p:sp>
      <p:sp>
        <p:nvSpPr>
          <p:cNvPr id="7" name="Slide Number Placeholder 6"/>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ar-EG"/>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ar-EG"/>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086554-7A8C-46D6-8FF3-84C086167412}" type="datetimeFigureOut">
              <a:rPr lang="ar-EG" smtClean="0"/>
              <a:t>17/10/1447</a:t>
            </a:fld>
            <a:endParaRPr lang="ar-EG"/>
          </a:p>
        </p:txBody>
      </p:sp>
      <p:sp>
        <p:nvSpPr>
          <p:cNvPr id="6" name="Footer Placeholder 5"/>
          <p:cNvSpPr>
            <a:spLocks noGrp="1"/>
          </p:cNvSpPr>
          <p:nvPr>
            <p:ph type="ftr" sz="quarter" idx="11"/>
          </p:nvPr>
        </p:nvSpPr>
        <p:spPr/>
        <p:txBody>
          <a:bodyPr/>
          <a:lstStyle/>
          <a:p>
            <a:endParaRPr lang="ar-EG"/>
          </a:p>
        </p:txBody>
      </p:sp>
      <p:sp>
        <p:nvSpPr>
          <p:cNvPr id="7" name="Slide Number Placeholder 6"/>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ar-EG"/>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EG"/>
          </a:p>
        </p:txBody>
      </p:sp>
      <p:sp>
        <p:nvSpPr>
          <p:cNvPr id="4" name="Date Placeholder 3"/>
          <p:cNvSpPr>
            <a:spLocks noGrp="1"/>
          </p:cNvSpPr>
          <p:nvPr>
            <p:ph type="dt" sz="half" idx="10"/>
          </p:nvPr>
        </p:nvSpPr>
        <p:spPr/>
        <p:txBody>
          <a:bodyPr/>
          <a:lstStyle/>
          <a:p>
            <a:fld id="{11086554-7A8C-46D6-8FF3-84C086167412}" type="datetimeFigureOut">
              <a:rPr lang="ar-EG" smtClean="0"/>
              <a:t>17/10/1447</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ar-EG"/>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EG"/>
          </a:p>
        </p:txBody>
      </p:sp>
      <p:sp>
        <p:nvSpPr>
          <p:cNvPr id="4" name="Date Placeholder 3"/>
          <p:cNvSpPr>
            <a:spLocks noGrp="1"/>
          </p:cNvSpPr>
          <p:nvPr>
            <p:ph type="dt" sz="half" idx="10"/>
          </p:nvPr>
        </p:nvSpPr>
        <p:spPr/>
        <p:txBody>
          <a:bodyPr/>
          <a:lstStyle/>
          <a:p>
            <a:fld id="{11086554-7A8C-46D6-8FF3-84C086167412}" type="datetimeFigureOut">
              <a:rPr lang="ar-EG" smtClean="0"/>
              <a:t>17/10/1447</a:t>
            </a:fld>
            <a:endParaRPr lang="ar-EG"/>
          </a:p>
        </p:txBody>
      </p:sp>
      <p:sp>
        <p:nvSpPr>
          <p:cNvPr id="5" name="Footer Placeholder 4"/>
          <p:cNvSpPr>
            <a:spLocks noGrp="1"/>
          </p:cNvSpPr>
          <p:nvPr>
            <p:ph type="ftr" sz="quarter" idx="11"/>
          </p:nvPr>
        </p:nvSpPr>
        <p:spPr/>
        <p:txBody>
          <a:bodyPr/>
          <a:lstStyle/>
          <a:p>
            <a:endParaRPr lang="ar-EG"/>
          </a:p>
        </p:txBody>
      </p:sp>
      <p:sp>
        <p:nvSpPr>
          <p:cNvPr id="6" name="Slide Number Placeholder 5"/>
          <p:cNvSpPr>
            <a:spLocks noGrp="1"/>
          </p:cNvSpPr>
          <p:nvPr>
            <p:ph type="sldNum" sz="quarter" idx="12"/>
          </p:nvPr>
        </p:nvSpPr>
        <p:spPr/>
        <p:txBody>
          <a:bodyPr/>
          <a:lstStyle/>
          <a:p>
            <a:fld id="{0BC1C82A-DF67-4A9C-BBB7-5A5A7BFCB1E5}" type="slidenum">
              <a:rPr lang="ar-EG" smtClean="0"/>
              <a:t>‹#›</a:t>
            </a:fld>
            <a:endParaRPr lang="ar-EG"/>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ar-EG"/>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ar-EG"/>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1086554-7A8C-46D6-8FF3-84C086167412}" type="datetimeFigureOut">
              <a:rPr lang="ar-EG" smtClean="0"/>
              <a:t>17/10/1447</a:t>
            </a:fld>
            <a:endParaRPr lang="ar-EG"/>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ar-EG"/>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BC1C82A-DF67-4A9C-BBB7-5A5A7BFCB1E5}" type="slidenum">
              <a:rPr lang="ar-EG" smtClean="0"/>
              <a:t>‹#›</a:t>
            </a:fld>
            <a:endParaRPr lang="ar-EG"/>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ar-EG"/>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png"/><Relationship Id="rId1" Type="http://schemas.openxmlformats.org/officeDocument/2006/relationships/slideLayout" Target="../slideLayouts/slideLayout6.xml"/><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1.xml"/><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5.png"/><Relationship Id="rId7" Type="http://schemas.openxmlformats.org/officeDocument/2006/relationships/diagramColors" Target="../diagrams/colors1.xml"/><Relationship Id="rId2" Type="http://schemas.openxmlformats.org/officeDocument/2006/relationships/image" Target="../media/image2.png"/><Relationship Id="rId1" Type="http://schemas.openxmlformats.org/officeDocument/2006/relationships/slideLayout" Target="../slideLayouts/slideLayout6.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8.png"/></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9.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2.png"/></Relationships>
</file>

<file path=ppt/slides/_rels/slide2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3.png"/></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5.png"/></Relationships>
</file>

<file path=ppt/slides/_rels/slide26.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diagramLayout" Target="../diagrams/layout2.xml"/><Relationship Id="rId7" Type="http://schemas.openxmlformats.org/officeDocument/2006/relationships/image" Target="../media/image2.png"/><Relationship Id="rId2" Type="http://schemas.openxmlformats.org/officeDocument/2006/relationships/diagramData" Target="../diagrams/data2.xml"/><Relationship Id="rId1" Type="http://schemas.openxmlformats.org/officeDocument/2006/relationships/slideLayout" Target="../slideLayouts/slideLayout6.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6.png"/></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7.png"/></Relationships>
</file>

<file path=ppt/slides/_rels/slide3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8.png"/></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19.png"/></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20.png"/></Relationships>
</file>

<file path=ppt/slides/_rels/slide3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21.png"/></Relationships>
</file>

<file path=ppt/slides/_rels/slide3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22.png"/></Relationships>
</file>

<file path=ppt/slides/_rels/slide3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23.png"/></Relationships>
</file>

<file path=ppt/slides/_rels/slide3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xml"/><Relationship Id="rId1" Type="http://schemas.openxmlformats.org/officeDocument/2006/relationships/slideLayout" Target="../slideLayouts/slideLayout6.xml"/><Relationship Id="rId5" Type="http://schemas.openxmlformats.org/officeDocument/2006/relationships/image" Target="../media/image5.png"/><Relationship Id="rId4" Type="http://schemas.openxmlformats.org/officeDocument/2006/relationships/image" Target="../media/image2.png"/></Relationships>
</file>

<file path=ppt/slides/_rels/slide4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6.png"/><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4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27.png"/><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4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31.png"/><Relationship Id="rId2" Type="http://schemas.openxmlformats.org/officeDocument/2006/relationships/notesSlide" Target="../notesSlides/notesSlide2.xml"/><Relationship Id="rId1" Type="http://schemas.openxmlformats.org/officeDocument/2006/relationships/slideLayout" Target="../slideLayouts/slideLayout6.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5.png"/></Relationships>
</file>

<file path=ppt/slides/_rels/slide4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32.png"/></Relationships>
</file>

<file path=ppt/slides/_rels/slide4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33.png"/></Relationships>
</file>

<file path=ppt/slides/_rels/slide4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4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35.png"/></Relationships>
</file>

<file path=ppt/slides/_rels/slide5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5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5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2.png"/><Relationship Id="rId1" Type="http://schemas.openxmlformats.org/officeDocument/2006/relationships/slideLayout" Target="../slideLayouts/slideLayout6.xml"/><Relationship Id="rId4" Type="http://schemas.openxmlformats.org/officeDocument/2006/relationships/image" Target="../media/image5.png"/></Relationships>
</file>

<file path=ppt/slides/_rels/slide5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4.png"/><Relationship Id="rId1" Type="http://schemas.openxmlformats.org/officeDocument/2006/relationships/slideLayout" Target="../slideLayouts/slideLayout6.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alpha val="96000"/>
          </a:schemeClr>
        </a:solidFill>
        <a:effectLst/>
      </p:bgPr>
    </p:bg>
    <p:spTree>
      <p:nvGrpSpPr>
        <p:cNvPr id="1" name=""/>
        <p:cNvGrpSpPr/>
        <p:nvPr/>
      </p:nvGrpSpPr>
      <p:grpSpPr>
        <a:xfrm>
          <a:off x="0" y="0"/>
          <a:ext cx="0" cy="0"/>
          <a:chOff x="0" y="0"/>
          <a:chExt cx="0" cy="0"/>
        </a:xfrm>
      </p:grpSpPr>
      <p:sp>
        <p:nvSpPr>
          <p:cNvPr id="128" name="Rectangle 127"/>
          <p:cNvSpPr>
            <a:spLocks noGrp="1" noRot="1" noChangeAspect="1" noMove="1" noResize="1" noEditPoints="1" noAdjustHandles="1" noChangeArrowheads="1" noChangeShapeType="1" noTextEdit="1"/>
          </p:cNvSpPr>
          <p:nvPr/>
        </p:nvSpPr>
        <p:spPr>
          <a:xfrm>
            <a:off x="0" y="0"/>
            <a:ext cx="12192000" cy="6858000"/>
          </a:xfrm>
          <a:prstGeom prst="rect">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pSp>
        <p:nvGrpSpPr>
          <p:cNvPr id="130" name="Group 129"/>
          <p:cNvGrpSpPr>
            <a:grpSpLocks noGrp="1" noUngrp="1" noRot="1" noChangeAspect="1" noMove="1" noResize="1"/>
          </p:cNvGrpSpPr>
          <p:nvPr/>
        </p:nvGrpSpPr>
        <p:grpSpPr>
          <a:xfrm>
            <a:off x="-1" y="-1"/>
            <a:ext cx="12191999" cy="4267200"/>
            <a:chOff x="7467600" y="0"/>
            <a:chExt cx="4724400" cy="6858000"/>
          </a:xfrm>
        </p:grpSpPr>
        <p:sp>
          <p:nvSpPr>
            <p:cNvPr id="131" name="Rectangle 130"/>
            <p:cNvSpPr/>
            <p:nvPr/>
          </p:nvSpPr>
          <p:spPr>
            <a:xfrm>
              <a:off x="7467600" y="0"/>
              <a:ext cx="4724400" cy="6858000"/>
            </a:xfrm>
            <a:prstGeom prst="rect">
              <a:avLst/>
            </a:prstGeom>
            <a:solidFill>
              <a:schemeClr val="accent5">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2" name="Rectangle 131"/>
            <p:cNvSpPr/>
            <p:nvPr/>
          </p:nvSpPr>
          <p:spPr>
            <a:xfrm>
              <a:off x="7467600" y="0"/>
              <a:ext cx="4724400" cy="6858000"/>
            </a:xfrm>
            <a:prstGeom prst="rect">
              <a:avLst/>
            </a:prstGeom>
            <a:solidFill>
              <a:schemeClr val="accent6">
                <a:lumMod val="20000"/>
                <a:lumOff val="80000"/>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grpSp>
      <p:sp>
        <p:nvSpPr>
          <p:cNvPr id="134" name="Freeform: Shape 133"/>
          <p:cNvSpPr>
            <a:spLocks noGrp="1" noRot="1" noChangeAspect="1" noMove="1" noResize="1" noEditPoints="1" noAdjustHandles="1" noChangeArrowheads="1" noChangeShapeType="1" noTextEdit="1"/>
          </p:cNvSpPr>
          <p:nvPr/>
        </p:nvSpPr>
        <p:spPr>
          <a:xfrm>
            <a:off x="0" y="0"/>
            <a:ext cx="12192000" cy="4267200"/>
          </a:xfrm>
          <a:custGeom>
            <a:avLst/>
            <a:gdLst>
              <a:gd name="connsiteX0" fmla="*/ 2537169 w 12192000"/>
              <a:gd name="connsiteY0" fmla="*/ 4125568 h 4267200"/>
              <a:gd name="connsiteX1" fmla="*/ 3246267 w 12192000"/>
              <a:gd name="connsiteY1" fmla="*/ 4262961 h 4267200"/>
              <a:gd name="connsiteX2" fmla="*/ 3253970 w 12192000"/>
              <a:gd name="connsiteY2" fmla="*/ 4267200 h 4267200"/>
              <a:gd name="connsiteX3" fmla="*/ 3071791 w 12192000"/>
              <a:gd name="connsiteY3" fmla="*/ 4267200 h 4267200"/>
              <a:gd name="connsiteX4" fmla="*/ 2975095 w 12192000"/>
              <a:gd name="connsiteY4" fmla="*/ 4243356 h 4267200"/>
              <a:gd name="connsiteX5" fmla="*/ 2626982 w 12192000"/>
              <a:gd name="connsiteY5" fmla="*/ 4206450 h 4267200"/>
              <a:gd name="connsiteX6" fmla="*/ 2490617 w 12192000"/>
              <a:gd name="connsiteY6" fmla="*/ 4206951 h 4267200"/>
              <a:gd name="connsiteX7" fmla="*/ 2819869 w 12192000"/>
              <a:gd name="connsiteY7" fmla="*/ 4252936 h 4267200"/>
              <a:gd name="connsiteX8" fmla="*/ 2900997 w 12192000"/>
              <a:gd name="connsiteY8" fmla="*/ 4267200 h 4267200"/>
              <a:gd name="connsiteX9" fmla="*/ 2705858 w 12192000"/>
              <a:gd name="connsiteY9" fmla="*/ 4267200 h 4267200"/>
              <a:gd name="connsiteX10" fmla="*/ 2561467 w 12192000"/>
              <a:gd name="connsiteY10" fmla="*/ 4246270 h 4267200"/>
              <a:gd name="connsiteX11" fmla="*/ 2305292 w 12192000"/>
              <a:gd name="connsiteY11" fmla="*/ 4219492 h 4267200"/>
              <a:gd name="connsiteX12" fmla="*/ 2409349 w 12192000"/>
              <a:gd name="connsiteY12" fmla="*/ 4267200 h 4267200"/>
              <a:gd name="connsiteX13" fmla="*/ 2266705 w 12192000"/>
              <a:gd name="connsiteY13" fmla="*/ 4267200 h 4267200"/>
              <a:gd name="connsiteX14" fmla="*/ 2183576 w 12192000"/>
              <a:gd name="connsiteY14" fmla="*/ 4227150 h 4267200"/>
              <a:gd name="connsiteX15" fmla="*/ 2151029 w 12192000"/>
              <a:gd name="connsiteY15" fmla="*/ 4146947 h 4267200"/>
              <a:gd name="connsiteX16" fmla="*/ 2537169 w 12192000"/>
              <a:gd name="connsiteY16" fmla="*/ 4125568 h 4267200"/>
              <a:gd name="connsiteX17" fmla="*/ 9258094 w 12192000"/>
              <a:gd name="connsiteY17" fmla="*/ 3958602 h 4267200"/>
              <a:gd name="connsiteX18" fmla="*/ 8526712 w 12192000"/>
              <a:gd name="connsiteY18" fmla="*/ 4119804 h 4267200"/>
              <a:gd name="connsiteX19" fmla="*/ 9258094 w 12192000"/>
              <a:gd name="connsiteY19" fmla="*/ 3958602 h 4267200"/>
              <a:gd name="connsiteX20" fmla="*/ 9168987 w 12192000"/>
              <a:gd name="connsiteY20" fmla="*/ 3919232 h 4267200"/>
              <a:gd name="connsiteX21" fmla="*/ 8603910 w 12192000"/>
              <a:gd name="connsiteY21" fmla="*/ 4068895 h 4267200"/>
              <a:gd name="connsiteX22" fmla="*/ 9252382 w 12192000"/>
              <a:gd name="connsiteY22" fmla="*/ 3927759 h 4267200"/>
              <a:gd name="connsiteX23" fmla="*/ 9168987 w 12192000"/>
              <a:gd name="connsiteY23" fmla="*/ 3919232 h 4267200"/>
              <a:gd name="connsiteX24" fmla="*/ 1635889 w 12192000"/>
              <a:gd name="connsiteY24" fmla="*/ 3709494 h 4267200"/>
              <a:gd name="connsiteX25" fmla="*/ 1634800 w 12192000"/>
              <a:gd name="connsiteY25" fmla="*/ 3731111 h 4267200"/>
              <a:gd name="connsiteX26" fmla="*/ 1635889 w 12192000"/>
              <a:gd name="connsiteY26" fmla="*/ 3709494 h 4267200"/>
              <a:gd name="connsiteX27" fmla="*/ 3174829 w 12192000"/>
              <a:gd name="connsiteY27" fmla="*/ 3620110 h 4267200"/>
              <a:gd name="connsiteX28" fmla="*/ 3189263 w 12192000"/>
              <a:gd name="connsiteY28" fmla="*/ 3625726 h 4267200"/>
              <a:gd name="connsiteX29" fmla="*/ 3560912 w 12192000"/>
              <a:gd name="connsiteY29" fmla="*/ 4079863 h 4267200"/>
              <a:gd name="connsiteX30" fmla="*/ 3611854 w 12192000"/>
              <a:gd name="connsiteY30" fmla="*/ 4188366 h 4267200"/>
              <a:gd name="connsiteX31" fmla="*/ 3631583 w 12192000"/>
              <a:gd name="connsiteY31" fmla="*/ 4267200 h 4267200"/>
              <a:gd name="connsiteX32" fmla="*/ 3575699 w 12192000"/>
              <a:gd name="connsiteY32" fmla="*/ 4267200 h 4267200"/>
              <a:gd name="connsiteX33" fmla="*/ 3575567 w 12192000"/>
              <a:gd name="connsiteY33" fmla="*/ 4263588 h 4267200"/>
              <a:gd name="connsiteX34" fmla="*/ 3467355 w 12192000"/>
              <a:gd name="connsiteY34" fmla="*/ 3988130 h 4267200"/>
              <a:gd name="connsiteX35" fmla="*/ 3310753 w 12192000"/>
              <a:gd name="connsiteY35" fmla="*/ 3787140 h 4267200"/>
              <a:gd name="connsiteX36" fmla="*/ 3291335 w 12192000"/>
              <a:gd name="connsiteY36" fmla="*/ 3767420 h 4267200"/>
              <a:gd name="connsiteX37" fmla="*/ 3390805 w 12192000"/>
              <a:gd name="connsiteY37" fmla="*/ 3937163 h 4267200"/>
              <a:gd name="connsiteX38" fmla="*/ 3545740 w 12192000"/>
              <a:gd name="connsiteY38" fmla="*/ 4251102 h 4267200"/>
              <a:gd name="connsiteX39" fmla="*/ 3550709 w 12192000"/>
              <a:gd name="connsiteY39" fmla="*/ 4267200 h 4267200"/>
              <a:gd name="connsiteX40" fmla="*/ 3513586 w 12192000"/>
              <a:gd name="connsiteY40" fmla="*/ 4267200 h 4267200"/>
              <a:gd name="connsiteX41" fmla="*/ 3470728 w 12192000"/>
              <a:gd name="connsiteY41" fmla="*/ 4152456 h 4267200"/>
              <a:gd name="connsiteX42" fmla="*/ 3364433 w 12192000"/>
              <a:gd name="connsiteY42" fmla="*/ 3953121 h 4267200"/>
              <a:gd name="connsiteX43" fmla="*/ 3316479 w 12192000"/>
              <a:gd name="connsiteY43" fmla="*/ 3872136 h 4267200"/>
              <a:gd name="connsiteX44" fmla="*/ 3504482 w 12192000"/>
              <a:gd name="connsiteY44" fmla="*/ 4267200 h 4267200"/>
              <a:gd name="connsiteX45" fmla="*/ 3467547 w 12192000"/>
              <a:gd name="connsiteY45" fmla="*/ 4267200 h 4267200"/>
              <a:gd name="connsiteX46" fmla="*/ 3177952 w 12192000"/>
              <a:gd name="connsiteY46" fmla="*/ 3657386 h 4267200"/>
              <a:gd name="connsiteX47" fmla="*/ 3174829 w 12192000"/>
              <a:gd name="connsiteY47" fmla="*/ 3620110 h 4267200"/>
              <a:gd name="connsiteX48" fmla="*/ 11279315 w 12192000"/>
              <a:gd name="connsiteY48" fmla="*/ 3618448 h 4267200"/>
              <a:gd name="connsiteX49" fmla="*/ 11317765 w 12192000"/>
              <a:gd name="connsiteY49" fmla="*/ 3638405 h 4267200"/>
              <a:gd name="connsiteX50" fmla="*/ 11304886 w 12192000"/>
              <a:gd name="connsiteY50" fmla="*/ 4200582 h 4267200"/>
              <a:gd name="connsiteX51" fmla="*/ 11298904 w 12192000"/>
              <a:gd name="connsiteY51" fmla="*/ 4267200 h 4267200"/>
              <a:gd name="connsiteX52" fmla="*/ 11213088 w 12192000"/>
              <a:gd name="connsiteY52" fmla="*/ 4267200 h 4267200"/>
              <a:gd name="connsiteX53" fmla="*/ 11219157 w 12192000"/>
              <a:gd name="connsiteY53" fmla="*/ 4210725 h 4267200"/>
              <a:gd name="connsiteX54" fmla="*/ 11225213 w 12192000"/>
              <a:gd name="connsiteY54" fmla="*/ 3936722 h 4267200"/>
              <a:gd name="connsiteX55" fmla="*/ 11182914 w 12192000"/>
              <a:gd name="connsiteY55" fmla="*/ 4196771 h 4267200"/>
              <a:gd name="connsiteX56" fmla="*/ 11172266 w 12192000"/>
              <a:gd name="connsiteY56" fmla="*/ 4267200 h 4267200"/>
              <a:gd name="connsiteX57" fmla="*/ 11140975 w 12192000"/>
              <a:gd name="connsiteY57" fmla="*/ 4267200 h 4267200"/>
              <a:gd name="connsiteX58" fmla="*/ 11152239 w 12192000"/>
              <a:gd name="connsiteY58" fmla="*/ 4192628 h 4267200"/>
              <a:gd name="connsiteX59" fmla="*/ 11201005 w 12192000"/>
              <a:gd name="connsiteY59" fmla="*/ 3900089 h 4267200"/>
              <a:gd name="connsiteX60" fmla="*/ 11105754 w 12192000"/>
              <a:gd name="connsiteY60" fmla="*/ 4139192 h 4267200"/>
              <a:gd name="connsiteX61" fmla="*/ 11065821 w 12192000"/>
              <a:gd name="connsiteY61" fmla="*/ 4267200 h 4267200"/>
              <a:gd name="connsiteX62" fmla="*/ 10978133 w 12192000"/>
              <a:gd name="connsiteY62" fmla="*/ 4267200 h 4267200"/>
              <a:gd name="connsiteX63" fmla="*/ 11088889 w 12192000"/>
              <a:gd name="connsiteY63" fmla="*/ 3963916 h 4267200"/>
              <a:gd name="connsiteX64" fmla="*/ 11231212 w 12192000"/>
              <a:gd name="connsiteY64" fmla="*/ 3645474 h 4267200"/>
              <a:gd name="connsiteX65" fmla="*/ 11279315 w 12192000"/>
              <a:gd name="connsiteY65" fmla="*/ 3618448 h 4267200"/>
              <a:gd name="connsiteX66" fmla="*/ 10296877 w 12192000"/>
              <a:gd name="connsiteY66" fmla="*/ 3526602 h 4267200"/>
              <a:gd name="connsiteX67" fmla="*/ 10314210 w 12192000"/>
              <a:gd name="connsiteY67" fmla="*/ 3538353 h 4267200"/>
              <a:gd name="connsiteX68" fmla="*/ 10450858 w 12192000"/>
              <a:gd name="connsiteY68" fmla="*/ 3902477 h 4267200"/>
              <a:gd name="connsiteX69" fmla="*/ 10572255 w 12192000"/>
              <a:gd name="connsiteY69" fmla="*/ 4267200 h 4267200"/>
              <a:gd name="connsiteX70" fmla="*/ 10477642 w 12192000"/>
              <a:gd name="connsiteY70" fmla="*/ 4267200 h 4267200"/>
              <a:gd name="connsiteX71" fmla="*/ 10436479 w 12192000"/>
              <a:gd name="connsiteY71" fmla="*/ 4144570 h 4267200"/>
              <a:gd name="connsiteX72" fmla="*/ 10277529 w 12192000"/>
              <a:gd name="connsiteY72" fmla="*/ 3701307 h 4267200"/>
              <a:gd name="connsiteX73" fmla="*/ 10276797 w 12192000"/>
              <a:gd name="connsiteY73" fmla="*/ 3708672 h 4267200"/>
              <a:gd name="connsiteX74" fmla="*/ 10385906 w 12192000"/>
              <a:gd name="connsiteY74" fmla="*/ 4147031 h 4267200"/>
              <a:gd name="connsiteX75" fmla="*/ 10431445 w 12192000"/>
              <a:gd name="connsiteY75" fmla="*/ 4267200 h 4267200"/>
              <a:gd name="connsiteX76" fmla="*/ 10398237 w 12192000"/>
              <a:gd name="connsiteY76" fmla="*/ 4267200 h 4267200"/>
              <a:gd name="connsiteX77" fmla="*/ 10356661 w 12192000"/>
              <a:gd name="connsiteY77" fmla="*/ 4157302 h 4267200"/>
              <a:gd name="connsiteX78" fmla="*/ 10268559 w 12192000"/>
              <a:gd name="connsiteY78" fmla="*/ 3871054 h 4267200"/>
              <a:gd name="connsiteX79" fmla="*/ 10340065 w 12192000"/>
              <a:gd name="connsiteY79" fmla="*/ 4201637 h 4267200"/>
              <a:gd name="connsiteX80" fmla="*/ 10368861 w 12192000"/>
              <a:gd name="connsiteY80" fmla="*/ 4267200 h 4267200"/>
              <a:gd name="connsiteX81" fmla="*/ 10267862 w 12192000"/>
              <a:gd name="connsiteY81" fmla="*/ 4267200 h 4267200"/>
              <a:gd name="connsiteX82" fmla="*/ 10236210 w 12192000"/>
              <a:gd name="connsiteY82" fmla="*/ 4185635 h 4267200"/>
              <a:gd name="connsiteX83" fmla="*/ 10225980 w 12192000"/>
              <a:gd name="connsiteY83" fmla="*/ 3561061 h 4267200"/>
              <a:gd name="connsiteX84" fmla="*/ 10296877 w 12192000"/>
              <a:gd name="connsiteY84" fmla="*/ 3526602 h 4267200"/>
              <a:gd name="connsiteX85" fmla="*/ 3429186 w 12192000"/>
              <a:gd name="connsiteY85" fmla="*/ 3458784 h 4267200"/>
              <a:gd name="connsiteX86" fmla="*/ 3446761 w 12192000"/>
              <a:gd name="connsiteY86" fmla="*/ 3461278 h 4267200"/>
              <a:gd name="connsiteX87" fmla="*/ 4419733 w 12192000"/>
              <a:gd name="connsiteY87" fmla="*/ 3963555 h 4267200"/>
              <a:gd name="connsiteX88" fmla="*/ 4659448 w 12192000"/>
              <a:gd name="connsiteY88" fmla="*/ 4172746 h 4267200"/>
              <a:gd name="connsiteX89" fmla="*/ 4719140 w 12192000"/>
              <a:gd name="connsiteY89" fmla="*/ 4267200 h 4267200"/>
              <a:gd name="connsiteX90" fmla="*/ 4641222 w 12192000"/>
              <a:gd name="connsiteY90" fmla="*/ 4267200 h 4267200"/>
              <a:gd name="connsiteX91" fmla="*/ 4599968 w 12192000"/>
              <a:gd name="connsiteY91" fmla="*/ 4207074 h 4267200"/>
              <a:gd name="connsiteX92" fmla="*/ 4136093 w 12192000"/>
              <a:gd name="connsiteY92" fmla="*/ 3858466 h 4267200"/>
              <a:gd name="connsiteX93" fmla="*/ 3670252 w 12192000"/>
              <a:gd name="connsiteY93" fmla="*/ 3622798 h 4267200"/>
              <a:gd name="connsiteX94" fmla="*/ 3817258 w 12192000"/>
              <a:gd name="connsiteY94" fmla="*/ 3723577 h 4267200"/>
              <a:gd name="connsiteX95" fmla="*/ 4000461 w 12192000"/>
              <a:gd name="connsiteY95" fmla="*/ 3855966 h 4267200"/>
              <a:gd name="connsiteX96" fmla="*/ 4088180 w 12192000"/>
              <a:gd name="connsiteY96" fmla="*/ 3929774 h 4267200"/>
              <a:gd name="connsiteX97" fmla="*/ 4184555 w 12192000"/>
              <a:gd name="connsiteY97" fmla="*/ 4010683 h 4267200"/>
              <a:gd name="connsiteX98" fmla="*/ 4399563 w 12192000"/>
              <a:gd name="connsiteY98" fmla="*/ 4158106 h 4267200"/>
              <a:gd name="connsiteX99" fmla="*/ 4546299 w 12192000"/>
              <a:gd name="connsiteY99" fmla="*/ 4254934 h 4267200"/>
              <a:gd name="connsiteX100" fmla="*/ 4561743 w 12192000"/>
              <a:gd name="connsiteY100" fmla="*/ 4267200 h 4267200"/>
              <a:gd name="connsiteX101" fmla="*/ 4509274 w 12192000"/>
              <a:gd name="connsiteY101" fmla="*/ 4267200 h 4267200"/>
              <a:gd name="connsiteX102" fmla="*/ 4383389 w 12192000"/>
              <a:gd name="connsiteY102" fmla="*/ 4184369 h 4267200"/>
              <a:gd name="connsiteX103" fmla="*/ 4165508 w 12192000"/>
              <a:gd name="connsiteY103" fmla="*/ 4035196 h 4267200"/>
              <a:gd name="connsiteX104" fmla="*/ 4068162 w 12192000"/>
              <a:gd name="connsiteY104" fmla="*/ 3953394 h 4267200"/>
              <a:gd name="connsiteX105" fmla="*/ 3981416 w 12192000"/>
              <a:gd name="connsiteY105" fmla="*/ 3880482 h 4267200"/>
              <a:gd name="connsiteX106" fmla="*/ 3800147 w 12192000"/>
              <a:gd name="connsiteY106" fmla="*/ 3749872 h 4267200"/>
              <a:gd name="connsiteX107" fmla="*/ 3655073 w 12192000"/>
              <a:gd name="connsiteY107" fmla="*/ 3650884 h 4267200"/>
              <a:gd name="connsiteX108" fmla="*/ 3989938 w 12192000"/>
              <a:gd name="connsiteY108" fmla="*/ 3991685 h 4267200"/>
              <a:gd name="connsiteX109" fmla="*/ 4393907 w 12192000"/>
              <a:gd name="connsiteY109" fmla="*/ 4261258 h 4267200"/>
              <a:gd name="connsiteX110" fmla="*/ 4408201 w 12192000"/>
              <a:gd name="connsiteY110" fmla="*/ 4267200 h 4267200"/>
              <a:gd name="connsiteX111" fmla="*/ 4250346 w 12192000"/>
              <a:gd name="connsiteY111" fmla="*/ 4267200 h 4267200"/>
              <a:gd name="connsiteX112" fmla="*/ 4245269 w 12192000"/>
              <a:gd name="connsiteY112" fmla="*/ 4265040 h 4267200"/>
              <a:gd name="connsiteX113" fmla="*/ 4036318 w 12192000"/>
              <a:gd name="connsiteY113" fmla="*/ 4147013 h 4267200"/>
              <a:gd name="connsiteX114" fmla="*/ 3432098 w 12192000"/>
              <a:gd name="connsiteY114" fmla="*/ 3537312 h 4267200"/>
              <a:gd name="connsiteX115" fmla="*/ 3429186 w 12192000"/>
              <a:gd name="connsiteY115" fmla="*/ 3458784 h 4267200"/>
              <a:gd name="connsiteX116" fmla="*/ 9334796 w 12192000"/>
              <a:gd name="connsiteY116" fmla="*/ 3456584 h 4267200"/>
              <a:gd name="connsiteX117" fmla="*/ 9651570 w 12192000"/>
              <a:gd name="connsiteY117" fmla="*/ 3826505 h 4267200"/>
              <a:gd name="connsiteX118" fmla="*/ 9334796 w 12192000"/>
              <a:gd name="connsiteY118" fmla="*/ 3456584 h 4267200"/>
              <a:gd name="connsiteX119" fmla="*/ 4440129 w 12192000"/>
              <a:gd name="connsiteY119" fmla="*/ 3448571 h 4267200"/>
              <a:gd name="connsiteX120" fmla="*/ 4856525 w 12192000"/>
              <a:gd name="connsiteY120" fmla="*/ 3915351 h 4267200"/>
              <a:gd name="connsiteX121" fmla="*/ 5059055 w 12192000"/>
              <a:gd name="connsiteY121" fmla="*/ 4108918 h 4267200"/>
              <a:gd name="connsiteX122" fmla="*/ 5290070 w 12192000"/>
              <a:gd name="connsiteY122" fmla="*/ 4263619 h 4267200"/>
              <a:gd name="connsiteX123" fmla="*/ 4834991 w 12192000"/>
              <a:gd name="connsiteY123" fmla="*/ 3830985 h 4267200"/>
              <a:gd name="connsiteX124" fmla="*/ 4440129 w 12192000"/>
              <a:gd name="connsiteY124" fmla="*/ 3448571 h 4267200"/>
              <a:gd name="connsiteX125" fmla="*/ 5425834 w 12192000"/>
              <a:gd name="connsiteY125" fmla="*/ 3162785 h 4267200"/>
              <a:gd name="connsiteX126" fmla="*/ 5401644 w 12192000"/>
              <a:gd name="connsiteY126" fmla="*/ 3617847 h 4267200"/>
              <a:gd name="connsiteX127" fmla="*/ 5467256 w 12192000"/>
              <a:gd name="connsiteY127" fmla="*/ 4175494 h 4267200"/>
              <a:gd name="connsiteX128" fmla="*/ 5448069 w 12192000"/>
              <a:gd name="connsiteY128" fmla="*/ 3567554 h 4267200"/>
              <a:gd name="connsiteX129" fmla="*/ 1318687 w 12192000"/>
              <a:gd name="connsiteY129" fmla="*/ 3113840 h 4267200"/>
              <a:gd name="connsiteX130" fmla="*/ 1066793 w 12192000"/>
              <a:gd name="connsiteY130" fmla="*/ 3212171 h 4267200"/>
              <a:gd name="connsiteX131" fmla="*/ 993319 w 12192000"/>
              <a:gd name="connsiteY131" fmla="*/ 3247648 h 4267200"/>
              <a:gd name="connsiteX132" fmla="*/ 853081 w 12192000"/>
              <a:gd name="connsiteY132" fmla="*/ 3312410 h 4267200"/>
              <a:gd name="connsiteX133" fmla="*/ 805957 w 12192000"/>
              <a:gd name="connsiteY133" fmla="*/ 3330443 h 4267200"/>
              <a:gd name="connsiteX134" fmla="*/ 1318687 w 12192000"/>
              <a:gd name="connsiteY134" fmla="*/ 3113840 h 4267200"/>
              <a:gd name="connsiteX135" fmla="*/ 5453702 w 12192000"/>
              <a:gd name="connsiteY135" fmla="*/ 3090882 h 4267200"/>
              <a:gd name="connsiteX136" fmla="*/ 5480135 w 12192000"/>
              <a:gd name="connsiteY136" fmla="*/ 3565802 h 4267200"/>
              <a:gd name="connsiteX137" fmla="*/ 5499023 w 12192000"/>
              <a:gd name="connsiteY137" fmla="*/ 4166310 h 4267200"/>
              <a:gd name="connsiteX138" fmla="*/ 5547022 w 12192000"/>
              <a:gd name="connsiteY138" fmla="*/ 3607838 h 4267200"/>
              <a:gd name="connsiteX139" fmla="*/ 5515964 w 12192000"/>
              <a:gd name="connsiteY139" fmla="*/ 3378541 h 4267200"/>
              <a:gd name="connsiteX140" fmla="*/ 5453702 w 12192000"/>
              <a:gd name="connsiteY140" fmla="*/ 3090882 h 4267200"/>
              <a:gd name="connsiteX141" fmla="*/ 9790480 w 12192000"/>
              <a:gd name="connsiteY141" fmla="*/ 3078533 h 4267200"/>
              <a:gd name="connsiteX142" fmla="*/ 9763295 w 12192000"/>
              <a:gd name="connsiteY142" fmla="*/ 3245370 h 4267200"/>
              <a:gd name="connsiteX143" fmla="*/ 9736458 w 12192000"/>
              <a:gd name="connsiteY143" fmla="*/ 3758413 h 4267200"/>
              <a:gd name="connsiteX144" fmla="*/ 9763499 w 12192000"/>
              <a:gd name="connsiteY144" fmla="*/ 3528057 h 4267200"/>
              <a:gd name="connsiteX145" fmla="*/ 9793906 w 12192000"/>
              <a:gd name="connsiteY145" fmla="*/ 3231157 h 4267200"/>
              <a:gd name="connsiteX146" fmla="*/ 9791874 w 12192000"/>
              <a:gd name="connsiteY146" fmla="*/ 3142788 h 4267200"/>
              <a:gd name="connsiteX147" fmla="*/ 9790480 w 12192000"/>
              <a:gd name="connsiteY147" fmla="*/ 3078533 h 4267200"/>
              <a:gd name="connsiteX148" fmla="*/ 1238695 w 12192000"/>
              <a:gd name="connsiteY148" fmla="*/ 3076820 h 4267200"/>
              <a:gd name="connsiteX149" fmla="*/ 716371 w 12192000"/>
              <a:gd name="connsiteY149" fmla="*/ 3293249 h 4267200"/>
              <a:gd name="connsiteX150" fmla="*/ 579522 w 12192000"/>
              <a:gd name="connsiteY150" fmla="*/ 3371759 h 4267200"/>
              <a:gd name="connsiteX151" fmla="*/ 600288 w 12192000"/>
              <a:gd name="connsiteY151" fmla="*/ 3365555 h 4267200"/>
              <a:gd name="connsiteX152" fmla="*/ 840692 w 12192000"/>
              <a:gd name="connsiteY152" fmla="*/ 3284921 h 4267200"/>
              <a:gd name="connsiteX153" fmla="*/ 979248 w 12192000"/>
              <a:gd name="connsiteY153" fmla="*/ 3221003 h 4267200"/>
              <a:gd name="connsiteX154" fmla="*/ 1053282 w 12192000"/>
              <a:gd name="connsiteY154" fmla="*/ 3185247 h 4267200"/>
              <a:gd name="connsiteX155" fmla="*/ 1320603 w 12192000"/>
              <a:gd name="connsiteY155" fmla="*/ 3081281 h 4267200"/>
              <a:gd name="connsiteX156" fmla="*/ 1238695 w 12192000"/>
              <a:gd name="connsiteY156" fmla="*/ 3076820 h 4267200"/>
              <a:gd name="connsiteX157" fmla="*/ 5425627 w 12192000"/>
              <a:gd name="connsiteY157" fmla="*/ 2954192 h 4267200"/>
              <a:gd name="connsiteX158" fmla="*/ 5470770 w 12192000"/>
              <a:gd name="connsiteY158" fmla="*/ 3005435 h 4267200"/>
              <a:gd name="connsiteX159" fmla="*/ 5567647 w 12192000"/>
              <a:gd name="connsiteY159" fmla="*/ 4190286 h 4267200"/>
              <a:gd name="connsiteX160" fmla="*/ 5545854 w 12192000"/>
              <a:gd name="connsiteY160" fmla="*/ 4267200 h 4267200"/>
              <a:gd name="connsiteX161" fmla="*/ 5391871 w 12192000"/>
              <a:gd name="connsiteY161" fmla="*/ 4267200 h 4267200"/>
              <a:gd name="connsiteX162" fmla="*/ 5318171 w 12192000"/>
              <a:gd name="connsiteY162" fmla="*/ 4175818 h 4267200"/>
              <a:gd name="connsiteX163" fmla="*/ 4943646 w 12192000"/>
              <a:gd name="connsiteY163" fmla="*/ 3822916 h 4267200"/>
              <a:gd name="connsiteX164" fmla="*/ 4594837 w 12192000"/>
              <a:gd name="connsiteY164" fmla="*/ 3532274 h 4267200"/>
              <a:gd name="connsiteX165" fmla="*/ 4441737 w 12192000"/>
              <a:gd name="connsiteY165" fmla="*/ 3399734 h 4267200"/>
              <a:gd name="connsiteX166" fmla="*/ 4431236 w 12192000"/>
              <a:gd name="connsiteY166" fmla="*/ 3400954 h 4267200"/>
              <a:gd name="connsiteX167" fmla="*/ 4557150 w 12192000"/>
              <a:gd name="connsiteY167" fmla="*/ 3510023 h 4267200"/>
              <a:gd name="connsiteX168" fmla="*/ 4856936 w 12192000"/>
              <a:gd name="connsiteY168" fmla="*/ 3809146 h 4267200"/>
              <a:gd name="connsiteX169" fmla="*/ 5111996 w 12192000"/>
              <a:gd name="connsiteY169" fmla="*/ 4065759 h 4267200"/>
              <a:gd name="connsiteX170" fmla="*/ 5246890 w 12192000"/>
              <a:gd name="connsiteY170" fmla="*/ 4187633 h 4267200"/>
              <a:gd name="connsiteX171" fmla="*/ 5347266 w 12192000"/>
              <a:gd name="connsiteY171" fmla="*/ 4267200 h 4267200"/>
              <a:gd name="connsiteX172" fmla="*/ 5164092 w 12192000"/>
              <a:gd name="connsiteY172" fmla="*/ 4267200 h 4267200"/>
              <a:gd name="connsiteX173" fmla="*/ 5108945 w 12192000"/>
              <a:gd name="connsiteY173" fmla="*/ 4232176 h 4267200"/>
              <a:gd name="connsiteX174" fmla="*/ 4294126 w 12192000"/>
              <a:gd name="connsiteY174" fmla="*/ 3303048 h 4267200"/>
              <a:gd name="connsiteX175" fmla="*/ 4305321 w 12192000"/>
              <a:gd name="connsiteY175" fmla="*/ 3256953 h 4267200"/>
              <a:gd name="connsiteX176" fmla="*/ 4949299 w 12192000"/>
              <a:gd name="connsiteY176" fmla="*/ 3766336 h 4267200"/>
              <a:gd name="connsiteX177" fmla="*/ 5291452 w 12192000"/>
              <a:gd name="connsiteY177" fmla="*/ 4076801 h 4267200"/>
              <a:gd name="connsiteX178" fmla="*/ 5434998 w 12192000"/>
              <a:gd name="connsiteY178" fmla="*/ 4254100 h 4267200"/>
              <a:gd name="connsiteX179" fmla="*/ 5351015 w 12192000"/>
              <a:gd name="connsiteY179" fmla="*/ 3760989 h 4267200"/>
              <a:gd name="connsiteX180" fmla="*/ 5413780 w 12192000"/>
              <a:gd name="connsiteY180" fmla="*/ 2966265 h 4267200"/>
              <a:gd name="connsiteX181" fmla="*/ 5425627 w 12192000"/>
              <a:gd name="connsiteY181" fmla="*/ 2954192 h 4267200"/>
              <a:gd name="connsiteX182" fmla="*/ 8380397 w 12192000"/>
              <a:gd name="connsiteY182" fmla="*/ 2896659 h 4267200"/>
              <a:gd name="connsiteX183" fmla="*/ 8634801 w 12192000"/>
              <a:gd name="connsiteY183" fmla="*/ 3304169 h 4267200"/>
              <a:gd name="connsiteX184" fmla="*/ 8971448 w 12192000"/>
              <a:gd name="connsiteY184" fmla="*/ 3675946 h 4267200"/>
              <a:gd name="connsiteX185" fmla="*/ 8820691 w 12192000"/>
              <a:gd name="connsiteY185" fmla="*/ 3486482 h 4267200"/>
              <a:gd name="connsiteX186" fmla="*/ 8807612 w 12192000"/>
              <a:gd name="connsiteY186" fmla="*/ 3467256 h 4267200"/>
              <a:gd name="connsiteX187" fmla="*/ 8556796 w 12192000"/>
              <a:gd name="connsiteY187" fmla="*/ 3116474 h 4267200"/>
              <a:gd name="connsiteX188" fmla="*/ 8427018 w 12192000"/>
              <a:gd name="connsiteY188" fmla="*/ 2948853 h 4267200"/>
              <a:gd name="connsiteX189" fmla="*/ 8380397 w 12192000"/>
              <a:gd name="connsiteY189" fmla="*/ 2896659 h 4267200"/>
              <a:gd name="connsiteX190" fmla="*/ 9831020 w 12192000"/>
              <a:gd name="connsiteY190" fmla="*/ 2871730 h 4267200"/>
              <a:gd name="connsiteX191" fmla="*/ 9827707 w 12192000"/>
              <a:gd name="connsiteY191" fmla="*/ 2915231 h 4267200"/>
              <a:gd name="connsiteX192" fmla="*/ 9820699 w 12192000"/>
              <a:gd name="connsiteY192" fmla="*/ 3051540 h 4267200"/>
              <a:gd name="connsiteX193" fmla="*/ 9822525 w 12192000"/>
              <a:gd name="connsiteY193" fmla="*/ 3140814 h 4267200"/>
              <a:gd name="connsiteX194" fmla="*/ 9824704 w 12192000"/>
              <a:gd name="connsiteY194" fmla="*/ 3230628 h 4267200"/>
              <a:gd name="connsiteX195" fmla="*/ 9793821 w 12192000"/>
              <a:gd name="connsiteY195" fmla="*/ 3531652 h 4267200"/>
              <a:gd name="connsiteX196" fmla="*/ 9767436 w 12192000"/>
              <a:gd name="connsiteY196" fmla="*/ 3750864 h 4267200"/>
              <a:gd name="connsiteX197" fmla="*/ 9814477 w 12192000"/>
              <a:gd name="connsiteY197" fmla="*/ 3662531 h 4267200"/>
              <a:gd name="connsiteX198" fmla="*/ 9831020 w 12192000"/>
              <a:gd name="connsiteY198" fmla="*/ 2871730 h 4267200"/>
              <a:gd name="connsiteX199" fmla="*/ 8380521 w 12192000"/>
              <a:gd name="connsiteY199" fmla="*/ 2850596 h 4267200"/>
              <a:gd name="connsiteX200" fmla="*/ 8451446 w 12192000"/>
              <a:gd name="connsiteY200" fmla="*/ 2928627 h 4267200"/>
              <a:gd name="connsiteX201" fmla="*/ 8582269 w 12192000"/>
              <a:gd name="connsiteY201" fmla="*/ 3097880 h 4267200"/>
              <a:gd name="connsiteX202" fmla="*/ 8833783 w 12192000"/>
              <a:gd name="connsiteY202" fmla="*/ 3449753 h 4267200"/>
              <a:gd name="connsiteX203" fmla="*/ 8846863 w 12192000"/>
              <a:gd name="connsiteY203" fmla="*/ 3468981 h 4267200"/>
              <a:gd name="connsiteX204" fmla="*/ 8960046 w 12192000"/>
              <a:gd name="connsiteY204" fmla="*/ 3620389 h 4267200"/>
              <a:gd name="connsiteX205" fmla="*/ 8380521 w 12192000"/>
              <a:gd name="connsiteY205" fmla="*/ 2850596 h 4267200"/>
              <a:gd name="connsiteX206" fmla="*/ 9854151 w 12192000"/>
              <a:gd name="connsiteY206" fmla="*/ 2642862 h 4267200"/>
              <a:gd name="connsiteX207" fmla="*/ 9871341 w 12192000"/>
              <a:gd name="connsiteY207" fmla="*/ 2659697 h 4267200"/>
              <a:gd name="connsiteX208" fmla="*/ 9966678 w 12192000"/>
              <a:gd name="connsiteY208" fmla="*/ 3423399 h 4267200"/>
              <a:gd name="connsiteX209" fmla="*/ 9880832 w 12192000"/>
              <a:gd name="connsiteY209" fmla="*/ 3700562 h 4267200"/>
              <a:gd name="connsiteX210" fmla="*/ 9896024 w 12192000"/>
              <a:gd name="connsiteY210" fmla="*/ 4178295 h 4267200"/>
              <a:gd name="connsiteX211" fmla="*/ 10028060 w 12192000"/>
              <a:gd name="connsiteY211" fmla="*/ 4267200 h 4267200"/>
              <a:gd name="connsiteX212" fmla="*/ 9651813 w 12192000"/>
              <a:gd name="connsiteY212" fmla="*/ 4267200 h 4267200"/>
              <a:gd name="connsiteX213" fmla="*/ 9814527 w 12192000"/>
              <a:gd name="connsiteY213" fmla="*/ 4248048 h 4267200"/>
              <a:gd name="connsiteX214" fmla="*/ 9615182 w 12192000"/>
              <a:gd name="connsiteY214" fmla="*/ 4220499 h 4267200"/>
              <a:gd name="connsiteX215" fmla="*/ 9465210 w 12192000"/>
              <a:gd name="connsiteY215" fmla="*/ 4242240 h 4267200"/>
              <a:gd name="connsiteX216" fmla="*/ 9387108 w 12192000"/>
              <a:gd name="connsiteY216" fmla="*/ 4267200 h 4267200"/>
              <a:gd name="connsiteX217" fmla="*/ 9268441 w 12192000"/>
              <a:gd name="connsiteY217" fmla="*/ 4267200 h 4267200"/>
              <a:gd name="connsiteX218" fmla="*/ 9307676 w 12192000"/>
              <a:gd name="connsiteY218" fmla="*/ 4251276 h 4267200"/>
              <a:gd name="connsiteX219" fmla="*/ 9761570 w 12192000"/>
              <a:gd name="connsiteY219" fmla="*/ 4182283 h 4267200"/>
              <a:gd name="connsiteX220" fmla="*/ 9368237 w 12192000"/>
              <a:gd name="connsiteY220" fmla="*/ 3949470 h 4267200"/>
              <a:gd name="connsiteX221" fmla="*/ 9354614 w 12192000"/>
              <a:gd name="connsiteY221" fmla="*/ 3951288 h 4267200"/>
              <a:gd name="connsiteX222" fmla="*/ 8364351 w 12192000"/>
              <a:gd name="connsiteY222" fmla="*/ 4159267 h 4267200"/>
              <a:gd name="connsiteX223" fmla="*/ 8386567 w 12192000"/>
              <a:gd name="connsiteY223" fmla="*/ 4119760 h 4267200"/>
              <a:gd name="connsiteX224" fmla="*/ 9231713 w 12192000"/>
              <a:gd name="connsiteY224" fmla="*/ 3873539 h 4267200"/>
              <a:gd name="connsiteX225" fmla="*/ 9023301 w 12192000"/>
              <a:gd name="connsiteY225" fmla="*/ 3763109 h 4267200"/>
              <a:gd name="connsiteX226" fmla="*/ 9010556 w 12192000"/>
              <a:gd name="connsiteY226" fmla="*/ 3758998 h 4267200"/>
              <a:gd name="connsiteX227" fmla="*/ 8604324 w 12192000"/>
              <a:gd name="connsiteY227" fmla="*/ 3417171 h 4267200"/>
              <a:gd name="connsiteX228" fmla="*/ 8218577 w 12192000"/>
              <a:gd name="connsiteY228" fmla="*/ 2770227 h 4267200"/>
              <a:gd name="connsiteX229" fmla="*/ 8222774 w 12192000"/>
              <a:gd name="connsiteY229" fmla="*/ 2749954 h 4267200"/>
              <a:gd name="connsiteX230" fmla="*/ 8297623 w 12192000"/>
              <a:gd name="connsiteY230" fmla="*/ 2731935 h 4267200"/>
              <a:gd name="connsiteX231" fmla="*/ 9090618 w 12192000"/>
              <a:gd name="connsiteY231" fmla="*/ 3716225 h 4267200"/>
              <a:gd name="connsiteX232" fmla="*/ 9762441 w 12192000"/>
              <a:gd name="connsiteY232" fmla="*/ 4093587 h 4267200"/>
              <a:gd name="connsiteX233" fmla="*/ 9717826 w 12192000"/>
              <a:gd name="connsiteY233" fmla="*/ 3916719 h 4267200"/>
              <a:gd name="connsiteX234" fmla="*/ 9713123 w 12192000"/>
              <a:gd name="connsiteY234" fmla="*/ 3916663 h 4267200"/>
              <a:gd name="connsiteX235" fmla="*/ 9175594 w 12192000"/>
              <a:gd name="connsiteY235" fmla="*/ 3326950 h 4267200"/>
              <a:gd name="connsiteX236" fmla="*/ 9253941 w 12192000"/>
              <a:gd name="connsiteY236" fmla="*/ 3287566 h 4267200"/>
              <a:gd name="connsiteX237" fmla="*/ 9625671 w 12192000"/>
              <a:gd name="connsiteY237" fmla="*/ 3639960 h 4267200"/>
              <a:gd name="connsiteX238" fmla="*/ 9656881 w 12192000"/>
              <a:gd name="connsiteY238" fmla="*/ 3333361 h 4267200"/>
              <a:gd name="connsiteX239" fmla="*/ 9782066 w 12192000"/>
              <a:gd name="connsiteY239" fmla="*/ 2680771 h 4267200"/>
              <a:gd name="connsiteX240" fmla="*/ 9854151 w 12192000"/>
              <a:gd name="connsiteY240" fmla="*/ 2642862 h 4267200"/>
              <a:gd name="connsiteX241" fmla="*/ 11114299 w 12192000"/>
              <a:gd name="connsiteY241" fmla="*/ 2390555 h 4267200"/>
              <a:gd name="connsiteX242" fmla="*/ 11113373 w 12192000"/>
              <a:gd name="connsiteY242" fmla="*/ 2392739 h 4267200"/>
              <a:gd name="connsiteX243" fmla="*/ 11117197 w 12192000"/>
              <a:gd name="connsiteY243" fmla="*/ 2394358 h 4267200"/>
              <a:gd name="connsiteX244" fmla="*/ 11114299 w 12192000"/>
              <a:gd name="connsiteY244" fmla="*/ 2390555 h 4267200"/>
              <a:gd name="connsiteX245" fmla="*/ 10506276 w 12192000"/>
              <a:gd name="connsiteY245" fmla="*/ 2118977 h 4267200"/>
              <a:gd name="connsiteX246" fmla="*/ 10431542 w 12192000"/>
              <a:gd name="connsiteY246" fmla="*/ 2525128 h 4267200"/>
              <a:gd name="connsiteX247" fmla="*/ 10391375 w 12192000"/>
              <a:gd name="connsiteY247" fmla="*/ 2667145 h 4267200"/>
              <a:gd name="connsiteX248" fmla="*/ 10355047 w 12192000"/>
              <a:gd name="connsiteY248" fmla="*/ 2832031 h 4267200"/>
              <a:gd name="connsiteX249" fmla="*/ 10336080 w 12192000"/>
              <a:gd name="connsiteY249" fmla="*/ 2927011 h 4267200"/>
              <a:gd name="connsiteX250" fmla="*/ 10389394 w 12192000"/>
              <a:gd name="connsiteY250" fmla="*/ 2782834 h 4267200"/>
              <a:gd name="connsiteX251" fmla="*/ 10506276 w 12192000"/>
              <a:gd name="connsiteY251" fmla="*/ 2118977 h 4267200"/>
              <a:gd name="connsiteX252" fmla="*/ 11538179 w 12192000"/>
              <a:gd name="connsiteY252" fmla="*/ 2090376 h 4267200"/>
              <a:gd name="connsiteX253" fmla="*/ 11577479 w 12192000"/>
              <a:gd name="connsiteY253" fmla="*/ 2228695 h 4267200"/>
              <a:gd name="connsiteX254" fmla="*/ 11586754 w 12192000"/>
              <a:gd name="connsiteY254" fmla="*/ 2266098 h 4267200"/>
              <a:gd name="connsiteX255" fmla="*/ 11609011 w 12192000"/>
              <a:gd name="connsiteY255" fmla="*/ 2353427 h 4267200"/>
              <a:gd name="connsiteX256" fmla="*/ 11761579 w 12192000"/>
              <a:gd name="connsiteY256" fmla="*/ 2703223 h 4267200"/>
              <a:gd name="connsiteX257" fmla="*/ 11877711 w 12192000"/>
              <a:gd name="connsiteY257" fmla="*/ 2947465 h 4267200"/>
              <a:gd name="connsiteX258" fmla="*/ 11538179 w 12192000"/>
              <a:gd name="connsiteY258" fmla="*/ 2090376 h 4267200"/>
              <a:gd name="connsiteX259" fmla="*/ 6604735 w 12192000"/>
              <a:gd name="connsiteY259" fmla="*/ 2041381 h 4267200"/>
              <a:gd name="connsiteX260" fmla="*/ 7204487 w 12192000"/>
              <a:gd name="connsiteY260" fmla="*/ 2742112 h 4267200"/>
              <a:gd name="connsiteX261" fmla="*/ 7131592 w 12192000"/>
              <a:gd name="connsiteY261" fmla="*/ 2672096 h 4267200"/>
              <a:gd name="connsiteX262" fmla="*/ 6996344 w 12192000"/>
              <a:gd name="connsiteY262" fmla="*/ 2518310 h 4267200"/>
              <a:gd name="connsiteX263" fmla="*/ 6735495 w 12192000"/>
              <a:gd name="connsiteY263" fmla="*/ 2196890 h 4267200"/>
              <a:gd name="connsiteX264" fmla="*/ 6721901 w 12192000"/>
              <a:gd name="connsiteY264" fmla="*/ 2179274 h 4267200"/>
              <a:gd name="connsiteX265" fmla="*/ 6604735 w 12192000"/>
              <a:gd name="connsiteY265" fmla="*/ 2041381 h 4267200"/>
              <a:gd name="connsiteX266" fmla="*/ 11488421 w 12192000"/>
              <a:gd name="connsiteY266" fmla="*/ 2034549 h 4267200"/>
              <a:gd name="connsiteX267" fmla="*/ 11840356 w 12192000"/>
              <a:gd name="connsiteY267" fmla="*/ 2932293 h 4267200"/>
              <a:gd name="connsiteX268" fmla="*/ 11736331 w 12192000"/>
              <a:gd name="connsiteY268" fmla="*/ 2715710 h 4267200"/>
              <a:gd name="connsiteX269" fmla="*/ 11581560 w 12192000"/>
              <a:gd name="connsiteY269" fmla="*/ 2360474 h 4267200"/>
              <a:gd name="connsiteX270" fmla="*/ 11558442 w 12192000"/>
              <a:gd name="connsiteY270" fmla="*/ 2272139 h 4267200"/>
              <a:gd name="connsiteX271" fmla="*/ 11549169 w 12192000"/>
              <a:gd name="connsiteY271" fmla="*/ 2234734 h 4267200"/>
              <a:gd name="connsiteX272" fmla="*/ 11488421 w 12192000"/>
              <a:gd name="connsiteY272" fmla="*/ 2034549 h 4267200"/>
              <a:gd name="connsiteX273" fmla="*/ 10468916 w 12192000"/>
              <a:gd name="connsiteY273" fmla="*/ 2032338 h 4267200"/>
              <a:gd name="connsiteX274" fmla="*/ 10421480 w 12192000"/>
              <a:gd name="connsiteY274" fmla="*/ 2185446 h 4267200"/>
              <a:gd name="connsiteX275" fmla="*/ 10351264 w 12192000"/>
              <a:gd name="connsiteY275" fmla="*/ 2591574 h 4267200"/>
              <a:gd name="connsiteX276" fmla="*/ 10294485 w 12192000"/>
              <a:gd name="connsiteY276" fmla="*/ 2991809 h 4267200"/>
              <a:gd name="connsiteX277" fmla="*/ 10327850 w 12192000"/>
              <a:gd name="connsiteY277" fmla="*/ 2826310 h 4267200"/>
              <a:gd name="connsiteX278" fmla="*/ 10364099 w 12192000"/>
              <a:gd name="connsiteY278" fmla="*/ 2660098 h 4267200"/>
              <a:gd name="connsiteX279" fmla="*/ 10404725 w 12192000"/>
              <a:gd name="connsiteY279" fmla="*/ 2516991 h 4267200"/>
              <a:gd name="connsiteX280" fmla="*/ 10478071 w 12192000"/>
              <a:gd name="connsiteY280" fmla="*/ 2114122 h 4267200"/>
              <a:gd name="connsiteX281" fmla="*/ 10468916 w 12192000"/>
              <a:gd name="connsiteY281" fmla="*/ 2032338 h 4267200"/>
              <a:gd name="connsiteX282" fmla="*/ 10573132 w 12192000"/>
              <a:gd name="connsiteY282" fmla="*/ 1991479 h 4267200"/>
              <a:gd name="connsiteX283" fmla="*/ 11066880 w 12192000"/>
              <a:gd name="connsiteY283" fmla="*/ 2371770 h 4267200"/>
              <a:gd name="connsiteX284" fmla="*/ 10573132 w 12192000"/>
              <a:gd name="connsiteY284" fmla="*/ 1991479 h 4267200"/>
              <a:gd name="connsiteX285" fmla="*/ 6591670 w 12192000"/>
              <a:gd name="connsiteY285" fmla="*/ 1988277 h 4267200"/>
              <a:gd name="connsiteX286" fmla="*/ 6747349 w 12192000"/>
              <a:gd name="connsiteY286" fmla="*/ 2160069 h 4267200"/>
              <a:gd name="connsiteX287" fmla="*/ 6760943 w 12192000"/>
              <a:gd name="connsiteY287" fmla="*/ 2177686 h 4267200"/>
              <a:gd name="connsiteX288" fmla="*/ 7021065 w 12192000"/>
              <a:gd name="connsiteY288" fmla="*/ 2498102 h 4267200"/>
              <a:gd name="connsiteX289" fmla="*/ 7155223 w 12192000"/>
              <a:gd name="connsiteY289" fmla="*/ 2650386 h 4267200"/>
              <a:gd name="connsiteX290" fmla="*/ 7203167 w 12192000"/>
              <a:gd name="connsiteY290" fmla="*/ 2697288 h 4267200"/>
              <a:gd name="connsiteX291" fmla="*/ 6937703 w 12192000"/>
              <a:gd name="connsiteY291" fmla="*/ 2321981 h 4267200"/>
              <a:gd name="connsiteX292" fmla="*/ 6591670 w 12192000"/>
              <a:gd name="connsiteY292" fmla="*/ 1988277 h 4267200"/>
              <a:gd name="connsiteX293" fmla="*/ 5798671 w 12192000"/>
              <a:gd name="connsiteY293" fmla="*/ 1981601 h 4267200"/>
              <a:gd name="connsiteX294" fmla="*/ 5754709 w 12192000"/>
              <a:gd name="connsiteY294" fmla="*/ 2071454 h 4267200"/>
              <a:gd name="connsiteX295" fmla="*/ 5763044 w 12192000"/>
              <a:gd name="connsiteY295" fmla="*/ 2842206 h 4267200"/>
              <a:gd name="connsiteX296" fmla="*/ 5764974 w 12192000"/>
              <a:gd name="connsiteY296" fmla="*/ 2799609 h 4267200"/>
              <a:gd name="connsiteX297" fmla="*/ 5767665 w 12192000"/>
              <a:gd name="connsiteY297" fmla="*/ 2666409 h 4267200"/>
              <a:gd name="connsiteX298" fmla="*/ 5763055 w 12192000"/>
              <a:gd name="connsiteY298" fmla="*/ 2579705 h 4267200"/>
              <a:gd name="connsiteX299" fmla="*/ 5758079 w 12192000"/>
              <a:gd name="connsiteY299" fmla="*/ 2492508 h 4267200"/>
              <a:gd name="connsiteX300" fmla="*/ 5779325 w 12192000"/>
              <a:gd name="connsiteY300" fmla="*/ 2197069 h 4267200"/>
              <a:gd name="connsiteX301" fmla="*/ 5798671 w 12192000"/>
              <a:gd name="connsiteY301" fmla="*/ 1981601 h 4267200"/>
              <a:gd name="connsiteX302" fmla="*/ 5829202 w 12192000"/>
              <a:gd name="connsiteY302" fmla="*/ 1971679 h 4267200"/>
              <a:gd name="connsiteX303" fmla="*/ 5809558 w 12192000"/>
              <a:gd name="connsiteY303" fmla="*/ 2198043 h 4267200"/>
              <a:gd name="connsiteX304" fmla="*/ 5788653 w 12192000"/>
              <a:gd name="connsiteY304" fmla="*/ 2489430 h 4267200"/>
              <a:gd name="connsiteX305" fmla="*/ 5793439 w 12192000"/>
              <a:gd name="connsiteY305" fmla="*/ 2575235 h 4267200"/>
              <a:gd name="connsiteX306" fmla="*/ 5796837 w 12192000"/>
              <a:gd name="connsiteY306" fmla="*/ 2637633 h 4267200"/>
              <a:gd name="connsiteX307" fmla="*/ 5818614 w 12192000"/>
              <a:gd name="connsiteY307" fmla="*/ 2473055 h 4267200"/>
              <a:gd name="connsiteX308" fmla="*/ 5829202 w 12192000"/>
              <a:gd name="connsiteY308" fmla="*/ 1971679 h 4267200"/>
              <a:gd name="connsiteX309" fmla="*/ 10578769 w 12192000"/>
              <a:gd name="connsiteY309" fmla="*/ 1962963 h 4267200"/>
              <a:gd name="connsiteX310" fmla="*/ 11073823 w 12192000"/>
              <a:gd name="connsiteY310" fmla="*/ 2338658 h 4267200"/>
              <a:gd name="connsiteX311" fmla="*/ 10578769 w 12192000"/>
              <a:gd name="connsiteY311" fmla="*/ 1962963 h 4267200"/>
              <a:gd name="connsiteX312" fmla="*/ 5911389 w 12192000"/>
              <a:gd name="connsiteY312" fmla="*/ 1898371 h 4267200"/>
              <a:gd name="connsiteX313" fmla="*/ 6237627 w 12192000"/>
              <a:gd name="connsiteY313" fmla="*/ 2231921 h 4267200"/>
              <a:gd name="connsiteX314" fmla="*/ 5911389 w 12192000"/>
              <a:gd name="connsiteY314" fmla="*/ 1898371 h 4267200"/>
              <a:gd name="connsiteX315" fmla="*/ 6944437 w 12192000"/>
              <a:gd name="connsiteY315" fmla="*/ 1575402 h 4267200"/>
              <a:gd name="connsiteX316" fmla="*/ 6304730 w 12192000"/>
              <a:gd name="connsiteY316" fmla="*/ 1766654 h 4267200"/>
              <a:gd name="connsiteX317" fmla="*/ 6944437 w 12192000"/>
              <a:gd name="connsiteY317" fmla="*/ 1575402 h 4267200"/>
              <a:gd name="connsiteX318" fmla="*/ 7019523 w 12192000"/>
              <a:gd name="connsiteY318" fmla="*/ 1519450 h 4267200"/>
              <a:gd name="connsiteX319" fmla="*/ 6298091 w 12192000"/>
              <a:gd name="connsiteY319" fmla="*/ 1737122 h 4267200"/>
              <a:gd name="connsiteX320" fmla="*/ 7019523 w 12192000"/>
              <a:gd name="connsiteY320" fmla="*/ 1519450 h 4267200"/>
              <a:gd name="connsiteX321" fmla="*/ 2399523 w 12192000"/>
              <a:gd name="connsiteY321" fmla="*/ 1428234 h 4267200"/>
              <a:gd name="connsiteX322" fmla="*/ 2224982 w 12192000"/>
              <a:gd name="connsiteY322" fmla="*/ 1826201 h 4267200"/>
              <a:gd name="connsiteX323" fmla="*/ 2096099 w 12192000"/>
              <a:gd name="connsiteY323" fmla="*/ 2345900 h 4267200"/>
              <a:gd name="connsiteX324" fmla="*/ 2283317 w 12192000"/>
              <a:gd name="connsiteY324" fmla="*/ 1796925 h 4267200"/>
              <a:gd name="connsiteX325" fmla="*/ 2448558 w 12192000"/>
              <a:gd name="connsiteY325" fmla="*/ 1373435 h 4267200"/>
              <a:gd name="connsiteX326" fmla="*/ 2312521 w 12192000"/>
              <a:gd name="connsiteY326" fmla="*/ 1806140 h 4267200"/>
              <a:gd name="connsiteX327" fmla="*/ 2127533 w 12192000"/>
              <a:gd name="connsiteY327" fmla="*/ 2348380 h 4267200"/>
              <a:gd name="connsiteX328" fmla="*/ 2358080 w 12192000"/>
              <a:gd name="connsiteY328" fmla="*/ 1866134 h 4267200"/>
              <a:gd name="connsiteX329" fmla="*/ 2407436 w 12192000"/>
              <a:gd name="connsiteY329" fmla="*/ 1651070 h 4267200"/>
              <a:gd name="connsiteX330" fmla="*/ 2448558 w 12192000"/>
              <a:gd name="connsiteY330" fmla="*/ 1373435 h 4267200"/>
              <a:gd name="connsiteX331" fmla="*/ 278707 w 12192000"/>
              <a:gd name="connsiteY331" fmla="*/ 1352270 h 4267200"/>
              <a:gd name="connsiteX332" fmla="*/ 321570 w 12192000"/>
              <a:gd name="connsiteY332" fmla="*/ 1861610 h 4267200"/>
              <a:gd name="connsiteX333" fmla="*/ 294281 w 12192000"/>
              <a:gd name="connsiteY333" fmla="*/ 1440658 h 4267200"/>
              <a:gd name="connsiteX334" fmla="*/ 1423821 w 12192000"/>
              <a:gd name="connsiteY334" fmla="*/ 1351958 h 4267200"/>
              <a:gd name="connsiteX335" fmla="*/ 1638521 w 12192000"/>
              <a:gd name="connsiteY335" fmla="*/ 1908470 h 4267200"/>
              <a:gd name="connsiteX336" fmla="*/ 1754199 w 12192000"/>
              <a:gd name="connsiteY336" fmla="*/ 2149284 h 4267200"/>
              <a:gd name="connsiteX337" fmla="*/ 1908359 w 12192000"/>
              <a:gd name="connsiteY337" fmla="*/ 2364988 h 4267200"/>
              <a:gd name="connsiteX338" fmla="*/ 1647661 w 12192000"/>
              <a:gd name="connsiteY338" fmla="*/ 1825945 h 4267200"/>
              <a:gd name="connsiteX339" fmla="*/ 1423821 w 12192000"/>
              <a:gd name="connsiteY339" fmla="*/ 1351958 h 4267200"/>
              <a:gd name="connsiteX340" fmla="*/ 9518298 w 12192000"/>
              <a:gd name="connsiteY340" fmla="*/ 1338235 h 4267200"/>
              <a:gd name="connsiteX341" fmla="*/ 9838009 w 12192000"/>
              <a:gd name="connsiteY341" fmla="*/ 2272553 h 4267200"/>
              <a:gd name="connsiteX342" fmla="*/ 9805906 w 12192000"/>
              <a:gd name="connsiteY342" fmla="*/ 2159819 h 4267200"/>
              <a:gd name="connsiteX343" fmla="*/ 9801623 w 12192000"/>
              <a:gd name="connsiteY343" fmla="*/ 2142555 h 4267200"/>
              <a:gd name="connsiteX344" fmla="*/ 9628671 w 12192000"/>
              <a:gd name="connsiteY344" fmla="*/ 1617375 h 4267200"/>
              <a:gd name="connsiteX345" fmla="*/ 9598299 w 12192000"/>
              <a:gd name="connsiteY345" fmla="*/ 1544643 h 4267200"/>
              <a:gd name="connsiteX346" fmla="*/ 9518298 w 12192000"/>
              <a:gd name="connsiteY346" fmla="*/ 1338235 h 4267200"/>
              <a:gd name="connsiteX347" fmla="*/ 1431890 w 12192000"/>
              <a:gd name="connsiteY347" fmla="*/ 1306475 h 4267200"/>
              <a:gd name="connsiteX348" fmla="*/ 1507597 w 12192000"/>
              <a:gd name="connsiteY348" fmla="*/ 1446132 h 4267200"/>
              <a:gd name="connsiteX349" fmla="*/ 1674586 w 12192000"/>
              <a:gd name="connsiteY349" fmla="*/ 1813832 h 4267200"/>
              <a:gd name="connsiteX350" fmla="*/ 1815950 w 12192000"/>
              <a:gd name="connsiteY350" fmla="*/ 2128564 h 4267200"/>
              <a:gd name="connsiteX351" fmla="*/ 1984242 w 12192000"/>
              <a:gd name="connsiteY351" fmla="*/ 2430829 h 4267200"/>
              <a:gd name="connsiteX352" fmla="*/ 2014023 w 12192000"/>
              <a:gd name="connsiteY352" fmla="*/ 2450995 h 4267200"/>
              <a:gd name="connsiteX353" fmla="*/ 1747337 w 12192000"/>
              <a:gd name="connsiteY353" fmla="*/ 1855264 h 4267200"/>
              <a:gd name="connsiteX354" fmla="*/ 1533749 w 12192000"/>
              <a:gd name="connsiteY354" fmla="*/ 1478656 h 4267200"/>
              <a:gd name="connsiteX355" fmla="*/ 1431890 w 12192000"/>
              <a:gd name="connsiteY355" fmla="*/ 1306475 h 4267200"/>
              <a:gd name="connsiteX356" fmla="*/ 5052692 w 12192000"/>
              <a:gd name="connsiteY356" fmla="*/ 1292994 h 4267200"/>
              <a:gd name="connsiteX357" fmla="*/ 5200661 w 12192000"/>
              <a:gd name="connsiteY357" fmla="*/ 1635186 h 4267200"/>
              <a:gd name="connsiteX358" fmla="*/ 5297138 w 12192000"/>
              <a:gd name="connsiteY358" fmla="*/ 1906351 h 4267200"/>
              <a:gd name="connsiteX359" fmla="*/ 5052692 w 12192000"/>
              <a:gd name="connsiteY359" fmla="*/ 1292994 h 4267200"/>
              <a:gd name="connsiteX360" fmla="*/ 9528078 w 12192000"/>
              <a:gd name="connsiteY360" fmla="*/ 1278636 h 4267200"/>
              <a:gd name="connsiteX361" fmla="*/ 9623946 w 12192000"/>
              <a:gd name="connsiteY361" fmla="*/ 1534260 h 4267200"/>
              <a:gd name="connsiteX362" fmla="*/ 9654858 w 12192000"/>
              <a:gd name="connsiteY362" fmla="*/ 1607218 h 4267200"/>
              <a:gd name="connsiteX363" fmla="*/ 9826304 w 12192000"/>
              <a:gd name="connsiteY363" fmla="*/ 2125320 h 4267200"/>
              <a:gd name="connsiteX364" fmla="*/ 9701198 w 12192000"/>
              <a:gd name="connsiteY364" fmla="*/ 1646797 h 4267200"/>
              <a:gd name="connsiteX365" fmla="*/ 9528078 w 12192000"/>
              <a:gd name="connsiteY365" fmla="*/ 1278636 h 4267200"/>
              <a:gd name="connsiteX366" fmla="*/ 5009948 w 12192000"/>
              <a:gd name="connsiteY366" fmla="*/ 1273619 h 4267200"/>
              <a:gd name="connsiteX367" fmla="*/ 5121777 w 12192000"/>
              <a:gd name="connsiteY367" fmla="*/ 1654213 h 4267200"/>
              <a:gd name="connsiteX368" fmla="*/ 5293545 w 12192000"/>
              <a:gd name="connsiteY368" fmla="*/ 2072247 h 4267200"/>
              <a:gd name="connsiteX369" fmla="*/ 5294042 w 12192000"/>
              <a:gd name="connsiteY369" fmla="*/ 2065019 h 4267200"/>
              <a:gd name="connsiteX370" fmla="*/ 5171936 w 12192000"/>
              <a:gd name="connsiteY370" fmla="*/ 1647613 h 4267200"/>
              <a:gd name="connsiteX371" fmla="*/ 5009948 w 12192000"/>
              <a:gd name="connsiteY371" fmla="*/ 1273619 h 4267200"/>
              <a:gd name="connsiteX372" fmla="*/ 655236 w 12192000"/>
              <a:gd name="connsiteY372" fmla="*/ 1268632 h 4267200"/>
              <a:gd name="connsiteX373" fmla="*/ 839521 w 12192000"/>
              <a:gd name="connsiteY373" fmla="*/ 1685315 h 4267200"/>
              <a:gd name="connsiteX374" fmla="*/ 1109416 w 12192000"/>
              <a:gd name="connsiteY374" fmla="*/ 2061663 h 4267200"/>
              <a:gd name="connsiteX375" fmla="*/ 1298300 w 12192000"/>
              <a:gd name="connsiteY375" fmla="*/ 2247742 h 4267200"/>
              <a:gd name="connsiteX376" fmla="*/ 1125871 w 12192000"/>
              <a:gd name="connsiteY376" fmla="*/ 1989513 h 4267200"/>
              <a:gd name="connsiteX377" fmla="*/ 981574 w 12192000"/>
              <a:gd name="connsiteY377" fmla="*/ 1783157 h 4267200"/>
              <a:gd name="connsiteX378" fmla="*/ 922198 w 12192000"/>
              <a:gd name="connsiteY378" fmla="*/ 1677437 h 4267200"/>
              <a:gd name="connsiteX379" fmla="*/ 869293 w 12192000"/>
              <a:gd name="connsiteY379" fmla="*/ 1583214 h 4267200"/>
              <a:gd name="connsiteX380" fmla="*/ 751431 w 12192000"/>
              <a:gd name="connsiteY380" fmla="*/ 1405731 h 4267200"/>
              <a:gd name="connsiteX381" fmla="*/ 6516292 w 12192000"/>
              <a:gd name="connsiteY381" fmla="*/ 1263064 h 4267200"/>
              <a:gd name="connsiteX382" fmla="*/ 5736320 w 12192000"/>
              <a:gd name="connsiteY382" fmla="*/ 1501803 h 4267200"/>
              <a:gd name="connsiteX383" fmla="*/ 6516292 w 12192000"/>
              <a:gd name="connsiteY383" fmla="*/ 1263064 h 4267200"/>
              <a:gd name="connsiteX384" fmla="*/ 291466 w 12192000"/>
              <a:gd name="connsiteY384" fmla="*/ 1250369 h 4267200"/>
              <a:gd name="connsiteX385" fmla="*/ 323180 w 12192000"/>
              <a:gd name="connsiteY385" fmla="*/ 1435283 h 4267200"/>
              <a:gd name="connsiteX386" fmla="*/ 349381 w 12192000"/>
              <a:gd name="connsiteY386" fmla="*/ 1875041 h 4267200"/>
              <a:gd name="connsiteX387" fmla="*/ 374363 w 12192000"/>
              <a:gd name="connsiteY387" fmla="*/ 1506494 h 4267200"/>
              <a:gd name="connsiteX388" fmla="*/ 302168 w 12192000"/>
              <a:gd name="connsiteY388" fmla="*/ 1274495 h 4267200"/>
              <a:gd name="connsiteX389" fmla="*/ 291466 w 12192000"/>
              <a:gd name="connsiteY389" fmla="*/ 1250369 h 4267200"/>
              <a:gd name="connsiteX390" fmla="*/ 678222 w 12192000"/>
              <a:gd name="connsiteY390" fmla="*/ 1248670 h 4267200"/>
              <a:gd name="connsiteX391" fmla="*/ 775536 w 12192000"/>
              <a:gd name="connsiteY391" fmla="*/ 1388015 h 4267200"/>
              <a:gd name="connsiteX392" fmla="*/ 894529 w 12192000"/>
              <a:gd name="connsiteY392" fmla="*/ 1567739 h 4267200"/>
              <a:gd name="connsiteX393" fmla="*/ 948000 w 12192000"/>
              <a:gd name="connsiteY393" fmla="*/ 1663088 h 4267200"/>
              <a:gd name="connsiteX394" fmla="*/ 1006812 w 12192000"/>
              <a:gd name="connsiteY394" fmla="*/ 1767683 h 4267200"/>
              <a:gd name="connsiteX395" fmla="*/ 1149133 w 12192000"/>
              <a:gd name="connsiteY395" fmla="*/ 1971513 h 4267200"/>
              <a:gd name="connsiteX396" fmla="*/ 1333952 w 12192000"/>
              <a:gd name="connsiteY396" fmla="*/ 2251620 h 4267200"/>
              <a:gd name="connsiteX397" fmla="*/ 1337329 w 12192000"/>
              <a:gd name="connsiteY397" fmla="*/ 2258350 h 4267200"/>
              <a:gd name="connsiteX398" fmla="*/ 1014726 w 12192000"/>
              <a:gd name="connsiteY398" fmla="*/ 1615556 h 4267200"/>
              <a:gd name="connsiteX399" fmla="*/ 678222 w 12192000"/>
              <a:gd name="connsiteY399" fmla="*/ 1248670 h 4267200"/>
              <a:gd name="connsiteX400" fmla="*/ 9441752 w 12192000"/>
              <a:gd name="connsiteY400" fmla="*/ 1245311 h 4267200"/>
              <a:gd name="connsiteX401" fmla="*/ 9278979 w 12192000"/>
              <a:gd name="connsiteY401" fmla="*/ 1406236 h 4267200"/>
              <a:gd name="connsiteX402" fmla="*/ 9235540 w 12192000"/>
              <a:gd name="connsiteY402" fmla="*/ 1546869 h 4267200"/>
              <a:gd name="connsiteX403" fmla="*/ 9264074 w 12192000"/>
              <a:gd name="connsiteY403" fmla="*/ 1557016 h 4267200"/>
              <a:gd name="connsiteX404" fmla="*/ 9441752 w 12192000"/>
              <a:gd name="connsiteY404" fmla="*/ 1245311 h 4267200"/>
              <a:gd name="connsiteX405" fmla="*/ 6691602 w 12192000"/>
              <a:gd name="connsiteY405" fmla="*/ 1140573 h 4267200"/>
              <a:gd name="connsiteX406" fmla="*/ 6571100 w 12192000"/>
              <a:gd name="connsiteY406" fmla="*/ 1183662 h 4267200"/>
              <a:gd name="connsiteX407" fmla="*/ 6241687 w 12192000"/>
              <a:gd name="connsiteY407" fmla="*/ 1257600 h 4267200"/>
              <a:gd name="connsiteX408" fmla="*/ 5693009 w 12192000"/>
              <a:gd name="connsiteY408" fmla="*/ 1478256 h 4267200"/>
              <a:gd name="connsiteX409" fmla="*/ 6548420 w 12192000"/>
              <a:gd name="connsiteY409" fmla="*/ 1214599 h 4267200"/>
              <a:gd name="connsiteX410" fmla="*/ 6605473 w 12192000"/>
              <a:gd name="connsiteY410" fmla="*/ 1184686 h 4267200"/>
              <a:gd name="connsiteX411" fmla="*/ 6691602 w 12192000"/>
              <a:gd name="connsiteY411" fmla="*/ 1140573 h 4267200"/>
              <a:gd name="connsiteX412" fmla="*/ 4002475 w 12192000"/>
              <a:gd name="connsiteY412" fmla="*/ 1037802 h 4267200"/>
              <a:gd name="connsiteX413" fmla="*/ 4000324 w 12192000"/>
              <a:gd name="connsiteY413" fmla="*/ 1039362 h 4267200"/>
              <a:gd name="connsiteX414" fmla="*/ 4002862 w 12192000"/>
              <a:gd name="connsiteY414" fmla="*/ 1042866 h 4267200"/>
              <a:gd name="connsiteX415" fmla="*/ 4002475 w 12192000"/>
              <a:gd name="connsiteY415" fmla="*/ 1037802 h 4267200"/>
              <a:gd name="connsiteX416" fmla="*/ 506322 w 12192000"/>
              <a:gd name="connsiteY416" fmla="*/ 1020997 h 4267200"/>
              <a:gd name="connsiteX417" fmla="*/ 533068 w 12192000"/>
              <a:gd name="connsiteY417" fmla="*/ 1029409 h 4267200"/>
              <a:gd name="connsiteX418" fmla="*/ 1232525 w 12192000"/>
              <a:gd name="connsiteY418" fmla="*/ 1804675 h 4267200"/>
              <a:gd name="connsiteX419" fmla="*/ 1388858 w 12192000"/>
              <a:gd name="connsiteY419" fmla="*/ 2368011 h 4267200"/>
              <a:gd name="connsiteX420" fmla="*/ 1384098 w 12192000"/>
              <a:gd name="connsiteY420" fmla="*/ 2378125 h 4267200"/>
              <a:gd name="connsiteX421" fmla="*/ 1425393 w 12192000"/>
              <a:gd name="connsiteY421" fmla="*/ 2589124 h 4267200"/>
              <a:gd name="connsiteX422" fmla="*/ 1424001 w 12192000"/>
              <a:gd name="connsiteY422" fmla="*/ 2597541 h 4267200"/>
              <a:gd name="connsiteX423" fmla="*/ 2152729 w 12192000"/>
              <a:gd name="connsiteY423" fmla="*/ 2864487 h 4267200"/>
              <a:gd name="connsiteX424" fmla="*/ 2020609 w 12192000"/>
              <a:gd name="connsiteY424" fmla="*/ 2539671 h 4267200"/>
              <a:gd name="connsiteX425" fmla="*/ 2018920 w 12192000"/>
              <a:gd name="connsiteY425" fmla="*/ 2536309 h 4267200"/>
              <a:gd name="connsiteX426" fmla="*/ 1342441 w 12192000"/>
              <a:gd name="connsiteY426" fmla="*/ 1173017 h 4267200"/>
              <a:gd name="connsiteX427" fmla="*/ 1367925 w 12192000"/>
              <a:gd name="connsiteY427" fmla="*/ 1135648 h 4267200"/>
              <a:gd name="connsiteX428" fmla="*/ 1771401 w 12192000"/>
              <a:gd name="connsiteY428" fmla="*/ 1806673 h 4267200"/>
              <a:gd name="connsiteX429" fmla="*/ 1972385 w 12192000"/>
              <a:gd name="connsiteY429" fmla="*/ 2198735 h 4267200"/>
              <a:gd name="connsiteX430" fmla="*/ 2040892 w 12192000"/>
              <a:gd name="connsiteY430" fmla="*/ 2405205 h 4267200"/>
              <a:gd name="connsiteX431" fmla="*/ 2131689 w 12192000"/>
              <a:gd name="connsiteY431" fmla="*/ 1936926 h 4267200"/>
              <a:gd name="connsiteX432" fmla="*/ 2454820 w 12192000"/>
              <a:gd name="connsiteY432" fmla="*/ 1248808 h 4267200"/>
              <a:gd name="connsiteX433" fmla="*/ 2492512 w 12192000"/>
              <a:gd name="connsiteY433" fmla="*/ 1302920 h 4267200"/>
              <a:gd name="connsiteX434" fmla="*/ 2081216 w 12192000"/>
              <a:gd name="connsiteY434" fmla="*/ 2527513 h 4267200"/>
              <a:gd name="connsiteX435" fmla="*/ 2081211 w 12192000"/>
              <a:gd name="connsiteY435" fmla="*/ 2528916 h 4267200"/>
              <a:gd name="connsiteX436" fmla="*/ 2199067 w 12192000"/>
              <a:gd name="connsiteY436" fmla="*/ 2884061 h 4267200"/>
              <a:gd name="connsiteX437" fmla="*/ 3192586 w 12192000"/>
              <a:gd name="connsiteY437" fmla="*/ 3411496 h 4267200"/>
              <a:gd name="connsiteX438" fmla="*/ 3182620 w 12192000"/>
              <a:gd name="connsiteY438" fmla="*/ 3483279 h 4267200"/>
              <a:gd name="connsiteX439" fmla="*/ 2435119 w 12192000"/>
              <a:gd name="connsiteY439" fmla="*/ 3080173 h 4267200"/>
              <a:gd name="connsiteX440" fmla="*/ 2410152 w 12192000"/>
              <a:gd name="connsiteY440" fmla="*/ 3063751 h 4267200"/>
              <a:gd name="connsiteX441" fmla="*/ 2408099 w 12192000"/>
              <a:gd name="connsiteY441" fmla="*/ 3064403 h 4267200"/>
              <a:gd name="connsiteX442" fmla="*/ 2407218 w 12192000"/>
              <a:gd name="connsiteY442" fmla="*/ 3070324 h 4267200"/>
              <a:gd name="connsiteX443" fmla="*/ 2380138 w 12192000"/>
              <a:gd name="connsiteY443" fmla="*/ 3099341 h 4267200"/>
              <a:gd name="connsiteX444" fmla="*/ 1765923 w 12192000"/>
              <a:gd name="connsiteY444" fmla="*/ 3581043 h 4267200"/>
              <a:gd name="connsiteX445" fmla="*/ 1702258 w 12192000"/>
              <a:gd name="connsiteY445" fmla="*/ 3612286 h 4267200"/>
              <a:gd name="connsiteX446" fmla="*/ 1538370 w 12192000"/>
              <a:gd name="connsiteY446" fmla="*/ 3811804 h 4267200"/>
              <a:gd name="connsiteX447" fmla="*/ 1325720 w 12192000"/>
              <a:gd name="connsiteY447" fmla="*/ 4125411 h 4267200"/>
              <a:gd name="connsiteX448" fmla="*/ 1206279 w 12192000"/>
              <a:gd name="connsiteY448" fmla="*/ 4267200 h 4267200"/>
              <a:gd name="connsiteX449" fmla="*/ 1115040 w 12192000"/>
              <a:gd name="connsiteY449" fmla="*/ 4267200 h 4267200"/>
              <a:gd name="connsiteX450" fmla="*/ 1258195 w 12192000"/>
              <a:gd name="connsiteY450" fmla="*/ 4099624 h 4267200"/>
              <a:gd name="connsiteX451" fmla="*/ 1423113 w 12192000"/>
              <a:gd name="connsiteY451" fmla="*/ 3874565 h 4267200"/>
              <a:gd name="connsiteX452" fmla="*/ 1260565 w 12192000"/>
              <a:gd name="connsiteY452" fmla="*/ 4031982 h 4267200"/>
              <a:gd name="connsiteX453" fmla="*/ 1073327 w 12192000"/>
              <a:gd name="connsiteY453" fmla="*/ 4218727 h 4267200"/>
              <a:gd name="connsiteX454" fmla="*/ 1032294 w 12192000"/>
              <a:gd name="connsiteY454" fmla="*/ 4267200 h 4267200"/>
              <a:gd name="connsiteX455" fmla="*/ 993830 w 12192000"/>
              <a:gd name="connsiteY455" fmla="*/ 4267200 h 4267200"/>
              <a:gd name="connsiteX456" fmla="*/ 1051860 w 12192000"/>
              <a:gd name="connsiteY456" fmla="*/ 4198693 h 4267200"/>
              <a:gd name="connsiteX457" fmla="*/ 1240607 w 12192000"/>
              <a:gd name="connsiteY457" fmla="*/ 4010401 h 4267200"/>
              <a:gd name="connsiteX458" fmla="*/ 1310106 w 12192000"/>
              <a:gd name="connsiteY458" fmla="*/ 3943217 h 4267200"/>
              <a:gd name="connsiteX459" fmla="*/ 952103 w 12192000"/>
              <a:gd name="connsiteY459" fmla="*/ 4265972 h 4267200"/>
              <a:gd name="connsiteX460" fmla="*/ 951207 w 12192000"/>
              <a:gd name="connsiteY460" fmla="*/ 4267200 h 4267200"/>
              <a:gd name="connsiteX461" fmla="*/ 862760 w 12192000"/>
              <a:gd name="connsiteY461" fmla="*/ 4267200 h 4267200"/>
              <a:gd name="connsiteX462" fmla="*/ 909145 w 12192000"/>
              <a:gd name="connsiteY462" fmla="*/ 4199225 h 4267200"/>
              <a:gd name="connsiteX463" fmla="*/ 1214067 w 12192000"/>
              <a:gd name="connsiteY463" fmla="*/ 3908561 h 4267200"/>
              <a:gd name="connsiteX464" fmla="*/ 640967 w 12192000"/>
              <a:gd name="connsiteY464" fmla="*/ 4105601 h 4267200"/>
              <a:gd name="connsiteX465" fmla="*/ 372807 w 12192000"/>
              <a:gd name="connsiteY465" fmla="*/ 4243651 h 4267200"/>
              <a:gd name="connsiteX466" fmla="*/ 332830 w 12192000"/>
              <a:gd name="connsiteY466" fmla="*/ 4267200 h 4267200"/>
              <a:gd name="connsiteX467" fmla="*/ 168301 w 12192000"/>
              <a:gd name="connsiteY467" fmla="*/ 4267200 h 4267200"/>
              <a:gd name="connsiteX468" fmla="*/ 278002 w 12192000"/>
              <a:gd name="connsiteY468" fmla="*/ 4201399 h 4267200"/>
              <a:gd name="connsiteX469" fmla="*/ 527241 w 12192000"/>
              <a:gd name="connsiteY469" fmla="*/ 4065078 h 4267200"/>
              <a:gd name="connsiteX470" fmla="*/ 1510397 w 12192000"/>
              <a:gd name="connsiteY470" fmla="*/ 3684705 h 4267200"/>
              <a:gd name="connsiteX471" fmla="*/ 1146550 w 12192000"/>
              <a:gd name="connsiteY471" fmla="*/ 3802012 h 4267200"/>
              <a:gd name="connsiteX472" fmla="*/ 698834 w 12192000"/>
              <a:gd name="connsiteY472" fmla="*/ 3952272 h 4267200"/>
              <a:gd name="connsiteX473" fmla="*/ 192528 w 12192000"/>
              <a:gd name="connsiteY473" fmla="*/ 4236299 h 4267200"/>
              <a:gd name="connsiteX474" fmla="*/ 148586 w 12192000"/>
              <a:gd name="connsiteY474" fmla="*/ 4267200 h 4267200"/>
              <a:gd name="connsiteX475" fmla="*/ 98116 w 12192000"/>
              <a:gd name="connsiteY475" fmla="*/ 4267200 h 4267200"/>
              <a:gd name="connsiteX476" fmla="*/ 169669 w 12192000"/>
              <a:gd name="connsiteY476" fmla="*/ 4216852 h 4267200"/>
              <a:gd name="connsiteX477" fmla="*/ 687572 w 12192000"/>
              <a:gd name="connsiteY477" fmla="*/ 3925629 h 4267200"/>
              <a:gd name="connsiteX478" fmla="*/ 1138365 w 12192000"/>
              <a:gd name="connsiteY478" fmla="*/ 3774515 h 4267200"/>
              <a:gd name="connsiteX479" fmla="*/ 1505579 w 12192000"/>
              <a:gd name="connsiteY479" fmla="*/ 3655526 h 4267200"/>
              <a:gd name="connsiteX480" fmla="*/ 1313114 w 12192000"/>
              <a:gd name="connsiteY480" fmla="*/ 3655216 h 4267200"/>
              <a:gd name="connsiteX481" fmla="*/ 1109304 w 12192000"/>
              <a:gd name="connsiteY481" fmla="*/ 3669030 h 4267200"/>
              <a:gd name="connsiteX482" fmla="*/ 258951 w 12192000"/>
              <a:gd name="connsiteY482" fmla="*/ 4111994 h 4267200"/>
              <a:gd name="connsiteX483" fmla="*/ 80807 w 12192000"/>
              <a:gd name="connsiteY483" fmla="*/ 4267200 h 4267200"/>
              <a:gd name="connsiteX484" fmla="*/ 0 w 12192000"/>
              <a:gd name="connsiteY484" fmla="*/ 4267200 h 4267200"/>
              <a:gd name="connsiteX485" fmla="*/ 0 w 12192000"/>
              <a:gd name="connsiteY485" fmla="*/ 4233763 h 4267200"/>
              <a:gd name="connsiteX486" fmla="*/ 36881 w 12192000"/>
              <a:gd name="connsiteY486" fmla="*/ 4200118 h 4267200"/>
              <a:gd name="connsiteX487" fmla="*/ 910534 w 12192000"/>
              <a:gd name="connsiteY487" fmla="*/ 3629753 h 4267200"/>
              <a:gd name="connsiteX488" fmla="*/ 1578717 w 12192000"/>
              <a:gd name="connsiteY488" fmla="*/ 3575982 h 4267200"/>
              <a:gd name="connsiteX489" fmla="*/ 2338780 w 12192000"/>
              <a:gd name="connsiteY489" fmla="*/ 3033725 h 4267200"/>
              <a:gd name="connsiteX490" fmla="*/ 1807991 w 12192000"/>
              <a:gd name="connsiteY490" fmla="*/ 2807184 h 4267200"/>
              <a:gd name="connsiteX491" fmla="*/ 1416358 w 12192000"/>
              <a:gd name="connsiteY491" fmla="*/ 3112571 h 4267200"/>
              <a:gd name="connsiteX492" fmla="*/ 939066 w 12192000"/>
              <a:gd name="connsiteY492" fmla="*/ 3378798 h 4267200"/>
              <a:gd name="connsiteX493" fmla="*/ 115099 w 12192000"/>
              <a:gd name="connsiteY493" fmla="*/ 3607650 h 4267200"/>
              <a:gd name="connsiteX494" fmla="*/ 97284 w 12192000"/>
              <a:gd name="connsiteY494" fmla="*/ 3520393 h 4267200"/>
              <a:gd name="connsiteX495" fmla="*/ 922050 w 12192000"/>
              <a:gd name="connsiteY495" fmla="*/ 3074867 h 4267200"/>
              <a:gd name="connsiteX496" fmla="*/ 1405265 w 12192000"/>
              <a:gd name="connsiteY496" fmla="*/ 3016319 h 4267200"/>
              <a:gd name="connsiteX497" fmla="*/ 1407512 w 12192000"/>
              <a:gd name="connsiteY497" fmla="*/ 3018001 h 4267200"/>
              <a:gd name="connsiteX498" fmla="*/ 1726266 w 12192000"/>
              <a:gd name="connsiteY498" fmla="*/ 2777274 h 4267200"/>
              <a:gd name="connsiteX499" fmla="*/ 625390 w 12192000"/>
              <a:gd name="connsiteY499" fmla="*/ 2514541 h 4267200"/>
              <a:gd name="connsiteX500" fmla="*/ 619799 w 12192000"/>
              <a:gd name="connsiteY500" fmla="*/ 2527180 h 4267200"/>
              <a:gd name="connsiteX501" fmla="*/ 310030 w 12192000"/>
              <a:gd name="connsiteY501" fmla="*/ 2771818 h 4267200"/>
              <a:gd name="connsiteX502" fmla="*/ 173877 w 12192000"/>
              <a:gd name="connsiteY502" fmla="*/ 2937056 h 4267200"/>
              <a:gd name="connsiteX503" fmla="*/ 77889 w 12192000"/>
              <a:gd name="connsiteY503" fmla="*/ 3138440 h 4267200"/>
              <a:gd name="connsiteX504" fmla="*/ 0 w 12192000"/>
              <a:gd name="connsiteY504" fmla="*/ 3271395 h 4267200"/>
              <a:gd name="connsiteX505" fmla="*/ 0 w 12192000"/>
              <a:gd name="connsiteY505" fmla="*/ 3153002 h 4267200"/>
              <a:gd name="connsiteX506" fmla="*/ 2386 w 12192000"/>
              <a:gd name="connsiteY506" fmla="*/ 3149203 h 4267200"/>
              <a:gd name="connsiteX507" fmla="*/ 89753 w 12192000"/>
              <a:gd name="connsiteY507" fmla="*/ 2987702 h 4267200"/>
              <a:gd name="connsiteX508" fmla="*/ 76869 w 12192000"/>
              <a:gd name="connsiteY508" fmla="*/ 3005404 h 4267200"/>
              <a:gd name="connsiteX509" fmla="*/ 32049 w 12192000"/>
              <a:gd name="connsiteY509" fmla="*/ 3065814 h 4267200"/>
              <a:gd name="connsiteX510" fmla="*/ 0 w 12192000"/>
              <a:gd name="connsiteY510" fmla="*/ 3108744 h 4267200"/>
              <a:gd name="connsiteX511" fmla="*/ 0 w 12192000"/>
              <a:gd name="connsiteY511" fmla="*/ 3058059 h 4267200"/>
              <a:gd name="connsiteX512" fmla="*/ 7610 w 12192000"/>
              <a:gd name="connsiteY512" fmla="*/ 3047889 h 4267200"/>
              <a:gd name="connsiteX513" fmla="*/ 52419 w 12192000"/>
              <a:gd name="connsiteY513" fmla="*/ 2987479 h 4267200"/>
              <a:gd name="connsiteX514" fmla="*/ 59142 w 12192000"/>
              <a:gd name="connsiteY514" fmla="*/ 2978488 h 4267200"/>
              <a:gd name="connsiteX515" fmla="*/ 0 w 12192000"/>
              <a:gd name="connsiteY515" fmla="*/ 3015334 h 4267200"/>
              <a:gd name="connsiteX516" fmla="*/ 0 w 12192000"/>
              <a:gd name="connsiteY516" fmla="*/ 2914286 h 4267200"/>
              <a:gd name="connsiteX517" fmla="*/ 36383 w 12192000"/>
              <a:gd name="connsiteY517" fmla="*/ 2901128 h 4267200"/>
              <a:gd name="connsiteX518" fmla="*/ 156329 w 12192000"/>
              <a:gd name="connsiteY518" fmla="*/ 2840533 h 4267200"/>
              <a:gd name="connsiteX519" fmla="*/ 358355 w 12192000"/>
              <a:gd name="connsiteY519" fmla="*/ 2620471 h 4267200"/>
              <a:gd name="connsiteX520" fmla="*/ 510577 w 12192000"/>
              <a:gd name="connsiteY520" fmla="*/ 2501244 h 4267200"/>
              <a:gd name="connsiteX521" fmla="*/ 211967 w 12192000"/>
              <a:gd name="connsiteY521" fmla="*/ 2479171 h 4267200"/>
              <a:gd name="connsiteX522" fmla="*/ 0 w 12192000"/>
              <a:gd name="connsiteY522" fmla="*/ 2476398 h 4267200"/>
              <a:gd name="connsiteX523" fmla="*/ 0 w 12192000"/>
              <a:gd name="connsiteY523" fmla="*/ 2389189 h 4267200"/>
              <a:gd name="connsiteX524" fmla="*/ 103062 w 12192000"/>
              <a:gd name="connsiteY524" fmla="*/ 2389518 h 4267200"/>
              <a:gd name="connsiteX525" fmla="*/ 510734 w 12192000"/>
              <a:gd name="connsiteY525" fmla="*/ 2416201 h 4267200"/>
              <a:gd name="connsiteX526" fmla="*/ 279257 w 12192000"/>
              <a:gd name="connsiteY526" fmla="*/ 2092102 h 4267200"/>
              <a:gd name="connsiteX527" fmla="*/ 65265 w 12192000"/>
              <a:gd name="connsiteY527" fmla="*/ 2006049 h 4267200"/>
              <a:gd name="connsiteX528" fmla="*/ 0 w 12192000"/>
              <a:gd name="connsiteY528" fmla="*/ 1982532 h 4267200"/>
              <a:gd name="connsiteX529" fmla="*/ 0 w 12192000"/>
              <a:gd name="connsiteY529" fmla="*/ 1912789 h 4267200"/>
              <a:gd name="connsiteX530" fmla="*/ 97460 w 12192000"/>
              <a:gd name="connsiteY530" fmla="*/ 1953725 h 4267200"/>
              <a:gd name="connsiteX531" fmla="*/ 221272 w 12192000"/>
              <a:gd name="connsiteY531" fmla="*/ 1980766 h 4267200"/>
              <a:gd name="connsiteX532" fmla="*/ 116765 w 12192000"/>
              <a:gd name="connsiteY532" fmla="*/ 1911033 h 4267200"/>
              <a:gd name="connsiteX533" fmla="*/ 16405 w 12192000"/>
              <a:gd name="connsiteY533" fmla="*/ 1803412 h 4267200"/>
              <a:gd name="connsiteX534" fmla="*/ 0 w 12192000"/>
              <a:gd name="connsiteY534" fmla="*/ 1784777 h 4267200"/>
              <a:gd name="connsiteX535" fmla="*/ 0 w 12192000"/>
              <a:gd name="connsiteY535" fmla="*/ 1740082 h 4267200"/>
              <a:gd name="connsiteX536" fmla="*/ 39394 w 12192000"/>
              <a:gd name="connsiteY536" fmla="*/ 1784856 h 4267200"/>
              <a:gd name="connsiteX537" fmla="*/ 135813 w 12192000"/>
              <a:gd name="connsiteY537" fmla="*/ 1888838 h 4267200"/>
              <a:gd name="connsiteX538" fmla="*/ 242575 w 12192000"/>
              <a:gd name="connsiteY538" fmla="*/ 1958841 h 4267200"/>
              <a:gd name="connsiteX539" fmla="*/ 82197 w 12192000"/>
              <a:gd name="connsiteY539" fmla="*/ 1754826 h 4267200"/>
              <a:gd name="connsiteX540" fmla="*/ 0 w 12192000"/>
              <a:gd name="connsiteY540" fmla="*/ 1679650 h 4267200"/>
              <a:gd name="connsiteX541" fmla="*/ 0 w 12192000"/>
              <a:gd name="connsiteY541" fmla="*/ 1602463 h 4267200"/>
              <a:gd name="connsiteX542" fmla="*/ 84689 w 12192000"/>
              <a:gd name="connsiteY542" fmla="*/ 1677442 h 4267200"/>
              <a:gd name="connsiteX543" fmla="*/ 298437 w 12192000"/>
              <a:gd name="connsiteY543" fmla="*/ 1968019 h 4267200"/>
              <a:gd name="connsiteX544" fmla="*/ 227269 w 12192000"/>
              <a:gd name="connsiteY544" fmla="*/ 1114064 h 4267200"/>
              <a:gd name="connsiteX545" fmla="*/ 248003 w 12192000"/>
              <a:gd name="connsiteY545" fmla="*/ 1089613 h 4267200"/>
              <a:gd name="connsiteX546" fmla="*/ 427020 w 12192000"/>
              <a:gd name="connsiteY546" fmla="*/ 1619803 h 4267200"/>
              <a:gd name="connsiteX547" fmla="*/ 340345 w 12192000"/>
              <a:gd name="connsiteY547" fmla="*/ 2027739 h 4267200"/>
              <a:gd name="connsiteX548" fmla="*/ 360865 w 12192000"/>
              <a:gd name="connsiteY548" fmla="*/ 2044827 h 4267200"/>
              <a:gd name="connsiteX549" fmla="*/ 560414 w 12192000"/>
              <a:gd name="connsiteY549" fmla="*/ 2421457 h 4267200"/>
              <a:gd name="connsiteX550" fmla="*/ 1359703 w 12192000"/>
              <a:gd name="connsiteY550" fmla="*/ 2578554 h 4267200"/>
              <a:gd name="connsiteX551" fmla="*/ 1359422 w 12192000"/>
              <a:gd name="connsiteY551" fmla="*/ 2577994 h 4267200"/>
              <a:gd name="connsiteX552" fmla="*/ 828701 w 12192000"/>
              <a:gd name="connsiteY552" fmla="*/ 1839520 h 4267200"/>
              <a:gd name="connsiteX553" fmla="*/ 494427 w 12192000"/>
              <a:gd name="connsiteY553" fmla="*/ 1092333 h 4267200"/>
              <a:gd name="connsiteX554" fmla="*/ 506322 w 12192000"/>
              <a:gd name="connsiteY554" fmla="*/ 1020997 h 4267200"/>
              <a:gd name="connsiteX555" fmla="*/ 4570198 w 12192000"/>
              <a:gd name="connsiteY555" fmla="*/ 978081 h 4267200"/>
              <a:gd name="connsiteX556" fmla="*/ 4523691 w 12192000"/>
              <a:gd name="connsiteY556" fmla="*/ 1127776 h 4267200"/>
              <a:gd name="connsiteX557" fmla="*/ 4509875 w 12192000"/>
              <a:gd name="connsiteY557" fmla="*/ 1167552 h 4267200"/>
              <a:gd name="connsiteX558" fmla="*/ 4478168 w 12192000"/>
              <a:gd name="connsiteY558" fmla="*/ 1260735 h 4267200"/>
              <a:gd name="connsiteX559" fmla="*/ 4409309 w 12192000"/>
              <a:gd name="connsiteY559" fmla="*/ 1666996 h 4267200"/>
              <a:gd name="connsiteX560" fmla="*/ 4370031 w 12192000"/>
              <a:gd name="connsiteY560" fmla="*/ 1955666 h 4267200"/>
              <a:gd name="connsiteX561" fmla="*/ 4570198 w 12192000"/>
              <a:gd name="connsiteY561" fmla="*/ 978081 h 4267200"/>
              <a:gd name="connsiteX562" fmla="*/ 12149131 w 12192000"/>
              <a:gd name="connsiteY562" fmla="*/ 959050 h 4267200"/>
              <a:gd name="connsiteX563" fmla="*/ 12105664 w 12192000"/>
              <a:gd name="connsiteY563" fmla="*/ 1006960 h 4267200"/>
              <a:gd name="connsiteX564" fmla="*/ 11883102 w 12192000"/>
              <a:gd name="connsiteY564" fmla="*/ 1184424 h 4267200"/>
              <a:gd name="connsiteX565" fmla="*/ 11665174 w 12192000"/>
              <a:gd name="connsiteY565" fmla="*/ 1317493 h 4267200"/>
              <a:gd name="connsiteX566" fmla="*/ 11590337 w 12192000"/>
              <a:gd name="connsiteY566" fmla="*/ 1348256 h 4267200"/>
              <a:gd name="connsiteX567" fmla="*/ 11492588 w 12192000"/>
              <a:gd name="connsiteY567" fmla="*/ 1390573 h 4267200"/>
              <a:gd name="connsiteX568" fmla="*/ 11888865 w 12192000"/>
              <a:gd name="connsiteY568" fmla="*/ 1220988 h 4267200"/>
              <a:gd name="connsiteX569" fmla="*/ 12149131 w 12192000"/>
              <a:gd name="connsiteY569" fmla="*/ 959050 h 4267200"/>
              <a:gd name="connsiteX570" fmla="*/ 4557898 w 12192000"/>
              <a:gd name="connsiteY570" fmla="*/ 900011 h 4267200"/>
              <a:gd name="connsiteX571" fmla="*/ 4344840 w 12192000"/>
              <a:gd name="connsiteY571" fmla="*/ 1922038 h 4267200"/>
              <a:gd name="connsiteX572" fmla="*/ 4378710 w 12192000"/>
              <a:gd name="connsiteY572" fmla="*/ 1665516 h 4267200"/>
              <a:gd name="connsiteX573" fmla="*/ 4448798 w 12192000"/>
              <a:gd name="connsiteY573" fmla="*/ 1253024 h 4267200"/>
              <a:gd name="connsiteX574" fmla="*/ 4480315 w 12192000"/>
              <a:gd name="connsiteY574" fmla="*/ 1158454 h 4267200"/>
              <a:gd name="connsiteX575" fmla="*/ 4494133 w 12192000"/>
              <a:gd name="connsiteY575" fmla="*/ 1118676 h 4267200"/>
              <a:gd name="connsiteX576" fmla="*/ 4557898 w 12192000"/>
              <a:gd name="connsiteY576" fmla="*/ 900011 h 4267200"/>
              <a:gd name="connsiteX577" fmla="*/ 5870151 w 12192000"/>
              <a:gd name="connsiteY577" fmla="*/ 898890 h 4267200"/>
              <a:gd name="connsiteX578" fmla="*/ 5861335 w 12192000"/>
              <a:gd name="connsiteY578" fmla="*/ 899177 h 4267200"/>
              <a:gd name="connsiteX579" fmla="*/ 5843702 w 12192000"/>
              <a:gd name="connsiteY579" fmla="*/ 899748 h 4267200"/>
              <a:gd name="connsiteX580" fmla="*/ 5651107 w 12192000"/>
              <a:gd name="connsiteY580" fmla="*/ 920306 h 4267200"/>
              <a:gd name="connsiteX581" fmla="*/ 5459407 w 12192000"/>
              <a:gd name="connsiteY581" fmla="*/ 940975 h 4267200"/>
              <a:gd name="connsiteX582" fmla="*/ 5374846 w 12192000"/>
              <a:gd name="connsiteY582" fmla="*/ 941988 h 4267200"/>
              <a:gd name="connsiteX583" fmla="*/ 5256105 w 12192000"/>
              <a:gd name="connsiteY583" fmla="*/ 945632 h 4267200"/>
              <a:gd name="connsiteX584" fmla="*/ 5107071 w 12192000"/>
              <a:gd name="connsiteY584" fmla="*/ 969720 h 4267200"/>
              <a:gd name="connsiteX585" fmla="*/ 4998681 w 12192000"/>
              <a:gd name="connsiteY585" fmla="*/ 988771 h 4267200"/>
              <a:gd name="connsiteX586" fmla="*/ 5870151 w 12192000"/>
              <a:gd name="connsiteY586" fmla="*/ 898890 h 4267200"/>
              <a:gd name="connsiteX587" fmla="*/ 12190084 w 12192000"/>
              <a:gd name="connsiteY587" fmla="*/ 854709 h 4267200"/>
              <a:gd name="connsiteX588" fmla="*/ 12162947 w 12192000"/>
              <a:gd name="connsiteY588" fmla="*/ 879275 h 4267200"/>
              <a:gd name="connsiteX589" fmla="*/ 11721478 w 12192000"/>
              <a:gd name="connsiteY589" fmla="*/ 1216434 h 4267200"/>
              <a:gd name="connsiteX590" fmla="*/ 11680712 w 12192000"/>
              <a:gd name="connsiteY590" fmla="*/ 1239730 h 4267200"/>
              <a:gd name="connsiteX591" fmla="*/ 11505347 w 12192000"/>
              <a:gd name="connsiteY591" fmla="*/ 1352837 h 4267200"/>
              <a:gd name="connsiteX592" fmla="*/ 11580962 w 12192000"/>
              <a:gd name="connsiteY592" fmla="*/ 1321759 h 4267200"/>
              <a:gd name="connsiteX593" fmla="*/ 11654234 w 12192000"/>
              <a:gd name="connsiteY593" fmla="*/ 1291618 h 4267200"/>
              <a:gd name="connsiteX594" fmla="*/ 11867274 w 12192000"/>
              <a:gd name="connsiteY594" fmla="*/ 1160983 h 4267200"/>
              <a:gd name="connsiteX595" fmla="*/ 12086035 w 12192000"/>
              <a:gd name="connsiteY595" fmla="*/ 986418 h 4267200"/>
              <a:gd name="connsiteX596" fmla="*/ 12190084 w 12192000"/>
              <a:gd name="connsiteY596" fmla="*/ 854709 h 4267200"/>
              <a:gd name="connsiteX597" fmla="*/ 5504425 w 12192000"/>
              <a:gd name="connsiteY597" fmla="*/ 848067 h 4267200"/>
              <a:gd name="connsiteX598" fmla="*/ 4968849 w 12192000"/>
              <a:gd name="connsiteY598" fmla="*/ 962318 h 4267200"/>
              <a:gd name="connsiteX599" fmla="*/ 5104039 w 12192000"/>
              <a:gd name="connsiteY599" fmla="*/ 940634 h 4267200"/>
              <a:gd name="connsiteX600" fmla="*/ 5256311 w 12192000"/>
              <a:gd name="connsiteY600" fmla="*/ 916490 h 4267200"/>
              <a:gd name="connsiteX601" fmla="*/ 5377381 w 12192000"/>
              <a:gd name="connsiteY601" fmla="*/ 912671 h 4267200"/>
              <a:gd name="connsiteX602" fmla="*/ 5460148 w 12192000"/>
              <a:gd name="connsiteY602" fmla="*/ 911442 h 4267200"/>
              <a:gd name="connsiteX603" fmla="*/ 5648971 w 12192000"/>
              <a:gd name="connsiteY603" fmla="*/ 891331 h 4267200"/>
              <a:gd name="connsiteX604" fmla="*/ 5844807 w 12192000"/>
              <a:gd name="connsiteY604" fmla="*/ 870718 h 4267200"/>
              <a:gd name="connsiteX605" fmla="*/ 5862975 w 12192000"/>
              <a:gd name="connsiteY605" fmla="*/ 869756 h 4267200"/>
              <a:gd name="connsiteX606" fmla="*/ 5920887 w 12192000"/>
              <a:gd name="connsiteY606" fmla="*/ 865929 h 4267200"/>
              <a:gd name="connsiteX607" fmla="*/ 5504425 w 12192000"/>
              <a:gd name="connsiteY607" fmla="*/ 848067 h 4267200"/>
              <a:gd name="connsiteX608" fmla="*/ 8924104 w 12192000"/>
              <a:gd name="connsiteY608" fmla="*/ 777000 h 4267200"/>
              <a:gd name="connsiteX609" fmla="*/ 8921999 w 12192000"/>
              <a:gd name="connsiteY609" fmla="*/ 794136 h 4267200"/>
              <a:gd name="connsiteX610" fmla="*/ 8916066 w 12192000"/>
              <a:gd name="connsiteY610" fmla="*/ 843129 h 4267200"/>
              <a:gd name="connsiteX611" fmla="*/ 8909852 w 12192000"/>
              <a:gd name="connsiteY611" fmla="*/ 1005313 h 4267200"/>
              <a:gd name="connsiteX612" fmla="*/ 8936982 w 12192000"/>
              <a:gd name="connsiteY612" fmla="*/ 1614896 h 4267200"/>
              <a:gd name="connsiteX613" fmla="*/ 8939706 w 12192000"/>
              <a:gd name="connsiteY613" fmla="*/ 1632791 h 4267200"/>
              <a:gd name="connsiteX614" fmla="*/ 8946691 w 12192000"/>
              <a:gd name="connsiteY614" fmla="*/ 1680170 h 4267200"/>
              <a:gd name="connsiteX615" fmla="*/ 8947643 w 12192000"/>
              <a:gd name="connsiteY615" fmla="*/ 1649028 h 4267200"/>
              <a:gd name="connsiteX616" fmla="*/ 8931687 w 12192000"/>
              <a:gd name="connsiteY616" fmla="*/ 871628 h 4267200"/>
              <a:gd name="connsiteX617" fmla="*/ 8929804 w 12192000"/>
              <a:gd name="connsiteY617" fmla="*/ 850229 h 4267200"/>
              <a:gd name="connsiteX618" fmla="*/ 8924104 w 12192000"/>
              <a:gd name="connsiteY618" fmla="*/ 777000 h 4267200"/>
              <a:gd name="connsiteX619" fmla="*/ 8951219 w 12192000"/>
              <a:gd name="connsiteY619" fmla="*/ 764662 h 4267200"/>
              <a:gd name="connsiteX620" fmla="*/ 8957270 w 12192000"/>
              <a:gd name="connsiteY620" fmla="*/ 847698 h 4267200"/>
              <a:gd name="connsiteX621" fmla="*/ 8959153 w 12192000"/>
              <a:gd name="connsiteY621" fmla="*/ 869097 h 4267200"/>
              <a:gd name="connsiteX622" fmla="*/ 8976081 w 12192000"/>
              <a:gd name="connsiteY622" fmla="*/ 1619865 h 4267200"/>
              <a:gd name="connsiteX623" fmla="*/ 8951219 w 12192000"/>
              <a:gd name="connsiteY623" fmla="*/ 764662 h 4267200"/>
              <a:gd name="connsiteX624" fmla="*/ 8898081 w 12192000"/>
              <a:gd name="connsiteY624" fmla="*/ 630137 h 4267200"/>
              <a:gd name="connsiteX625" fmla="*/ 8910095 w 12192000"/>
              <a:gd name="connsiteY625" fmla="*/ 1626691 h 4267200"/>
              <a:gd name="connsiteX626" fmla="*/ 8908822 w 12192000"/>
              <a:gd name="connsiteY626" fmla="*/ 1619067 h 4267200"/>
              <a:gd name="connsiteX627" fmla="*/ 8881669 w 12192000"/>
              <a:gd name="connsiteY627" fmla="*/ 1004967 h 4267200"/>
              <a:gd name="connsiteX628" fmla="*/ 8888265 w 12192000"/>
              <a:gd name="connsiteY628" fmla="*/ 840369 h 4267200"/>
              <a:gd name="connsiteX629" fmla="*/ 8894429 w 12192000"/>
              <a:gd name="connsiteY629" fmla="*/ 790831 h 4267200"/>
              <a:gd name="connsiteX630" fmla="*/ 8898081 w 12192000"/>
              <a:gd name="connsiteY630" fmla="*/ 630137 h 4267200"/>
              <a:gd name="connsiteX631" fmla="*/ 11491396 w 12192000"/>
              <a:gd name="connsiteY631" fmla="*/ 623931 h 4267200"/>
              <a:gd name="connsiteX632" fmla="*/ 11413329 w 12192000"/>
              <a:gd name="connsiteY632" fmla="*/ 662344 h 4267200"/>
              <a:gd name="connsiteX633" fmla="*/ 10966547 w 12192000"/>
              <a:gd name="connsiteY633" fmla="*/ 818916 h 4267200"/>
              <a:gd name="connsiteX634" fmla="*/ 10498883 w 12192000"/>
              <a:gd name="connsiteY634" fmla="*/ 1111507 h 4267200"/>
              <a:gd name="connsiteX635" fmla="*/ 10671292 w 12192000"/>
              <a:gd name="connsiteY635" fmla="*/ 1035777 h 4267200"/>
              <a:gd name="connsiteX636" fmla="*/ 10685894 w 12192000"/>
              <a:gd name="connsiteY636" fmla="*/ 1027151 h 4267200"/>
              <a:gd name="connsiteX637" fmla="*/ 11104337 w 12192000"/>
              <a:gd name="connsiteY637" fmla="*/ 817377 h 4267200"/>
              <a:gd name="connsiteX638" fmla="*/ 11491396 w 12192000"/>
              <a:gd name="connsiteY638" fmla="*/ 623931 h 4267200"/>
              <a:gd name="connsiteX639" fmla="*/ 10779304 w 12192000"/>
              <a:gd name="connsiteY639" fmla="*/ 584486 h 4267200"/>
              <a:gd name="connsiteX640" fmla="*/ 10658378 w 12192000"/>
              <a:gd name="connsiteY640" fmla="*/ 772788 h 4267200"/>
              <a:gd name="connsiteX641" fmla="*/ 10475581 w 12192000"/>
              <a:gd name="connsiteY641" fmla="*/ 1070739 h 4267200"/>
              <a:gd name="connsiteX642" fmla="*/ 10735178 w 12192000"/>
              <a:gd name="connsiteY642" fmla="*/ 693281 h 4267200"/>
              <a:gd name="connsiteX643" fmla="*/ 10132488 w 12192000"/>
              <a:gd name="connsiteY643" fmla="*/ 518596 h 4267200"/>
              <a:gd name="connsiteX644" fmla="*/ 9879465 w 12192000"/>
              <a:gd name="connsiteY644" fmla="*/ 567273 h 4267200"/>
              <a:gd name="connsiteX645" fmla="*/ 9364243 w 12192000"/>
              <a:gd name="connsiteY645" fmla="*/ 809468 h 4267200"/>
              <a:gd name="connsiteX646" fmla="*/ 9366655 w 12192000"/>
              <a:gd name="connsiteY646" fmla="*/ 809848 h 4267200"/>
              <a:gd name="connsiteX647" fmla="*/ 9914233 w 12192000"/>
              <a:gd name="connsiteY647" fmla="*/ 596159 h 4267200"/>
              <a:gd name="connsiteX648" fmla="*/ 10264524 w 12192000"/>
              <a:gd name="connsiteY648" fmla="*/ 501747 h 4267200"/>
              <a:gd name="connsiteX649" fmla="*/ 9922837 w 12192000"/>
              <a:gd name="connsiteY649" fmla="*/ 622979 h 4267200"/>
              <a:gd name="connsiteX650" fmla="*/ 9416908 w 12192000"/>
              <a:gd name="connsiteY650" fmla="*/ 818889 h 4267200"/>
              <a:gd name="connsiteX651" fmla="*/ 9418234 w 12192000"/>
              <a:gd name="connsiteY651" fmla="*/ 818810 h 4267200"/>
              <a:gd name="connsiteX652" fmla="*/ 10264524 w 12192000"/>
              <a:gd name="connsiteY652" fmla="*/ 501747 h 4267200"/>
              <a:gd name="connsiteX653" fmla="*/ 10802699 w 12192000"/>
              <a:gd name="connsiteY653" fmla="*/ 488163 h 4267200"/>
              <a:gd name="connsiteX654" fmla="*/ 10618739 w 12192000"/>
              <a:gd name="connsiteY654" fmla="*/ 734118 h 4267200"/>
              <a:gd name="connsiteX655" fmla="*/ 10604580 w 12192000"/>
              <a:gd name="connsiteY655" fmla="*/ 753877 h 4267200"/>
              <a:gd name="connsiteX656" fmla="*/ 10529643 w 12192000"/>
              <a:gd name="connsiteY656" fmla="*/ 867004 h 4267200"/>
              <a:gd name="connsiteX657" fmla="*/ 10462194 w 12192000"/>
              <a:gd name="connsiteY657" fmla="*/ 1035452 h 4267200"/>
              <a:gd name="connsiteX658" fmla="*/ 10635117 w 12192000"/>
              <a:gd name="connsiteY658" fmla="*/ 757788 h 4267200"/>
              <a:gd name="connsiteX659" fmla="*/ 10802699 w 12192000"/>
              <a:gd name="connsiteY659" fmla="*/ 488163 h 4267200"/>
              <a:gd name="connsiteX660" fmla="*/ 10359107 w 12192000"/>
              <a:gd name="connsiteY660" fmla="*/ 485136 h 4267200"/>
              <a:gd name="connsiteX661" fmla="*/ 9515108 w 12192000"/>
              <a:gd name="connsiteY661" fmla="*/ 825701 h 4267200"/>
              <a:gd name="connsiteX662" fmla="*/ 10359107 w 12192000"/>
              <a:gd name="connsiteY662" fmla="*/ 485136 h 4267200"/>
              <a:gd name="connsiteX663" fmla="*/ 11886089 w 12192000"/>
              <a:gd name="connsiteY663" fmla="*/ 483936 h 4267200"/>
              <a:gd name="connsiteX664" fmla="*/ 11622890 w 12192000"/>
              <a:gd name="connsiteY664" fmla="*/ 661575 h 4267200"/>
              <a:gd name="connsiteX665" fmla="*/ 11038640 w 12192000"/>
              <a:gd name="connsiteY665" fmla="*/ 996875 h 4267200"/>
              <a:gd name="connsiteX666" fmla="*/ 10561310 w 12192000"/>
              <a:gd name="connsiteY666" fmla="*/ 1145020 h 4267200"/>
              <a:gd name="connsiteX667" fmla="*/ 10675127 w 12192000"/>
              <a:gd name="connsiteY667" fmla="*/ 1163586 h 4267200"/>
              <a:gd name="connsiteX668" fmla="*/ 11120351 w 12192000"/>
              <a:gd name="connsiteY668" fmla="*/ 990907 h 4267200"/>
              <a:gd name="connsiteX669" fmla="*/ 11648506 w 12192000"/>
              <a:gd name="connsiteY669" fmla="*/ 680145 h 4267200"/>
              <a:gd name="connsiteX670" fmla="*/ 11886089 w 12192000"/>
              <a:gd name="connsiteY670" fmla="*/ 483936 h 4267200"/>
              <a:gd name="connsiteX671" fmla="*/ 3607114 w 12192000"/>
              <a:gd name="connsiteY671" fmla="*/ 467441 h 4267200"/>
              <a:gd name="connsiteX672" fmla="*/ 3296242 w 12192000"/>
              <a:gd name="connsiteY672" fmla="*/ 807991 h 4267200"/>
              <a:gd name="connsiteX673" fmla="*/ 3174674 w 12192000"/>
              <a:gd name="connsiteY673" fmla="*/ 919759 h 4267200"/>
              <a:gd name="connsiteX674" fmla="*/ 3042978 w 12192000"/>
              <a:gd name="connsiteY674" fmla="*/ 1054894 h 4267200"/>
              <a:gd name="connsiteX675" fmla="*/ 2968914 w 12192000"/>
              <a:gd name="connsiteY675" fmla="*/ 1133756 h 4267200"/>
              <a:gd name="connsiteX676" fmla="*/ 3103823 w 12192000"/>
              <a:gd name="connsiteY676" fmla="*/ 1026814 h 4267200"/>
              <a:gd name="connsiteX677" fmla="*/ 3607114 w 12192000"/>
              <a:gd name="connsiteY677" fmla="*/ 467441 h 4267200"/>
              <a:gd name="connsiteX678" fmla="*/ 10784544 w 12192000"/>
              <a:gd name="connsiteY678" fmla="*/ 465669 h 4267200"/>
              <a:gd name="connsiteX679" fmla="*/ 10426419 w 12192000"/>
              <a:gd name="connsiteY679" fmla="*/ 1062158 h 4267200"/>
              <a:gd name="connsiteX680" fmla="*/ 10471732 w 12192000"/>
              <a:gd name="connsiteY680" fmla="*/ 921679 h 4267200"/>
              <a:gd name="connsiteX681" fmla="*/ 10504824 w 12192000"/>
              <a:gd name="connsiteY681" fmla="*/ 852631 h 4267200"/>
              <a:gd name="connsiteX682" fmla="*/ 10582237 w 12192000"/>
              <a:gd name="connsiteY682" fmla="*/ 736692 h 4267200"/>
              <a:gd name="connsiteX683" fmla="*/ 10596401 w 12192000"/>
              <a:gd name="connsiteY683" fmla="*/ 716935 h 4267200"/>
              <a:gd name="connsiteX684" fmla="*/ 10784544 w 12192000"/>
              <a:gd name="connsiteY684" fmla="*/ 465669 h 4267200"/>
              <a:gd name="connsiteX685" fmla="*/ 11916494 w 12192000"/>
              <a:gd name="connsiteY685" fmla="*/ 422768 h 4267200"/>
              <a:gd name="connsiteX686" fmla="*/ 11703185 w 12192000"/>
              <a:gd name="connsiteY686" fmla="*/ 528178 h 4267200"/>
              <a:gd name="connsiteX687" fmla="*/ 11680755 w 12192000"/>
              <a:gd name="connsiteY687" fmla="*/ 543149 h 4267200"/>
              <a:gd name="connsiteX688" fmla="*/ 11116818 w 12192000"/>
              <a:gd name="connsiteY688" fmla="*/ 842623 h 4267200"/>
              <a:gd name="connsiteX689" fmla="*/ 10700164 w 12192000"/>
              <a:gd name="connsiteY689" fmla="*/ 1051220 h 4267200"/>
              <a:gd name="connsiteX690" fmla="*/ 10685570 w 12192000"/>
              <a:gd name="connsiteY690" fmla="*/ 1059849 h 4267200"/>
              <a:gd name="connsiteX691" fmla="*/ 10584288 w 12192000"/>
              <a:gd name="connsiteY691" fmla="*/ 1113543 h 4267200"/>
              <a:gd name="connsiteX692" fmla="*/ 11026698 w 12192000"/>
              <a:gd name="connsiteY692" fmla="*/ 971858 h 4267200"/>
              <a:gd name="connsiteX693" fmla="*/ 11607604 w 12192000"/>
              <a:gd name="connsiteY693" fmla="*/ 638368 h 4267200"/>
              <a:gd name="connsiteX694" fmla="*/ 11919452 w 12192000"/>
              <a:gd name="connsiteY694" fmla="*/ 423380 h 4267200"/>
              <a:gd name="connsiteX695" fmla="*/ 11916494 w 12192000"/>
              <a:gd name="connsiteY695" fmla="*/ 422768 h 4267200"/>
              <a:gd name="connsiteX696" fmla="*/ 8148168 w 12192000"/>
              <a:gd name="connsiteY696" fmla="*/ 416949 h 4267200"/>
              <a:gd name="connsiteX697" fmla="*/ 7862052 w 12192000"/>
              <a:gd name="connsiteY697" fmla="*/ 694330 h 4267200"/>
              <a:gd name="connsiteX698" fmla="*/ 7808002 w 12192000"/>
              <a:gd name="connsiteY698" fmla="*/ 759654 h 4267200"/>
              <a:gd name="connsiteX699" fmla="*/ 8295299 w 12192000"/>
              <a:gd name="connsiteY699" fmla="*/ 416143 h 4267200"/>
              <a:gd name="connsiteX700" fmla="*/ 8309124 w 12192000"/>
              <a:gd name="connsiteY700" fmla="*/ 534021 h 4267200"/>
              <a:gd name="connsiteX701" fmla="*/ 8293154 w 12192000"/>
              <a:gd name="connsiteY701" fmla="*/ 672115 h 4267200"/>
              <a:gd name="connsiteX702" fmla="*/ 8279099 w 12192000"/>
              <a:gd name="connsiteY702" fmla="*/ 769176 h 4267200"/>
              <a:gd name="connsiteX703" fmla="*/ 8309186 w 12192000"/>
              <a:gd name="connsiteY703" fmla="*/ 1060039 h 4267200"/>
              <a:gd name="connsiteX704" fmla="*/ 8410512 w 12192000"/>
              <a:gd name="connsiteY704" fmla="*/ 1511108 h 4267200"/>
              <a:gd name="connsiteX705" fmla="*/ 8351657 w 12192000"/>
              <a:gd name="connsiteY705" fmla="*/ 521768 h 4267200"/>
              <a:gd name="connsiteX706" fmla="*/ 8295299 w 12192000"/>
              <a:gd name="connsiteY706" fmla="*/ 416143 h 4267200"/>
              <a:gd name="connsiteX707" fmla="*/ 8266483 w 12192000"/>
              <a:gd name="connsiteY707" fmla="*/ 414244 h 4267200"/>
              <a:gd name="connsiteX708" fmla="*/ 8343425 w 12192000"/>
              <a:gd name="connsiteY708" fmla="*/ 1357811 h 4267200"/>
              <a:gd name="connsiteX709" fmla="*/ 8282114 w 12192000"/>
              <a:gd name="connsiteY709" fmla="*/ 1064671 h 4267200"/>
              <a:gd name="connsiteX710" fmla="*/ 8251298 w 12192000"/>
              <a:gd name="connsiteY710" fmla="*/ 766414 h 4267200"/>
              <a:gd name="connsiteX711" fmla="*/ 8265729 w 12192000"/>
              <a:gd name="connsiteY711" fmla="*/ 666939 h 4267200"/>
              <a:gd name="connsiteX712" fmla="*/ 8281494 w 12192000"/>
              <a:gd name="connsiteY712" fmla="*/ 533909 h 4267200"/>
              <a:gd name="connsiteX713" fmla="*/ 8266483 w 12192000"/>
              <a:gd name="connsiteY713" fmla="*/ 414244 h 4267200"/>
              <a:gd name="connsiteX714" fmla="*/ 8140802 w 12192000"/>
              <a:gd name="connsiteY714" fmla="*/ 388720 h 4267200"/>
              <a:gd name="connsiteX715" fmla="*/ 7860379 w 12192000"/>
              <a:gd name="connsiteY715" fmla="*/ 596411 h 4267200"/>
              <a:gd name="connsiteX716" fmla="*/ 7737688 w 12192000"/>
              <a:gd name="connsiteY716" fmla="*/ 790400 h 4267200"/>
              <a:gd name="connsiteX717" fmla="*/ 7726885 w 12192000"/>
              <a:gd name="connsiteY717" fmla="*/ 812869 h 4267200"/>
              <a:gd name="connsiteX718" fmla="*/ 7840490 w 12192000"/>
              <a:gd name="connsiteY718" fmla="*/ 676832 h 4267200"/>
              <a:gd name="connsiteX719" fmla="*/ 8140802 w 12192000"/>
              <a:gd name="connsiteY719" fmla="*/ 388720 h 4267200"/>
              <a:gd name="connsiteX720" fmla="*/ 3744487 w 12192000"/>
              <a:gd name="connsiteY720" fmla="*/ 383136 h 4267200"/>
              <a:gd name="connsiteX721" fmla="*/ 3970213 w 12192000"/>
              <a:gd name="connsiteY721" fmla="*/ 995559 h 4267200"/>
              <a:gd name="connsiteX722" fmla="*/ 3744487 w 12192000"/>
              <a:gd name="connsiteY722" fmla="*/ 383136 h 4267200"/>
              <a:gd name="connsiteX723" fmla="*/ 3624562 w 12192000"/>
              <a:gd name="connsiteY723" fmla="*/ 367041 h 4267200"/>
              <a:gd name="connsiteX724" fmla="*/ 3489712 w 12192000"/>
              <a:gd name="connsiteY724" fmla="*/ 485386 h 4267200"/>
              <a:gd name="connsiteX725" fmla="*/ 3182994 w 12192000"/>
              <a:gd name="connsiteY725" fmla="*/ 828265 h 4267200"/>
              <a:gd name="connsiteX726" fmla="*/ 2892114 w 12192000"/>
              <a:gd name="connsiteY726" fmla="*/ 1172635 h 4267200"/>
              <a:gd name="connsiteX727" fmla="*/ 3021459 w 12192000"/>
              <a:gd name="connsiteY727" fmla="*/ 1035385 h 4267200"/>
              <a:gd name="connsiteX728" fmla="*/ 3153873 w 12192000"/>
              <a:gd name="connsiteY728" fmla="*/ 898971 h 4267200"/>
              <a:gd name="connsiteX729" fmla="*/ 3276511 w 12192000"/>
              <a:gd name="connsiteY729" fmla="*/ 786423 h 4267200"/>
              <a:gd name="connsiteX730" fmla="*/ 3584154 w 12192000"/>
              <a:gd name="connsiteY730" fmla="*/ 448218 h 4267200"/>
              <a:gd name="connsiteX731" fmla="*/ 3624562 w 12192000"/>
              <a:gd name="connsiteY731" fmla="*/ 367041 h 4267200"/>
              <a:gd name="connsiteX732" fmla="*/ 3766672 w 12192000"/>
              <a:gd name="connsiteY732" fmla="*/ 359429 h 4267200"/>
              <a:gd name="connsiteX733" fmla="*/ 3996338 w 12192000"/>
              <a:gd name="connsiteY733" fmla="*/ 968237 h 4267200"/>
              <a:gd name="connsiteX734" fmla="*/ 3766672 w 12192000"/>
              <a:gd name="connsiteY734" fmla="*/ 359429 h 4267200"/>
              <a:gd name="connsiteX735" fmla="*/ 5805386 w 12192000"/>
              <a:gd name="connsiteY735" fmla="*/ 239240 h 4267200"/>
              <a:gd name="connsiteX736" fmla="*/ 5736947 w 12192000"/>
              <a:gd name="connsiteY736" fmla="*/ 261367 h 4267200"/>
              <a:gd name="connsiteX737" fmla="*/ 5427012 w 12192000"/>
              <a:gd name="connsiteY737" fmla="*/ 311272 h 4267200"/>
              <a:gd name="connsiteX738" fmla="*/ 5147818 w 12192000"/>
              <a:gd name="connsiteY738" fmla="*/ 322112 h 4267200"/>
              <a:gd name="connsiteX739" fmla="*/ 5060854 w 12192000"/>
              <a:gd name="connsiteY739" fmla="*/ 311882 h 4267200"/>
              <a:gd name="connsiteX740" fmla="*/ 4945989 w 12192000"/>
              <a:gd name="connsiteY740" fmla="*/ 300516 h 4267200"/>
              <a:gd name="connsiteX741" fmla="*/ 5410479 w 12192000"/>
              <a:gd name="connsiteY741" fmla="*/ 348434 h 4267200"/>
              <a:gd name="connsiteX742" fmla="*/ 5805386 w 12192000"/>
              <a:gd name="connsiteY742" fmla="*/ 239240 h 4267200"/>
              <a:gd name="connsiteX743" fmla="*/ 5905192 w 12192000"/>
              <a:gd name="connsiteY743" fmla="*/ 163079 h 4267200"/>
              <a:gd name="connsiteX744" fmla="*/ 5865655 w 12192000"/>
              <a:gd name="connsiteY744" fmla="*/ 171901 h 4267200"/>
              <a:gd name="connsiteX745" fmla="*/ 5259740 w 12192000"/>
              <a:gd name="connsiteY745" fmla="*/ 257013 h 4267200"/>
              <a:gd name="connsiteX746" fmla="*/ 5208466 w 12192000"/>
              <a:gd name="connsiteY746" fmla="*/ 257550 h 4267200"/>
              <a:gd name="connsiteX747" fmla="*/ 4980204 w 12192000"/>
              <a:gd name="connsiteY747" fmla="*/ 271903 h 4267200"/>
              <a:gd name="connsiteX748" fmla="*/ 5068068 w 12192000"/>
              <a:gd name="connsiteY748" fmla="*/ 282244 h 4267200"/>
              <a:gd name="connsiteX749" fmla="*/ 5153231 w 12192000"/>
              <a:gd name="connsiteY749" fmla="*/ 292240 h 4267200"/>
              <a:gd name="connsiteX750" fmla="*/ 5426491 w 12192000"/>
              <a:gd name="connsiteY750" fmla="*/ 281128 h 4267200"/>
              <a:gd name="connsiteX751" fmla="*/ 5731212 w 12192000"/>
              <a:gd name="connsiteY751" fmla="*/ 231951 h 4267200"/>
              <a:gd name="connsiteX752" fmla="*/ 5905192 w 12192000"/>
              <a:gd name="connsiteY752" fmla="*/ 163079 h 4267200"/>
              <a:gd name="connsiteX753" fmla="*/ 5944437 w 12192000"/>
              <a:gd name="connsiteY753" fmla="*/ 113829 h 4267200"/>
              <a:gd name="connsiteX754" fmla="*/ 5825032 w 12192000"/>
              <a:gd name="connsiteY754" fmla="*/ 146405 h 4267200"/>
              <a:gd name="connsiteX755" fmla="*/ 4955599 w 12192000"/>
              <a:gd name="connsiteY755" fmla="*/ 247008 h 4267200"/>
              <a:gd name="connsiteX756" fmla="*/ 5210104 w 12192000"/>
              <a:gd name="connsiteY756" fmla="*/ 228123 h 4267200"/>
              <a:gd name="connsiteX757" fmla="*/ 5261015 w 12192000"/>
              <a:gd name="connsiteY757" fmla="*/ 227087 h 4267200"/>
              <a:gd name="connsiteX758" fmla="*/ 5861181 w 12192000"/>
              <a:gd name="connsiteY758" fmla="*/ 143093 h 4267200"/>
              <a:gd name="connsiteX759" fmla="*/ 5961252 w 12192000"/>
              <a:gd name="connsiteY759" fmla="*/ 114820 h 4267200"/>
              <a:gd name="connsiteX760" fmla="*/ 5944437 w 12192000"/>
              <a:gd name="connsiteY760" fmla="*/ 113829 h 4267200"/>
              <a:gd name="connsiteX761" fmla="*/ 9095810 w 12192000"/>
              <a:gd name="connsiteY761" fmla="*/ 0 h 4267200"/>
              <a:gd name="connsiteX762" fmla="*/ 9215999 w 12192000"/>
              <a:gd name="connsiteY762" fmla="*/ 0 h 4267200"/>
              <a:gd name="connsiteX763" fmla="*/ 9250991 w 12192000"/>
              <a:gd name="connsiteY763" fmla="*/ 17650 h 4267200"/>
              <a:gd name="connsiteX764" fmla="*/ 9551793 w 12192000"/>
              <a:gd name="connsiteY764" fmla="*/ 69947 h 4267200"/>
              <a:gd name="connsiteX765" fmla="*/ 10211701 w 12192000"/>
              <a:gd name="connsiteY765" fmla="*/ 15192 h 4267200"/>
              <a:gd name="connsiteX766" fmla="*/ 9665014 w 12192000"/>
              <a:gd name="connsiteY766" fmla="*/ 41266 h 4267200"/>
              <a:gd name="connsiteX767" fmla="*/ 9382567 w 12192000"/>
              <a:gd name="connsiteY767" fmla="*/ 18583 h 4267200"/>
              <a:gd name="connsiteX768" fmla="*/ 9283159 w 12192000"/>
              <a:gd name="connsiteY768" fmla="*/ 0 h 4267200"/>
              <a:gd name="connsiteX769" fmla="*/ 9469266 w 12192000"/>
              <a:gd name="connsiteY769" fmla="*/ 0 h 4267200"/>
              <a:gd name="connsiteX770" fmla="*/ 9504117 w 12192000"/>
              <a:gd name="connsiteY770" fmla="*/ 4274 h 4267200"/>
              <a:gd name="connsiteX771" fmla="*/ 9667223 w 12192000"/>
              <a:gd name="connsiteY771" fmla="*/ 13232 h 4267200"/>
              <a:gd name="connsiteX772" fmla="*/ 9887703 w 12192000"/>
              <a:gd name="connsiteY772" fmla="*/ 12601 h 4267200"/>
              <a:gd name="connsiteX773" fmla="*/ 10088930 w 12192000"/>
              <a:gd name="connsiteY773" fmla="*/ 0 h 4267200"/>
              <a:gd name="connsiteX774" fmla="*/ 10544171 w 12192000"/>
              <a:gd name="connsiteY774" fmla="*/ 0 h 4267200"/>
              <a:gd name="connsiteX775" fmla="*/ 10392396 w 12192000"/>
              <a:gd name="connsiteY775" fmla="*/ 36772 h 4267200"/>
              <a:gd name="connsiteX776" fmla="*/ 9413803 w 12192000"/>
              <a:gd name="connsiteY776" fmla="*/ 131277 h 4267200"/>
              <a:gd name="connsiteX777" fmla="*/ 9174626 w 12192000"/>
              <a:gd name="connsiteY777" fmla="*/ 44983 h 4267200"/>
              <a:gd name="connsiteX778" fmla="*/ 8474998 w 12192000"/>
              <a:gd name="connsiteY778" fmla="*/ 0 h 4267200"/>
              <a:gd name="connsiteX779" fmla="*/ 8573502 w 12192000"/>
              <a:gd name="connsiteY779" fmla="*/ 0 h 4267200"/>
              <a:gd name="connsiteX780" fmla="*/ 8659539 w 12192000"/>
              <a:gd name="connsiteY780" fmla="*/ 117664 h 4267200"/>
              <a:gd name="connsiteX781" fmla="*/ 9248507 w 12192000"/>
              <a:gd name="connsiteY781" fmla="*/ 743734 h 4267200"/>
              <a:gd name="connsiteX782" fmla="*/ 9309457 w 12192000"/>
              <a:gd name="connsiteY782" fmla="*/ 795932 h 4267200"/>
              <a:gd name="connsiteX783" fmla="*/ 9785496 w 12192000"/>
              <a:gd name="connsiteY783" fmla="*/ 530713 h 4267200"/>
              <a:gd name="connsiteX784" fmla="*/ 10482828 w 12192000"/>
              <a:gd name="connsiteY784" fmla="*/ 399738 h 4267200"/>
              <a:gd name="connsiteX785" fmla="*/ 10468382 w 12192000"/>
              <a:gd name="connsiteY785" fmla="*/ 461219 h 4267200"/>
              <a:gd name="connsiteX786" fmla="*/ 9430790 w 12192000"/>
              <a:gd name="connsiteY786" fmla="*/ 895589 h 4267200"/>
              <a:gd name="connsiteX787" fmla="*/ 10019780 w 12192000"/>
              <a:gd name="connsiteY787" fmla="*/ 1298815 h 4267200"/>
              <a:gd name="connsiteX788" fmla="*/ 10372218 w 12192000"/>
              <a:gd name="connsiteY788" fmla="*/ 1146081 h 4267200"/>
              <a:gd name="connsiteX789" fmla="*/ 10896429 w 12192000"/>
              <a:gd name="connsiteY789" fmla="*/ 310883 h 4267200"/>
              <a:gd name="connsiteX790" fmla="*/ 10919735 w 12192000"/>
              <a:gd name="connsiteY790" fmla="*/ 318176 h 4267200"/>
              <a:gd name="connsiteX791" fmla="*/ 10637064 w 12192000"/>
              <a:gd name="connsiteY791" fmla="*/ 935661 h 4267200"/>
              <a:gd name="connsiteX792" fmla="*/ 10516995 w 12192000"/>
              <a:gd name="connsiteY792" fmla="*/ 1070245 h 4267200"/>
              <a:gd name="connsiteX793" fmla="*/ 10868835 w 12192000"/>
              <a:gd name="connsiteY793" fmla="*/ 815534 h 4267200"/>
              <a:gd name="connsiteX794" fmla="*/ 11704547 w 12192000"/>
              <a:gd name="connsiteY794" fmla="*/ 465665 h 4267200"/>
              <a:gd name="connsiteX795" fmla="*/ 12033562 w 12192000"/>
              <a:gd name="connsiteY795" fmla="*/ 350012 h 4267200"/>
              <a:gd name="connsiteX796" fmla="*/ 12025537 w 12192000"/>
              <a:gd name="connsiteY796" fmla="*/ 382666 h 4267200"/>
              <a:gd name="connsiteX797" fmla="*/ 11088649 w 12192000"/>
              <a:gd name="connsiteY797" fmla="*/ 1056676 h 4267200"/>
              <a:gd name="connsiteX798" fmla="*/ 10561600 w 12192000"/>
              <a:gd name="connsiteY798" fmla="*/ 1229477 h 4267200"/>
              <a:gd name="connsiteX799" fmla="*/ 10280797 w 12192000"/>
              <a:gd name="connsiteY799" fmla="*/ 1263181 h 4267200"/>
              <a:gd name="connsiteX800" fmla="*/ 10083376 w 12192000"/>
              <a:gd name="connsiteY800" fmla="*/ 1334114 h 4267200"/>
              <a:gd name="connsiteX801" fmla="*/ 10832582 w 12192000"/>
              <a:gd name="connsiteY801" fmla="*/ 1687356 h 4267200"/>
              <a:gd name="connsiteX802" fmla="*/ 10839263 w 12192000"/>
              <a:gd name="connsiteY802" fmla="*/ 1683743 h 4267200"/>
              <a:gd name="connsiteX803" fmla="*/ 11350910 w 12192000"/>
              <a:gd name="connsiteY803" fmla="*/ 1443899 h 4267200"/>
              <a:gd name="connsiteX804" fmla="*/ 11360346 w 12192000"/>
              <a:gd name="connsiteY804" fmla="*/ 1429225 h 4267200"/>
              <a:gd name="connsiteX805" fmla="*/ 12167580 w 12192000"/>
              <a:gd name="connsiteY805" fmla="*/ 789523 h 4267200"/>
              <a:gd name="connsiteX806" fmla="*/ 12192000 w 12192000"/>
              <a:gd name="connsiteY806" fmla="*/ 769876 h 4267200"/>
              <a:gd name="connsiteX807" fmla="*/ 12192000 w 12192000"/>
              <a:gd name="connsiteY807" fmla="*/ 802845 h 4267200"/>
              <a:gd name="connsiteX808" fmla="*/ 12173558 w 12192000"/>
              <a:gd name="connsiteY808" fmla="*/ 821317 h 4267200"/>
              <a:gd name="connsiteX809" fmla="*/ 12117398 w 12192000"/>
              <a:gd name="connsiteY809" fmla="*/ 877374 h 4267200"/>
              <a:gd name="connsiteX810" fmla="*/ 11472926 w 12192000"/>
              <a:gd name="connsiteY810" fmla="*/ 1344259 h 4267200"/>
              <a:gd name="connsiteX811" fmla="*/ 11666978 w 12192000"/>
              <a:gd name="connsiteY811" fmla="*/ 1215889 h 4267200"/>
              <a:gd name="connsiteX812" fmla="*/ 11707200 w 12192000"/>
              <a:gd name="connsiteY812" fmla="*/ 1192361 h 4267200"/>
              <a:gd name="connsiteX813" fmla="*/ 12144637 w 12192000"/>
              <a:gd name="connsiteY813" fmla="*/ 858646 h 4267200"/>
              <a:gd name="connsiteX814" fmla="*/ 12192000 w 12192000"/>
              <a:gd name="connsiteY814" fmla="*/ 810414 h 4267200"/>
              <a:gd name="connsiteX815" fmla="*/ 12192000 w 12192000"/>
              <a:gd name="connsiteY815" fmla="*/ 916439 h 4267200"/>
              <a:gd name="connsiteX816" fmla="*/ 12150630 w 12192000"/>
              <a:gd name="connsiteY816" fmla="*/ 982925 h 4267200"/>
              <a:gd name="connsiteX817" fmla="*/ 11389484 w 12192000"/>
              <a:gd name="connsiteY817" fmla="*/ 1469889 h 4267200"/>
              <a:gd name="connsiteX818" fmla="*/ 10923736 w 12192000"/>
              <a:gd name="connsiteY818" fmla="*/ 1721439 h 4267200"/>
              <a:gd name="connsiteX819" fmla="*/ 11091913 w 12192000"/>
              <a:gd name="connsiteY819" fmla="*/ 1780406 h 4267200"/>
              <a:gd name="connsiteX820" fmla="*/ 11771238 w 12192000"/>
              <a:gd name="connsiteY820" fmla="*/ 1944400 h 4267200"/>
              <a:gd name="connsiteX821" fmla="*/ 11783166 w 12192000"/>
              <a:gd name="connsiteY821" fmla="*/ 1931422 h 4267200"/>
              <a:gd name="connsiteX822" fmla="*/ 12131988 w 12192000"/>
              <a:gd name="connsiteY822" fmla="*/ 1574357 h 4267200"/>
              <a:gd name="connsiteX823" fmla="*/ 12192000 w 12192000"/>
              <a:gd name="connsiteY823" fmla="*/ 1537429 h 4267200"/>
              <a:gd name="connsiteX824" fmla="*/ 12192000 w 12192000"/>
              <a:gd name="connsiteY824" fmla="*/ 1589108 h 4267200"/>
              <a:gd name="connsiteX825" fmla="*/ 12112105 w 12192000"/>
              <a:gd name="connsiteY825" fmla="*/ 1640352 h 4267200"/>
              <a:gd name="connsiteX826" fmla="*/ 11849203 w 12192000"/>
              <a:gd name="connsiteY826" fmla="*/ 1900149 h 4267200"/>
              <a:gd name="connsiteX827" fmla="*/ 11946326 w 12192000"/>
              <a:gd name="connsiteY827" fmla="*/ 1822808 h 4267200"/>
              <a:gd name="connsiteX828" fmla="*/ 12055863 w 12192000"/>
              <a:gd name="connsiteY828" fmla="*/ 1735914 h 4267200"/>
              <a:gd name="connsiteX829" fmla="*/ 12150816 w 12192000"/>
              <a:gd name="connsiteY829" fmla="*/ 1678902 h 4267200"/>
              <a:gd name="connsiteX830" fmla="*/ 12192000 w 12192000"/>
              <a:gd name="connsiteY830" fmla="*/ 1655121 h 4267200"/>
              <a:gd name="connsiteX831" fmla="*/ 12192000 w 12192000"/>
              <a:gd name="connsiteY831" fmla="*/ 1686869 h 4267200"/>
              <a:gd name="connsiteX832" fmla="*/ 12163772 w 12192000"/>
              <a:gd name="connsiteY832" fmla="*/ 1703058 h 4267200"/>
              <a:gd name="connsiteX833" fmla="*/ 12070597 w 12192000"/>
              <a:gd name="connsiteY833" fmla="*/ 1758893 h 4267200"/>
              <a:gd name="connsiteX834" fmla="*/ 11963621 w 12192000"/>
              <a:gd name="connsiteY834" fmla="*/ 1844299 h 4267200"/>
              <a:gd name="connsiteX835" fmla="*/ 11886604 w 12192000"/>
              <a:gd name="connsiteY835" fmla="*/ 1907617 h 4267200"/>
              <a:gd name="connsiteX836" fmla="*/ 12153575 w 12192000"/>
              <a:gd name="connsiteY836" fmla="*/ 1786372 h 4267200"/>
              <a:gd name="connsiteX837" fmla="*/ 12192000 w 12192000"/>
              <a:gd name="connsiteY837" fmla="*/ 1759693 h 4267200"/>
              <a:gd name="connsiteX838" fmla="*/ 12192000 w 12192000"/>
              <a:gd name="connsiteY838" fmla="*/ 1809459 h 4267200"/>
              <a:gd name="connsiteX839" fmla="*/ 12121362 w 12192000"/>
              <a:gd name="connsiteY839" fmla="*/ 1857561 h 4267200"/>
              <a:gd name="connsiteX840" fmla="*/ 11895949 w 12192000"/>
              <a:gd name="connsiteY840" fmla="*/ 1963079 h 4267200"/>
              <a:gd name="connsiteX841" fmla="*/ 12192000 w 12192000"/>
              <a:gd name="connsiteY841" fmla="*/ 1990579 h 4267200"/>
              <a:gd name="connsiteX842" fmla="*/ 12192000 w 12192000"/>
              <a:gd name="connsiteY842" fmla="*/ 2065582 h 4267200"/>
              <a:gd name="connsiteX843" fmla="*/ 12153918 w 12192000"/>
              <a:gd name="connsiteY843" fmla="*/ 2063926 h 4267200"/>
              <a:gd name="connsiteX844" fmla="*/ 12192000 w 12192000"/>
              <a:gd name="connsiteY844" fmla="*/ 2085104 h 4267200"/>
              <a:gd name="connsiteX845" fmla="*/ 12192000 w 12192000"/>
              <a:gd name="connsiteY845" fmla="*/ 2178471 h 4267200"/>
              <a:gd name="connsiteX846" fmla="*/ 12085355 w 12192000"/>
              <a:gd name="connsiteY846" fmla="*/ 2122457 h 4267200"/>
              <a:gd name="connsiteX847" fmla="*/ 12192000 w 12192000"/>
              <a:gd name="connsiteY847" fmla="*/ 2196158 h 4267200"/>
              <a:gd name="connsiteX848" fmla="*/ 12192000 w 12192000"/>
              <a:gd name="connsiteY848" fmla="*/ 2230374 h 4267200"/>
              <a:gd name="connsiteX849" fmla="*/ 12041237 w 12192000"/>
              <a:gd name="connsiteY849" fmla="*/ 2126309 h 4267200"/>
              <a:gd name="connsiteX850" fmla="*/ 12174450 w 12192000"/>
              <a:gd name="connsiteY850" fmla="*/ 2262541 h 4267200"/>
              <a:gd name="connsiteX851" fmla="*/ 12192000 w 12192000"/>
              <a:gd name="connsiteY851" fmla="*/ 2275857 h 4267200"/>
              <a:gd name="connsiteX852" fmla="*/ 12192000 w 12192000"/>
              <a:gd name="connsiteY852" fmla="*/ 2377131 h 4267200"/>
              <a:gd name="connsiteX853" fmla="*/ 12155801 w 12192000"/>
              <a:gd name="connsiteY853" fmla="*/ 2349925 h 4267200"/>
              <a:gd name="connsiteX854" fmla="*/ 11930164 w 12192000"/>
              <a:gd name="connsiteY854" fmla="*/ 2041945 h 4267200"/>
              <a:gd name="connsiteX855" fmla="*/ 11561767 w 12192000"/>
              <a:gd name="connsiteY855" fmla="*/ 1984479 h 4267200"/>
              <a:gd name="connsiteX856" fmla="*/ 11987997 w 12192000"/>
              <a:gd name="connsiteY856" fmla="*/ 3153822 h 4267200"/>
              <a:gd name="connsiteX857" fmla="*/ 11926558 w 12192000"/>
              <a:gd name="connsiteY857" fmla="*/ 3203134 h 4267200"/>
              <a:gd name="connsiteX858" fmla="*/ 11440430 w 12192000"/>
              <a:gd name="connsiteY858" fmla="*/ 1973028 h 4267200"/>
              <a:gd name="connsiteX859" fmla="*/ 11446754 w 12192000"/>
              <a:gd name="connsiteY859" fmla="*/ 1959605 h 4267200"/>
              <a:gd name="connsiteX860" fmla="*/ 11050651 w 12192000"/>
              <a:gd name="connsiteY860" fmla="*/ 1850495 h 4267200"/>
              <a:gd name="connsiteX861" fmla="*/ 10389960 w 12192000"/>
              <a:gd name="connsiteY861" fmla="*/ 1586232 h 4267200"/>
              <a:gd name="connsiteX862" fmla="*/ 10500699 w 12192000"/>
              <a:gd name="connsiteY862" fmla="*/ 1913175 h 4267200"/>
              <a:gd name="connsiteX863" fmla="*/ 10507814 w 12192000"/>
              <a:gd name="connsiteY863" fmla="*/ 1920694 h 4267200"/>
              <a:gd name="connsiteX864" fmla="*/ 10518908 w 12192000"/>
              <a:gd name="connsiteY864" fmla="*/ 1911226 h 4267200"/>
              <a:gd name="connsiteX865" fmla="*/ 11258935 w 12192000"/>
              <a:gd name="connsiteY865" fmla="*/ 2442781 h 4267200"/>
              <a:gd name="connsiteX866" fmla="*/ 11211663 w 12192000"/>
              <a:gd name="connsiteY866" fmla="*/ 2510325 h 4267200"/>
              <a:gd name="connsiteX867" fmla="*/ 10571295 w 12192000"/>
              <a:gd name="connsiteY867" fmla="*/ 2105302 h 4267200"/>
              <a:gd name="connsiteX868" fmla="*/ 10435737 w 12192000"/>
              <a:gd name="connsiteY868" fmla="*/ 2805672 h 4267200"/>
              <a:gd name="connsiteX869" fmla="*/ 10206831 w 12192000"/>
              <a:gd name="connsiteY869" fmla="*/ 3151701 h 4267200"/>
              <a:gd name="connsiteX870" fmla="*/ 10196482 w 12192000"/>
              <a:gd name="connsiteY870" fmla="*/ 3135084 h 4267200"/>
              <a:gd name="connsiteX871" fmla="*/ 10381882 w 12192000"/>
              <a:gd name="connsiteY871" fmla="*/ 2155807 h 4267200"/>
              <a:gd name="connsiteX872" fmla="*/ 10439260 w 12192000"/>
              <a:gd name="connsiteY872" fmla="*/ 1962486 h 4267200"/>
              <a:gd name="connsiteX873" fmla="*/ 10439409 w 12192000"/>
              <a:gd name="connsiteY873" fmla="*/ 1960615 h 4267200"/>
              <a:gd name="connsiteX874" fmla="*/ 10439915 w 12192000"/>
              <a:gd name="connsiteY874" fmla="*/ 1951821 h 4267200"/>
              <a:gd name="connsiteX875" fmla="*/ 10314241 w 12192000"/>
              <a:gd name="connsiteY875" fmla="*/ 1556749 h 4267200"/>
              <a:gd name="connsiteX876" fmla="*/ 10315061 w 12192000"/>
              <a:gd name="connsiteY876" fmla="*/ 1548729 h 4267200"/>
              <a:gd name="connsiteX877" fmla="*/ 9526158 w 12192000"/>
              <a:gd name="connsiteY877" fmla="*/ 1071804 h 4267200"/>
              <a:gd name="connsiteX878" fmla="*/ 9758689 w 12192000"/>
              <a:gd name="connsiteY878" fmla="*/ 1585512 h 4267200"/>
              <a:gd name="connsiteX879" fmla="*/ 9941392 w 12192000"/>
              <a:gd name="connsiteY879" fmla="*/ 2432858 h 4267200"/>
              <a:gd name="connsiteX880" fmla="*/ 9887724 w 12192000"/>
              <a:gd name="connsiteY880" fmla="*/ 2495762 h 4267200"/>
              <a:gd name="connsiteX881" fmla="*/ 9587446 w 12192000"/>
              <a:gd name="connsiteY881" fmla="*/ 1872898 h 4267200"/>
              <a:gd name="connsiteX882" fmla="*/ 9462810 w 12192000"/>
              <a:gd name="connsiteY882" fmla="*/ 1288346 h 4267200"/>
              <a:gd name="connsiteX883" fmla="*/ 9318575 w 12192000"/>
              <a:gd name="connsiteY883" fmla="*/ 1540820 h 4267200"/>
              <a:gd name="connsiteX884" fmla="*/ 9191090 w 12192000"/>
              <a:gd name="connsiteY884" fmla="*/ 1688355 h 4267200"/>
              <a:gd name="connsiteX885" fmla="*/ 9177757 w 12192000"/>
              <a:gd name="connsiteY885" fmla="*/ 1683354 h 4267200"/>
              <a:gd name="connsiteX886" fmla="*/ 9274865 w 12192000"/>
              <a:gd name="connsiteY886" fmla="*/ 1336896 h 4267200"/>
              <a:gd name="connsiteX887" fmla="*/ 9478649 w 12192000"/>
              <a:gd name="connsiteY887" fmla="*/ 1173376 h 4267200"/>
              <a:gd name="connsiteX888" fmla="*/ 9482281 w 12192000"/>
              <a:gd name="connsiteY888" fmla="*/ 1167830 h 4267200"/>
              <a:gd name="connsiteX889" fmla="*/ 9438637 w 12192000"/>
              <a:gd name="connsiteY889" fmla="*/ 1015438 h 4267200"/>
              <a:gd name="connsiteX890" fmla="*/ 9439458 w 12192000"/>
              <a:gd name="connsiteY890" fmla="*/ 1007420 h 4267200"/>
              <a:gd name="connsiteX891" fmla="*/ 9197105 w 12192000"/>
              <a:gd name="connsiteY891" fmla="*/ 808882 h 4267200"/>
              <a:gd name="connsiteX892" fmla="*/ 8973607 w 12192000"/>
              <a:gd name="connsiteY892" fmla="*/ 597733 h 4267200"/>
              <a:gd name="connsiteX893" fmla="*/ 8967512 w 12192000"/>
              <a:gd name="connsiteY893" fmla="*/ 1795211 h 4267200"/>
              <a:gd name="connsiteX894" fmla="*/ 8912526 w 12192000"/>
              <a:gd name="connsiteY894" fmla="*/ 1841464 h 4267200"/>
              <a:gd name="connsiteX895" fmla="*/ 8893391 w 12192000"/>
              <a:gd name="connsiteY895" fmla="*/ 572788 h 4267200"/>
              <a:gd name="connsiteX896" fmla="*/ 8902990 w 12192000"/>
              <a:gd name="connsiteY896" fmla="*/ 560750 h 4267200"/>
              <a:gd name="connsiteX897" fmla="*/ 8919102 w 12192000"/>
              <a:gd name="connsiteY897" fmla="*/ 542471 h 4267200"/>
              <a:gd name="connsiteX898" fmla="*/ 8661728 w 12192000"/>
              <a:gd name="connsiteY898" fmla="*/ 250903 h 4267200"/>
              <a:gd name="connsiteX899" fmla="*/ 8357758 w 12192000"/>
              <a:gd name="connsiteY899" fmla="*/ 0 h 4267200"/>
              <a:gd name="connsiteX900" fmla="*/ 8405492 w 12192000"/>
              <a:gd name="connsiteY900" fmla="*/ 0 h 4267200"/>
              <a:gd name="connsiteX901" fmla="*/ 8392083 w 12192000"/>
              <a:gd name="connsiteY901" fmla="*/ 30495 h 4267200"/>
              <a:gd name="connsiteX902" fmla="*/ 8339888 w 12192000"/>
              <a:gd name="connsiteY902" fmla="*/ 306259 h 4267200"/>
              <a:gd name="connsiteX903" fmla="*/ 8473847 w 12192000"/>
              <a:gd name="connsiteY903" fmla="*/ 727373 h 4267200"/>
              <a:gd name="connsiteX904" fmla="*/ 8454081 w 12192000"/>
              <a:gd name="connsiteY904" fmla="*/ 1611960 h 4267200"/>
              <a:gd name="connsiteX905" fmla="*/ 8396000 w 12192000"/>
              <a:gd name="connsiteY905" fmla="*/ 1663986 h 4267200"/>
              <a:gd name="connsiteX906" fmla="*/ 8238881 w 12192000"/>
              <a:gd name="connsiteY906" fmla="*/ 368438 h 4267200"/>
              <a:gd name="connsiteX907" fmla="*/ 7668140 w 12192000"/>
              <a:gd name="connsiteY907" fmla="*/ 942511 h 4267200"/>
              <a:gd name="connsiteX908" fmla="*/ 7637853 w 12192000"/>
              <a:gd name="connsiteY908" fmla="*/ 942567 h 4267200"/>
              <a:gd name="connsiteX909" fmla="*/ 7909649 w 12192000"/>
              <a:gd name="connsiteY909" fmla="*/ 489150 h 4267200"/>
              <a:gd name="connsiteX910" fmla="*/ 8256182 w 12192000"/>
              <a:gd name="connsiteY910" fmla="*/ 301724 h 4267200"/>
              <a:gd name="connsiteX911" fmla="*/ 8255912 w 12192000"/>
              <a:gd name="connsiteY911" fmla="*/ 276498 h 4267200"/>
              <a:gd name="connsiteX912" fmla="*/ 8315225 w 12192000"/>
              <a:gd name="connsiteY912" fmla="*/ 89075 h 4267200"/>
              <a:gd name="connsiteX913" fmla="*/ 7497388 w 12192000"/>
              <a:gd name="connsiteY913" fmla="*/ 0 h 4267200"/>
              <a:gd name="connsiteX914" fmla="*/ 7560921 w 12192000"/>
              <a:gd name="connsiteY914" fmla="*/ 0 h 4267200"/>
              <a:gd name="connsiteX915" fmla="*/ 7546742 w 12192000"/>
              <a:gd name="connsiteY915" fmla="*/ 68966 h 4267200"/>
              <a:gd name="connsiteX916" fmla="*/ 7488853 w 12192000"/>
              <a:gd name="connsiteY916" fmla="*/ 535687 h 4267200"/>
              <a:gd name="connsiteX917" fmla="*/ 7529509 w 12192000"/>
              <a:gd name="connsiteY917" fmla="*/ 380358 h 4267200"/>
              <a:gd name="connsiteX918" fmla="*/ 7585939 w 12192000"/>
              <a:gd name="connsiteY918" fmla="*/ 184712 h 4267200"/>
              <a:gd name="connsiteX919" fmla="*/ 7621792 w 12192000"/>
              <a:gd name="connsiteY919" fmla="*/ 87864 h 4267200"/>
              <a:gd name="connsiteX920" fmla="*/ 7654204 w 12192000"/>
              <a:gd name="connsiteY920" fmla="*/ 0 h 4267200"/>
              <a:gd name="connsiteX921" fmla="*/ 7683986 w 12192000"/>
              <a:gd name="connsiteY921" fmla="*/ 0 h 4267200"/>
              <a:gd name="connsiteX922" fmla="*/ 7647914 w 12192000"/>
              <a:gd name="connsiteY922" fmla="*/ 97640 h 4267200"/>
              <a:gd name="connsiteX923" fmla="*/ 7612524 w 12192000"/>
              <a:gd name="connsiteY923" fmla="*/ 193392 h 4267200"/>
              <a:gd name="connsiteX924" fmla="*/ 7557013 w 12192000"/>
              <a:gd name="connsiteY924" fmla="*/ 386853 h 4267200"/>
              <a:gd name="connsiteX925" fmla="*/ 7517286 w 12192000"/>
              <a:gd name="connsiteY925" fmla="*/ 539999 h 4267200"/>
              <a:gd name="connsiteX926" fmla="*/ 7704204 w 12192000"/>
              <a:gd name="connsiteY926" fmla="*/ 152292 h 4267200"/>
              <a:gd name="connsiteX927" fmla="*/ 7756975 w 12192000"/>
              <a:gd name="connsiteY927" fmla="*/ 0 h 4267200"/>
              <a:gd name="connsiteX928" fmla="*/ 7837329 w 12192000"/>
              <a:gd name="connsiteY928" fmla="*/ 0 h 4267200"/>
              <a:gd name="connsiteX929" fmla="*/ 7821760 w 12192000"/>
              <a:gd name="connsiteY929" fmla="*/ 65656 h 4267200"/>
              <a:gd name="connsiteX930" fmla="*/ 7488925 w 12192000"/>
              <a:gd name="connsiteY930" fmla="*/ 763628 h 4267200"/>
              <a:gd name="connsiteX931" fmla="*/ 7419999 w 12192000"/>
              <a:gd name="connsiteY931" fmla="*/ 774360 h 4267200"/>
              <a:gd name="connsiteX932" fmla="*/ 7487820 w 12192000"/>
              <a:gd name="connsiteY932" fmla="*/ 37416 h 4267200"/>
              <a:gd name="connsiteX933" fmla="*/ 3882765 w 12192000"/>
              <a:gd name="connsiteY933" fmla="*/ 0 h 4267200"/>
              <a:gd name="connsiteX934" fmla="*/ 3995099 w 12192000"/>
              <a:gd name="connsiteY934" fmla="*/ 0 h 4267200"/>
              <a:gd name="connsiteX935" fmla="*/ 4163818 w 12192000"/>
              <a:gd name="connsiteY935" fmla="*/ 234104 h 4267200"/>
              <a:gd name="connsiteX936" fmla="*/ 4172099 w 12192000"/>
              <a:gd name="connsiteY936" fmla="*/ 234207 h 4267200"/>
              <a:gd name="connsiteX937" fmla="*/ 4784282 w 12192000"/>
              <a:gd name="connsiteY937" fmla="*/ 276561 h 4267200"/>
              <a:gd name="connsiteX938" fmla="*/ 4801687 w 12192000"/>
              <a:gd name="connsiteY938" fmla="*/ 267764 h 4267200"/>
              <a:gd name="connsiteX939" fmla="*/ 6082788 w 12192000"/>
              <a:gd name="connsiteY939" fmla="*/ 64119 h 4267200"/>
              <a:gd name="connsiteX940" fmla="*/ 6099442 w 12192000"/>
              <a:gd name="connsiteY940" fmla="*/ 82568 h 4267200"/>
              <a:gd name="connsiteX941" fmla="*/ 4804137 w 12192000"/>
              <a:gd name="connsiteY941" fmla="*/ 320931 h 4267200"/>
              <a:gd name="connsiteX942" fmla="*/ 4227047 w 12192000"/>
              <a:gd name="connsiteY942" fmla="*/ 313415 h 4267200"/>
              <a:gd name="connsiteX943" fmla="*/ 4346041 w 12192000"/>
              <a:gd name="connsiteY943" fmla="*/ 456086 h 4267200"/>
              <a:gd name="connsiteX944" fmla="*/ 4870967 w 12192000"/>
              <a:gd name="connsiteY944" fmla="*/ 963061 h 4267200"/>
              <a:gd name="connsiteX945" fmla="*/ 4889647 w 12192000"/>
              <a:gd name="connsiteY945" fmla="*/ 957147 h 4267200"/>
              <a:gd name="connsiteX946" fmla="*/ 5422504 w 12192000"/>
              <a:gd name="connsiteY946" fmla="*/ 805191 h 4267200"/>
              <a:gd name="connsiteX947" fmla="*/ 6087656 w 12192000"/>
              <a:gd name="connsiteY947" fmla="*/ 826703 h 4267200"/>
              <a:gd name="connsiteX948" fmla="*/ 6058717 w 12192000"/>
              <a:gd name="connsiteY948" fmla="*/ 865992 h 4267200"/>
              <a:gd name="connsiteX949" fmla="*/ 4974153 w 12192000"/>
              <a:gd name="connsiteY949" fmla="*/ 1045456 h 4267200"/>
              <a:gd name="connsiteX950" fmla="*/ 5627835 w 12192000"/>
              <a:gd name="connsiteY950" fmla="*/ 1472077 h 4267200"/>
              <a:gd name="connsiteX951" fmla="*/ 5629817 w 12192000"/>
              <a:gd name="connsiteY951" fmla="*/ 1471412 h 4267200"/>
              <a:gd name="connsiteX952" fmla="*/ 5634124 w 12192000"/>
              <a:gd name="connsiteY952" fmla="*/ 1470572 h 4267200"/>
              <a:gd name="connsiteX953" fmla="*/ 5755832 w 12192000"/>
              <a:gd name="connsiteY953" fmla="*/ 1383886 h 4267200"/>
              <a:gd name="connsiteX954" fmla="*/ 6014186 w 12192000"/>
              <a:gd name="connsiteY954" fmla="*/ 1279799 h 4267200"/>
              <a:gd name="connsiteX955" fmla="*/ 6901619 w 12192000"/>
              <a:gd name="connsiteY955" fmla="*/ 1047874 h 4267200"/>
              <a:gd name="connsiteX956" fmla="*/ 6931566 w 12192000"/>
              <a:gd name="connsiteY956" fmla="*/ 1062034 h 4267200"/>
              <a:gd name="connsiteX957" fmla="*/ 5790982 w 12192000"/>
              <a:gd name="connsiteY957" fmla="*/ 1561380 h 4267200"/>
              <a:gd name="connsiteX958" fmla="*/ 6188971 w 12192000"/>
              <a:gd name="connsiteY958" fmla="*/ 1755168 h 4267200"/>
              <a:gd name="connsiteX959" fmla="*/ 6202446 w 12192000"/>
              <a:gd name="connsiteY959" fmla="*/ 1752268 h 4267200"/>
              <a:gd name="connsiteX960" fmla="*/ 7179560 w 12192000"/>
              <a:gd name="connsiteY960" fmla="*/ 1467551 h 4267200"/>
              <a:gd name="connsiteX961" fmla="*/ 7158730 w 12192000"/>
              <a:gd name="connsiteY961" fmla="*/ 1507835 h 4267200"/>
              <a:gd name="connsiteX962" fmla="*/ 6326959 w 12192000"/>
              <a:gd name="connsiteY962" fmla="*/ 1817686 h 4267200"/>
              <a:gd name="connsiteX963" fmla="*/ 6537433 w 12192000"/>
              <a:gd name="connsiteY963" fmla="*/ 1907790 h 4267200"/>
              <a:gd name="connsiteX964" fmla="*/ 6550221 w 12192000"/>
              <a:gd name="connsiteY964" fmla="*/ 1910729 h 4267200"/>
              <a:gd name="connsiteX965" fmla="*/ 6964438 w 12192000"/>
              <a:gd name="connsiteY965" fmla="*/ 2209505 h 4267200"/>
              <a:gd name="connsiteX966" fmla="*/ 7367862 w 12192000"/>
              <a:gd name="connsiteY966" fmla="*/ 2806833 h 4267200"/>
              <a:gd name="connsiteX967" fmla="*/ 7364329 w 12192000"/>
              <a:gd name="connsiteY967" fmla="*/ 2826907 h 4267200"/>
              <a:gd name="connsiteX968" fmla="*/ 7290545 w 12192000"/>
              <a:gd name="connsiteY968" fmla="*/ 2850663 h 4267200"/>
              <a:gd name="connsiteX969" fmla="*/ 6472036 w 12192000"/>
              <a:gd name="connsiteY969" fmla="*/ 1959003 h 4267200"/>
              <a:gd name="connsiteX970" fmla="*/ 5792897 w 12192000"/>
              <a:gd name="connsiteY970" fmla="*/ 1647747 h 4267200"/>
              <a:gd name="connsiteX971" fmla="*/ 5842751 w 12192000"/>
              <a:gd name="connsiteY971" fmla="*/ 1816112 h 4267200"/>
              <a:gd name="connsiteX972" fmla="*/ 5847424 w 12192000"/>
              <a:gd name="connsiteY972" fmla="*/ 1815776 h 4267200"/>
              <a:gd name="connsiteX973" fmla="*/ 6399821 w 12192000"/>
              <a:gd name="connsiteY973" fmla="*/ 2344799 h 4267200"/>
              <a:gd name="connsiteX974" fmla="*/ 6323232 w 12192000"/>
              <a:gd name="connsiteY974" fmla="*/ 2389634 h 4267200"/>
              <a:gd name="connsiteX975" fmla="*/ 5942958 w 12192000"/>
              <a:gd name="connsiteY975" fmla="*/ 2077708 h 4267200"/>
              <a:gd name="connsiteX976" fmla="*/ 5921559 w 12192000"/>
              <a:gd name="connsiteY976" fmla="*/ 2378596 h 4267200"/>
              <a:gd name="connsiteX977" fmla="*/ 5817651 w 12192000"/>
              <a:gd name="connsiteY977" fmla="*/ 3023919 h 4267200"/>
              <a:gd name="connsiteX978" fmla="*/ 5729634 w 12192000"/>
              <a:gd name="connsiteY978" fmla="*/ 3051849 h 4267200"/>
              <a:gd name="connsiteX979" fmla="*/ 5611018 w 12192000"/>
              <a:gd name="connsiteY979" fmla="*/ 2316769 h 4267200"/>
              <a:gd name="connsiteX980" fmla="*/ 5687608 w 12192000"/>
              <a:gd name="connsiteY980" fmla="*/ 2039972 h 4267200"/>
              <a:gd name="connsiteX981" fmla="*/ 5657554 w 12192000"/>
              <a:gd name="connsiteY981" fmla="*/ 1576445 h 4267200"/>
              <a:gd name="connsiteX982" fmla="*/ 5150475 w 12192000"/>
              <a:gd name="connsiteY982" fmla="*/ 1274012 h 4267200"/>
              <a:gd name="connsiteX983" fmla="*/ 5349142 w 12192000"/>
              <a:gd name="connsiteY983" fmla="*/ 2204405 h 4267200"/>
              <a:gd name="connsiteX984" fmla="*/ 5262214 w 12192000"/>
              <a:gd name="connsiteY984" fmla="*/ 2233836 h 4267200"/>
              <a:gd name="connsiteX985" fmla="*/ 4981539 w 12192000"/>
              <a:gd name="connsiteY985" fmla="*/ 1542201 h 4267200"/>
              <a:gd name="connsiteX986" fmla="*/ 4958461 w 12192000"/>
              <a:gd name="connsiteY986" fmla="*/ 1136957 h 4267200"/>
              <a:gd name="connsiteX987" fmla="*/ 4655015 w 12192000"/>
              <a:gd name="connsiteY987" fmla="*/ 891426 h 4267200"/>
              <a:gd name="connsiteX988" fmla="*/ 4348002 w 12192000"/>
              <a:gd name="connsiteY988" fmla="*/ 2205895 h 4267200"/>
              <a:gd name="connsiteX989" fmla="*/ 4262250 w 12192000"/>
              <a:gd name="connsiteY989" fmla="*/ 2219972 h 4267200"/>
              <a:gd name="connsiteX990" fmla="*/ 4550611 w 12192000"/>
              <a:gd name="connsiteY990" fmla="*/ 817540 h 4267200"/>
              <a:gd name="connsiteX991" fmla="*/ 4564418 w 12192000"/>
              <a:gd name="connsiteY991" fmla="*/ 808293 h 4267200"/>
              <a:gd name="connsiteX992" fmla="*/ 4266388 w 12192000"/>
              <a:gd name="connsiteY992" fmla="*/ 500083 h 4267200"/>
              <a:gd name="connsiteX993" fmla="*/ 4032842 w 12192000"/>
              <a:gd name="connsiteY993" fmla="*/ 211809 h 4267200"/>
              <a:gd name="connsiteX994" fmla="*/ 3721337 w 12192000"/>
              <a:gd name="connsiteY994" fmla="*/ 0 h 4267200"/>
              <a:gd name="connsiteX995" fmla="*/ 3797544 w 12192000"/>
              <a:gd name="connsiteY995" fmla="*/ 0 h 4267200"/>
              <a:gd name="connsiteX996" fmla="*/ 3775734 w 12192000"/>
              <a:gd name="connsiteY996" fmla="*/ 95131 h 4267200"/>
              <a:gd name="connsiteX997" fmla="*/ 3724807 w 12192000"/>
              <a:gd name="connsiteY997" fmla="*/ 272257 h 4267200"/>
              <a:gd name="connsiteX998" fmla="*/ 3726844 w 12192000"/>
              <a:gd name="connsiteY998" fmla="*/ 282988 h 4267200"/>
              <a:gd name="connsiteX999" fmla="*/ 3742664 w 12192000"/>
              <a:gd name="connsiteY999" fmla="*/ 279918 h 4267200"/>
              <a:gd name="connsiteX1000" fmla="*/ 4103910 w 12192000"/>
              <a:gd name="connsiteY1000" fmla="*/ 1161917 h 4267200"/>
              <a:gd name="connsiteX1001" fmla="*/ 4020269 w 12192000"/>
              <a:gd name="connsiteY1001" fmla="*/ 1200406 h 4267200"/>
              <a:gd name="connsiteX1002" fmla="*/ 3674882 w 12192000"/>
              <a:gd name="connsiteY1002" fmla="*/ 488524 h 4267200"/>
              <a:gd name="connsiteX1003" fmla="*/ 3132682 w 12192000"/>
              <a:gd name="connsiteY1003" fmla="*/ 1072284 h 4267200"/>
              <a:gd name="connsiteX1004" fmla="*/ 2716346 w 12192000"/>
              <a:gd name="connsiteY1004" fmla="*/ 1276376 h 4267200"/>
              <a:gd name="connsiteX1005" fmla="*/ 2716772 w 12192000"/>
              <a:gd name="connsiteY1005" fmla="*/ 1255462 h 4267200"/>
              <a:gd name="connsiteX1006" fmla="*/ 3471096 w 12192000"/>
              <a:gd name="connsiteY1006" fmla="*/ 437072 h 4267200"/>
              <a:gd name="connsiteX1007" fmla="*/ 3639057 w 12192000"/>
              <a:gd name="connsiteY1007" fmla="*/ 286334 h 4267200"/>
              <a:gd name="connsiteX1008" fmla="*/ 3640309 w 12192000"/>
              <a:gd name="connsiteY1008" fmla="*/ 284664 h 4267200"/>
              <a:gd name="connsiteX1009" fmla="*/ 3646022 w 12192000"/>
              <a:gd name="connsiteY1009" fmla="*/ 276711 h 4267200"/>
              <a:gd name="connsiteX1010" fmla="*/ 3707943 w 12192000"/>
              <a:gd name="connsiteY1010" fmla="*/ 65958 h 4267200"/>
              <a:gd name="connsiteX1011" fmla="*/ 2867960 w 12192000"/>
              <a:gd name="connsiteY1011" fmla="*/ 0 h 4267200"/>
              <a:gd name="connsiteX1012" fmla="*/ 2926351 w 12192000"/>
              <a:gd name="connsiteY1012" fmla="*/ 0 h 4267200"/>
              <a:gd name="connsiteX1013" fmla="*/ 2902823 w 12192000"/>
              <a:gd name="connsiteY1013" fmla="*/ 262929 h 4267200"/>
              <a:gd name="connsiteX1014" fmla="*/ 2940663 w 12192000"/>
              <a:gd name="connsiteY1014" fmla="*/ 140884 h 4267200"/>
              <a:gd name="connsiteX1015" fmla="*/ 2947039 w 12192000"/>
              <a:gd name="connsiteY1015" fmla="*/ 122524 h 4267200"/>
              <a:gd name="connsiteX1016" fmla="*/ 2984316 w 12192000"/>
              <a:gd name="connsiteY1016" fmla="*/ 0 h 4267200"/>
              <a:gd name="connsiteX1017" fmla="*/ 3016114 w 12192000"/>
              <a:gd name="connsiteY1017" fmla="*/ 0 h 4267200"/>
              <a:gd name="connsiteX1018" fmla="*/ 2979949 w 12192000"/>
              <a:gd name="connsiteY1018" fmla="*/ 119274 h 4267200"/>
              <a:gd name="connsiteX1019" fmla="*/ 3023879 w 12192000"/>
              <a:gd name="connsiteY1019" fmla="*/ 0 h 4267200"/>
              <a:gd name="connsiteX1020" fmla="*/ 3105400 w 12192000"/>
              <a:gd name="connsiteY1020" fmla="*/ 0 h 4267200"/>
              <a:gd name="connsiteX1021" fmla="*/ 3094669 w 12192000"/>
              <a:gd name="connsiteY1021" fmla="*/ 30308 h 4267200"/>
              <a:gd name="connsiteX1022" fmla="*/ 2901945 w 12192000"/>
              <a:gd name="connsiteY1022" fmla="*/ 466538 h 4267200"/>
              <a:gd name="connsiteX1023" fmla="*/ 2815209 w 12192000"/>
              <a:gd name="connsiteY1023" fmla="*/ 497361 h 4267200"/>
              <a:gd name="connsiteX1024" fmla="*/ 2844845 w 12192000"/>
              <a:gd name="connsiteY1024" fmla="*/ 127638 h 4267200"/>
              <a:gd name="connsiteX1025" fmla="*/ 1057230 w 12192000"/>
              <a:gd name="connsiteY1025" fmla="*/ 0 h 4267200"/>
              <a:gd name="connsiteX1026" fmla="*/ 1111003 w 12192000"/>
              <a:gd name="connsiteY1026" fmla="*/ 0 h 4267200"/>
              <a:gd name="connsiteX1027" fmla="*/ 1125553 w 12192000"/>
              <a:gd name="connsiteY1027" fmla="*/ 52588 h 4267200"/>
              <a:gd name="connsiteX1028" fmla="*/ 1304276 w 12192000"/>
              <a:gd name="connsiteY1028" fmla="*/ 476275 h 4267200"/>
              <a:gd name="connsiteX1029" fmla="*/ 1492066 w 12192000"/>
              <a:gd name="connsiteY1029" fmla="*/ 886333 h 4267200"/>
              <a:gd name="connsiteX1030" fmla="*/ 1423698 w 12192000"/>
              <a:gd name="connsiteY1030" fmla="*/ 710817 h 4267200"/>
              <a:gd name="connsiteX1031" fmla="*/ 1357609 w 12192000"/>
              <a:gd name="connsiteY1031" fmla="*/ 532892 h 4267200"/>
              <a:gd name="connsiteX1032" fmla="*/ 1309550 w 12192000"/>
              <a:gd name="connsiteY1032" fmla="*/ 374031 h 4267200"/>
              <a:gd name="connsiteX1033" fmla="*/ 1193673 w 12192000"/>
              <a:gd name="connsiteY1033" fmla="*/ 49533 h 4267200"/>
              <a:gd name="connsiteX1034" fmla="*/ 1164391 w 12192000"/>
              <a:gd name="connsiteY1034" fmla="*/ 0 h 4267200"/>
              <a:gd name="connsiteX1035" fmla="*/ 1200666 w 12192000"/>
              <a:gd name="connsiteY1035" fmla="*/ 0 h 4267200"/>
              <a:gd name="connsiteX1036" fmla="*/ 1223408 w 12192000"/>
              <a:gd name="connsiteY1036" fmla="*/ 38996 h 4267200"/>
              <a:gd name="connsiteX1037" fmla="*/ 1339635 w 12192000"/>
              <a:gd name="connsiteY1037" fmla="*/ 365517 h 4267200"/>
              <a:gd name="connsiteX1038" fmla="*/ 1387469 w 12192000"/>
              <a:gd name="connsiteY1038" fmla="*/ 523079 h 4267200"/>
              <a:gd name="connsiteX1039" fmla="*/ 1452685 w 12192000"/>
              <a:gd name="connsiteY1039" fmla="*/ 699806 h 4267200"/>
              <a:gd name="connsiteX1040" fmla="*/ 1492092 w 12192000"/>
              <a:gd name="connsiteY1040" fmla="*/ 800424 h 4267200"/>
              <a:gd name="connsiteX1041" fmla="*/ 1455302 w 12192000"/>
              <a:gd name="connsiteY1041" fmla="*/ 632913 h 4267200"/>
              <a:gd name="connsiteX1042" fmla="*/ 1222336 w 12192000"/>
              <a:gd name="connsiteY1042" fmla="*/ 9480 h 4267200"/>
              <a:gd name="connsiteX1043" fmla="*/ 1214634 w 12192000"/>
              <a:gd name="connsiteY1043" fmla="*/ 0 h 4267200"/>
              <a:gd name="connsiteX1044" fmla="*/ 1289827 w 12192000"/>
              <a:gd name="connsiteY1044" fmla="*/ 0 h 4267200"/>
              <a:gd name="connsiteX1045" fmla="*/ 1321076 w 12192000"/>
              <a:gd name="connsiteY1045" fmla="*/ 59722 h 4267200"/>
              <a:gd name="connsiteX1046" fmla="*/ 1512579 w 12192000"/>
              <a:gd name="connsiteY1046" fmla="*/ 626441 h 4267200"/>
              <a:gd name="connsiteX1047" fmla="*/ 1506076 w 12192000"/>
              <a:gd name="connsiteY1047" fmla="*/ 1089289 h 4267200"/>
              <a:gd name="connsiteX1048" fmla="*/ 1486346 w 12192000"/>
              <a:gd name="connsiteY1048" fmla="*/ 1079919 h 4267200"/>
              <a:gd name="connsiteX1049" fmla="*/ 1070511 w 12192000"/>
              <a:gd name="connsiteY1049" fmla="*/ 48609 h 4267200"/>
              <a:gd name="connsiteX1050" fmla="*/ 43151 w 12192000"/>
              <a:gd name="connsiteY1050" fmla="*/ 0 h 4267200"/>
              <a:gd name="connsiteX1051" fmla="*/ 95283 w 12192000"/>
              <a:gd name="connsiteY1051" fmla="*/ 0 h 4267200"/>
              <a:gd name="connsiteX1052" fmla="*/ 300708 w 12192000"/>
              <a:gd name="connsiteY1052" fmla="*/ 154571 h 4267200"/>
              <a:gd name="connsiteX1053" fmla="*/ 530414 w 12192000"/>
              <a:gd name="connsiteY1053" fmla="*/ 354673 h 4267200"/>
              <a:gd name="connsiteX1054" fmla="*/ 333785 w 12192000"/>
              <a:gd name="connsiteY1054" fmla="*/ 161564 h 4267200"/>
              <a:gd name="connsiteX1055" fmla="*/ 147005 w 12192000"/>
              <a:gd name="connsiteY1055" fmla="*/ 0 h 4267200"/>
              <a:gd name="connsiteX1056" fmla="*/ 272509 w 12192000"/>
              <a:gd name="connsiteY1056" fmla="*/ 0 h 4267200"/>
              <a:gd name="connsiteX1057" fmla="*/ 326276 w 12192000"/>
              <a:gd name="connsiteY1057" fmla="*/ 45847 h 4267200"/>
              <a:gd name="connsiteX1058" fmla="*/ 823759 w 12192000"/>
              <a:gd name="connsiteY1058" fmla="*/ 574145 h 4267200"/>
              <a:gd name="connsiteX1059" fmla="*/ 811254 w 12192000"/>
              <a:gd name="connsiteY1059" fmla="*/ 665546 h 4267200"/>
              <a:gd name="connsiteX1060" fmla="*/ 154042 w 12192000"/>
              <a:gd name="connsiteY1060" fmla="*/ 261522 h 4267200"/>
              <a:gd name="connsiteX1061" fmla="*/ 13550 w 12192000"/>
              <a:gd name="connsiteY1061" fmla="*/ 158423 h 4267200"/>
              <a:gd name="connsiteX1062" fmla="*/ 0 w 12192000"/>
              <a:gd name="connsiteY1062" fmla="*/ 146618 h 4267200"/>
              <a:gd name="connsiteX1063" fmla="*/ 0 w 12192000"/>
              <a:gd name="connsiteY1063" fmla="*/ 59161 h 4267200"/>
              <a:gd name="connsiteX1064" fmla="*/ 45427 w 12192000"/>
              <a:gd name="connsiteY1064" fmla="*/ 101078 h 4267200"/>
              <a:gd name="connsiteX1065" fmla="*/ 630103 w 12192000"/>
              <a:gd name="connsiteY1065" fmla="*/ 485885 h 4267200"/>
              <a:gd name="connsiteX1066" fmla="*/ 532040 w 12192000"/>
              <a:gd name="connsiteY1066" fmla="*/ 399359 h 4267200"/>
              <a:gd name="connsiteX1067" fmla="*/ 517618 w 12192000"/>
              <a:gd name="connsiteY1067" fmla="*/ 385726 h 4267200"/>
              <a:gd name="connsiteX1068" fmla="*/ 285074 w 12192000"/>
              <a:gd name="connsiteY1068" fmla="*/ 182755 h 426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Lst>
            <a:rect l="l" t="t" r="r" b="b"/>
            <a:pathLst>
              <a:path w="12192000" h="4267200">
                <a:moveTo>
                  <a:pt x="2537169" y="4125568"/>
                </a:moveTo>
                <a:cubicBezTo>
                  <a:pt x="2788218" y="4126068"/>
                  <a:pt x="3025872" y="4161336"/>
                  <a:pt x="3246267" y="4262961"/>
                </a:cubicBezTo>
                <a:lnTo>
                  <a:pt x="3253970" y="4267200"/>
                </a:lnTo>
                <a:lnTo>
                  <a:pt x="3071791" y="4267200"/>
                </a:lnTo>
                <a:lnTo>
                  <a:pt x="2975095" y="4243356"/>
                </a:lnTo>
                <a:cubicBezTo>
                  <a:pt x="2862058" y="4220032"/>
                  <a:pt x="2745568" y="4209031"/>
                  <a:pt x="2626982" y="4206450"/>
                </a:cubicBezTo>
                <a:cubicBezTo>
                  <a:pt x="2581807" y="4205467"/>
                  <a:pt x="2536327" y="4205706"/>
                  <a:pt x="2490617" y="4206951"/>
                </a:cubicBezTo>
                <a:cubicBezTo>
                  <a:pt x="2601507" y="4219748"/>
                  <a:pt x="2711611" y="4236309"/>
                  <a:pt x="2819869" y="4252936"/>
                </a:cubicBezTo>
                <a:lnTo>
                  <a:pt x="2900997" y="4267200"/>
                </a:lnTo>
                <a:lnTo>
                  <a:pt x="2705858" y="4267200"/>
                </a:lnTo>
                <a:lnTo>
                  <a:pt x="2561467" y="4246270"/>
                </a:lnTo>
                <a:cubicBezTo>
                  <a:pt x="2476258" y="4235123"/>
                  <a:pt x="2390533" y="4225627"/>
                  <a:pt x="2305292" y="4219492"/>
                </a:cubicBezTo>
                <a:lnTo>
                  <a:pt x="2409349" y="4267200"/>
                </a:lnTo>
                <a:lnTo>
                  <a:pt x="2266705" y="4267200"/>
                </a:lnTo>
                <a:lnTo>
                  <a:pt x="2183576" y="4227150"/>
                </a:lnTo>
                <a:cubicBezTo>
                  <a:pt x="2170260" y="4220226"/>
                  <a:pt x="2115765" y="4150220"/>
                  <a:pt x="2151029" y="4146947"/>
                </a:cubicBezTo>
                <a:cubicBezTo>
                  <a:pt x="2282770" y="4133761"/>
                  <a:pt x="2411644" y="4125319"/>
                  <a:pt x="2537169" y="4125568"/>
                </a:cubicBezTo>
                <a:close/>
                <a:moveTo>
                  <a:pt x="9258094" y="3958602"/>
                </a:moveTo>
                <a:cubicBezTo>
                  <a:pt x="9013678" y="4006086"/>
                  <a:pt x="8768731" y="4060051"/>
                  <a:pt x="8526712" y="4119804"/>
                </a:cubicBezTo>
                <a:cubicBezTo>
                  <a:pt x="8781748" y="4123003"/>
                  <a:pt x="9026494" y="4069940"/>
                  <a:pt x="9258094" y="3958602"/>
                </a:cubicBezTo>
                <a:close/>
                <a:moveTo>
                  <a:pt x="9168987" y="3919232"/>
                </a:moveTo>
                <a:cubicBezTo>
                  <a:pt x="8975366" y="3912045"/>
                  <a:pt x="8788341" y="3989836"/>
                  <a:pt x="8603910" y="4068895"/>
                </a:cubicBezTo>
                <a:cubicBezTo>
                  <a:pt x="8818554" y="4017452"/>
                  <a:pt x="9035976" y="3970366"/>
                  <a:pt x="9252382" y="3927759"/>
                </a:cubicBezTo>
                <a:cubicBezTo>
                  <a:pt x="9224441" y="3923020"/>
                  <a:pt x="9196646" y="3920259"/>
                  <a:pt x="9168987" y="3919232"/>
                </a:cubicBezTo>
                <a:close/>
                <a:moveTo>
                  <a:pt x="1635889" y="3709494"/>
                </a:moveTo>
                <a:lnTo>
                  <a:pt x="1634800" y="3731111"/>
                </a:lnTo>
                <a:cubicBezTo>
                  <a:pt x="1634800" y="3731111"/>
                  <a:pt x="1635342" y="3716795"/>
                  <a:pt x="1635889" y="3709494"/>
                </a:cubicBezTo>
                <a:close/>
                <a:moveTo>
                  <a:pt x="3174829" y="3620110"/>
                </a:moveTo>
                <a:cubicBezTo>
                  <a:pt x="3177710" y="3619202"/>
                  <a:pt x="3182308" y="3620648"/>
                  <a:pt x="3189263" y="3625726"/>
                </a:cubicBezTo>
                <a:cubicBezTo>
                  <a:pt x="3348177" y="3744655"/>
                  <a:pt x="3463235" y="3908187"/>
                  <a:pt x="3560912" y="4079863"/>
                </a:cubicBezTo>
                <a:cubicBezTo>
                  <a:pt x="3582321" y="4117314"/>
                  <a:pt x="3599153" y="4153173"/>
                  <a:pt x="3611854" y="4188366"/>
                </a:cubicBezTo>
                <a:lnTo>
                  <a:pt x="3631583" y="4267200"/>
                </a:lnTo>
                <a:lnTo>
                  <a:pt x="3575699" y="4267200"/>
                </a:lnTo>
                <a:lnTo>
                  <a:pt x="3575567" y="4263588"/>
                </a:lnTo>
                <a:cubicBezTo>
                  <a:pt x="3563792" y="4170010"/>
                  <a:pt x="3527316" y="4081090"/>
                  <a:pt x="3467355" y="3988130"/>
                </a:cubicBezTo>
                <a:cubicBezTo>
                  <a:pt x="3420192" y="3915029"/>
                  <a:pt x="3371016" y="3849934"/>
                  <a:pt x="3310753" y="3787140"/>
                </a:cubicBezTo>
                <a:cubicBezTo>
                  <a:pt x="3303466" y="3779509"/>
                  <a:pt x="3297626" y="3773227"/>
                  <a:pt x="3291335" y="3767420"/>
                </a:cubicBezTo>
                <a:cubicBezTo>
                  <a:pt x="3324815" y="3824296"/>
                  <a:pt x="3358740" y="3880691"/>
                  <a:pt x="3390805" y="3937163"/>
                </a:cubicBezTo>
                <a:cubicBezTo>
                  <a:pt x="3450145" y="4040978"/>
                  <a:pt x="3506325" y="4144397"/>
                  <a:pt x="3545740" y="4251102"/>
                </a:cubicBezTo>
                <a:lnTo>
                  <a:pt x="3550709" y="4267200"/>
                </a:lnTo>
                <a:lnTo>
                  <a:pt x="3513586" y="4267200"/>
                </a:lnTo>
                <a:lnTo>
                  <a:pt x="3470728" y="4152456"/>
                </a:lnTo>
                <a:cubicBezTo>
                  <a:pt x="3439124" y="4085665"/>
                  <a:pt x="3402484" y="4019598"/>
                  <a:pt x="3364433" y="3953121"/>
                </a:cubicBezTo>
                <a:lnTo>
                  <a:pt x="3316479" y="3872136"/>
                </a:lnTo>
                <a:lnTo>
                  <a:pt x="3504482" y="4267200"/>
                </a:lnTo>
                <a:lnTo>
                  <a:pt x="3467547" y="4267200"/>
                </a:lnTo>
                <a:lnTo>
                  <a:pt x="3177952" y="3657386"/>
                </a:lnTo>
                <a:cubicBezTo>
                  <a:pt x="3172991" y="3646754"/>
                  <a:pt x="3166185" y="3622836"/>
                  <a:pt x="3174829" y="3620110"/>
                </a:cubicBezTo>
                <a:close/>
                <a:moveTo>
                  <a:pt x="11279315" y="3618448"/>
                </a:moveTo>
                <a:cubicBezTo>
                  <a:pt x="11299830" y="3614620"/>
                  <a:pt x="11318737" y="3618623"/>
                  <a:pt x="11317765" y="3638405"/>
                </a:cubicBezTo>
                <a:cubicBezTo>
                  <a:pt x="11309587" y="3820966"/>
                  <a:pt x="11315203" y="4012597"/>
                  <a:pt x="11304886" y="4200582"/>
                </a:cubicBezTo>
                <a:lnTo>
                  <a:pt x="11298904" y="4267200"/>
                </a:lnTo>
                <a:lnTo>
                  <a:pt x="11213088" y="4267200"/>
                </a:lnTo>
                <a:lnTo>
                  <a:pt x="11219157" y="4210725"/>
                </a:lnTo>
                <a:cubicBezTo>
                  <a:pt x="11223807" y="4119600"/>
                  <a:pt x="11224640" y="4027718"/>
                  <a:pt x="11225213" y="3936722"/>
                </a:cubicBezTo>
                <a:cubicBezTo>
                  <a:pt x="11207028" y="4022695"/>
                  <a:pt x="11194593" y="4110355"/>
                  <a:pt x="11182914" y="4196771"/>
                </a:cubicBezTo>
                <a:lnTo>
                  <a:pt x="11172266" y="4267200"/>
                </a:lnTo>
                <a:lnTo>
                  <a:pt x="11140975" y="4267200"/>
                </a:lnTo>
                <a:lnTo>
                  <a:pt x="11152239" y="4192628"/>
                </a:lnTo>
                <a:cubicBezTo>
                  <a:pt x="11165272" y="4096160"/>
                  <a:pt x="11178361" y="3997344"/>
                  <a:pt x="11201005" y="3900089"/>
                </a:cubicBezTo>
                <a:cubicBezTo>
                  <a:pt x="11166930" y="3979173"/>
                  <a:pt x="11134730" y="4058831"/>
                  <a:pt x="11105754" y="4139192"/>
                </a:cubicBezTo>
                <a:lnTo>
                  <a:pt x="11065821" y="4267200"/>
                </a:lnTo>
                <a:lnTo>
                  <a:pt x="10978133" y="4267200"/>
                </a:lnTo>
                <a:lnTo>
                  <a:pt x="11088889" y="3963916"/>
                </a:lnTo>
                <a:cubicBezTo>
                  <a:pt x="11133459" y="3856779"/>
                  <a:pt x="11181967" y="3750740"/>
                  <a:pt x="11231212" y="3645474"/>
                </a:cubicBezTo>
                <a:cubicBezTo>
                  <a:pt x="11236675" y="3633934"/>
                  <a:pt x="11258799" y="3622276"/>
                  <a:pt x="11279315" y="3618448"/>
                </a:cubicBezTo>
                <a:close/>
                <a:moveTo>
                  <a:pt x="10296877" y="3526602"/>
                </a:moveTo>
                <a:cubicBezTo>
                  <a:pt x="10305089" y="3527517"/>
                  <a:pt x="10311503" y="3531079"/>
                  <a:pt x="10314210" y="3538353"/>
                </a:cubicBezTo>
                <a:cubicBezTo>
                  <a:pt x="10361472" y="3659113"/>
                  <a:pt x="10407318" y="3780392"/>
                  <a:pt x="10450858" y="3902477"/>
                </a:cubicBezTo>
                <a:lnTo>
                  <a:pt x="10572255" y="4267200"/>
                </a:lnTo>
                <a:lnTo>
                  <a:pt x="10477642" y="4267200"/>
                </a:lnTo>
                <a:lnTo>
                  <a:pt x="10436479" y="4144570"/>
                </a:lnTo>
                <a:cubicBezTo>
                  <a:pt x="10386976" y="3995354"/>
                  <a:pt x="10333255" y="3848072"/>
                  <a:pt x="10277529" y="3701307"/>
                </a:cubicBezTo>
                <a:cubicBezTo>
                  <a:pt x="10277467" y="3703640"/>
                  <a:pt x="10276853" y="3706334"/>
                  <a:pt x="10276797" y="3708672"/>
                </a:cubicBezTo>
                <a:cubicBezTo>
                  <a:pt x="10284209" y="3854149"/>
                  <a:pt x="10331835" y="3999199"/>
                  <a:pt x="10385906" y="4147031"/>
                </a:cubicBezTo>
                <a:lnTo>
                  <a:pt x="10431445" y="4267200"/>
                </a:lnTo>
                <a:lnTo>
                  <a:pt x="10398237" y="4267200"/>
                </a:lnTo>
                <a:lnTo>
                  <a:pt x="10356661" y="4157302"/>
                </a:lnTo>
                <a:cubicBezTo>
                  <a:pt x="10321871" y="4061517"/>
                  <a:pt x="10289232" y="3966669"/>
                  <a:pt x="10268559" y="3871054"/>
                </a:cubicBezTo>
                <a:cubicBezTo>
                  <a:pt x="10272790" y="3985997"/>
                  <a:pt x="10299544" y="4094770"/>
                  <a:pt x="10340065" y="4201637"/>
                </a:cubicBezTo>
                <a:lnTo>
                  <a:pt x="10368861" y="4267200"/>
                </a:lnTo>
                <a:lnTo>
                  <a:pt x="10267862" y="4267200"/>
                </a:lnTo>
                <a:lnTo>
                  <a:pt x="10236210" y="4185635"/>
                </a:lnTo>
                <a:cubicBezTo>
                  <a:pt x="10169925" y="3991261"/>
                  <a:pt x="10150284" y="3789583"/>
                  <a:pt x="10225980" y="3561061"/>
                </a:cubicBezTo>
                <a:cubicBezTo>
                  <a:pt x="10231424" y="3544935"/>
                  <a:pt x="10272241" y="3523857"/>
                  <a:pt x="10296877" y="3526602"/>
                </a:cubicBezTo>
                <a:close/>
                <a:moveTo>
                  <a:pt x="3429186" y="3458784"/>
                </a:moveTo>
                <a:cubicBezTo>
                  <a:pt x="3434043" y="3458424"/>
                  <a:pt x="3439865" y="3459167"/>
                  <a:pt x="3446761" y="3461278"/>
                </a:cubicBezTo>
                <a:cubicBezTo>
                  <a:pt x="3801752" y="3568638"/>
                  <a:pt x="4119982" y="3746863"/>
                  <a:pt x="4419733" y="3963555"/>
                </a:cubicBezTo>
                <a:cubicBezTo>
                  <a:pt x="4508451" y="4027538"/>
                  <a:pt x="4593765" y="4093753"/>
                  <a:pt x="4659448" y="4172746"/>
                </a:cubicBezTo>
                <a:lnTo>
                  <a:pt x="4719140" y="4267200"/>
                </a:lnTo>
                <a:lnTo>
                  <a:pt x="4641222" y="4267200"/>
                </a:lnTo>
                <a:lnTo>
                  <a:pt x="4599968" y="4207074"/>
                </a:lnTo>
                <a:cubicBezTo>
                  <a:pt x="4478590" y="4057581"/>
                  <a:pt x="4278987" y="3946713"/>
                  <a:pt x="4136093" y="3858466"/>
                </a:cubicBezTo>
                <a:cubicBezTo>
                  <a:pt x="3985171" y="3764831"/>
                  <a:pt x="3831168" y="3687155"/>
                  <a:pt x="3670252" y="3622798"/>
                </a:cubicBezTo>
                <a:lnTo>
                  <a:pt x="3817258" y="3723577"/>
                </a:lnTo>
                <a:cubicBezTo>
                  <a:pt x="3878082" y="3765387"/>
                  <a:pt x="3941278" y="3808498"/>
                  <a:pt x="4000461" y="3855966"/>
                </a:cubicBezTo>
                <a:cubicBezTo>
                  <a:pt x="4030299" y="3879926"/>
                  <a:pt x="4059233" y="3904849"/>
                  <a:pt x="4088180" y="3929774"/>
                </a:cubicBezTo>
                <a:cubicBezTo>
                  <a:pt x="4119532" y="3956928"/>
                  <a:pt x="4151864" y="3984979"/>
                  <a:pt x="4184555" y="4010683"/>
                </a:cubicBezTo>
                <a:cubicBezTo>
                  <a:pt x="4252374" y="4064322"/>
                  <a:pt x="4327401" y="4112085"/>
                  <a:pt x="4399563" y="4158106"/>
                </a:cubicBezTo>
                <a:cubicBezTo>
                  <a:pt x="4448555" y="4189447"/>
                  <a:pt x="4498141" y="4221114"/>
                  <a:pt x="4546299" y="4254934"/>
                </a:cubicBezTo>
                <a:lnTo>
                  <a:pt x="4561743" y="4267200"/>
                </a:lnTo>
                <a:lnTo>
                  <a:pt x="4509274" y="4267200"/>
                </a:lnTo>
                <a:lnTo>
                  <a:pt x="4383389" y="4184369"/>
                </a:lnTo>
                <a:cubicBezTo>
                  <a:pt x="4310251" y="4137460"/>
                  <a:pt x="4234739" y="4089250"/>
                  <a:pt x="4165508" y="4035196"/>
                </a:cubicBezTo>
                <a:cubicBezTo>
                  <a:pt x="4131846" y="4008598"/>
                  <a:pt x="4099524" y="3980549"/>
                  <a:pt x="4068162" y="3953394"/>
                </a:cubicBezTo>
                <a:cubicBezTo>
                  <a:pt x="4039704" y="3928919"/>
                  <a:pt x="4010763" y="3903992"/>
                  <a:pt x="3981416" y="3880482"/>
                </a:cubicBezTo>
                <a:cubicBezTo>
                  <a:pt x="3923199" y="3833909"/>
                  <a:pt x="3860482" y="3791236"/>
                  <a:pt x="3800147" y="3749872"/>
                </a:cubicBezTo>
                <a:lnTo>
                  <a:pt x="3655073" y="3650884"/>
                </a:lnTo>
                <a:cubicBezTo>
                  <a:pt x="3768399" y="3765347"/>
                  <a:pt x="3873410" y="3884450"/>
                  <a:pt x="3989938" y="3991685"/>
                </a:cubicBezTo>
                <a:cubicBezTo>
                  <a:pt x="4106468" y="4098916"/>
                  <a:pt x="4234512" y="4194281"/>
                  <a:pt x="4393907" y="4261258"/>
                </a:cubicBezTo>
                <a:lnTo>
                  <a:pt x="4408201" y="4267200"/>
                </a:lnTo>
                <a:lnTo>
                  <a:pt x="4250346" y="4267200"/>
                </a:lnTo>
                <a:lnTo>
                  <a:pt x="4245269" y="4265040"/>
                </a:lnTo>
                <a:cubicBezTo>
                  <a:pt x="4167858" y="4230709"/>
                  <a:pt x="4095232" y="4193560"/>
                  <a:pt x="4036318" y="4147013"/>
                </a:cubicBezTo>
                <a:cubicBezTo>
                  <a:pt x="3810777" y="3969273"/>
                  <a:pt x="3654591" y="3720297"/>
                  <a:pt x="3432098" y="3537312"/>
                </a:cubicBezTo>
                <a:cubicBezTo>
                  <a:pt x="3408505" y="3517876"/>
                  <a:pt x="3395188" y="3461306"/>
                  <a:pt x="3429186" y="3458784"/>
                </a:cubicBezTo>
                <a:close/>
                <a:moveTo>
                  <a:pt x="9334796" y="3456584"/>
                </a:moveTo>
                <a:cubicBezTo>
                  <a:pt x="9406875" y="3608228"/>
                  <a:pt x="9503788" y="3758542"/>
                  <a:pt x="9651570" y="3826505"/>
                </a:cubicBezTo>
                <a:cubicBezTo>
                  <a:pt x="9559808" y="3686686"/>
                  <a:pt x="9456900" y="3564734"/>
                  <a:pt x="9334796" y="3456584"/>
                </a:cubicBezTo>
                <a:close/>
                <a:moveTo>
                  <a:pt x="4440129" y="3448571"/>
                </a:moveTo>
                <a:cubicBezTo>
                  <a:pt x="4500684" y="3600308"/>
                  <a:pt x="4765312" y="3823987"/>
                  <a:pt x="4856525" y="3915351"/>
                </a:cubicBezTo>
                <a:cubicBezTo>
                  <a:pt x="4921046" y="3979838"/>
                  <a:pt x="4987678" y="4047617"/>
                  <a:pt x="5059055" y="4108918"/>
                </a:cubicBezTo>
                <a:cubicBezTo>
                  <a:pt x="5130436" y="4170218"/>
                  <a:pt x="5206561" y="4225043"/>
                  <a:pt x="5290070" y="4263619"/>
                </a:cubicBezTo>
                <a:cubicBezTo>
                  <a:pt x="5126032" y="4132785"/>
                  <a:pt x="4978794" y="3979858"/>
                  <a:pt x="4834991" y="3830985"/>
                </a:cubicBezTo>
                <a:cubicBezTo>
                  <a:pt x="4709629" y="3700933"/>
                  <a:pt x="4579958" y="3567796"/>
                  <a:pt x="4440129" y="3448571"/>
                </a:cubicBezTo>
                <a:close/>
                <a:moveTo>
                  <a:pt x="5425834" y="3162785"/>
                </a:moveTo>
                <a:cubicBezTo>
                  <a:pt x="5393133" y="3300089"/>
                  <a:pt x="5401723" y="3491623"/>
                  <a:pt x="5401644" y="3617847"/>
                </a:cubicBezTo>
                <a:cubicBezTo>
                  <a:pt x="5401790" y="3807859"/>
                  <a:pt x="5425483" y="3992734"/>
                  <a:pt x="5467256" y="4175494"/>
                </a:cubicBezTo>
                <a:cubicBezTo>
                  <a:pt x="5469824" y="3971868"/>
                  <a:pt x="5459296" y="3766904"/>
                  <a:pt x="5448069" y="3567554"/>
                </a:cubicBezTo>
                <a:close/>
                <a:moveTo>
                  <a:pt x="1318687" y="3113840"/>
                </a:moveTo>
                <a:cubicBezTo>
                  <a:pt x="1233126" y="3142037"/>
                  <a:pt x="1148133" y="3174161"/>
                  <a:pt x="1066793" y="3212171"/>
                </a:cubicBezTo>
                <a:cubicBezTo>
                  <a:pt x="1042399" y="3223712"/>
                  <a:pt x="1017440" y="3235542"/>
                  <a:pt x="993319" y="3247648"/>
                </a:cubicBezTo>
                <a:cubicBezTo>
                  <a:pt x="947600" y="3269890"/>
                  <a:pt x="900765" y="3292688"/>
                  <a:pt x="853081" y="3312410"/>
                </a:cubicBezTo>
                <a:cubicBezTo>
                  <a:pt x="837376" y="3318884"/>
                  <a:pt x="821948" y="3324526"/>
                  <a:pt x="805957" y="3330443"/>
                </a:cubicBezTo>
                <a:cubicBezTo>
                  <a:pt x="973723" y="3284161"/>
                  <a:pt x="1193682" y="3229943"/>
                  <a:pt x="1318687" y="3113840"/>
                </a:cubicBezTo>
                <a:close/>
                <a:moveTo>
                  <a:pt x="5453702" y="3090882"/>
                </a:moveTo>
                <a:lnTo>
                  <a:pt x="5480135" y="3565802"/>
                </a:lnTo>
                <a:cubicBezTo>
                  <a:pt x="5490809" y="3762845"/>
                  <a:pt x="5501220" y="3965024"/>
                  <a:pt x="5499023" y="4166310"/>
                </a:cubicBezTo>
                <a:cubicBezTo>
                  <a:pt x="5546233" y="3984186"/>
                  <a:pt x="5562118" y="3799116"/>
                  <a:pt x="5547022" y="3607838"/>
                </a:cubicBezTo>
                <a:cubicBezTo>
                  <a:pt x="5541143" y="3530760"/>
                  <a:pt x="5529684" y="3453908"/>
                  <a:pt x="5515964" y="3378541"/>
                </a:cubicBezTo>
                <a:cubicBezTo>
                  <a:pt x="5505773" y="3321668"/>
                  <a:pt x="5475310" y="3095607"/>
                  <a:pt x="5453702" y="3090882"/>
                </a:cubicBezTo>
                <a:close/>
                <a:moveTo>
                  <a:pt x="9790480" y="3078533"/>
                </a:moveTo>
                <a:cubicBezTo>
                  <a:pt x="9782502" y="3134217"/>
                  <a:pt x="9773626" y="3189710"/>
                  <a:pt x="9763295" y="3245370"/>
                </a:cubicBezTo>
                <a:cubicBezTo>
                  <a:pt x="9730259" y="3421320"/>
                  <a:pt x="9693170" y="3586065"/>
                  <a:pt x="9736458" y="3758413"/>
                </a:cubicBezTo>
                <a:cubicBezTo>
                  <a:pt x="9741385" y="3680922"/>
                  <a:pt x="9752472" y="3603320"/>
                  <a:pt x="9763499" y="3528057"/>
                </a:cubicBezTo>
                <a:cubicBezTo>
                  <a:pt x="9778184" y="3430521"/>
                  <a:pt x="9793478" y="3330298"/>
                  <a:pt x="9793906" y="3231157"/>
                </a:cubicBezTo>
                <a:cubicBezTo>
                  <a:pt x="9793949" y="3202011"/>
                  <a:pt x="9792735" y="3172131"/>
                  <a:pt x="9791874" y="3142788"/>
                </a:cubicBezTo>
                <a:cubicBezTo>
                  <a:pt x="9791175" y="3121009"/>
                  <a:pt x="9790832" y="3099770"/>
                  <a:pt x="9790480" y="3078533"/>
                </a:cubicBezTo>
                <a:close/>
                <a:moveTo>
                  <a:pt x="1238695" y="3076820"/>
                </a:moveTo>
                <a:cubicBezTo>
                  <a:pt x="1051055" y="3082190"/>
                  <a:pt x="886407" y="3192548"/>
                  <a:pt x="716371" y="3293249"/>
                </a:cubicBezTo>
                <a:cubicBezTo>
                  <a:pt x="670943" y="3320259"/>
                  <a:pt x="625512" y="3345868"/>
                  <a:pt x="579522" y="3371759"/>
                </a:cubicBezTo>
                <a:cubicBezTo>
                  <a:pt x="586257" y="3369787"/>
                  <a:pt x="592991" y="3367806"/>
                  <a:pt x="600288" y="3365555"/>
                </a:cubicBezTo>
                <a:cubicBezTo>
                  <a:pt x="680240" y="3341573"/>
                  <a:pt x="762713" y="3317034"/>
                  <a:pt x="840692" y="3284921"/>
                </a:cubicBezTo>
                <a:cubicBezTo>
                  <a:pt x="887813" y="3265484"/>
                  <a:pt x="934087" y="3242968"/>
                  <a:pt x="979248" y="3221003"/>
                </a:cubicBezTo>
                <a:cubicBezTo>
                  <a:pt x="1004208" y="3209175"/>
                  <a:pt x="1028322" y="3197074"/>
                  <a:pt x="1053282" y="3185247"/>
                </a:cubicBezTo>
                <a:cubicBezTo>
                  <a:pt x="1139666" y="3144704"/>
                  <a:pt x="1229994" y="3110602"/>
                  <a:pt x="1320603" y="3081281"/>
                </a:cubicBezTo>
                <a:cubicBezTo>
                  <a:pt x="1292776" y="3077429"/>
                  <a:pt x="1265502" y="3076054"/>
                  <a:pt x="1238695" y="3076820"/>
                </a:cubicBezTo>
                <a:close/>
                <a:moveTo>
                  <a:pt x="5425627" y="2954192"/>
                </a:moveTo>
                <a:cubicBezTo>
                  <a:pt x="5441934" y="2956815"/>
                  <a:pt x="5467954" y="2996115"/>
                  <a:pt x="5470770" y="3005435"/>
                </a:cubicBezTo>
                <a:cubicBezTo>
                  <a:pt x="5591522" y="3395900"/>
                  <a:pt x="5656650" y="3795361"/>
                  <a:pt x="5567647" y="4190286"/>
                </a:cubicBezTo>
                <a:lnTo>
                  <a:pt x="5545854" y="4267200"/>
                </a:lnTo>
                <a:lnTo>
                  <a:pt x="5391871" y="4267200"/>
                </a:lnTo>
                <a:lnTo>
                  <a:pt x="5318171" y="4175818"/>
                </a:lnTo>
                <a:cubicBezTo>
                  <a:pt x="5204859" y="4048423"/>
                  <a:pt x="5075331" y="3936412"/>
                  <a:pt x="4943646" y="3822916"/>
                </a:cubicBezTo>
                <a:cubicBezTo>
                  <a:pt x="4828850" y="3724110"/>
                  <a:pt x="4714058" y="3625311"/>
                  <a:pt x="4594837" y="3532274"/>
                </a:cubicBezTo>
                <a:cubicBezTo>
                  <a:pt x="4562450" y="3507077"/>
                  <a:pt x="4474786" y="3410282"/>
                  <a:pt x="4441737" y="3399734"/>
                </a:cubicBezTo>
                <a:cubicBezTo>
                  <a:pt x="4437014" y="3398227"/>
                  <a:pt x="4433408" y="3398482"/>
                  <a:pt x="4431236" y="3400954"/>
                </a:cubicBezTo>
                <a:cubicBezTo>
                  <a:pt x="4474088" y="3436036"/>
                  <a:pt x="4516531" y="3472527"/>
                  <a:pt x="4557150" y="3510023"/>
                </a:cubicBezTo>
                <a:cubicBezTo>
                  <a:pt x="4661606" y="3606446"/>
                  <a:pt x="4760255" y="3709152"/>
                  <a:pt x="4856936" y="3809146"/>
                </a:cubicBezTo>
                <a:cubicBezTo>
                  <a:pt x="4939779" y="3895025"/>
                  <a:pt x="5024071" y="3982240"/>
                  <a:pt x="5111996" y="4065759"/>
                </a:cubicBezTo>
                <a:cubicBezTo>
                  <a:pt x="5155961" y="4107518"/>
                  <a:pt x="5200834" y="4148352"/>
                  <a:pt x="5246890" y="4187633"/>
                </a:cubicBezTo>
                <a:lnTo>
                  <a:pt x="5347266" y="4267200"/>
                </a:lnTo>
                <a:lnTo>
                  <a:pt x="5164092" y="4267200"/>
                </a:lnTo>
                <a:lnTo>
                  <a:pt x="5108945" y="4232176"/>
                </a:lnTo>
                <a:cubicBezTo>
                  <a:pt x="4772838" y="3999708"/>
                  <a:pt x="4490756" y="3581960"/>
                  <a:pt x="4294126" y="3303048"/>
                </a:cubicBezTo>
                <a:cubicBezTo>
                  <a:pt x="4284225" y="3288537"/>
                  <a:pt x="4271318" y="3233630"/>
                  <a:pt x="4305321" y="3256953"/>
                </a:cubicBezTo>
                <a:cubicBezTo>
                  <a:pt x="4530520" y="3414680"/>
                  <a:pt x="4740956" y="3587440"/>
                  <a:pt x="4949299" y="3766336"/>
                </a:cubicBezTo>
                <a:cubicBezTo>
                  <a:pt x="5065543" y="3866477"/>
                  <a:pt x="5184542" y="3965579"/>
                  <a:pt x="5291452" y="4076801"/>
                </a:cubicBezTo>
                <a:cubicBezTo>
                  <a:pt x="5309900" y="4095629"/>
                  <a:pt x="5393714" y="4211504"/>
                  <a:pt x="5434998" y="4254100"/>
                </a:cubicBezTo>
                <a:cubicBezTo>
                  <a:pt x="5369347" y="4172892"/>
                  <a:pt x="5356822" y="3836202"/>
                  <a:pt x="5351015" y="3760989"/>
                </a:cubicBezTo>
                <a:cubicBezTo>
                  <a:pt x="5330486" y="3492147"/>
                  <a:pt x="5355823" y="3228927"/>
                  <a:pt x="5413780" y="2966265"/>
                </a:cubicBezTo>
                <a:cubicBezTo>
                  <a:pt x="5415835" y="2956520"/>
                  <a:pt x="5420191" y="2953318"/>
                  <a:pt x="5425627" y="2954192"/>
                </a:cubicBezTo>
                <a:close/>
                <a:moveTo>
                  <a:pt x="8380397" y="2896659"/>
                </a:moveTo>
                <a:cubicBezTo>
                  <a:pt x="8455275" y="3038078"/>
                  <a:pt x="8545153" y="3173735"/>
                  <a:pt x="8634801" y="3304169"/>
                </a:cubicBezTo>
                <a:cubicBezTo>
                  <a:pt x="8726195" y="3437326"/>
                  <a:pt x="8821496" y="3600936"/>
                  <a:pt x="8971448" y="3675946"/>
                </a:cubicBezTo>
                <a:cubicBezTo>
                  <a:pt x="8910775" y="3621244"/>
                  <a:pt x="8864937" y="3553231"/>
                  <a:pt x="8820691" y="3486482"/>
                </a:cubicBezTo>
                <a:cubicBezTo>
                  <a:pt x="8816331" y="3480073"/>
                  <a:pt x="8811972" y="3473665"/>
                  <a:pt x="8807612" y="3467256"/>
                </a:cubicBezTo>
                <a:cubicBezTo>
                  <a:pt x="8727274" y="3347730"/>
                  <a:pt x="8640362" y="3230102"/>
                  <a:pt x="8556796" y="3116474"/>
                </a:cubicBezTo>
                <a:cubicBezTo>
                  <a:pt x="8515702" y="3060746"/>
                  <a:pt x="8472667" y="3003195"/>
                  <a:pt x="8427018" y="2948853"/>
                </a:cubicBezTo>
                <a:cubicBezTo>
                  <a:pt x="8411728" y="2931040"/>
                  <a:pt x="8396239" y="2914119"/>
                  <a:pt x="8380397" y="2896659"/>
                </a:cubicBezTo>
                <a:close/>
                <a:moveTo>
                  <a:pt x="9831020" y="2871730"/>
                </a:moveTo>
                <a:lnTo>
                  <a:pt x="9827707" y="2915231"/>
                </a:lnTo>
                <a:cubicBezTo>
                  <a:pt x="9824540" y="2960178"/>
                  <a:pt x="9821168" y="3006017"/>
                  <a:pt x="9820699" y="3051540"/>
                </a:cubicBezTo>
                <a:cubicBezTo>
                  <a:pt x="9820458" y="3081589"/>
                  <a:pt x="9821664" y="3111470"/>
                  <a:pt x="9822525" y="3140814"/>
                </a:cubicBezTo>
                <a:cubicBezTo>
                  <a:pt x="9823738" y="3170696"/>
                  <a:pt x="9824947" y="3200579"/>
                  <a:pt x="9824704" y="3230628"/>
                </a:cubicBezTo>
                <a:cubicBezTo>
                  <a:pt x="9823869" y="3331557"/>
                  <a:pt x="9808712" y="3433224"/>
                  <a:pt x="9793821" y="3531652"/>
                </a:cubicBezTo>
                <a:cubicBezTo>
                  <a:pt x="9783066" y="3603683"/>
                  <a:pt x="9772446" y="3677150"/>
                  <a:pt x="9767436" y="3750864"/>
                </a:cubicBezTo>
                <a:cubicBezTo>
                  <a:pt x="9782786" y="3724954"/>
                  <a:pt x="9799440" y="3697443"/>
                  <a:pt x="9814477" y="3662531"/>
                </a:cubicBezTo>
                <a:cubicBezTo>
                  <a:pt x="9926754" y="3406015"/>
                  <a:pt x="9892054" y="3133900"/>
                  <a:pt x="9831020" y="2871730"/>
                </a:cubicBezTo>
                <a:close/>
                <a:moveTo>
                  <a:pt x="8380521" y="2850596"/>
                </a:moveTo>
                <a:cubicBezTo>
                  <a:pt x="8404481" y="2875897"/>
                  <a:pt x="8428794" y="2901731"/>
                  <a:pt x="8451446" y="2928627"/>
                </a:cubicBezTo>
                <a:cubicBezTo>
                  <a:pt x="8497446" y="2983517"/>
                  <a:pt x="8540828" y="3041610"/>
                  <a:pt x="8582269" y="3097880"/>
                </a:cubicBezTo>
                <a:cubicBezTo>
                  <a:pt x="8666744" y="3211700"/>
                  <a:pt x="8753998" y="3329876"/>
                  <a:pt x="8833783" y="3449753"/>
                </a:cubicBezTo>
                <a:cubicBezTo>
                  <a:pt x="8838143" y="3456162"/>
                  <a:pt x="8842503" y="3462572"/>
                  <a:pt x="8846863" y="3468981"/>
                </a:cubicBezTo>
                <a:cubicBezTo>
                  <a:pt x="8881714" y="3521040"/>
                  <a:pt x="8917610" y="3574725"/>
                  <a:pt x="8960046" y="3620389"/>
                </a:cubicBezTo>
                <a:cubicBezTo>
                  <a:pt x="8847240" y="3316219"/>
                  <a:pt x="8665033" y="3014288"/>
                  <a:pt x="8380521" y="2850596"/>
                </a:cubicBezTo>
                <a:close/>
                <a:moveTo>
                  <a:pt x="9854151" y="2642862"/>
                </a:moveTo>
                <a:cubicBezTo>
                  <a:pt x="9862376" y="2644690"/>
                  <a:pt x="9868748" y="2649859"/>
                  <a:pt x="9871341" y="2659697"/>
                </a:cubicBezTo>
                <a:cubicBezTo>
                  <a:pt x="9936549" y="2907705"/>
                  <a:pt x="10004418" y="3164740"/>
                  <a:pt x="9966678" y="3423399"/>
                </a:cubicBezTo>
                <a:cubicBezTo>
                  <a:pt x="9951724" y="3524170"/>
                  <a:pt x="9914841" y="3605244"/>
                  <a:pt x="9880832" y="3700562"/>
                </a:cubicBezTo>
                <a:cubicBezTo>
                  <a:pt x="9817639" y="3880472"/>
                  <a:pt x="9825316" y="4002022"/>
                  <a:pt x="9896024" y="4178295"/>
                </a:cubicBezTo>
                <a:lnTo>
                  <a:pt x="10028060" y="4267200"/>
                </a:lnTo>
                <a:lnTo>
                  <a:pt x="9651813" y="4267200"/>
                </a:lnTo>
                <a:lnTo>
                  <a:pt x="9814527" y="4248048"/>
                </a:lnTo>
                <a:cubicBezTo>
                  <a:pt x="9748431" y="4225943"/>
                  <a:pt x="9681848" y="4217991"/>
                  <a:pt x="9615182" y="4220499"/>
                </a:cubicBezTo>
                <a:cubicBezTo>
                  <a:pt x="9565183" y="4222381"/>
                  <a:pt x="9515136" y="4230147"/>
                  <a:pt x="9465210" y="4242240"/>
                </a:cubicBezTo>
                <a:lnTo>
                  <a:pt x="9387108" y="4267200"/>
                </a:lnTo>
                <a:lnTo>
                  <a:pt x="9268441" y="4267200"/>
                </a:lnTo>
                <a:lnTo>
                  <a:pt x="9307676" y="4251276"/>
                </a:lnTo>
                <a:cubicBezTo>
                  <a:pt x="9459842" y="4196603"/>
                  <a:pt x="9613869" y="4164948"/>
                  <a:pt x="9761570" y="4182283"/>
                </a:cubicBezTo>
                <a:cubicBezTo>
                  <a:pt x="9633677" y="4101602"/>
                  <a:pt x="9502269" y="4023929"/>
                  <a:pt x="9368237" y="3949470"/>
                </a:cubicBezTo>
                <a:cubicBezTo>
                  <a:pt x="9363677" y="3950852"/>
                  <a:pt x="9358768" y="3951697"/>
                  <a:pt x="9354614" y="3951288"/>
                </a:cubicBezTo>
                <a:cubicBezTo>
                  <a:pt x="9045666" y="4112095"/>
                  <a:pt x="8711508" y="4184792"/>
                  <a:pt x="8364351" y="4159267"/>
                </a:cubicBezTo>
                <a:cubicBezTo>
                  <a:pt x="8322605" y="4156073"/>
                  <a:pt x="8373028" y="4125362"/>
                  <a:pt x="8386567" y="4119760"/>
                </a:cubicBezTo>
                <a:cubicBezTo>
                  <a:pt x="8661942" y="4017222"/>
                  <a:pt x="8938634" y="3857115"/>
                  <a:pt x="9231713" y="3873539"/>
                </a:cubicBezTo>
                <a:cubicBezTo>
                  <a:pt x="9162796" y="3836374"/>
                  <a:pt x="9093324" y="3799562"/>
                  <a:pt x="9023301" y="3763109"/>
                </a:cubicBezTo>
                <a:cubicBezTo>
                  <a:pt x="9018245" y="3762512"/>
                  <a:pt x="9014299" y="3761207"/>
                  <a:pt x="9010556" y="3758998"/>
                </a:cubicBezTo>
                <a:cubicBezTo>
                  <a:pt x="8818026" y="3719652"/>
                  <a:pt x="8714888" y="3571783"/>
                  <a:pt x="8604324" y="3417171"/>
                </a:cubicBezTo>
                <a:cubicBezTo>
                  <a:pt x="8460937" y="3216099"/>
                  <a:pt x="8313620" y="2999153"/>
                  <a:pt x="8218577" y="2770227"/>
                </a:cubicBezTo>
                <a:cubicBezTo>
                  <a:pt x="8215211" y="2762227"/>
                  <a:pt x="8217371" y="2755481"/>
                  <a:pt x="8222774" y="2749954"/>
                </a:cubicBezTo>
                <a:cubicBezTo>
                  <a:pt x="8238990" y="2733370"/>
                  <a:pt x="8284424" y="2727735"/>
                  <a:pt x="8297623" y="2731935"/>
                </a:cubicBezTo>
                <a:cubicBezTo>
                  <a:pt x="8726387" y="2883841"/>
                  <a:pt x="8964880" y="3311498"/>
                  <a:pt x="9090618" y="3716225"/>
                </a:cubicBezTo>
                <a:cubicBezTo>
                  <a:pt x="9321070" y="3835548"/>
                  <a:pt x="9546131" y="3959850"/>
                  <a:pt x="9762441" y="4093587"/>
                </a:cubicBezTo>
                <a:cubicBezTo>
                  <a:pt x="9739891" y="4035197"/>
                  <a:pt x="9720655" y="3974696"/>
                  <a:pt x="9717826" y="3916719"/>
                </a:cubicBezTo>
                <a:cubicBezTo>
                  <a:pt x="9716379" y="3916883"/>
                  <a:pt x="9714371" y="3917401"/>
                  <a:pt x="9713123" y="3916663"/>
                </a:cubicBezTo>
                <a:cubicBezTo>
                  <a:pt x="9419408" y="3876118"/>
                  <a:pt x="9276568" y="3571232"/>
                  <a:pt x="9175594" y="3326950"/>
                </a:cubicBezTo>
                <a:cubicBezTo>
                  <a:pt x="9162477" y="3295477"/>
                  <a:pt x="9234580" y="3273123"/>
                  <a:pt x="9253941" y="3287566"/>
                </a:cubicBezTo>
                <a:cubicBezTo>
                  <a:pt x="9396995" y="3390749"/>
                  <a:pt x="9519263" y="3506453"/>
                  <a:pt x="9625671" y="3639960"/>
                </a:cubicBezTo>
                <a:cubicBezTo>
                  <a:pt x="9622492" y="3540061"/>
                  <a:pt x="9637797" y="3439839"/>
                  <a:pt x="9656881" y="3333361"/>
                </a:cubicBezTo>
                <a:cubicBezTo>
                  <a:pt x="9696972" y="3116116"/>
                  <a:pt x="9713720" y="2891570"/>
                  <a:pt x="9782066" y="2680771"/>
                </a:cubicBezTo>
                <a:cubicBezTo>
                  <a:pt x="9788129" y="2661952"/>
                  <a:pt x="9829478" y="2637374"/>
                  <a:pt x="9854151" y="2642862"/>
                </a:cubicBezTo>
                <a:close/>
                <a:moveTo>
                  <a:pt x="11114299" y="2390555"/>
                </a:moveTo>
                <a:lnTo>
                  <a:pt x="11113373" y="2392739"/>
                </a:lnTo>
                <a:lnTo>
                  <a:pt x="11117197" y="2394358"/>
                </a:lnTo>
                <a:cubicBezTo>
                  <a:pt x="11116333" y="2393349"/>
                  <a:pt x="11115474" y="2392343"/>
                  <a:pt x="11114299" y="2390555"/>
                </a:cubicBezTo>
                <a:close/>
                <a:moveTo>
                  <a:pt x="10506276" y="2118977"/>
                </a:moveTo>
                <a:cubicBezTo>
                  <a:pt x="10510550" y="2257918"/>
                  <a:pt x="10470507" y="2393544"/>
                  <a:pt x="10431542" y="2525128"/>
                </a:cubicBezTo>
                <a:cubicBezTo>
                  <a:pt x="10417502" y="2571972"/>
                  <a:pt x="10403548" y="2620144"/>
                  <a:pt x="10391375" y="2667145"/>
                </a:cubicBezTo>
                <a:cubicBezTo>
                  <a:pt x="10377290" y="2721696"/>
                  <a:pt x="10366481" y="2777642"/>
                  <a:pt x="10355047" y="2832031"/>
                </a:cubicBezTo>
                <a:lnTo>
                  <a:pt x="10336080" y="2927011"/>
                </a:lnTo>
                <a:cubicBezTo>
                  <a:pt x="10349636" y="2893472"/>
                  <a:pt x="10367643" y="2846374"/>
                  <a:pt x="10389394" y="2782834"/>
                </a:cubicBezTo>
                <a:cubicBezTo>
                  <a:pt x="10448427" y="2611467"/>
                  <a:pt x="10546967" y="2325483"/>
                  <a:pt x="10506276" y="2118977"/>
                </a:cubicBezTo>
                <a:close/>
                <a:moveTo>
                  <a:pt x="11538179" y="2090376"/>
                </a:moveTo>
                <a:cubicBezTo>
                  <a:pt x="11552237" y="2136248"/>
                  <a:pt x="11565750" y="2181883"/>
                  <a:pt x="11577479" y="2228695"/>
                </a:cubicBezTo>
                <a:lnTo>
                  <a:pt x="11586754" y="2266098"/>
                </a:lnTo>
                <a:cubicBezTo>
                  <a:pt x="11593656" y="2295423"/>
                  <a:pt x="11600787" y="2324193"/>
                  <a:pt x="11609011" y="2353427"/>
                </a:cubicBezTo>
                <a:cubicBezTo>
                  <a:pt x="11644349" y="2475257"/>
                  <a:pt x="11704023" y="2591295"/>
                  <a:pt x="11761579" y="2703223"/>
                </a:cubicBezTo>
                <a:cubicBezTo>
                  <a:pt x="11802170" y="2782214"/>
                  <a:pt x="11843944" y="2862994"/>
                  <a:pt x="11877711" y="2947465"/>
                </a:cubicBezTo>
                <a:cubicBezTo>
                  <a:pt x="11815017" y="2640863"/>
                  <a:pt x="11724956" y="2342636"/>
                  <a:pt x="11538179" y="2090376"/>
                </a:cubicBezTo>
                <a:close/>
                <a:moveTo>
                  <a:pt x="6604735" y="2041381"/>
                </a:moveTo>
                <a:cubicBezTo>
                  <a:pt x="6726311" y="2327927"/>
                  <a:pt x="6916754" y="2606522"/>
                  <a:pt x="7204487" y="2742112"/>
                </a:cubicBezTo>
                <a:cubicBezTo>
                  <a:pt x="7179895" y="2719491"/>
                  <a:pt x="7154936" y="2696378"/>
                  <a:pt x="7131592" y="2672096"/>
                </a:cubicBezTo>
                <a:cubicBezTo>
                  <a:pt x="7084181" y="2622518"/>
                  <a:pt x="7039271" y="2569608"/>
                  <a:pt x="6996344" y="2518310"/>
                </a:cubicBezTo>
                <a:cubicBezTo>
                  <a:pt x="6908871" y="2414600"/>
                  <a:pt x="6818501" y="2306884"/>
                  <a:pt x="6735495" y="2196890"/>
                </a:cubicBezTo>
                <a:lnTo>
                  <a:pt x="6721901" y="2179274"/>
                </a:lnTo>
                <a:cubicBezTo>
                  <a:pt x="6685654" y="2131523"/>
                  <a:pt x="6648317" y="2082278"/>
                  <a:pt x="6604735" y="2041381"/>
                </a:cubicBezTo>
                <a:close/>
                <a:moveTo>
                  <a:pt x="11488421" y="2034549"/>
                </a:moveTo>
                <a:cubicBezTo>
                  <a:pt x="11459234" y="2371132"/>
                  <a:pt x="11651925" y="2658088"/>
                  <a:pt x="11840356" y="2932293"/>
                </a:cubicBezTo>
                <a:cubicBezTo>
                  <a:pt x="11809128" y="2858555"/>
                  <a:pt x="11772688" y="2786473"/>
                  <a:pt x="11736331" y="2715710"/>
                </a:cubicBezTo>
                <a:cubicBezTo>
                  <a:pt x="11678147" y="2602235"/>
                  <a:pt x="11617611" y="2485181"/>
                  <a:pt x="11581560" y="2360474"/>
                </a:cubicBezTo>
                <a:cubicBezTo>
                  <a:pt x="11573334" y="2331239"/>
                  <a:pt x="11565889" y="2301693"/>
                  <a:pt x="11558442" y="2272139"/>
                </a:cubicBezTo>
                <a:lnTo>
                  <a:pt x="11549169" y="2234734"/>
                </a:lnTo>
                <a:cubicBezTo>
                  <a:pt x="11532130" y="2167007"/>
                  <a:pt x="11511443" y="2100302"/>
                  <a:pt x="11488421" y="2034549"/>
                </a:cubicBezTo>
                <a:close/>
                <a:moveTo>
                  <a:pt x="10468916" y="2032338"/>
                </a:moveTo>
                <a:cubicBezTo>
                  <a:pt x="10450533" y="2081859"/>
                  <a:pt x="10434093" y="2132840"/>
                  <a:pt x="10421480" y="2185446"/>
                </a:cubicBezTo>
                <a:cubicBezTo>
                  <a:pt x="10388668" y="2317695"/>
                  <a:pt x="10374105" y="2457032"/>
                  <a:pt x="10351264" y="2591574"/>
                </a:cubicBezTo>
                <a:cubicBezTo>
                  <a:pt x="10332355" y="2700098"/>
                  <a:pt x="10281261" y="2959166"/>
                  <a:pt x="10294485" y="2991809"/>
                </a:cubicBezTo>
                <a:lnTo>
                  <a:pt x="10327850" y="2826310"/>
                </a:lnTo>
                <a:cubicBezTo>
                  <a:pt x="10338741" y="2771690"/>
                  <a:pt x="10350331" y="2715434"/>
                  <a:pt x="10364099" y="2660098"/>
                </a:cubicBezTo>
                <a:cubicBezTo>
                  <a:pt x="10376185" y="2611783"/>
                  <a:pt x="10390682" y="2563843"/>
                  <a:pt x="10404725" y="2516991"/>
                </a:cubicBezTo>
                <a:cubicBezTo>
                  <a:pt x="10443463" y="2385961"/>
                  <a:pt x="10483500" y="2250332"/>
                  <a:pt x="10478071" y="2114122"/>
                </a:cubicBezTo>
                <a:cubicBezTo>
                  <a:pt x="10476867" y="2086568"/>
                  <a:pt x="10473555" y="2059413"/>
                  <a:pt x="10468916" y="2032338"/>
                </a:cubicBezTo>
                <a:close/>
                <a:moveTo>
                  <a:pt x="10573132" y="1991479"/>
                </a:moveTo>
                <a:cubicBezTo>
                  <a:pt x="10722027" y="2144650"/>
                  <a:pt x="10877543" y="2280670"/>
                  <a:pt x="11066880" y="2371770"/>
                </a:cubicBezTo>
                <a:cubicBezTo>
                  <a:pt x="10930664" y="2234271"/>
                  <a:pt x="10767866" y="2088089"/>
                  <a:pt x="10573132" y="1991479"/>
                </a:cubicBezTo>
                <a:close/>
                <a:moveTo>
                  <a:pt x="6591670" y="1988277"/>
                </a:moveTo>
                <a:cubicBezTo>
                  <a:pt x="6653650" y="2036451"/>
                  <a:pt x="6701310" y="2098809"/>
                  <a:pt x="6747349" y="2160069"/>
                </a:cubicBezTo>
                <a:lnTo>
                  <a:pt x="6760943" y="2177686"/>
                </a:lnTo>
                <a:cubicBezTo>
                  <a:pt x="6844486" y="2287290"/>
                  <a:pt x="6934499" y="2394502"/>
                  <a:pt x="7021065" y="2498102"/>
                </a:cubicBezTo>
                <a:cubicBezTo>
                  <a:pt x="7063629" y="2548900"/>
                  <a:pt x="7108178" y="2601313"/>
                  <a:pt x="7155223" y="2650386"/>
                </a:cubicBezTo>
                <a:cubicBezTo>
                  <a:pt x="7170968" y="2666443"/>
                  <a:pt x="7186885" y="2681619"/>
                  <a:pt x="7203167" y="2697288"/>
                </a:cubicBezTo>
                <a:cubicBezTo>
                  <a:pt x="7124362" y="2565928"/>
                  <a:pt x="7030837" y="2441422"/>
                  <a:pt x="6937703" y="2321981"/>
                </a:cubicBezTo>
                <a:cubicBezTo>
                  <a:pt x="6842752" y="2200032"/>
                  <a:pt x="6742965" y="2048781"/>
                  <a:pt x="6591670" y="1988277"/>
                </a:cubicBezTo>
                <a:close/>
                <a:moveTo>
                  <a:pt x="5798671" y="1981601"/>
                </a:moveTo>
                <a:cubicBezTo>
                  <a:pt x="5784234" y="2008086"/>
                  <a:pt x="5768551" y="2036236"/>
                  <a:pt x="5754709" y="2071454"/>
                </a:cubicBezTo>
                <a:cubicBezTo>
                  <a:pt x="5651219" y="2330361"/>
                  <a:pt x="5694208" y="2592217"/>
                  <a:pt x="5763044" y="2842206"/>
                </a:cubicBezTo>
                <a:lnTo>
                  <a:pt x="5764974" y="2799609"/>
                </a:lnTo>
                <a:cubicBezTo>
                  <a:pt x="5766710" y="2755616"/>
                  <a:pt x="5768626" y="2710738"/>
                  <a:pt x="5767665" y="2666409"/>
                </a:cubicBezTo>
                <a:cubicBezTo>
                  <a:pt x="5766964" y="2637156"/>
                  <a:pt x="5764828" y="2608182"/>
                  <a:pt x="5763055" y="2579705"/>
                </a:cubicBezTo>
                <a:cubicBezTo>
                  <a:pt x="5760913" y="2550734"/>
                  <a:pt x="5758780" y="2521760"/>
                  <a:pt x="5758079" y="2492508"/>
                </a:cubicBezTo>
                <a:cubicBezTo>
                  <a:pt x="5755745" y="2394242"/>
                  <a:pt x="5767619" y="2294070"/>
                  <a:pt x="5779325" y="2197069"/>
                </a:cubicBezTo>
                <a:cubicBezTo>
                  <a:pt x="5787753" y="2126095"/>
                  <a:pt x="5796001" y="2053736"/>
                  <a:pt x="5798671" y="1981601"/>
                </a:cubicBezTo>
                <a:close/>
                <a:moveTo>
                  <a:pt x="5829202" y="1971679"/>
                </a:moveTo>
                <a:cubicBezTo>
                  <a:pt x="5826736" y="2047481"/>
                  <a:pt x="5818154" y="2123904"/>
                  <a:pt x="5809558" y="2198043"/>
                </a:cubicBezTo>
                <a:cubicBezTo>
                  <a:pt x="5798026" y="2294159"/>
                  <a:pt x="5785973" y="2392938"/>
                  <a:pt x="5788653" y="2489430"/>
                </a:cubicBezTo>
                <a:cubicBezTo>
                  <a:pt x="5789524" y="2517790"/>
                  <a:pt x="5791665" y="2546759"/>
                  <a:pt x="5793439" y="2575235"/>
                </a:cubicBezTo>
                <a:cubicBezTo>
                  <a:pt x="5794815" y="2596366"/>
                  <a:pt x="5795822" y="2617001"/>
                  <a:pt x="5796837" y="2637633"/>
                </a:cubicBezTo>
                <a:cubicBezTo>
                  <a:pt x="5803017" y="2582794"/>
                  <a:pt x="5810098" y="2528066"/>
                  <a:pt x="5818614" y="2473055"/>
                </a:cubicBezTo>
                <a:cubicBezTo>
                  <a:pt x="5845917" y="2299125"/>
                  <a:pt x="5877599" y="2135758"/>
                  <a:pt x="5829202" y="1971679"/>
                </a:cubicBezTo>
                <a:close/>
                <a:moveTo>
                  <a:pt x="10578769" y="1962963"/>
                </a:moveTo>
                <a:cubicBezTo>
                  <a:pt x="10773649" y="2057701"/>
                  <a:pt x="10936285" y="2201237"/>
                  <a:pt x="11073823" y="2338658"/>
                </a:cubicBezTo>
                <a:cubicBezTo>
                  <a:pt x="10938241" y="2169232"/>
                  <a:pt x="10752627" y="1968969"/>
                  <a:pt x="10578769" y="1962963"/>
                </a:cubicBezTo>
                <a:close/>
                <a:moveTo>
                  <a:pt x="5911389" y="1898371"/>
                </a:moveTo>
                <a:cubicBezTo>
                  <a:pt x="6006914" y="2026768"/>
                  <a:pt x="6112955" y="2136857"/>
                  <a:pt x="6237627" y="2231921"/>
                </a:cubicBezTo>
                <a:cubicBezTo>
                  <a:pt x="6161282" y="2090381"/>
                  <a:pt x="6060308" y="1952200"/>
                  <a:pt x="5911389" y="1898371"/>
                </a:cubicBezTo>
                <a:close/>
                <a:moveTo>
                  <a:pt x="6944437" y="1575402"/>
                </a:moveTo>
                <a:cubicBezTo>
                  <a:pt x="6732842" y="1643305"/>
                  <a:pt x="6518352" y="1707201"/>
                  <a:pt x="6304730" y="1766654"/>
                </a:cubicBezTo>
                <a:cubicBezTo>
                  <a:pt x="6527947" y="1784949"/>
                  <a:pt x="6737901" y="1680839"/>
                  <a:pt x="6944437" y="1575402"/>
                </a:cubicBezTo>
                <a:close/>
                <a:moveTo>
                  <a:pt x="7019523" y="1519450"/>
                </a:moveTo>
                <a:cubicBezTo>
                  <a:pt x="6766096" y="1537552"/>
                  <a:pt x="6524653" y="1609537"/>
                  <a:pt x="6298091" y="1737122"/>
                </a:cubicBezTo>
                <a:cubicBezTo>
                  <a:pt x="6539381" y="1670594"/>
                  <a:pt x="6780997" y="1597715"/>
                  <a:pt x="7019523" y="1519450"/>
                </a:cubicBezTo>
                <a:close/>
                <a:moveTo>
                  <a:pt x="2399523" y="1428234"/>
                </a:moveTo>
                <a:cubicBezTo>
                  <a:pt x="2324192" y="1539775"/>
                  <a:pt x="2267478" y="1713586"/>
                  <a:pt x="2224982" y="1826201"/>
                </a:cubicBezTo>
                <a:cubicBezTo>
                  <a:pt x="2161246" y="1995817"/>
                  <a:pt x="2120250" y="2168765"/>
                  <a:pt x="2096099" y="2345900"/>
                </a:cubicBezTo>
                <a:cubicBezTo>
                  <a:pt x="2166834" y="2165047"/>
                  <a:pt x="2226331" y="1978598"/>
                  <a:pt x="2283317" y="1796925"/>
                </a:cubicBezTo>
                <a:close/>
                <a:moveTo>
                  <a:pt x="2448558" y="1373435"/>
                </a:moveTo>
                <a:lnTo>
                  <a:pt x="2312521" y="1806140"/>
                </a:lnTo>
                <a:cubicBezTo>
                  <a:pt x="2255817" y="1985569"/>
                  <a:pt x="2197150" y="2169492"/>
                  <a:pt x="2127533" y="2348380"/>
                </a:cubicBezTo>
                <a:cubicBezTo>
                  <a:pt x="2230881" y="2201722"/>
                  <a:pt x="2307261" y="2041905"/>
                  <a:pt x="2358080" y="1866134"/>
                </a:cubicBezTo>
                <a:cubicBezTo>
                  <a:pt x="2378743" y="1795373"/>
                  <a:pt x="2394349" y="1722940"/>
                  <a:pt x="2407436" y="1651070"/>
                </a:cubicBezTo>
                <a:cubicBezTo>
                  <a:pt x="2417458" y="1596892"/>
                  <a:pt x="2466254" y="1384915"/>
                  <a:pt x="2448558" y="1373435"/>
                </a:cubicBezTo>
                <a:close/>
                <a:moveTo>
                  <a:pt x="278707" y="1352270"/>
                </a:moveTo>
                <a:lnTo>
                  <a:pt x="321570" y="1861610"/>
                </a:lnTo>
                <a:cubicBezTo>
                  <a:pt x="336248" y="1725752"/>
                  <a:pt x="317508" y="1584885"/>
                  <a:pt x="294281" y="1440658"/>
                </a:cubicBezTo>
                <a:close/>
                <a:moveTo>
                  <a:pt x="1423821" y="1351958"/>
                </a:moveTo>
                <a:cubicBezTo>
                  <a:pt x="1426859" y="1507722"/>
                  <a:pt x="1587831" y="1796280"/>
                  <a:pt x="1638521" y="1908470"/>
                </a:cubicBezTo>
                <a:cubicBezTo>
                  <a:pt x="1674424" y="1987707"/>
                  <a:pt x="1711105" y="2070587"/>
                  <a:pt x="1754199" y="2149284"/>
                </a:cubicBezTo>
                <a:cubicBezTo>
                  <a:pt x="1797295" y="2227981"/>
                  <a:pt x="1846801" y="2302493"/>
                  <a:pt x="1908359" y="2364988"/>
                </a:cubicBezTo>
                <a:cubicBezTo>
                  <a:pt x="1805946" y="2193096"/>
                  <a:pt x="1725953" y="2007134"/>
                  <a:pt x="1647661" y="1825945"/>
                </a:cubicBezTo>
                <a:cubicBezTo>
                  <a:pt x="1579500" y="1667751"/>
                  <a:pt x="1508533" y="1505355"/>
                  <a:pt x="1423821" y="1351958"/>
                </a:cubicBezTo>
                <a:close/>
                <a:moveTo>
                  <a:pt x="9518298" y="1338235"/>
                </a:moveTo>
                <a:cubicBezTo>
                  <a:pt x="9531977" y="1651120"/>
                  <a:pt x="9677527" y="1999242"/>
                  <a:pt x="9838009" y="2272553"/>
                </a:cubicBezTo>
                <a:cubicBezTo>
                  <a:pt x="9825312" y="2235634"/>
                  <a:pt x="9815180" y="2197225"/>
                  <a:pt x="9805906" y="2159819"/>
                </a:cubicBezTo>
                <a:lnTo>
                  <a:pt x="9801623" y="2142555"/>
                </a:lnTo>
                <a:cubicBezTo>
                  <a:pt x="9756626" y="1964482"/>
                  <a:pt x="9698390" y="1787247"/>
                  <a:pt x="9628671" y="1617375"/>
                </a:cubicBezTo>
                <a:cubicBezTo>
                  <a:pt x="9618364" y="1593060"/>
                  <a:pt x="9608603" y="1568967"/>
                  <a:pt x="9598299" y="1544643"/>
                </a:cubicBezTo>
                <a:cubicBezTo>
                  <a:pt x="9570133" y="1477354"/>
                  <a:pt x="9541339" y="1408510"/>
                  <a:pt x="9518298" y="1338235"/>
                </a:cubicBezTo>
                <a:close/>
                <a:moveTo>
                  <a:pt x="1431890" y="1306475"/>
                </a:moveTo>
                <a:cubicBezTo>
                  <a:pt x="1458339" y="1352187"/>
                  <a:pt x="1483952" y="1399016"/>
                  <a:pt x="1507597" y="1446132"/>
                </a:cubicBezTo>
                <a:cubicBezTo>
                  <a:pt x="1568403" y="1567288"/>
                  <a:pt x="1621917" y="1692101"/>
                  <a:pt x="1674586" y="1813832"/>
                </a:cubicBezTo>
                <a:cubicBezTo>
                  <a:pt x="1719648" y="1918315"/>
                  <a:pt x="1765554" y="2024477"/>
                  <a:pt x="1815950" y="2128564"/>
                </a:cubicBezTo>
                <a:cubicBezTo>
                  <a:pt x="1866346" y="2232648"/>
                  <a:pt x="1921228" y="2334658"/>
                  <a:pt x="1984242" y="2430829"/>
                </a:cubicBezTo>
                <a:cubicBezTo>
                  <a:pt x="1994073" y="2437830"/>
                  <a:pt x="2003908" y="2444836"/>
                  <a:pt x="2014023" y="2450995"/>
                </a:cubicBezTo>
                <a:cubicBezTo>
                  <a:pt x="1956448" y="2239741"/>
                  <a:pt x="1853160" y="2049325"/>
                  <a:pt x="1747337" y="1855264"/>
                </a:cubicBezTo>
                <a:cubicBezTo>
                  <a:pt x="1678102" y="1728504"/>
                  <a:pt x="1608870" y="1601753"/>
                  <a:pt x="1533749" y="1478656"/>
                </a:cubicBezTo>
                <a:cubicBezTo>
                  <a:pt x="1510398" y="1440515"/>
                  <a:pt x="1454048" y="1294657"/>
                  <a:pt x="1431890" y="1306475"/>
                </a:cubicBezTo>
                <a:close/>
                <a:moveTo>
                  <a:pt x="5052692" y="1292994"/>
                </a:moveTo>
                <a:cubicBezTo>
                  <a:pt x="5103155" y="1406739"/>
                  <a:pt x="5153078" y="1520878"/>
                  <a:pt x="5200661" y="1635186"/>
                </a:cubicBezTo>
                <a:cubicBezTo>
                  <a:pt x="5238218" y="1725483"/>
                  <a:pt x="5273610" y="1815047"/>
                  <a:pt x="5297138" y="1906351"/>
                </a:cubicBezTo>
                <a:cubicBezTo>
                  <a:pt x="5281533" y="1683399"/>
                  <a:pt x="5177210" y="1491946"/>
                  <a:pt x="5052692" y="1292994"/>
                </a:cubicBezTo>
                <a:close/>
                <a:moveTo>
                  <a:pt x="9528078" y="1278636"/>
                </a:moveTo>
                <a:cubicBezTo>
                  <a:pt x="9552982" y="1365794"/>
                  <a:pt x="9588937" y="1451189"/>
                  <a:pt x="9623946" y="1534260"/>
                </a:cubicBezTo>
                <a:lnTo>
                  <a:pt x="9654858" y="1607218"/>
                </a:lnTo>
                <a:cubicBezTo>
                  <a:pt x="9724183" y="1774989"/>
                  <a:pt x="9781702" y="1949347"/>
                  <a:pt x="9826304" y="2125320"/>
                </a:cubicBezTo>
                <a:cubicBezTo>
                  <a:pt x="9794296" y="1963695"/>
                  <a:pt x="9753660" y="1804203"/>
                  <a:pt x="9701198" y="1646797"/>
                </a:cubicBezTo>
                <a:cubicBezTo>
                  <a:pt x="9655682" y="1511000"/>
                  <a:pt x="9586050" y="1397178"/>
                  <a:pt x="9528078" y="1278636"/>
                </a:cubicBezTo>
                <a:close/>
                <a:moveTo>
                  <a:pt x="5009948" y="1273619"/>
                </a:moveTo>
                <a:cubicBezTo>
                  <a:pt x="5013363" y="1406203"/>
                  <a:pt x="5078144" y="1538571"/>
                  <a:pt x="5121777" y="1654213"/>
                </a:cubicBezTo>
                <a:cubicBezTo>
                  <a:pt x="5175625" y="1795269"/>
                  <a:pt x="5233597" y="1934093"/>
                  <a:pt x="5293545" y="2072247"/>
                </a:cubicBezTo>
                <a:cubicBezTo>
                  <a:pt x="5293533" y="2069971"/>
                  <a:pt x="5294060" y="2067298"/>
                  <a:pt x="5294042" y="2065019"/>
                </a:cubicBezTo>
                <a:cubicBezTo>
                  <a:pt x="5282123" y="1924099"/>
                  <a:pt x="5230273" y="1786942"/>
                  <a:pt x="5171936" y="1647613"/>
                </a:cubicBezTo>
                <a:cubicBezTo>
                  <a:pt x="5119977" y="1522743"/>
                  <a:pt x="5065315" y="1397539"/>
                  <a:pt x="5009948" y="1273619"/>
                </a:cubicBezTo>
                <a:close/>
                <a:moveTo>
                  <a:pt x="655236" y="1268632"/>
                </a:moveTo>
                <a:cubicBezTo>
                  <a:pt x="717895" y="1408869"/>
                  <a:pt x="771574" y="1550454"/>
                  <a:pt x="839521" y="1685315"/>
                </a:cubicBezTo>
                <a:cubicBezTo>
                  <a:pt x="907470" y="1820177"/>
                  <a:pt x="989683" y="1948318"/>
                  <a:pt x="1109416" y="2061663"/>
                </a:cubicBezTo>
                <a:cubicBezTo>
                  <a:pt x="1177718" y="2126399"/>
                  <a:pt x="1244319" y="2184954"/>
                  <a:pt x="1298300" y="2247742"/>
                </a:cubicBezTo>
                <a:cubicBezTo>
                  <a:pt x="1250168" y="2156040"/>
                  <a:pt x="1187457" y="2071655"/>
                  <a:pt x="1125871" y="1989513"/>
                </a:cubicBezTo>
                <a:cubicBezTo>
                  <a:pt x="1076370" y="1923070"/>
                  <a:pt x="1025189" y="1854667"/>
                  <a:pt x="981574" y="1783157"/>
                </a:cubicBezTo>
                <a:cubicBezTo>
                  <a:pt x="960475" y="1748106"/>
                  <a:pt x="941058" y="1712211"/>
                  <a:pt x="922198" y="1677437"/>
                </a:cubicBezTo>
                <a:cubicBezTo>
                  <a:pt x="905028" y="1646031"/>
                  <a:pt x="887579" y="1614059"/>
                  <a:pt x="869293" y="1583214"/>
                </a:cubicBezTo>
                <a:cubicBezTo>
                  <a:pt x="832994" y="1522086"/>
                  <a:pt x="791368" y="1462924"/>
                  <a:pt x="751431" y="1405731"/>
                </a:cubicBezTo>
                <a:close/>
                <a:moveTo>
                  <a:pt x="6516292" y="1263064"/>
                </a:moveTo>
                <a:cubicBezTo>
                  <a:pt x="6288018" y="1373581"/>
                  <a:pt x="6031500" y="1451909"/>
                  <a:pt x="5736320" y="1501803"/>
                </a:cubicBezTo>
                <a:cubicBezTo>
                  <a:pt x="6001708" y="1565837"/>
                  <a:pt x="6267694" y="1408906"/>
                  <a:pt x="6516292" y="1263064"/>
                </a:cubicBezTo>
                <a:close/>
                <a:moveTo>
                  <a:pt x="291466" y="1250369"/>
                </a:moveTo>
                <a:cubicBezTo>
                  <a:pt x="302228" y="1312380"/>
                  <a:pt x="313548" y="1374109"/>
                  <a:pt x="323180" y="1435283"/>
                </a:cubicBezTo>
                <a:cubicBezTo>
                  <a:pt x="347262" y="1585402"/>
                  <a:pt x="366566" y="1733005"/>
                  <a:pt x="349381" y="1875041"/>
                </a:cubicBezTo>
                <a:cubicBezTo>
                  <a:pt x="398887" y="1761016"/>
                  <a:pt x="404047" y="1643975"/>
                  <a:pt x="374363" y="1506494"/>
                </a:cubicBezTo>
                <a:cubicBezTo>
                  <a:pt x="356845" y="1425406"/>
                  <a:pt x="334841" y="1350786"/>
                  <a:pt x="302168" y="1274495"/>
                </a:cubicBezTo>
                <a:cubicBezTo>
                  <a:pt x="298229" y="1265236"/>
                  <a:pt x="295129" y="1257666"/>
                  <a:pt x="291466" y="1250369"/>
                </a:cubicBezTo>
                <a:close/>
                <a:moveTo>
                  <a:pt x="678222" y="1248670"/>
                </a:moveTo>
                <a:lnTo>
                  <a:pt x="775536" y="1388015"/>
                </a:lnTo>
                <a:cubicBezTo>
                  <a:pt x="815764" y="1445771"/>
                  <a:pt x="857669" y="1505484"/>
                  <a:pt x="894529" y="1567739"/>
                </a:cubicBezTo>
                <a:cubicBezTo>
                  <a:pt x="913103" y="1599148"/>
                  <a:pt x="930546" y="1631115"/>
                  <a:pt x="948000" y="1663088"/>
                </a:cubicBezTo>
                <a:cubicBezTo>
                  <a:pt x="966853" y="1697859"/>
                  <a:pt x="986277" y="1733757"/>
                  <a:pt x="1006812" y="1767683"/>
                </a:cubicBezTo>
                <a:cubicBezTo>
                  <a:pt x="1049303" y="1838347"/>
                  <a:pt x="1100205" y="1906189"/>
                  <a:pt x="1149133" y="1971513"/>
                </a:cubicBezTo>
                <a:cubicBezTo>
                  <a:pt x="1215506" y="2060384"/>
                  <a:pt x="1283561" y="2151216"/>
                  <a:pt x="1333952" y="2251620"/>
                </a:cubicBezTo>
                <a:lnTo>
                  <a:pt x="1337329" y="2258350"/>
                </a:lnTo>
                <a:cubicBezTo>
                  <a:pt x="1352131" y="2023413"/>
                  <a:pt x="1145204" y="1784597"/>
                  <a:pt x="1014726" y="1615556"/>
                </a:cubicBezTo>
                <a:cubicBezTo>
                  <a:pt x="911517" y="1481269"/>
                  <a:pt x="800192" y="1360189"/>
                  <a:pt x="678222" y="1248670"/>
                </a:cubicBezTo>
                <a:close/>
                <a:moveTo>
                  <a:pt x="9441752" y="1245311"/>
                </a:moveTo>
                <a:cubicBezTo>
                  <a:pt x="9367449" y="1271794"/>
                  <a:pt x="9313207" y="1329954"/>
                  <a:pt x="9278979" y="1406236"/>
                </a:cubicBezTo>
                <a:cubicBezTo>
                  <a:pt x="9261017" y="1445630"/>
                  <a:pt x="9242585" y="1502850"/>
                  <a:pt x="9235540" y="1546869"/>
                </a:cubicBezTo>
                <a:cubicBezTo>
                  <a:pt x="9223867" y="1618535"/>
                  <a:pt x="9230001" y="1614698"/>
                  <a:pt x="9264074" y="1557016"/>
                </a:cubicBezTo>
                <a:cubicBezTo>
                  <a:pt x="9325587" y="1454296"/>
                  <a:pt x="9384605" y="1349880"/>
                  <a:pt x="9441752" y="1245311"/>
                </a:cubicBezTo>
                <a:close/>
                <a:moveTo>
                  <a:pt x="6691602" y="1140573"/>
                </a:moveTo>
                <a:cubicBezTo>
                  <a:pt x="6646175" y="1158238"/>
                  <a:pt x="6598950" y="1175684"/>
                  <a:pt x="6571100" y="1183662"/>
                </a:cubicBezTo>
                <a:cubicBezTo>
                  <a:pt x="6462406" y="1213607"/>
                  <a:pt x="6352215" y="1234713"/>
                  <a:pt x="6241687" y="1257600"/>
                </a:cubicBezTo>
                <a:cubicBezTo>
                  <a:pt x="6040746" y="1299467"/>
                  <a:pt x="5893317" y="1420819"/>
                  <a:pt x="5693009" y="1478256"/>
                </a:cubicBezTo>
                <a:cubicBezTo>
                  <a:pt x="6021285" y="1426507"/>
                  <a:pt x="6301876" y="1340642"/>
                  <a:pt x="6548420" y="1214599"/>
                </a:cubicBezTo>
                <a:cubicBezTo>
                  <a:pt x="6567440" y="1204628"/>
                  <a:pt x="6586456" y="1194658"/>
                  <a:pt x="6605473" y="1184686"/>
                </a:cubicBezTo>
                <a:cubicBezTo>
                  <a:pt x="6633823" y="1169483"/>
                  <a:pt x="6662531" y="1154778"/>
                  <a:pt x="6691602" y="1140573"/>
                </a:cubicBezTo>
                <a:close/>
                <a:moveTo>
                  <a:pt x="4002475" y="1037802"/>
                </a:moveTo>
                <a:cubicBezTo>
                  <a:pt x="4001933" y="1038196"/>
                  <a:pt x="4000861" y="1038973"/>
                  <a:pt x="4000324" y="1039362"/>
                </a:cubicBezTo>
                <a:cubicBezTo>
                  <a:pt x="4001046" y="1040360"/>
                  <a:pt x="4002134" y="1041861"/>
                  <a:pt x="4002862" y="1042866"/>
                </a:cubicBezTo>
                <a:cubicBezTo>
                  <a:pt x="4002672" y="1041472"/>
                  <a:pt x="4002487" y="1040086"/>
                  <a:pt x="4002475" y="1037802"/>
                </a:cubicBezTo>
                <a:close/>
                <a:moveTo>
                  <a:pt x="506322" y="1020997"/>
                </a:moveTo>
                <a:cubicBezTo>
                  <a:pt x="513282" y="1018930"/>
                  <a:pt x="522180" y="1021005"/>
                  <a:pt x="533068" y="1029409"/>
                </a:cubicBezTo>
                <a:cubicBezTo>
                  <a:pt x="813777" y="1244537"/>
                  <a:pt x="1037861" y="1510547"/>
                  <a:pt x="1232525" y="1804675"/>
                </a:cubicBezTo>
                <a:cubicBezTo>
                  <a:pt x="1347857" y="1978510"/>
                  <a:pt x="1448039" y="2155739"/>
                  <a:pt x="1388858" y="2368011"/>
                </a:cubicBezTo>
                <a:cubicBezTo>
                  <a:pt x="1387462" y="2372226"/>
                  <a:pt x="1385496" y="2375314"/>
                  <a:pt x="1384098" y="2378125"/>
                </a:cubicBezTo>
                <a:cubicBezTo>
                  <a:pt x="1412260" y="2438425"/>
                  <a:pt x="1428077" y="2506324"/>
                  <a:pt x="1425393" y="2589124"/>
                </a:cubicBezTo>
                <a:cubicBezTo>
                  <a:pt x="1425681" y="2592488"/>
                  <a:pt x="1424559" y="2594453"/>
                  <a:pt x="1424001" y="2597541"/>
                </a:cubicBezTo>
                <a:cubicBezTo>
                  <a:pt x="1672217" y="2669579"/>
                  <a:pt x="1915127" y="2759032"/>
                  <a:pt x="2152729" y="2864487"/>
                </a:cubicBezTo>
                <a:cubicBezTo>
                  <a:pt x="2132903" y="2746636"/>
                  <a:pt x="2106350" y="2629357"/>
                  <a:pt x="2020609" y="2539671"/>
                </a:cubicBezTo>
                <a:cubicBezTo>
                  <a:pt x="2019486" y="2538832"/>
                  <a:pt x="2019482" y="2537426"/>
                  <a:pt x="2018920" y="2536309"/>
                </a:cubicBezTo>
                <a:cubicBezTo>
                  <a:pt x="1612986" y="2284320"/>
                  <a:pt x="1451410" y="1593008"/>
                  <a:pt x="1342441" y="1173017"/>
                </a:cubicBezTo>
                <a:cubicBezTo>
                  <a:pt x="1338482" y="1156742"/>
                  <a:pt x="1345418" y="1103405"/>
                  <a:pt x="1367925" y="1135648"/>
                </a:cubicBezTo>
                <a:cubicBezTo>
                  <a:pt x="1515878" y="1352095"/>
                  <a:pt x="1645605" y="1576999"/>
                  <a:pt x="1771401" y="1806673"/>
                </a:cubicBezTo>
                <a:cubicBezTo>
                  <a:pt x="1841477" y="1935111"/>
                  <a:pt x="1914363" y="2063547"/>
                  <a:pt x="1972385" y="2198735"/>
                </a:cubicBezTo>
                <a:cubicBezTo>
                  <a:pt x="1982518" y="2221738"/>
                  <a:pt x="2018367" y="2353316"/>
                  <a:pt x="2040892" y="2405205"/>
                </a:cubicBezTo>
                <a:cubicBezTo>
                  <a:pt x="2009600" y="2310668"/>
                  <a:pt x="2111587" y="2005996"/>
                  <a:pt x="2131689" y="1936926"/>
                </a:cubicBezTo>
                <a:cubicBezTo>
                  <a:pt x="2203731" y="1690111"/>
                  <a:pt x="2314813" y="1463729"/>
                  <a:pt x="2454820" y="1248808"/>
                </a:cubicBezTo>
                <a:cubicBezTo>
                  <a:pt x="2475264" y="1216788"/>
                  <a:pt x="2493340" y="1290570"/>
                  <a:pt x="2492512" y="1302920"/>
                </a:cubicBezTo>
                <a:cubicBezTo>
                  <a:pt x="2465675" y="1747535"/>
                  <a:pt x="2370053" y="2178216"/>
                  <a:pt x="2081216" y="2527513"/>
                </a:cubicBezTo>
                <a:cubicBezTo>
                  <a:pt x="2081497" y="2528073"/>
                  <a:pt x="2081211" y="2528916"/>
                  <a:pt x="2081211" y="2528916"/>
                </a:cubicBezTo>
                <a:cubicBezTo>
                  <a:pt x="2150699" y="2633778"/>
                  <a:pt x="2178105" y="2756954"/>
                  <a:pt x="2199067" y="2884061"/>
                </a:cubicBezTo>
                <a:cubicBezTo>
                  <a:pt x="2641128" y="3084915"/>
                  <a:pt x="3028660" y="3311628"/>
                  <a:pt x="3192586" y="3411496"/>
                </a:cubicBezTo>
                <a:cubicBezTo>
                  <a:pt x="3356510" y="3511368"/>
                  <a:pt x="3237401" y="3517312"/>
                  <a:pt x="3182620" y="3483279"/>
                </a:cubicBezTo>
                <a:cubicBezTo>
                  <a:pt x="3055506" y="3404310"/>
                  <a:pt x="2789863" y="3259545"/>
                  <a:pt x="2435119" y="3080173"/>
                </a:cubicBezTo>
                <a:lnTo>
                  <a:pt x="2410152" y="3063751"/>
                </a:lnTo>
                <a:lnTo>
                  <a:pt x="2408099" y="3064403"/>
                </a:lnTo>
                <a:lnTo>
                  <a:pt x="2407218" y="3070324"/>
                </a:lnTo>
                <a:cubicBezTo>
                  <a:pt x="2402612" y="3079171"/>
                  <a:pt x="2394080" y="3088906"/>
                  <a:pt x="2380138" y="3099341"/>
                </a:cubicBezTo>
                <a:cubicBezTo>
                  <a:pt x="2194333" y="3283170"/>
                  <a:pt x="1992503" y="3449064"/>
                  <a:pt x="1765923" y="3581043"/>
                </a:cubicBezTo>
                <a:cubicBezTo>
                  <a:pt x="1744896" y="3593696"/>
                  <a:pt x="1723857" y="3603555"/>
                  <a:pt x="1702258" y="3612286"/>
                </a:cubicBezTo>
                <a:cubicBezTo>
                  <a:pt x="1664333" y="3650747"/>
                  <a:pt x="1731601" y="3589836"/>
                  <a:pt x="1538370" y="3811804"/>
                </a:cubicBezTo>
                <a:cubicBezTo>
                  <a:pt x="1473491" y="3921431"/>
                  <a:pt x="1402113" y="4025542"/>
                  <a:pt x="1325720" y="4125411"/>
                </a:cubicBezTo>
                <a:lnTo>
                  <a:pt x="1206279" y="4267200"/>
                </a:lnTo>
                <a:lnTo>
                  <a:pt x="1115040" y="4267200"/>
                </a:lnTo>
                <a:lnTo>
                  <a:pt x="1258195" y="4099624"/>
                </a:lnTo>
                <a:cubicBezTo>
                  <a:pt x="1315987" y="4027073"/>
                  <a:pt x="1371166" y="3952247"/>
                  <a:pt x="1423113" y="3874565"/>
                </a:cubicBezTo>
                <a:lnTo>
                  <a:pt x="1260565" y="4031982"/>
                </a:lnTo>
                <a:cubicBezTo>
                  <a:pt x="1197929" y="4092559"/>
                  <a:pt x="1134310" y="4154329"/>
                  <a:pt x="1073327" y="4218727"/>
                </a:cubicBezTo>
                <a:lnTo>
                  <a:pt x="1032294" y="4267200"/>
                </a:lnTo>
                <a:lnTo>
                  <a:pt x="993830" y="4267200"/>
                </a:lnTo>
                <a:lnTo>
                  <a:pt x="1051860" y="4198693"/>
                </a:lnTo>
                <a:cubicBezTo>
                  <a:pt x="1113440" y="4133732"/>
                  <a:pt x="1177549" y="4071540"/>
                  <a:pt x="1240607" y="4010401"/>
                </a:cubicBezTo>
                <a:lnTo>
                  <a:pt x="1310106" y="3943217"/>
                </a:lnTo>
                <a:cubicBezTo>
                  <a:pt x="1174685" y="4033303"/>
                  <a:pt x="1054913" y="4139624"/>
                  <a:pt x="952103" y="4265972"/>
                </a:cubicBezTo>
                <a:lnTo>
                  <a:pt x="951207" y="4267200"/>
                </a:lnTo>
                <a:lnTo>
                  <a:pt x="862760" y="4267200"/>
                </a:lnTo>
                <a:lnTo>
                  <a:pt x="909145" y="4199225"/>
                </a:lnTo>
                <a:cubicBezTo>
                  <a:pt x="998789" y="4086824"/>
                  <a:pt x="1101084" y="3991246"/>
                  <a:pt x="1214067" y="3908561"/>
                </a:cubicBezTo>
                <a:cubicBezTo>
                  <a:pt x="1023317" y="3973399"/>
                  <a:pt x="824392" y="4020568"/>
                  <a:pt x="640967" y="4105601"/>
                </a:cubicBezTo>
                <a:cubicBezTo>
                  <a:pt x="549674" y="4147907"/>
                  <a:pt x="460581" y="4194508"/>
                  <a:pt x="372807" y="4243651"/>
                </a:cubicBezTo>
                <a:lnTo>
                  <a:pt x="332830" y="4267200"/>
                </a:lnTo>
                <a:lnTo>
                  <a:pt x="168301" y="4267200"/>
                </a:lnTo>
                <a:lnTo>
                  <a:pt x="278002" y="4201399"/>
                </a:lnTo>
                <a:cubicBezTo>
                  <a:pt x="359885" y="4153808"/>
                  <a:pt x="442683" y="4107866"/>
                  <a:pt x="527241" y="4065078"/>
                </a:cubicBezTo>
                <a:cubicBezTo>
                  <a:pt x="838255" y="3908281"/>
                  <a:pt x="1212318" y="3863093"/>
                  <a:pt x="1510397" y="3684705"/>
                </a:cubicBezTo>
                <a:cubicBezTo>
                  <a:pt x="1390337" y="3729510"/>
                  <a:pt x="1267181" y="3766747"/>
                  <a:pt x="1146550" y="3802012"/>
                </a:cubicBezTo>
                <a:cubicBezTo>
                  <a:pt x="997862" y="3845736"/>
                  <a:pt x="843568" y="3890871"/>
                  <a:pt x="698834" y="3952272"/>
                </a:cubicBezTo>
                <a:cubicBezTo>
                  <a:pt x="519814" y="4027898"/>
                  <a:pt x="352828" y="4127506"/>
                  <a:pt x="192528" y="4236299"/>
                </a:cubicBezTo>
                <a:lnTo>
                  <a:pt x="148586" y="4267200"/>
                </a:lnTo>
                <a:lnTo>
                  <a:pt x="98116" y="4267200"/>
                </a:lnTo>
                <a:lnTo>
                  <a:pt x="169669" y="4216852"/>
                </a:lnTo>
                <a:cubicBezTo>
                  <a:pt x="333361" y="4105506"/>
                  <a:pt x="504130" y="4002947"/>
                  <a:pt x="687572" y="3925629"/>
                </a:cubicBezTo>
                <a:cubicBezTo>
                  <a:pt x="833705" y="3864223"/>
                  <a:pt x="989118" y="3818520"/>
                  <a:pt x="1138365" y="3774515"/>
                </a:cubicBezTo>
                <a:cubicBezTo>
                  <a:pt x="1260121" y="3738686"/>
                  <a:pt x="1384681" y="3701451"/>
                  <a:pt x="1505579" y="3655526"/>
                </a:cubicBezTo>
                <a:cubicBezTo>
                  <a:pt x="1442294" y="3658846"/>
                  <a:pt x="1378650" y="3655854"/>
                  <a:pt x="1313114" y="3655216"/>
                </a:cubicBezTo>
                <a:cubicBezTo>
                  <a:pt x="1247578" y="3654578"/>
                  <a:pt x="1180153" y="3656293"/>
                  <a:pt x="1109304" y="3669030"/>
                </a:cubicBezTo>
                <a:cubicBezTo>
                  <a:pt x="794692" y="3725281"/>
                  <a:pt x="516258" y="3901624"/>
                  <a:pt x="258951" y="4111994"/>
                </a:cubicBezTo>
                <a:lnTo>
                  <a:pt x="80807" y="4267200"/>
                </a:lnTo>
                <a:lnTo>
                  <a:pt x="0" y="4267200"/>
                </a:lnTo>
                <a:lnTo>
                  <a:pt x="0" y="4233763"/>
                </a:lnTo>
                <a:lnTo>
                  <a:pt x="36881" y="4200118"/>
                </a:lnTo>
                <a:cubicBezTo>
                  <a:pt x="302143" y="3962792"/>
                  <a:pt x="585478" y="3740226"/>
                  <a:pt x="910534" y="3629753"/>
                </a:cubicBezTo>
                <a:cubicBezTo>
                  <a:pt x="1140280" y="3551663"/>
                  <a:pt x="1356783" y="3624873"/>
                  <a:pt x="1578717" y="3575982"/>
                </a:cubicBezTo>
                <a:cubicBezTo>
                  <a:pt x="1857881" y="3513822"/>
                  <a:pt x="2134207" y="3238918"/>
                  <a:pt x="2338780" y="3033725"/>
                </a:cubicBezTo>
                <a:cubicBezTo>
                  <a:pt x="2165203" y="2949506"/>
                  <a:pt x="1987990" y="2873430"/>
                  <a:pt x="1807991" y="2807184"/>
                </a:cubicBezTo>
                <a:cubicBezTo>
                  <a:pt x="1696192" y="2934214"/>
                  <a:pt x="1567238" y="3035444"/>
                  <a:pt x="1416358" y="3112571"/>
                </a:cubicBezTo>
                <a:cubicBezTo>
                  <a:pt x="1318658" y="3280278"/>
                  <a:pt x="1112986" y="3321000"/>
                  <a:pt x="939066" y="3378798"/>
                </a:cubicBezTo>
                <a:cubicBezTo>
                  <a:pt x="668357" y="3469020"/>
                  <a:pt x="393418" y="3543804"/>
                  <a:pt x="115099" y="3607650"/>
                </a:cubicBezTo>
                <a:cubicBezTo>
                  <a:pt x="80589" y="3615844"/>
                  <a:pt x="67554" y="3533906"/>
                  <a:pt x="97284" y="3520393"/>
                </a:cubicBezTo>
                <a:cubicBezTo>
                  <a:pt x="382521" y="3387774"/>
                  <a:pt x="642160" y="3215335"/>
                  <a:pt x="922050" y="3074867"/>
                </a:cubicBezTo>
                <a:cubicBezTo>
                  <a:pt x="1080787" y="2995199"/>
                  <a:pt x="1233979" y="2960447"/>
                  <a:pt x="1405265" y="3016319"/>
                </a:cubicBezTo>
                <a:cubicBezTo>
                  <a:pt x="1406106" y="3016600"/>
                  <a:pt x="1406671" y="3017724"/>
                  <a:pt x="1407512" y="3018001"/>
                </a:cubicBezTo>
                <a:cubicBezTo>
                  <a:pt x="1526420" y="2954115"/>
                  <a:pt x="1632390" y="2874245"/>
                  <a:pt x="1726266" y="2777274"/>
                </a:cubicBezTo>
                <a:cubicBezTo>
                  <a:pt x="1369635" y="2651515"/>
                  <a:pt x="1000990" y="2561972"/>
                  <a:pt x="625390" y="2514541"/>
                </a:cubicBezTo>
                <a:cubicBezTo>
                  <a:pt x="624559" y="2519877"/>
                  <a:pt x="622878" y="2524928"/>
                  <a:pt x="619799" y="2527180"/>
                </a:cubicBezTo>
                <a:cubicBezTo>
                  <a:pt x="509037" y="2598914"/>
                  <a:pt x="403069" y="2677377"/>
                  <a:pt x="310030" y="2771818"/>
                </a:cubicBezTo>
                <a:cubicBezTo>
                  <a:pt x="266034" y="2817076"/>
                  <a:pt x="224887" y="2891795"/>
                  <a:pt x="173877" y="2937056"/>
                </a:cubicBezTo>
                <a:cubicBezTo>
                  <a:pt x="145840" y="3003792"/>
                  <a:pt x="113686" y="3071134"/>
                  <a:pt x="77889" y="3138440"/>
                </a:cubicBezTo>
                <a:lnTo>
                  <a:pt x="0" y="3271395"/>
                </a:lnTo>
                <a:lnTo>
                  <a:pt x="0" y="3153002"/>
                </a:lnTo>
                <a:lnTo>
                  <a:pt x="2386" y="3149203"/>
                </a:lnTo>
                <a:cubicBezTo>
                  <a:pt x="33821" y="3095439"/>
                  <a:pt x="63030" y="3041490"/>
                  <a:pt x="89753" y="2987702"/>
                </a:cubicBezTo>
                <a:cubicBezTo>
                  <a:pt x="85546" y="2993322"/>
                  <a:pt x="81066" y="2999788"/>
                  <a:pt x="76869" y="3005404"/>
                </a:cubicBezTo>
                <a:cubicBezTo>
                  <a:pt x="63139" y="3024231"/>
                  <a:pt x="48575" y="3042776"/>
                  <a:pt x="32049" y="3065814"/>
                </a:cubicBezTo>
                <a:lnTo>
                  <a:pt x="0" y="3108744"/>
                </a:lnTo>
                <a:lnTo>
                  <a:pt x="0" y="3058059"/>
                </a:lnTo>
                <a:lnTo>
                  <a:pt x="7610" y="3047889"/>
                </a:lnTo>
                <a:cubicBezTo>
                  <a:pt x="24410" y="3025415"/>
                  <a:pt x="38695" y="3006301"/>
                  <a:pt x="52419" y="2987479"/>
                </a:cubicBezTo>
                <a:cubicBezTo>
                  <a:pt x="54382" y="2984385"/>
                  <a:pt x="57184" y="2981579"/>
                  <a:pt x="59142" y="2978488"/>
                </a:cubicBezTo>
                <a:lnTo>
                  <a:pt x="0" y="3015334"/>
                </a:lnTo>
                <a:lnTo>
                  <a:pt x="0" y="2914286"/>
                </a:lnTo>
                <a:lnTo>
                  <a:pt x="36383" y="2901128"/>
                </a:lnTo>
                <a:cubicBezTo>
                  <a:pt x="76283" y="2885228"/>
                  <a:pt x="116303" y="2866415"/>
                  <a:pt x="156329" y="2840533"/>
                </a:cubicBezTo>
                <a:cubicBezTo>
                  <a:pt x="229785" y="2792431"/>
                  <a:pt x="289125" y="2682604"/>
                  <a:pt x="358355" y="2620471"/>
                </a:cubicBezTo>
                <a:cubicBezTo>
                  <a:pt x="406846" y="2577174"/>
                  <a:pt x="457591" y="2538372"/>
                  <a:pt x="510577" y="2501244"/>
                </a:cubicBezTo>
                <a:cubicBezTo>
                  <a:pt x="411488" y="2490937"/>
                  <a:pt x="311929" y="2483543"/>
                  <a:pt x="211967" y="2479171"/>
                </a:cubicBezTo>
                <a:lnTo>
                  <a:pt x="0" y="2476398"/>
                </a:lnTo>
                <a:lnTo>
                  <a:pt x="0" y="2389189"/>
                </a:lnTo>
                <a:lnTo>
                  <a:pt x="103062" y="2389518"/>
                </a:lnTo>
                <a:cubicBezTo>
                  <a:pt x="239716" y="2392822"/>
                  <a:pt x="375712" y="2401808"/>
                  <a:pt x="510734" y="2416201"/>
                </a:cubicBezTo>
                <a:cubicBezTo>
                  <a:pt x="453295" y="2294758"/>
                  <a:pt x="388809" y="2156489"/>
                  <a:pt x="279257" y="2092102"/>
                </a:cubicBezTo>
                <a:cubicBezTo>
                  <a:pt x="214509" y="2054029"/>
                  <a:pt x="140169" y="2030776"/>
                  <a:pt x="65265" y="2006049"/>
                </a:cubicBezTo>
                <a:lnTo>
                  <a:pt x="0" y="1982532"/>
                </a:lnTo>
                <a:lnTo>
                  <a:pt x="0" y="1912789"/>
                </a:lnTo>
                <a:lnTo>
                  <a:pt x="97460" y="1953725"/>
                </a:lnTo>
                <a:cubicBezTo>
                  <a:pt x="140146" y="1968817"/>
                  <a:pt x="181972" y="1973804"/>
                  <a:pt x="221272" y="1980766"/>
                </a:cubicBezTo>
                <a:cubicBezTo>
                  <a:pt x="184478" y="1960612"/>
                  <a:pt x="148800" y="1938494"/>
                  <a:pt x="116765" y="1911033"/>
                </a:cubicBezTo>
                <a:cubicBezTo>
                  <a:pt x="78825" y="1878815"/>
                  <a:pt x="47051" y="1840696"/>
                  <a:pt x="16405" y="1803412"/>
                </a:cubicBezTo>
                <a:lnTo>
                  <a:pt x="0" y="1784777"/>
                </a:lnTo>
                <a:lnTo>
                  <a:pt x="0" y="1740082"/>
                </a:lnTo>
                <a:lnTo>
                  <a:pt x="39394" y="1784856"/>
                </a:lnTo>
                <a:cubicBezTo>
                  <a:pt x="69479" y="1821014"/>
                  <a:pt x="100126" y="1858299"/>
                  <a:pt x="135813" y="1888838"/>
                </a:cubicBezTo>
                <a:cubicBezTo>
                  <a:pt x="168411" y="1916009"/>
                  <a:pt x="204933" y="1938411"/>
                  <a:pt x="242575" y="1958841"/>
                </a:cubicBezTo>
                <a:cubicBezTo>
                  <a:pt x="195379" y="1882642"/>
                  <a:pt x="141547" y="1815083"/>
                  <a:pt x="82197" y="1754826"/>
                </a:cubicBezTo>
                <a:lnTo>
                  <a:pt x="0" y="1679650"/>
                </a:lnTo>
                <a:lnTo>
                  <a:pt x="0" y="1602463"/>
                </a:lnTo>
                <a:lnTo>
                  <a:pt x="84689" y="1677442"/>
                </a:lnTo>
                <a:cubicBezTo>
                  <a:pt x="165950" y="1759826"/>
                  <a:pt x="237786" y="1855565"/>
                  <a:pt x="298437" y="1968019"/>
                </a:cubicBezTo>
                <a:lnTo>
                  <a:pt x="227269" y="1114064"/>
                </a:lnTo>
                <a:cubicBezTo>
                  <a:pt x="226129" y="1099191"/>
                  <a:pt x="230003" y="1062136"/>
                  <a:pt x="248003" y="1089613"/>
                </a:cubicBezTo>
                <a:cubicBezTo>
                  <a:pt x="349844" y="1249160"/>
                  <a:pt x="397556" y="1433768"/>
                  <a:pt x="427020" y="1619803"/>
                </a:cubicBezTo>
                <a:cubicBezTo>
                  <a:pt x="453086" y="1782272"/>
                  <a:pt x="422387" y="1897385"/>
                  <a:pt x="340345" y="2027739"/>
                </a:cubicBezTo>
                <a:cubicBezTo>
                  <a:pt x="347373" y="2033339"/>
                  <a:pt x="354114" y="2038383"/>
                  <a:pt x="360865" y="2044827"/>
                </a:cubicBezTo>
                <a:cubicBezTo>
                  <a:pt x="443500" y="2128340"/>
                  <a:pt x="506078" y="2306190"/>
                  <a:pt x="560414" y="2421457"/>
                </a:cubicBezTo>
                <a:cubicBezTo>
                  <a:pt x="831022" y="2452769"/>
                  <a:pt x="1098019" y="2506255"/>
                  <a:pt x="1359703" y="2578554"/>
                </a:cubicBezTo>
                <a:lnTo>
                  <a:pt x="1359422" y="2577994"/>
                </a:lnTo>
                <a:cubicBezTo>
                  <a:pt x="1370467" y="2269807"/>
                  <a:pt x="976420" y="2084880"/>
                  <a:pt x="828701" y="1839520"/>
                </a:cubicBezTo>
                <a:cubicBezTo>
                  <a:pt x="687172" y="1605098"/>
                  <a:pt x="631475" y="1330413"/>
                  <a:pt x="494427" y="1092333"/>
                </a:cubicBezTo>
                <a:cubicBezTo>
                  <a:pt x="481980" y="1070671"/>
                  <a:pt x="485440" y="1027197"/>
                  <a:pt x="506322" y="1020997"/>
                </a:cubicBezTo>
                <a:close/>
                <a:moveTo>
                  <a:pt x="4570198" y="978081"/>
                </a:moveTo>
                <a:cubicBezTo>
                  <a:pt x="4555714" y="1028259"/>
                  <a:pt x="4540870" y="1077934"/>
                  <a:pt x="4523691" y="1127776"/>
                </a:cubicBezTo>
                <a:lnTo>
                  <a:pt x="4509875" y="1167552"/>
                </a:lnTo>
                <a:cubicBezTo>
                  <a:pt x="4498703" y="1198545"/>
                  <a:pt x="4488074" y="1229138"/>
                  <a:pt x="4478168" y="1260735"/>
                </a:cubicBezTo>
                <a:cubicBezTo>
                  <a:pt x="4437866" y="1392962"/>
                  <a:pt x="4423333" y="1532451"/>
                  <a:pt x="4409309" y="1666996"/>
                </a:cubicBezTo>
                <a:cubicBezTo>
                  <a:pt x="4399387" y="1761934"/>
                  <a:pt x="4389478" y="1859162"/>
                  <a:pt x="4370031" y="1955666"/>
                </a:cubicBezTo>
                <a:cubicBezTo>
                  <a:pt x="4495511" y="1636562"/>
                  <a:pt x="4590903" y="1311031"/>
                  <a:pt x="4570198" y="978081"/>
                </a:cubicBezTo>
                <a:close/>
                <a:moveTo>
                  <a:pt x="12149131" y="959050"/>
                </a:moveTo>
                <a:cubicBezTo>
                  <a:pt x="12135265" y="975072"/>
                  <a:pt x="12121401" y="991089"/>
                  <a:pt x="12105664" y="1006960"/>
                </a:cubicBezTo>
                <a:cubicBezTo>
                  <a:pt x="12040174" y="1071943"/>
                  <a:pt x="11966532" y="1125748"/>
                  <a:pt x="11883102" y="1184424"/>
                </a:cubicBezTo>
                <a:cubicBezTo>
                  <a:pt x="11822339" y="1227583"/>
                  <a:pt x="11746281" y="1281016"/>
                  <a:pt x="11665174" y="1317493"/>
                </a:cubicBezTo>
                <a:cubicBezTo>
                  <a:pt x="11640620" y="1328342"/>
                  <a:pt x="11615753" y="1338416"/>
                  <a:pt x="11590337" y="1348256"/>
                </a:cubicBezTo>
                <a:cubicBezTo>
                  <a:pt x="11556383" y="1361567"/>
                  <a:pt x="11523739" y="1374791"/>
                  <a:pt x="11492588" y="1390573"/>
                </a:cubicBezTo>
                <a:cubicBezTo>
                  <a:pt x="11632969" y="1358579"/>
                  <a:pt x="11770492" y="1298342"/>
                  <a:pt x="11888865" y="1220988"/>
                </a:cubicBezTo>
                <a:cubicBezTo>
                  <a:pt x="11984266" y="1158366"/>
                  <a:pt x="12085135" y="1064584"/>
                  <a:pt x="12149131" y="959050"/>
                </a:cubicBezTo>
                <a:close/>
                <a:moveTo>
                  <a:pt x="4557898" y="900011"/>
                </a:moveTo>
                <a:cubicBezTo>
                  <a:pt x="4330292" y="1199280"/>
                  <a:pt x="4335713" y="1567725"/>
                  <a:pt x="4344840" y="1922038"/>
                </a:cubicBezTo>
                <a:cubicBezTo>
                  <a:pt x="4360210" y="1836882"/>
                  <a:pt x="4369815" y="1750562"/>
                  <a:pt x="4378710" y="1665516"/>
                </a:cubicBezTo>
                <a:cubicBezTo>
                  <a:pt x="4393083" y="1529197"/>
                  <a:pt x="4407432" y="1388309"/>
                  <a:pt x="4448798" y="1253024"/>
                </a:cubicBezTo>
                <a:cubicBezTo>
                  <a:pt x="4458700" y="1221425"/>
                  <a:pt x="4469507" y="1189944"/>
                  <a:pt x="4480315" y="1158454"/>
                </a:cubicBezTo>
                <a:lnTo>
                  <a:pt x="4494133" y="1118676"/>
                </a:lnTo>
                <a:cubicBezTo>
                  <a:pt x="4518925" y="1046526"/>
                  <a:pt x="4539765" y="973431"/>
                  <a:pt x="4557898" y="900011"/>
                </a:cubicBezTo>
                <a:close/>
                <a:moveTo>
                  <a:pt x="5870151" y="898890"/>
                </a:moveTo>
                <a:cubicBezTo>
                  <a:pt x="5866911" y="898948"/>
                  <a:pt x="5864574" y="899121"/>
                  <a:pt x="5861335" y="899177"/>
                </a:cubicBezTo>
                <a:lnTo>
                  <a:pt x="5843702" y="899748"/>
                </a:lnTo>
                <a:cubicBezTo>
                  <a:pt x="5780018" y="902412"/>
                  <a:pt x="5714210" y="911192"/>
                  <a:pt x="5651107" y="920306"/>
                </a:cubicBezTo>
                <a:cubicBezTo>
                  <a:pt x="5588537" y="929031"/>
                  <a:pt x="5523624" y="937920"/>
                  <a:pt x="5459407" y="940975"/>
                </a:cubicBezTo>
                <a:cubicBezTo>
                  <a:pt x="5431523" y="942110"/>
                  <a:pt x="5402918" y="942237"/>
                  <a:pt x="5374846" y="941988"/>
                </a:cubicBezTo>
                <a:cubicBezTo>
                  <a:pt x="5336157" y="941792"/>
                  <a:pt x="5295497" y="942268"/>
                  <a:pt x="5256105" y="945632"/>
                </a:cubicBezTo>
                <a:cubicBezTo>
                  <a:pt x="5206829" y="950064"/>
                  <a:pt x="5155964" y="960232"/>
                  <a:pt x="5107071" y="969720"/>
                </a:cubicBezTo>
                <a:cubicBezTo>
                  <a:pt x="5071129" y="976700"/>
                  <a:pt x="5035177" y="983681"/>
                  <a:pt x="4998681" y="988771"/>
                </a:cubicBezTo>
                <a:cubicBezTo>
                  <a:pt x="5256175" y="1057755"/>
                  <a:pt x="5597864" y="989418"/>
                  <a:pt x="5870151" y="898890"/>
                </a:cubicBezTo>
                <a:close/>
                <a:moveTo>
                  <a:pt x="12190084" y="854709"/>
                </a:moveTo>
                <a:cubicBezTo>
                  <a:pt x="12181324" y="863235"/>
                  <a:pt x="12172252" y="870980"/>
                  <a:pt x="12162947" y="879275"/>
                </a:cubicBezTo>
                <a:cubicBezTo>
                  <a:pt x="12028326" y="998039"/>
                  <a:pt x="11883371" y="1121443"/>
                  <a:pt x="11721478" y="1216434"/>
                </a:cubicBezTo>
                <a:lnTo>
                  <a:pt x="11680712" y="1239730"/>
                </a:lnTo>
                <a:cubicBezTo>
                  <a:pt x="11620220" y="1274640"/>
                  <a:pt x="11558177" y="1310180"/>
                  <a:pt x="11505347" y="1352837"/>
                </a:cubicBezTo>
                <a:cubicBezTo>
                  <a:pt x="11530133" y="1341442"/>
                  <a:pt x="11555544" y="1331600"/>
                  <a:pt x="11580962" y="1321759"/>
                </a:cubicBezTo>
                <a:cubicBezTo>
                  <a:pt x="11605590" y="1312227"/>
                  <a:pt x="11630227" y="1302697"/>
                  <a:pt x="11654234" y="1291618"/>
                </a:cubicBezTo>
                <a:cubicBezTo>
                  <a:pt x="11733018" y="1256083"/>
                  <a:pt x="11807521" y="1203284"/>
                  <a:pt x="11867274" y="1160983"/>
                </a:cubicBezTo>
                <a:cubicBezTo>
                  <a:pt x="11949151" y="1102940"/>
                  <a:pt x="12022324" y="1050225"/>
                  <a:pt x="12086035" y="986418"/>
                </a:cubicBezTo>
                <a:cubicBezTo>
                  <a:pt x="12128278" y="944429"/>
                  <a:pt x="12163191" y="899980"/>
                  <a:pt x="12190084" y="854709"/>
                </a:cubicBezTo>
                <a:close/>
                <a:moveTo>
                  <a:pt x="5504425" y="848067"/>
                </a:moveTo>
                <a:cubicBezTo>
                  <a:pt x="5313518" y="848319"/>
                  <a:pt x="5144450" y="894555"/>
                  <a:pt x="4968849" y="962318"/>
                </a:cubicBezTo>
                <a:cubicBezTo>
                  <a:pt x="5013986" y="957830"/>
                  <a:pt x="5059460" y="949291"/>
                  <a:pt x="5104039" y="940634"/>
                </a:cubicBezTo>
                <a:cubicBezTo>
                  <a:pt x="5153465" y="930752"/>
                  <a:pt x="5205230" y="920703"/>
                  <a:pt x="5256311" y="916490"/>
                </a:cubicBezTo>
                <a:cubicBezTo>
                  <a:pt x="5297138" y="912849"/>
                  <a:pt x="5338158" y="912871"/>
                  <a:pt x="5377381" y="912671"/>
                </a:cubicBezTo>
                <a:cubicBezTo>
                  <a:pt x="5405093" y="912428"/>
                  <a:pt x="5432627" y="913077"/>
                  <a:pt x="5460148" y="911442"/>
                </a:cubicBezTo>
                <a:cubicBezTo>
                  <a:pt x="5522934" y="908669"/>
                  <a:pt x="5586937" y="899666"/>
                  <a:pt x="5648971" y="891331"/>
                </a:cubicBezTo>
                <a:cubicBezTo>
                  <a:pt x="5712974" y="882328"/>
                  <a:pt x="5779324" y="873155"/>
                  <a:pt x="5844807" y="870718"/>
                </a:cubicBezTo>
                <a:lnTo>
                  <a:pt x="5862975" y="869756"/>
                </a:lnTo>
                <a:cubicBezTo>
                  <a:pt x="5882405" y="869405"/>
                  <a:pt x="5902011" y="868171"/>
                  <a:pt x="5920887" y="865929"/>
                </a:cubicBezTo>
                <a:cubicBezTo>
                  <a:pt x="5782825" y="855356"/>
                  <a:pt x="5643867" y="846954"/>
                  <a:pt x="5504425" y="848067"/>
                </a:cubicBezTo>
                <a:close/>
                <a:moveTo>
                  <a:pt x="8924104" y="777000"/>
                </a:moveTo>
                <a:cubicBezTo>
                  <a:pt x="8923664" y="782606"/>
                  <a:pt x="8922673" y="787979"/>
                  <a:pt x="8921999" y="794136"/>
                </a:cubicBezTo>
                <a:cubicBezTo>
                  <a:pt x="8919582" y="810498"/>
                  <a:pt x="8917940" y="826538"/>
                  <a:pt x="8916066" y="843129"/>
                </a:cubicBezTo>
                <a:cubicBezTo>
                  <a:pt x="8910698" y="896870"/>
                  <a:pt x="8909926" y="951907"/>
                  <a:pt x="8909852" y="1005313"/>
                </a:cubicBezTo>
                <a:cubicBezTo>
                  <a:pt x="8907936" y="1206014"/>
                  <a:pt x="8906433" y="1413328"/>
                  <a:pt x="8936982" y="1614896"/>
                </a:cubicBezTo>
                <a:lnTo>
                  <a:pt x="8939706" y="1632791"/>
                </a:lnTo>
                <a:lnTo>
                  <a:pt x="8946691" y="1680170"/>
                </a:lnTo>
                <a:cubicBezTo>
                  <a:pt x="8947341" y="1669501"/>
                  <a:pt x="8947217" y="1659149"/>
                  <a:pt x="8947643" y="1649028"/>
                </a:cubicBezTo>
                <a:cubicBezTo>
                  <a:pt x="8950646" y="1394060"/>
                  <a:pt x="8954155" y="1130296"/>
                  <a:pt x="8931687" y="871628"/>
                </a:cubicBezTo>
                <a:lnTo>
                  <a:pt x="8929804" y="850229"/>
                </a:lnTo>
                <a:cubicBezTo>
                  <a:pt x="8927750" y="826182"/>
                  <a:pt x="8925696" y="802134"/>
                  <a:pt x="8924104" y="777000"/>
                </a:cubicBezTo>
                <a:close/>
                <a:moveTo>
                  <a:pt x="8951219" y="764662"/>
                </a:moveTo>
                <a:cubicBezTo>
                  <a:pt x="8952434" y="792211"/>
                  <a:pt x="8955277" y="820458"/>
                  <a:pt x="8957270" y="847698"/>
                </a:cubicBezTo>
                <a:lnTo>
                  <a:pt x="8959153" y="869097"/>
                </a:lnTo>
                <a:cubicBezTo>
                  <a:pt x="8981354" y="1119277"/>
                  <a:pt x="8978808" y="1373147"/>
                  <a:pt x="8976081" y="1619865"/>
                </a:cubicBezTo>
                <a:cubicBezTo>
                  <a:pt x="9043646" y="1335574"/>
                  <a:pt x="9035127" y="1045475"/>
                  <a:pt x="8951219" y="764662"/>
                </a:cubicBezTo>
                <a:close/>
                <a:moveTo>
                  <a:pt x="8898081" y="630137"/>
                </a:moveTo>
                <a:cubicBezTo>
                  <a:pt x="8735190" y="940376"/>
                  <a:pt x="8800852" y="1302315"/>
                  <a:pt x="8910095" y="1626691"/>
                </a:cubicBezTo>
                <a:lnTo>
                  <a:pt x="8908822" y="1619067"/>
                </a:lnTo>
                <a:cubicBezTo>
                  <a:pt x="8877873" y="1415398"/>
                  <a:pt x="8879292" y="1206762"/>
                  <a:pt x="8881669" y="1004967"/>
                </a:cubicBezTo>
                <a:cubicBezTo>
                  <a:pt x="8881975" y="951016"/>
                  <a:pt x="8882434" y="895204"/>
                  <a:pt x="8888265" y="840369"/>
                </a:cubicBezTo>
                <a:cubicBezTo>
                  <a:pt x="8890137" y="823783"/>
                  <a:pt x="8892011" y="807192"/>
                  <a:pt x="8894429" y="790831"/>
                </a:cubicBezTo>
                <a:cubicBezTo>
                  <a:pt x="8901122" y="737010"/>
                  <a:pt x="8907725" y="681866"/>
                  <a:pt x="8898081" y="630137"/>
                </a:cubicBezTo>
                <a:close/>
                <a:moveTo>
                  <a:pt x="11491396" y="623931"/>
                </a:moveTo>
                <a:cubicBezTo>
                  <a:pt x="11465686" y="637515"/>
                  <a:pt x="11440209" y="650546"/>
                  <a:pt x="11413329" y="662344"/>
                </a:cubicBezTo>
                <a:cubicBezTo>
                  <a:pt x="11268660" y="727282"/>
                  <a:pt x="11113102" y="758642"/>
                  <a:pt x="10966547" y="818916"/>
                </a:cubicBezTo>
                <a:cubicBezTo>
                  <a:pt x="10793574" y="889896"/>
                  <a:pt x="10652020" y="1008307"/>
                  <a:pt x="10498883" y="1111507"/>
                </a:cubicBezTo>
                <a:cubicBezTo>
                  <a:pt x="10559155" y="1098395"/>
                  <a:pt x="10616158" y="1067158"/>
                  <a:pt x="10671292" y="1035777"/>
                </a:cubicBezTo>
                <a:lnTo>
                  <a:pt x="10685894" y="1027151"/>
                </a:lnTo>
                <a:cubicBezTo>
                  <a:pt x="10821548" y="950027"/>
                  <a:pt x="10965272" y="882756"/>
                  <a:pt x="11104337" y="817377"/>
                </a:cubicBezTo>
                <a:cubicBezTo>
                  <a:pt x="11233375" y="757414"/>
                  <a:pt x="11364889" y="694633"/>
                  <a:pt x="11491396" y="623931"/>
                </a:cubicBezTo>
                <a:close/>
                <a:moveTo>
                  <a:pt x="10779304" y="584486"/>
                </a:moveTo>
                <a:cubicBezTo>
                  <a:pt x="10740583" y="648568"/>
                  <a:pt x="10699136" y="711502"/>
                  <a:pt x="10658378" y="772788"/>
                </a:cubicBezTo>
                <a:cubicBezTo>
                  <a:pt x="10594579" y="868744"/>
                  <a:pt x="10529620" y="967431"/>
                  <a:pt x="10475581" y="1070739"/>
                </a:cubicBezTo>
                <a:cubicBezTo>
                  <a:pt x="10578194" y="966751"/>
                  <a:pt x="10672522" y="819977"/>
                  <a:pt x="10735178" y="693281"/>
                </a:cubicBezTo>
                <a:close/>
                <a:moveTo>
                  <a:pt x="10132488" y="518596"/>
                </a:moveTo>
                <a:cubicBezTo>
                  <a:pt x="10047856" y="532980"/>
                  <a:pt x="9963302" y="548687"/>
                  <a:pt x="9879465" y="567273"/>
                </a:cubicBezTo>
                <a:cubicBezTo>
                  <a:pt x="9683016" y="611580"/>
                  <a:pt x="9523495" y="697916"/>
                  <a:pt x="9364243" y="809468"/>
                </a:cubicBezTo>
                <a:cubicBezTo>
                  <a:pt x="9364793" y="809701"/>
                  <a:pt x="9365336" y="809931"/>
                  <a:pt x="9366655" y="809848"/>
                </a:cubicBezTo>
                <a:cubicBezTo>
                  <a:pt x="9558665" y="728900"/>
                  <a:pt x="9742999" y="656935"/>
                  <a:pt x="9914233" y="596159"/>
                </a:cubicBezTo>
                <a:close/>
                <a:moveTo>
                  <a:pt x="10264524" y="501747"/>
                </a:moveTo>
                <a:lnTo>
                  <a:pt x="9922837" y="622979"/>
                </a:lnTo>
                <a:cubicBezTo>
                  <a:pt x="9763806" y="679263"/>
                  <a:pt x="9594234" y="745243"/>
                  <a:pt x="9416908" y="818889"/>
                </a:cubicBezTo>
                <a:cubicBezTo>
                  <a:pt x="9417689" y="818579"/>
                  <a:pt x="9417689" y="818579"/>
                  <a:pt x="9418234" y="818810"/>
                </a:cubicBezTo>
                <a:cubicBezTo>
                  <a:pt x="9717394" y="764555"/>
                  <a:pt x="10002904" y="633058"/>
                  <a:pt x="10264524" y="501747"/>
                </a:cubicBezTo>
                <a:close/>
                <a:moveTo>
                  <a:pt x="10802699" y="488163"/>
                </a:moveTo>
                <a:lnTo>
                  <a:pt x="10618739" y="734118"/>
                </a:lnTo>
                <a:lnTo>
                  <a:pt x="10604580" y="753877"/>
                </a:lnTo>
                <a:cubicBezTo>
                  <a:pt x="10575714" y="793161"/>
                  <a:pt x="10550336" y="828772"/>
                  <a:pt x="10529643" y="867004"/>
                </a:cubicBezTo>
                <a:cubicBezTo>
                  <a:pt x="10501301" y="918746"/>
                  <a:pt x="10479284" y="973805"/>
                  <a:pt x="10462194" y="1035452"/>
                </a:cubicBezTo>
                <a:cubicBezTo>
                  <a:pt x="10514547" y="939156"/>
                  <a:pt x="10575176" y="847655"/>
                  <a:pt x="10635117" y="757788"/>
                </a:cubicBezTo>
                <a:cubicBezTo>
                  <a:pt x="10692800" y="670189"/>
                  <a:pt x="10751735" y="581180"/>
                  <a:pt x="10802699" y="488163"/>
                </a:cubicBezTo>
                <a:close/>
                <a:moveTo>
                  <a:pt x="10359107" y="485136"/>
                </a:moveTo>
                <a:cubicBezTo>
                  <a:pt x="10100692" y="616512"/>
                  <a:pt x="9815681" y="755947"/>
                  <a:pt x="9515108" y="825701"/>
                </a:cubicBezTo>
                <a:cubicBezTo>
                  <a:pt x="9825509" y="831572"/>
                  <a:pt x="10104184" y="667562"/>
                  <a:pt x="10359107" y="485136"/>
                </a:cubicBezTo>
                <a:close/>
                <a:moveTo>
                  <a:pt x="11886089" y="483936"/>
                </a:moveTo>
                <a:cubicBezTo>
                  <a:pt x="11800033" y="547295"/>
                  <a:pt x="11710455" y="605296"/>
                  <a:pt x="11622890" y="661575"/>
                </a:cubicBezTo>
                <a:cubicBezTo>
                  <a:pt x="11437051" y="781189"/>
                  <a:pt x="11244843" y="905190"/>
                  <a:pt x="11038640" y="996875"/>
                </a:cubicBezTo>
                <a:cubicBezTo>
                  <a:pt x="10885656" y="1064725"/>
                  <a:pt x="10725662" y="1114166"/>
                  <a:pt x="10561310" y="1145020"/>
                </a:cubicBezTo>
                <a:cubicBezTo>
                  <a:pt x="10596460" y="1154752"/>
                  <a:pt x="10632933" y="1164394"/>
                  <a:pt x="10675127" y="1163586"/>
                </a:cubicBezTo>
                <a:cubicBezTo>
                  <a:pt x="10827145" y="1160350"/>
                  <a:pt x="10989398" y="1058435"/>
                  <a:pt x="11120351" y="990907"/>
                </a:cubicBezTo>
                <a:cubicBezTo>
                  <a:pt x="11302032" y="897860"/>
                  <a:pt x="11481110" y="797268"/>
                  <a:pt x="11648506" y="680145"/>
                </a:cubicBezTo>
                <a:cubicBezTo>
                  <a:pt x="11691733" y="649515"/>
                  <a:pt x="11821224" y="550475"/>
                  <a:pt x="11886089" y="483936"/>
                </a:cubicBezTo>
                <a:close/>
                <a:moveTo>
                  <a:pt x="3607114" y="467441"/>
                </a:moveTo>
                <a:cubicBezTo>
                  <a:pt x="3528124" y="599478"/>
                  <a:pt x="3410482" y="705343"/>
                  <a:pt x="3296242" y="807991"/>
                </a:cubicBezTo>
                <a:cubicBezTo>
                  <a:pt x="3255418" y="844446"/>
                  <a:pt x="3213877" y="882186"/>
                  <a:pt x="3174674" y="919759"/>
                </a:cubicBezTo>
                <a:cubicBezTo>
                  <a:pt x="3129209" y="963390"/>
                  <a:pt x="3085915" y="1010032"/>
                  <a:pt x="3042978" y="1054894"/>
                </a:cubicBezTo>
                <a:lnTo>
                  <a:pt x="2968914" y="1133756"/>
                </a:lnTo>
                <a:cubicBezTo>
                  <a:pt x="3001355" y="1109480"/>
                  <a:pt x="3045966" y="1074853"/>
                  <a:pt x="3103823" y="1026814"/>
                </a:cubicBezTo>
                <a:cubicBezTo>
                  <a:pt x="3260201" y="897449"/>
                  <a:pt x="3521192" y="681569"/>
                  <a:pt x="3607114" y="467441"/>
                </a:cubicBezTo>
                <a:close/>
                <a:moveTo>
                  <a:pt x="10784544" y="465669"/>
                </a:moveTo>
                <a:cubicBezTo>
                  <a:pt x="10662409" y="521478"/>
                  <a:pt x="10422179" y="894258"/>
                  <a:pt x="10426419" y="1062158"/>
                </a:cubicBezTo>
                <a:cubicBezTo>
                  <a:pt x="10438657" y="1011968"/>
                  <a:pt x="10453241" y="965354"/>
                  <a:pt x="10471732" y="921679"/>
                </a:cubicBezTo>
                <a:cubicBezTo>
                  <a:pt x="10481672" y="898200"/>
                  <a:pt x="10492705" y="875187"/>
                  <a:pt x="10504824" y="852631"/>
                </a:cubicBezTo>
                <a:cubicBezTo>
                  <a:pt x="10526215" y="812759"/>
                  <a:pt x="10552604" y="776291"/>
                  <a:pt x="10582237" y="736692"/>
                </a:cubicBezTo>
                <a:lnTo>
                  <a:pt x="10596401" y="716935"/>
                </a:lnTo>
                <a:cubicBezTo>
                  <a:pt x="10661482" y="628604"/>
                  <a:pt x="10720448" y="548625"/>
                  <a:pt x="10784544" y="465669"/>
                </a:cubicBezTo>
                <a:close/>
                <a:moveTo>
                  <a:pt x="11916494" y="422768"/>
                </a:moveTo>
                <a:cubicBezTo>
                  <a:pt x="11840345" y="436884"/>
                  <a:pt x="11770712" y="482734"/>
                  <a:pt x="11703185" y="528178"/>
                </a:cubicBezTo>
                <a:lnTo>
                  <a:pt x="11680755" y="543149"/>
                </a:lnTo>
                <a:cubicBezTo>
                  <a:pt x="11503085" y="661715"/>
                  <a:pt x="11307002" y="753816"/>
                  <a:pt x="11116818" y="842623"/>
                </a:cubicBezTo>
                <a:cubicBezTo>
                  <a:pt x="10977992" y="907459"/>
                  <a:pt x="10835051" y="974411"/>
                  <a:pt x="10700164" y="1051220"/>
                </a:cubicBezTo>
                <a:lnTo>
                  <a:pt x="10685570" y="1059849"/>
                </a:lnTo>
                <a:cubicBezTo>
                  <a:pt x="10652486" y="1078679"/>
                  <a:pt x="10619176" y="1098052"/>
                  <a:pt x="10584288" y="1113543"/>
                </a:cubicBezTo>
                <a:cubicBezTo>
                  <a:pt x="10736655" y="1082118"/>
                  <a:pt x="10884823" y="1034762"/>
                  <a:pt x="11026698" y="971858"/>
                </a:cubicBezTo>
                <a:cubicBezTo>
                  <a:pt x="11231114" y="881353"/>
                  <a:pt x="11422542" y="757667"/>
                  <a:pt x="11607604" y="638368"/>
                </a:cubicBezTo>
                <a:cubicBezTo>
                  <a:pt x="11712249" y="570645"/>
                  <a:pt x="11819449" y="501435"/>
                  <a:pt x="11919452" y="423380"/>
                </a:cubicBezTo>
                <a:cubicBezTo>
                  <a:pt x="11918363" y="422918"/>
                  <a:pt x="11917811" y="422686"/>
                  <a:pt x="11916494" y="422768"/>
                </a:cubicBezTo>
                <a:close/>
                <a:moveTo>
                  <a:pt x="8148168" y="416949"/>
                </a:moveTo>
                <a:cubicBezTo>
                  <a:pt x="8041447" y="489578"/>
                  <a:pt x="7951585" y="589312"/>
                  <a:pt x="7862052" y="694330"/>
                </a:cubicBezTo>
                <a:lnTo>
                  <a:pt x="7808002" y="759654"/>
                </a:lnTo>
                <a:close/>
                <a:moveTo>
                  <a:pt x="8295299" y="416143"/>
                </a:moveTo>
                <a:cubicBezTo>
                  <a:pt x="8303328" y="454953"/>
                  <a:pt x="8309263" y="494162"/>
                  <a:pt x="8309124" y="534021"/>
                </a:cubicBezTo>
                <a:cubicBezTo>
                  <a:pt x="8309177" y="581042"/>
                  <a:pt x="8301211" y="627240"/>
                  <a:pt x="8293154" y="672115"/>
                </a:cubicBezTo>
                <a:cubicBezTo>
                  <a:pt x="8287455" y="703824"/>
                  <a:pt x="8281839" y="736857"/>
                  <a:pt x="8279099" y="769176"/>
                </a:cubicBezTo>
                <a:cubicBezTo>
                  <a:pt x="8271208" y="866910"/>
                  <a:pt x="8290164" y="965070"/>
                  <a:pt x="8309186" y="1060039"/>
                </a:cubicBezTo>
                <a:cubicBezTo>
                  <a:pt x="8338258" y="1208834"/>
                  <a:pt x="8368983" y="1362838"/>
                  <a:pt x="8410512" y="1511108"/>
                </a:cubicBezTo>
                <a:cubicBezTo>
                  <a:pt x="8445511" y="1186645"/>
                  <a:pt x="8463496" y="815698"/>
                  <a:pt x="8351657" y="521768"/>
                </a:cubicBezTo>
                <a:cubicBezTo>
                  <a:pt x="8336376" y="481820"/>
                  <a:pt x="8314355" y="448679"/>
                  <a:pt x="8295299" y="416143"/>
                </a:cubicBezTo>
                <a:close/>
                <a:moveTo>
                  <a:pt x="8266483" y="414244"/>
                </a:moveTo>
                <a:cubicBezTo>
                  <a:pt x="8162811" y="736679"/>
                  <a:pt x="8223592" y="1050836"/>
                  <a:pt x="8343425" y="1357811"/>
                </a:cubicBezTo>
                <a:cubicBezTo>
                  <a:pt x="8320496" y="1259904"/>
                  <a:pt x="8300994" y="1161513"/>
                  <a:pt x="8282114" y="1064671"/>
                </a:cubicBezTo>
                <a:cubicBezTo>
                  <a:pt x="8263238" y="967838"/>
                  <a:pt x="8243336" y="867346"/>
                  <a:pt x="8251298" y="766414"/>
                </a:cubicBezTo>
                <a:cubicBezTo>
                  <a:pt x="8253954" y="732777"/>
                  <a:pt x="8259797" y="699198"/>
                  <a:pt x="8265729" y="666939"/>
                </a:cubicBezTo>
                <a:cubicBezTo>
                  <a:pt x="8273319" y="623158"/>
                  <a:pt x="8281376" y="578281"/>
                  <a:pt x="8281494" y="533909"/>
                </a:cubicBezTo>
                <a:cubicBezTo>
                  <a:pt x="8281080" y="493822"/>
                  <a:pt x="8274834" y="453832"/>
                  <a:pt x="8266483" y="414244"/>
                </a:cubicBezTo>
                <a:close/>
                <a:moveTo>
                  <a:pt x="8140802" y="388720"/>
                </a:moveTo>
                <a:cubicBezTo>
                  <a:pt x="8028462" y="422924"/>
                  <a:pt x="7941106" y="490876"/>
                  <a:pt x="7860379" y="596411"/>
                </a:cubicBezTo>
                <a:cubicBezTo>
                  <a:pt x="7812773" y="658663"/>
                  <a:pt x="7772566" y="720182"/>
                  <a:pt x="7737688" y="790400"/>
                </a:cubicBezTo>
                <a:cubicBezTo>
                  <a:pt x="7733439" y="798902"/>
                  <a:pt x="7729892" y="805767"/>
                  <a:pt x="7726885" y="812869"/>
                </a:cubicBezTo>
                <a:cubicBezTo>
                  <a:pt x="7764906" y="767160"/>
                  <a:pt x="7802380" y="721219"/>
                  <a:pt x="7840490" y="676832"/>
                </a:cubicBezTo>
                <a:cubicBezTo>
                  <a:pt x="7933738" y="567590"/>
                  <a:pt x="8028101" y="463327"/>
                  <a:pt x="8140802" y="388720"/>
                </a:cubicBezTo>
                <a:close/>
                <a:moveTo>
                  <a:pt x="3744487" y="383136"/>
                </a:moveTo>
                <a:cubicBezTo>
                  <a:pt x="3789590" y="603780"/>
                  <a:pt x="3850997" y="811848"/>
                  <a:pt x="3970213" y="995559"/>
                </a:cubicBezTo>
                <a:cubicBezTo>
                  <a:pt x="3927384" y="796159"/>
                  <a:pt x="3865366" y="574806"/>
                  <a:pt x="3744487" y="383136"/>
                </a:cubicBezTo>
                <a:close/>
                <a:moveTo>
                  <a:pt x="3624562" y="367041"/>
                </a:moveTo>
                <a:cubicBezTo>
                  <a:pt x="3578160" y="403736"/>
                  <a:pt x="3532667" y="442805"/>
                  <a:pt x="3489712" y="485386"/>
                </a:cubicBezTo>
                <a:cubicBezTo>
                  <a:pt x="3380716" y="591858"/>
                  <a:pt x="3284219" y="714458"/>
                  <a:pt x="3182994" y="828265"/>
                </a:cubicBezTo>
                <a:cubicBezTo>
                  <a:pt x="3100902" y="919812"/>
                  <a:pt x="2899469" y="1135252"/>
                  <a:pt x="2892114" y="1172635"/>
                </a:cubicBezTo>
                <a:lnTo>
                  <a:pt x="3021459" y="1035385"/>
                </a:lnTo>
                <a:cubicBezTo>
                  <a:pt x="3064036" y="990026"/>
                  <a:pt x="3108229" y="943501"/>
                  <a:pt x="3153873" y="898971"/>
                </a:cubicBezTo>
                <a:cubicBezTo>
                  <a:pt x="3193783" y="860125"/>
                  <a:pt x="3235680" y="822883"/>
                  <a:pt x="3276511" y="786423"/>
                </a:cubicBezTo>
                <a:cubicBezTo>
                  <a:pt x="3390214" y="684175"/>
                  <a:pt x="3507852" y="578306"/>
                  <a:pt x="3584154" y="448218"/>
                </a:cubicBezTo>
                <a:cubicBezTo>
                  <a:pt x="3599491" y="421848"/>
                  <a:pt x="3612660" y="394752"/>
                  <a:pt x="3624562" y="367041"/>
                </a:cubicBezTo>
                <a:close/>
                <a:moveTo>
                  <a:pt x="3766672" y="359429"/>
                </a:moveTo>
                <a:cubicBezTo>
                  <a:pt x="3888797" y="549425"/>
                  <a:pt x="3952247" y="768223"/>
                  <a:pt x="3996338" y="968237"/>
                </a:cubicBezTo>
                <a:cubicBezTo>
                  <a:pt x="3973140" y="739339"/>
                  <a:pt x="3922473" y="455576"/>
                  <a:pt x="3766672" y="359429"/>
                </a:cubicBezTo>
                <a:close/>
                <a:moveTo>
                  <a:pt x="5805386" y="239240"/>
                </a:moveTo>
                <a:cubicBezTo>
                  <a:pt x="5783116" y="246988"/>
                  <a:pt x="5760847" y="254734"/>
                  <a:pt x="5736947" y="261367"/>
                </a:cubicBezTo>
                <a:cubicBezTo>
                  <a:pt x="5638133" y="287976"/>
                  <a:pt x="5538513" y="299897"/>
                  <a:pt x="5427012" y="311272"/>
                </a:cubicBezTo>
                <a:cubicBezTo>
                  <a:pt x="5345554" y="319953"/>
                  <a:pt x="5243942" y="330268"/>
                  <a:pt x="5147818" y="322112"/>
                </a:cubicBezTo>
                <a:cubicBezTo>
                  <a:pt x="5118835" y="319462"/>
                  <a:pt x="5090027" y="315925"/>
                  <a:pt x="5060854" y="311882"/>
                </a:cubicBezTo>
                <a:cubicBezTo>
                  <a:pt x="5021780" y="306636"/>
                  <a:pt x="4983964" y="301993"/>
                  <a:pt x="4945989" y="300516"/>
                </a:cubicBezTo>
                <a:cubicBezTo>
                  <a:pt x="5093776" y="343728"/>
                  <a:pt x="5255799" y="359063"/>
                  <a:pt x="5410479" y="348434"/>
                </a:cubicBezTo>
                <a:cubicBezTo>
                  <a:pt x="5535307" y="339607"/>
                  <a:pt x="5683741" y="304513"/>
                  <a:pt x="5805386" y="239240"/>
                </a:cubicBezTo>
                <a:close/>
                <a:moveTo>
                  <a:pt x="5905192" y="163079"/>
                </a:moveTo>
                <a:cubicBezTo>
                  <a:pt x="5892074" y="166484"/>
                  <a:pt x="5879136" y="168997"/>
                  <a:pt x="5865655" y="171901"/>
                </a:cubicBezTo>
                <a:cubicBezTo>
                  <a:pt x="5671371" y="212758"/>
                  <a:pt x="5464843" y="252569"/>
                  <a:pt x="5259740" y="257013"/>
                </a:cubicBezTo>
                <a:cubicBezTo>
                  <a:pt x="5242649" y="257191"/>
                  <a:pt x="5225558" y="257369"/>
                  <a:pt x="5208466" y="257550"/>
                </a:cubicBezTo>
                <a:cubicBezTo>
                  <a:pt x="5132177" y="258666"/>
                  <a:pt x="5054091" y="259560"/>
                  <a:pt x="4980204" y="271903"/>
                </a:cubicBezTo>
                <a:cubicBezTo>
                  <a:pt x="5009725" y="274165"/>
                  <a:pt x="5038894" y="278201"/>
                  <a:pt x="5068068" y="282244"/>
                </a:cubicBezTo>
                <a:cubicBezTo>
                  <a:pt x="5096338" y="286164"/>
                  <a:pt x="5124608" y="290090"/>
                  <a:pt x="5153231" y="292240"/>
                </a:cubicBezTo>
                <a:cubicBezTo>
                  <a:pt x="5246661" y="300067"/>
                  <a:pt x="5346469" y="289533"/>
                  <a:pt x="5426491" y="281128"/>
                </a:cubicBezTo>
                <a:cubicBezTo>
                  <a:pt x="5536189" y="269536"/>
                  <a:pt x="5634727" y="258390"/>
                  <a:pt x="5731212" y="231951"/>
                </a:cubicBezTo>
                <a:cubicBezTo>
                  <a:pt x="5794995" y="214721"/>
                  <a:pt x="5853525" y="191373"/>
                  <a:pt x="5905192" y="163079"/>
                </a:cubicBezTo>
                <a:close/>
                <a:moveTo>
                  <a:pt x="5944437" y="113829"/>
                </a:moveTo>
                <a:cubicBezTo>
                  <a:pt x="5917256" y="119186"/>
                  <a:pt x="5863594" y="140199"/>
                  <a:pt x="5825032" y="146405"/>
                </a:cubicBezTo>
                <a:cubicBezTo>
                  <a:pt x="5539893" y="189777"/>
                  <a:pt x="5237140" y="170377"/>
                  <a:pt x="4955599" y="247008"/>
                </a:cubicBezTo>
                <a:cubicBezTo>
                  <a:pt x="5038637" y="230314"/>
                  <a:pt x="5125543" y="229138"/>
                  <a:pt x="5210104" y="228123"/>
                </a:cubicBezTo>
                <a:cubicBezTo>
                  <a:pt x="5227195" y="227945"/>
                  <a:pt x="5244285" y="227765"/>
                  <a:pt x="5261015" y="227087"/>
                </a:cubicBezTo>
                <a:cubicBezTo>
                  <a:pt x="5463242" y="223204"/>
                  <a:pt x="5667966" y="183171"/>
                  <a:pt x="5861181" y="143093"/>
                </a:cubicBezTo>
                <a:cubicBezTo>
                  <a:pt x="5895331" y="135893"/>
                  <a:pt x="5928215" y="128080"/>
                  <a:pt x="5961252" y="114820"/>
                </a:cubicBezTo>
                <a:cubicBezTo>
                  <a:pt x="5959615" y="111998"/>
                  <a:pt x="5953497" y="112044"/>
                  <a:pt x="5944437" y="113829"/>
                </a:cubicBezTo>
                <a:close/>
                <a:moveTo>
                  <a:pt x="9095810" y="0"/>
                </a:moveTo>
                <a:lnTo>
                  <a:pt x="9215999" y="0"/>
                </a:lnTo>
                <a:lnTo>
                  <a:pt x="9250991" y="17650"/>
                </a:lnTo>
                <a:cubicBezTo>
                  <a:pt x="9345825" y="54329"/>
                  <a:pt x="9448424" y="64330"/>
                  <a:pt x="9551793" y="69947"/>
                </a:cubicBezTo>
                <a:cubicBezTo>
                  <a:pt x="9773323" y="81971"/>
                  <a:pt x="9993517" y="56091"/>
                  <a:pt x="10211701" y="15192"/>
                </a:cubicBezTo>
                <a:cubicBezTo>
                  <a:pt x="10030564" y="37013"/>
                  <a:pt x="9847820" y="45912"/>
                  <a:pt x="9665014" y="41266"/>
                </a:cubicBezTo>
                <a:cubicBezTo>
                  <a:pt x="9560295" y="38460"/>
                  <a:pt x="9467175" y="31066"/>
                  <a:pt x="9382567" y="18583"/>
                </a:cubicBezTo>
                <a:lnTo>
                  <a:pt x="9283159" y="0"/>
                </a:lnTo>
                <a:lnTo>
                  <a:pt x="9469266" y="0"/>
                </a:lnTo>
                <a:lnTo>
                  <a:pt x="9504117" y="4274"/>
                </a:lnTo>
                <a:cubicBezTo>
                  <a:pt x="9555272" y="8689"/>
                  <a:pt x="9609472" y="11637"/>
                  <a:pt x="9667223" y="13232"/>
                </a:cubicBezTo>
                <a:cubicBezTo>
                  <a:pt x="9740740" y="15225"/>
                  <a:pt x="9814266" y="15008"/>
                  <a:pt x="9887703" y="12601"/>
                </a:cubicBezTo>
                <a:lnTo>
                  <a:pt x="10088930" y="0"/>
                </a:lnTo>
                <a:lnTo>
                  <a:pt x="10544171" y="0"/>
                </a:lnTo>
                <a:lnTo>
                  <a:pt x="10392396" y="36772"/>
                </a:lnTo>
                <a:cubicBezTo>
                  <a:pt x="10070832" y="110795"/>
                  <a:pt x="9739873" y="167441"/>
                  <a:pt x="9413803" y="131277"/>
                </a:cubicBezTo>
                <a:cubicBezTo>
                  <a:pt x="9315472" y="120226"/>
                  <a:pt x="9243539" y="84460"/>
                  <a:pt x="9174626" y="44983"/>
                </a:cubicBezTo>
                <a:close/>
                <a:moveTo>
                  <a:pt x="8474998" y="0"/>
                </a:moveTo>
                <a:lnTo>
                  <a:pt x="8573502" y="0"/>
                </a:lnTo>
                <a:lnTo>
                  <a:pt x="8659539" y="117664"/>
                </a:lnTo>
                <a:cubicBezTo>
                  <a:pt x="8833725" y="341427"/>
                  <a:pt x="9029703" y="551148"/>
                  <a:pt x="9248507" y="743734"/>
                </a:cubicBezTo>
                <a:cubicBezTo>
                  <a:pt x="9268744" y="761313"/>
                  <a:pt x="9289217" y="778348"/>
                  <a:pt x="9309457" y="795932"/>
                </a:cubicBezTo>
                <a:cubicBezTo>
                  <a:pt x="9458210" y="686371"/>
                  <a:pt x="9607233" y="585288"/>
                  <a:pt x="9785496" y="530713"/>
                </a:cubicBezTo>
                <a:cubicBezTo>
                  <a:pt x="10009630" y="462073"/>
                  <a:pt x="10250992" y="434854"/>
                  <a:pt x="10482828" y="399738"/>
                </a:cubicBezTo>
                <a:cubicBezTo>
                  <a:pt x="10519933" y="394202"/>
                  <a:pt x="10478550" y="453937"/>
                  <a:pt x="10468382" y="461219"/>
                </a:cubicBezTo>
                <a:cubicBezTo>
                  <a:pt x="10161572" y="688641"/>
                  <a:pt x="9818370" y="924476"/>
                  <a:pt x="9430790" y="895589"/>
                </a:cubicBezTo>
                <a:cubicBezTo>
                  <a:pt x="9617112" y="1044003"/>
                  <a:pt x="9813963" y="1178199"/>
                  <a:pt x="10019780" y="1298815"/>
                </a:cubicBezTo>
                <a:cubicBezTo>
                  <a:pt x="10142151" y="1263712"/>
                  <a:pt x="10256792" y="1186061"/>
                  <a:pt x="10372218" y="1146081"/>
                </a:cubicBezTo>
                <a:cubicBezTo>
                  <a:pt x="10279439" y="901425"/>
                  <a:pt x="10751513" y="443317"/>
                  <a:pt x="10896429" y="310883"/>
                </a:cubicBezTo>
                <a:cubicBezTo>
                  <a:pt x="10907980" y="300321"/>
                  <a:pt x="10927341" y="295643"/>
                  <a:pt x="10919735" y="318176"/>
                </a:cubicBezTo>
                <a:cubicBezTo>
                  <a:pt x="10845552" y="531416"/>
                  <a:pt x="10769057" y="750112"/>
                  <a:pt x="10637064" y="935661"/>
                </a:cubicBezTo>
                <a:cubicBezTo>
                  <a:pt x="10618262" y="961821"/>
                  <a:pt x="10471373" y="1105010"/>
                  <a:pt x="10516995" y="1070245"/>
                </a:cubicBezTo>
                <a:cubicBezTo>
                  <a:pt x="10630585" y="984423"/>
                  <a:pt x="10740230" y="886628"/>
                  <a:pt x="10868835" y="815534"/>
                </a:cubicBezTo>
                <a:cubicBezTo>
                  <a:pt x="11133493" y="669415"/>
                  <a:pt x="11435682" y="612577"/>
                  <a:pt x="11704547" y="465665"/>
                </a:cubicBezTo>
                <a:cubicBezTo>
                  <a:pt x="11748194" y="441649"/>
                  <a:pt x="11962368" y="287033"/>
                  <a:pt x="12033562" y="350012"/>
                </a:cubicBezTo>
                <a:cubicBezTo>
                  <a:pt x="12042008" y="357446"/>
                  <a:pt x="12029170" y="377121"/>
                  <a:pt x="12025537" y="382666"/>
                </a:cubicBezTo>
                <a:cubicBezTo>
                  <a:pt x="11835636" y="694348"/>
                  <a:pt x="11402055" y="895784"/>
                  <a:pt x="11088649" y="1056676"/>
                </a:cubicBezTo>
                <a:cubicBezTo>
                  <a:pt x="10916755" y="1144851"/>
                  <a:pt x="10757473" y="1230645"/>
                  <a:pt x="10561600" y="1229477"/>
                </a:cubicBezTo>
                <a:cubicBezTo>
                  <a:pt x="10456897" y="1228927"/>
                  <a:pt x="10388434" y="1221837"/>
                  <a:pt x="10280797" y="1263181"/>
                </a:cubicBezTo>
                <a:cubicBezTo>
                  <a:pt x="10214114" y="1288380"/>
                  <a:pt x="10149765" y="1312641"/>
                  <a:pt x="10083376" y="1334114"/>
                </a:cubicBezTo>
                <a:cubicBezTo>
                  <a:pt x="10323674" y="1470609"/>
                  <a:pt x="10574467" y="1588379"/>
                  <a:pt x="10832582" y="1687356"/>
                </a:cubicBezTo>
                <a:cubicBezTo>
                  <a:pt x="10835145" y="1685866"/>
                  <a:pt x="10837160" y="1684144"/>
                  <a:pt x="10839263" y="1683743"/>
                </a:cubicBezTo>
                <a:cubicBezTo>
                  <a:pt x="11026680" y="1639479"/>
                  <a:pt x="11198523" y="1559010"/>
                  <a:pt x="11350910" y="1443899"/>
                </a:cubicBezTo>
                <a:cubicBezTo>
                  <a:pt x="11353302" y="1439761"/>
                  <a:pt x="11356166" y="1434532"/>
                  <a:pt x="11360346" y="1429225"/>
                </a:cubicBezTo>
                <a:cubicBezTo>
                  <a:pt x="11568454" y="1154547"/>
                  <a:pt x="11893126" y="995756"/>
                  <a:pt x="12167580" y="789523"/>
                </a:cubicBezTo>
                <a:lnTo>
                  <a:pt x="12192000" y="769876"/>
                </a:lnTo>
                <a:lnTo>
                  <a:pt x="12192000" y="802845"/>
                </a:lnTo>
                <a:lnTo>
                  <a:pt x="12173558" y="821317"/>
                </a:lnTo>
                <a:cubicBezTo>
                  <a:pt x="12156328" y="839775"/>
                  <a:pt x="12135859" y="862655"/>
                  <a:pt x="12117398" y="877374"/>
                </a:cubicBezTo>
                <a:cubicBezTo>
                  <a:pt x="11911342" y="1038644"/>
                  <a:pt x="11659100" y="1158472"/>
                  <a:pt x="11472926" y="1344259"/>
                </a:cubicBezTo>
                <a:cubicBezTo>
                  <a:pt x="11530856" y="1294104"/>
                  <a:pt x="11599815" y="1254410"/>
                  <a:pt x="11666978" y="1215889"/>
                </a:cubicBezTo>
                <a:cubicBezTo>
                  <a:pt x="11680568" y="1208123"/>
                  <a:pt x="11694155" y="1200357"/>
                  <a:pt x="11707200" y="1192361"/>
                </a:cubicBezTo>
                <a:cubicBezTo>
                  <a:pt x="11867081" y="1099094"/>
                  <a:pt x="12010478" y="976320"/>
                  <a:pt x="12144637" y="858646"/>
                </a:cubicBezTo>
                <a:lnTo>
                  <a:pt x="12192000" y="810414"/>
                </a:lnTo>
                <a:lnTo>
                  <a:pt x="12192000" y="916439"/>
                </a:lnTo>
                <a:lnTo>
                  <a:pt x="12150630" y="982925"/>
                </a:lnTo>
                <a:cubicBezTo>
                  <a:pt x="11972246" y="1237618"/>
                  <a:pt x="11719654" y="1416530"/>
                  <a:pt x="11389484" y="1469889"/>
                </a:cubicBezTo>
                <a:cubicBezTo>
                  <a:pt x="11249700" y="1582602"/>
                  <a:pt x="11093517" y="1667134"/>
                  <a:pt x="10923736" y="1721439"/>
                </a:cubicBezTo>
                <a:cubicBezTo>
                  <a:pt x="10979487" y="1741826"/>
                  <a:pt x="11035469" y="1761662"/>
                  <a:pt x="11091913" y="1780406"/>
                </a:cubicBezTo>
                <a:cubicBezTo>
                  <a:pt x="11318237" y="1855623"/>
                  <a:pt x="11544464" y="1908264"/>
                  <a:pt x="11771238" y="1944400"/>
                </a:cubicBezTo>
                <a:cubicBezTo>
                  <a:pt x="11775181" y="1939634"/>
                  <a:pt x="11778904" y="1935410"/>
                  <a:pt x="11783166" y="1931422"/>
                </a:cubicBezTo>
                <a:cubicBezTo>
                  <a:pt x="11885723" y="1797152"/>
                  <a:pt x="11990570" y="1669642"/>
                  <a:pt x="12131988" y="1574357"/>
                </a:cubicBezTo>
                <a:lnTo>
                  <a:pt x="12192000" y="1537429"/>
                </a:lnTo>
                <a:lnTo>
                  <a:pt x="12192000" y="1589108"/>
                </a:lnTo>
                <a:lnTo>
                  <a:pt x="12112105" y="1640352"/>
                </a:lnTo>
                <a:cubicBezTo>
                  <a:pt x="12011319" y="1713959"/>
                  <a:pt x="11928638" y="1801479"/>
                  <a:pt x="11849203" y="1900149"/>
                </a:cubicBezTo>
                <a:cubicBezTo>
                  <a:pt x="11883038" y="1876488"/>
                  <a:pt x="11915071" y="1849494"/>
                  <a:pt x="11946326" y="1822808"/>
                </a:cubicBezTo>
                <a:cubicBezTo>
                  <a:pt x="11980834" y="1792997"/>
                  <a:pt x="12017130" y="1762011"/>
                  <a:pt x="12055863" y="1735914"/>
                </a:cubicBezTo>
                <a:cubicBezTo>
                  <a:pt x="12086678" y="1714840"/>
                  <a:pt x="12119524" y="1696556"/>
                  <a:pt x="12150816" y="1678902"/>
                </a:cubicBezTo>
                <a:lnTo>
                  <a:pt x="12192000" y="1655121"/>
                </a:lnTo>
                <a:lnTo>
                  <a:pt x="12192000" y="1686869"/>
                </a:lnTo>
                <a:lnTo>
                  <a:pt x="12163772" y="1703058"/>
                </a:lnTo>
                <a:cubicBezTo>
                  <a:pt x="12132704" y="1720165"/>
                  <a:pt x="12100405" y="1738677"/>
                  <a:pt x="12070597" y="1758893"/>
                </a:cubicBezTo>
                <a:cubicBezTo>
                  <a:pt x="12033422" y="1784357"/>
                  <a:pt x="11997904" y="1815035"/>
                  <a:pt x="11963621" y="1844299"/>
                </a:cubicBezTo>
                <a:cubicBezTo>
                  <a:pt x="11938421" y="1865816"/>
                  <a:pt x="11913214" y="1887338"/>
                  <a:pt x="11886604" y="1907617"/>
                </a:cubicBezTo>
                <a:cubicBezTo>
                  <a:pt x="11977116" y="1884856"/>
                  <a:pt x="12067233" y="1841647"/>
                  <a:pt x="12153575" y="1786372"/>
                </a:cubicBezTo>
                <a:lnTo>
                  <a:pt x="12192000" y="1759693"/>
                </a:lnTo>
                <a:lnTo>
                  <a:pt x="12192000" y="1809459"/>
                </a:lnTo>
                <a:lnTo>
                  <a:pt x="12121362" y="1857561"/>
                </a:lnTo>
                <a:cubicBezTo>
                  <a:pt x="12048187" y="1902591"/>
                  <a:pt x="11972544" y="1939172"/>
                  <a:pt x="11895949" y="1963079"/>
                </a:cubicBezTo>
                <a:lnTo>
                  <a:pt x="12192000" y="1990579"/>
                </a:lnTo>
                <a:lnTo>
                  <a:pt x="12192000" y="2065582"/>
                </a:lnTo>
                <a:lnTo>
                  <a:pt x="12153918" y="2063926"/>
                </a:lnTo>
                <a:lnTo>
                  <a:pt x="12192000" y="2085104"/>
                </a:lnTo>
                <a:lnTo>
                  <a:pt x="12192000" y="2178471"/>
                </a:lnTo>
                <a:lnTo>
                  <a:pt x="12085355" y="2122457"/>
                </a:lnTo>
                <a:lnTo>
                  <a:pt x="12192000" y="2196158"/>
                </a:lnTo>
                <a:lnTo>
                  <a:pt x="12192000" y="2230374"/>
                </a:lnTo>
                <a:lnTo>
                  <a:pt x="12041237" y="2126309"/>
                </a:lnTo>
                <a:cubicBezTo>
                  <a:pt x="12076493" y="2177612"/>
                  <a:pt x="12124001" y="2222030"/>
                  <a:pt x="12174450" y="2262541"/>
                </a:cubicBezTo>
                <a:lnTo>
                  <a:pt x="12192000" y="2275857"/>
                </a:lnTo>
                <a:lnTo>
                  <a:pt x="12192000" y="2377131"/>
                </a:lnTo>
                <a:lnTo>
                  <a:pt x="12155801" y="2349925"/>
                </a:lnTo>
                <a:cubicBezTo>
                  <a:pt x="12047062" y="2264619"/>
                  <a:pt x="11950704" y="2181979"/>
                  <a:pt x="11930164" y="2041945"/>
                </a:cubicBezTo>
                <a:cubicBezTo>
                  <a:pt x="11807338" y="2027929"/>
                  <a:pt x="11684723" y="2008847"/>
                  <a:pt x="11561767" y="1984479"/>
                </a:cubicBezTo>
                <a:cubicBezTo>
                  <a:pt x="11829168" y="2318516"/>
                  <a:pt x="11916257" y="2737804"/>
                  <a:pt x="11987997" y="3153822"/>
                </a:cubicBezTo>
                <a:cubicBezTo>
                  <a:pt x="11991834" y="3176690"/>
                  <a:pt x="11945766" y="3233800"/>
                  <a:pt x="11926558" y="3203134"/>
                </a:cubicBezTo>
                <a:cubicBezTo>
                  <a:pt x="11688637" y="2826855"/>
                  <a:pt x="11343207" y="2452063"/>
                  <a:pt x="11440430" y="1973028"/>
                </a:cubicBezTo>
                <a:cubicBezTo>
                  <a:pt x="11441503" y="1968973"/>
                  <a:pt x="11443583" y="1964061"/>
                  <a:pt x="11446754" y="1959605"/>
                </a:cubicBezTo>
                <a:cubicBezTo>
                  <a:pt x="11314670" y="1929437"/>
                  <a:pt x="11182797" y="1894208"/>
                  <a:pt x="11050651" y="1850495"/>
                </a:cubicBezTo>
                <a:cubicBezTo>
                  <a:pt x="10825423" y="1775743"/>
                  <a:pt x="10604642" y="1687421"/>
                  <a:pt x="10389960" y="1586232"/>
                </a:cubicBezTo>
                <a:cubicBezTo>
                  <a:pt x="10423849" y="1697796"/>
                  <a:pt x="10481699" y="1805979"/>
                  <a:pt x="10500699" y="1913175"/>
                </a:cubicBezTo>
                <a:cubicBezTo>
                  <a:pt x="10502971" y="1915419"/>
                  <a:pt x="10505550" y="1918445"/>
                  <a:pt x="10507814" y="1920694"/>
                </a:cubicBezTo>
                <a:cubicBezTo>
                  <a:pt x="10511536" y="1916469"/>
                  <a:pt x="10515800" y="1912482"/>
                  <a:pt x="10518908" y="1911226"/>
                </a:cubicBezTo>
                <a:cubicBezTo>
                  <a:pt x="10803133" y="1788841"/>
                  <a:pt x="11118572" y="2264893"/>
                  <a:pt x="11258935" y="2442781"/>
                </a:cubicBezTo>
                <a:cubicBezTo>
                  <a:pt x="11271929" y="2459223"/>
                  <a:pt x="11230610" y="2515770"/>
                  <a:pt x="11211663" y="2510325"/>
                </a:cubicBezTo>
                <a:cubicBezTo>
                  <a:pt x="10952813" y="2437432"/>
                  <a:pt x="10754880" y="2286035"/>
                  <a:pt x="10571295" y="2105302"/>
                </a:cubicBezTo>
                <a:cubicBezTo>
                  <a:pt x="10593939" y="2333141"/>
                  <a:pt x="10477445" y="2625036"/>
                  <a:pt x="10435737" y="2805672"/>
                </a:cubicBezTo>
                <a:cubicBezTo>
                  <a:pt x="10398299" y="2965580"/>
                  <a:pt x="10359478" y="3078554"/>
                  <a:pt x="10206831" y="3151701"/>
                </a:cubicBezTo>
                <a:cubicBezTo>
                  <a:pt x="10193935" y="3157832"/>
                  <a:pt x="10194572" y="3142650"/>
                  <a:pt x="10196482" y="3135084"/>
                </a:cubicBezTo>
                <a:cubicBezTo>
                  <a:pt x="10274073" y="2811909"/>
                  <a:pt x="10304290" y="2478979"/>
                  <a:pt x="10381882" y="2155807"/>
                </a:cubicBezTo>
                <a:cubicBezTo>
                  <a:pt x="10395105" y="2100241"/>
                  <a:pt x="10437104" y="2020803"/>
                  <a:pt x="10439260" y="1962486"/>
                </a:cubicBezTo>
                <a:cubicBezTo>
                  <a:pt x="10439491" y="1961942"/>
                  <a:pt x="10439175" y="1961166"/>
                  <a:pt x="10439409" y="1960615"/>
                </a:cubicBezTo>
                <a:cubicBezTo>
                  <a:pt x="10439475" y="1957427"/>
                  <a:pt x="10440085" y="1954468"/>
                  <a:pt x="10439915" y="1951821"/>
                </a:cubicBezTo>
                <a:cubicBezTo>
                  <a:pt x="10433959" y="1836632"/>
                  <a:pt x="10332627" y="1683636"/>
                  <a:pt x="10314241" y="1556749"/>
                </a:cubicBezTo>
                <a:cubicBezTo>
                  <a:pt x="10313847" y="1554649"/>
                  <a:pt x="10314451" y="1551688"/>
                  <a:pt x="10315061" y="1548729"/>
                </a:cubicBezTo>
                <a:cubicBezTo>
                  <a:pt x="10038413" y="1412938"/>
                  <a:pt x="9774128" y="1254043"/>
                  <a:pt x="9526158" y="1071804"/>
                </a:cubicBezTo>
                <a:cubicBezTo>
                  <a:pt x="9586547" y="1245450"/>
                  <a:pt x="9699054" y="1407035"/>
                  <a:pt x="9758689" y="1585512"/>
                </a:cubicBezTo>
                <a:cubicBezTo>
                  <a:pt x="9851296" y="1860991"/>
                  <a:pt x="9909066" y="2144264"/>
                  <a:pt x="9941392" y="2432858"/>
                </a:cubicBezTo>
                <a:cubicBezTo>
                  <a:pt x="9942776" y="2446319"/>
                  <a:pt x="9898852" y="2512059"/>
                  <a:pt x="9887724" y="2495762"/>
                </a:cubicBezTo>
                <a:cubicBezTo>
                  <a:pt x="9758830" y="2305989"/>
                  <a:pt x="9675953" y="2083557"/>
                  <a:pt x="9587446" y="1872898"/>
                </a:cubicBezTo>
                <a:cubicBezTo>
                  <a:pt x="9504836" y="1675682"/>
                  <a:pt x="9450239" y="1492905"/>
                  <a:pt x="9462810" y="1288346"/>
                </a:cubicBezTo>
                <a:cubicBezTo>
                  <a:pt x="9416080" y="1372857"/>
                  <a:pt x="9368030" y="1457457"/>
                  <a:pt x="9318575" y="1540820"/>
                </a:cubicBezTo>
                <a:cubicBezTo>
                  <a:pt x="9284037" y="1599587"/>
                  <a:pt x="9257140" y="1661598"/>
                  <a:pt x="9191090" y="1688355"/>
                </a:cubicBezTo>
                <a:cubicBezTo>
                  <a:pt x="9186426" y="1690241"/>
                  <a:pt x="9179411" y="1688563"/>
                  <a:pt x="9177757" y="1683354"/>
                </a:cubicBezTo>
                <a:cubicBezTo>
                  <a:pt x="9143528" y="1583238"/>
                  <a:pt x="9220115" y="1420588"/>
                  <a:pt x="9274865" y="1336896"/>
                </a:cubicBezTo>
                <a:cubicBezTo>
                  <a:pt x="9324504" y="1260695"/>
                  <a:pt x="9393212" y="1200294"/>
                  <a:pt x="9478649" y="1173376"/>
                </a:cubicBezTo>
                <a:cubicBezTo>
                  <a:pt x="9479343" y="1171736"/>
                  <a:pt x="9480811" y="1169782"/>
                  <a:pt x="9482281" y="1167830"/>
                </a:cubicBezTo>
                <a:cubicBezTo>
                  <a:pt x="9463542" y="1119335"/>
                  <a:pt x="9448141" y="1069035"/>
                  <a:pt x="9438637" y="1015438"/>
                </a:cubicBezTo>
                <a:cubicBezTo>
                  <a:pt x="9438473" y="1012795"/>
                  <a:pt x="9438847" y="1010377"/>
                  <a:pt x="9439458" y="1007420"/>
                </a:cubicBezTo>
                <a:cubicBezTo>
                  <a:pt x="9356819" y="944106"/>
                  <a:pt x="9275563" y="877509"/>
                  <a:pt x="9197105" y="808882"/>
                </a:cubicBezTo>
                <a:cubicBezTo>
                  <a:pt x="9119732" y="740719"/>
                  <a:pt x="9045390" y="669969"/>
                  <a:pt x="8973607" y="597733"/>
                </a:cubicBezTo>
                <a:cubicBezTo>
                  <a:pt x="9117865" y="988437"/>
                  <a:pt x="9115639" y="1402749"/>
                  <a:pt x="8967512" y="1795211"/>
                </a:cubicBezTo>
                <a:cubicBezTo>
                  <a:pt x="8964595" y="1803635"/>
                  <a:pt x="8922055" y="1866099"/>
                  <a:pt x="8912526" y="1841464"/>
                </a:cubicBezTo>
                <a:cubicBezTo>
                  <a:pt x="8756044" y="1433999"/>
                  <a:pt x="8647107" y="967467"/>
                  <a:pt x="8893391" y="572788"/>
                </a:cubicBezTo>
                <a:cubicBezTo>
                  <a:pt x="8896018" y="568101"/>
                  <a:pt x="8899507" y="564428"/>
                  <a:pt x="8902990" y="560750"/>
                </a:cubicBezTo>
                <a:cubicBezTo>
                  <a:pt x="8907633" y="554349"/>
                  <a:pt x="8913596" y="547863"/>
                  <a:pt x="8919102" y="542471"/>
                </a:cubicBezTo>
                <a:cubicBezTo>
                  <a:pt x="8828814" y="448553"/>
                  <a:pt x="8743025" y="351231"/>
                  <a:pt x="8661728" y="250903"/>
                </a:cubicBezTo>
                <a:close/>
                <a:moveTo>
                  <a:pt x="8357758" y="0"/>
                </a:moveTo>
                <a:lnTo>
                  <a:pt x="8405492" y="0"/>
                </a:lnTo>
                <a:lnTo>
                  <a:pt x="8392083" y="30495"/>
                </a:lnTo>
                <a:cubicBezTo>
                  <a:pt x="8354166" y="121698"/>
                  <a:pt x="8324318" y="217584"/>
                  <a:pt x="8339888" y="306259"/>
                </a:cubicBezTo>
                <a:cubicBezTo>
                  <a:pt x="8364400" y="446040"/>
                  <a:pt x="8455049" y="577127"/>
                  <a:pt x="8473847" y="727373"/>
                </a:cubicBezTo>
                <a:cubicBezTo>
                  <a:pt x="8510300" y="1013846"/>
                  <a:pt x="8488635" y="1326579"/>
                  <a:pt x="8454081" y="1611960"/>
                </a:cubicBezTo>
                <a:cubicBezTo>
                  <a:pt x="8452268" y="1625361"/>
                  <a:pt x="8409518" y="1692886"/>
                  <a:pt x="8396000" y="1663986"/>
                </a:cubicBezTo>
                <a:cubicBezTo>
                  <a:pt x="8190763" y="1233305"/>
                  <a:pt x="8063839" y="818387"/>
                  <a:pt x="8238881" y="368438"/>
                </a:cubicBezTo>
                <a:lnTo>
                  <a:pt x="7668140" y="942511"/>
                </a:lnTo>
                <a:cubicBezTo>
                  <a:pt x="7658137" y="952438"/>
                  <a:pt x="7629107" y="972341"/>
                  <a:pt x="7637853" y="942567"/>
                </a:cubicBezTo>
                <a:cubicBezTo>
                  <a:pt x="7690270" y="771614"/>
                  <a:pt x="7793861" y="624255"/>
                  <a:pt x="7909649" y="489150"/>
                </a:cubicBezTo>
                <a:cubicBezTo>
                  <a:pt x="8010566" y="370919"/>
                  <a:pt x="8112174" y="322520"/>
                  <a:pt x="8256182" y="301724"/>
                </a:cubicBezTo>
                <a:cubicBezTo>
                  <a:pt x="8255907" y="293239"/>
                  <a:pt x="8255408" y="285302"/>
                  <a:pt x="8255912" y="276498"/>
                </a:cubicBezTo>
                <a:cubicBezTo>
                  <a:pt x="8260651" y="221208"/>
                  <a:pt x="8285427" y="155085"/>
                  <a:pt x="8315225" y="89075"/>
                </a:cubicBezTo>
                <a:close/>
                <a:moveTo>
                  <a:pt x="7497388" y="0"/>
                </a:moveTo>
                <a:lnTo>
                  <a:pt x="7560921" y="0"/>
                </a:lnTo>
                <a:lnTo>
                  <a:pt x="7546742" y="68966"/>
                </a:lnTo>
                <a:cubicBezTo>
                  <a:pt x="7513334" y="225436"/>
                  <a:pt x="7494394" y="379659"/>
                  <a:pt x="7488853" y="535687"/>
                </a:cubicBezTo>
                <a:lnTo>
                  <a:pt x="7529509" y="380358"/>
                </a:lnTo>
                <a:cubicBezTo>
                  <a:pt x="7546426" y="316055"/>
                  <a:pt x="7563725" y="249346"/>
                  <a:pt x="7585939" y="184712"/>
                </a:cubicBezTo>
                <a:cubicBezTo>
                  <a:pt x="7597162" y="152119"/>
                  <a:pt x="7609478" y="119997"/>
                  <a:pt x="7621792" y="87864"/>
                </a:cubicBezTo>
                <a:lnTo>
                  <a:pt x="7654204" y="0"/>
                </a:lnTo>
                <a:lnTo>
                  <a:pt x="7683986" y="0"/>
                </a:lnTo>
                <a:lnTo>
                  <a:pt x="7647914" y="97640"/>
                </a:lnTo>
                <a:cubicBezTo>
                  <a:pt x="7635833" y="129221"/>
                  <a:pt x="7623516" y="161350"/>
                  <a:pt x="7612524" y="193392"/>
                </a:cubicBezTo>
                <a:cubicBezTo>
                  <a:pt x="7590775" y="256933"/>
                  <a:pt x="7573702" y="323103"/>
                  <a:pt x="7557013" y="386853"/>
                </a:cubicBezTo>
                <a:lnTo>
                  <a:pt x="7517286" y="539999"/>
                </a:lnTo>
                <a:cubicBezTo>
                  <a:pt x="7579804" y="409054"/>
                  <a:pt x="7648790" y="283748"/>
                  <a:pt x="7704204" y="152292"/>
                </a:cubicBezTo>
                <a:lnTo>
                  <a:pt x="7756975" y="0"/>
                </a:lnTo>
                <a:lnTo>
                  <a:pt x="7837329" y="0"/>
                </a:lnTo>
                <a:lnTo>
                  <a:pt x="7821760" y="65656"/>
                </a:lnTo>
                <a:cubicBezTo>
                  <a:pt x="7739780" y="311007"/>
                  <a:pt x="7576279" y="519263"/>
                  <a:pt x="7488925" y="763628"/>
                </a:cubicBezTo>
                <a:cubicBezTo>
                  <a:pt x="7478308" y="793254"/>
                  <a:pt x="7422482" y="826275"/>
                  <a:pt x="7419999" y="774360"/>
                </a:cubicBezTo>
                <a:cubicBezTo>
                  <a:pt x="7407159" y="524115"/>
                  <a:pt x="7434412" y="279259"/>
                  <a:pt x="7487820" y="37416"/>
                </a:cubicBezTo>
                <a:close/>
                <a:moveTo>
                  <a:pt x="3882765" y="0"/>
                </a:moveTo>
                <a:lnTo>
                  <a:pt x="3995099" y="0"/>
                </a:lnTo>
                <a:lnTo>
                  <a:pt x="4163818" y="234104"/>
                </a:lnTo>
                <a:cubicBezTo>
                  <a:pt x="4167056" y="234046"/>
                  <a:pt x="4169933" y="233486"/>
                  <a:pt x="4172099" y="234207"/>
                </a:cubicBezTo>
                <a:cubicBezTo>
                  <a:pt x="4370329" y="290447"/>
                  <a:pt x="4575890" y="304753"/>
                  <a:pt x="4784282" y="276561"/>
                </a:cubicBezTo>
                <a:cubicBezTo>
                  <a:pt x="4788943" y="273941"/>
                  <a:pt x="4794689" y="270546"/>
                  <a:pt x="4801687" y="267764"/>
                </a:cubicBezTo>
                <a:cubicBezTo>
                  <a:pt x="5207052" y="98325"/>
                  <a:pt x="5661672" y="149587"/>
                  <a:pt x="6082788" y="64119"/>
                </a:cubicBezTo>
                <a:cubicBezTo>
                  <a:pt x="6097705" y="60940"/>
                  <a:pt x="6122565" y="65809"/>
                  <a:pt x="6099442" y="82568"/>
                </a:cubicBezTo>
                <a:cubicBezTo>
                  <a:pt x="5702970" y="366122"/>
                  <a:pt x="5250177" y="483706"/>
                  <a:pt x="4804137" y="320931"/>
                </a:cubicBezTo>
                <a:cubicBezTo>
                  <a:pt x="4608728" y="353445"/>
                  <a:pt x="4415104" y="351091"/>
                  <a:pt x="4227047" y="313415"/>
                </a:cubicBezTo>
                <a:cubicBezTo>
                  <a:pt x="4265992" y="361495"/>
                  <a:pt x="4305481" y="409180"/>
                  <a:pt x="4346041" y="456086"/>
                </a:cubicBezTo>
                <a:cubicBezTo>
                  <a:pt x="4508645" y="644218"/>
                  <a:pt x="4684629" y="811207"/>
                  <a:pt x="4870967" y="963061"/>
                </a:cubicBezTo>
                <a:cubicBezTo>
                  <a:pt x="4877428" y="960662"/>
                  <a:pt x="4883360" y="958653"/>
                  <a:pt x="4889647" y="957147"/>
                </a:cubicBezTo>
                <a:cubicBezTo>
                  <a:pt x="5063790" y="885104"/>
                  <a:pt x="5235998" y="820573"/>
                  <a:pt x="5422504" y="805191"/>
                </a:cubicBezTo>
                <a:cubicBezTo>
                  <a:pt x="5643719" y="786779"/>
                  <a:pt x="5869113" y="808075"/>
                  <a:pt x="6087656" y="826703"/>
                </a:cubicBezTo>
                <a:cubicBezTo>
                  <a:pt x="6118977" y="829180"/>
                  <a:pt x="6064821" y="863092"/>
                  <a:pt x="6058717" y="865992"/>
                </a:cubicBezTo>
                <a:cubicBezTo>
                  <a:pt x="5757093" y="988464"/>
                  <a:pt x="5312094" y="1115658"/>
                  <a:pt x="4974153" y="1045456"/>
                </a:cubicBezTo>
                <a:cubicBezTo>
                  <a:pt x="5180499" y="1203411"/>
                  <a:pt x="5398986" y="1344171"/>
                  <a:pt x="5627835" y="1472077"/>
                </a:cubicBezTo>
                <a:cubicBezTo>
                  <a:pt x="5628372" y="1471688"/>
                  <a:pt x="5629279" y="1471800"/>
                  <a:pt x="5629817" y="1471412"/>
                </a:cubicBezTo>
                <a:cubicBezTo>
                  <a:pt x="5631249" y="1471132"/>
                  <a:pt x="5633225" y="1470462"/>
                  <a:pt x="5634124" y="1470572"/>
                </a:cubicBezTo>
                <a:cubicBezTo>
                  <a:pt x="5647257" y="1469448"/>
                  <a:pt x="5751167" y="1386498"/>
                  <a:pt x="5755832" y="1383886"/>
                </a:cubicBezTo>
                <a:cubicBezTo>
                  <a:pt x="5837996" y="1338827"/>
                  <a:pt x="5925989" y="1306339"/>
                  <a:pt x="6014186" y="1279799"/>
                </a:cubicBezTo>
                <a:cubicBezTo>
                  <a:pt x="6310230" y="1190367"/>
                  <a:pt x="6608567" y="1157268"/>
                  <a:pt x="6901619" y="1047874"/>
                </a:cubicBezTo>
                <a:cubicBezTo>
                  <a:pt x="6921553" y="1040293"/>
                  <a:pt x="6976591" y="1037028"/>
                  <a:pt x="6931566" y="1062034"/>
                </a:cubicBezTo>
                <a:cubicBezTo>
                  <a:pt x="6610108" y="1243134"/>
                  <a:pt x="6183662" y="1573592"/>
                  <a:pt x="5790982" y="1561380"/>
                </a:cubicBezTo>
                <a:cubicBezTo>
                  <a:pt x="5920545" y="1629240"/>
                  <a:pt x="6053507" y="1693876"/>
                  <a:pt x="6188971" y="1755168"/>
                </a:cubicBezTo>
                <a:cubicBezTo>
                  <a:pt x="6193458" y="1753446"/>
                  <a:pt x="6198307" y="1752214"/>
                  <a:pt x="6202446" y="1752268"/>
                </a:cubicBezTo>
                <a:cubicBezTo>
                  <a:pt x="6504288" y="1570118"/>
                  <a:pt x="6833930" y="1471594"/>
                  <a:pt x="7179560" y="1467551"/>
                </a:cubicBezTo>
                <a:cubicBezTo>
                  <a:pt x="7221126" y="1467186"/>
                  <a:pt x="7172003" y="1501258"/>
                  <a:pt x="7158730" y="1507835"/>
                </a:cubicBezTo>
                <a:cubicBezTo>
                  <a:pt x="6888412" y="1630502"/>
                  <a:pt x="6618589" y="1809287"/>
                  <a:pt x="6326959" y="1817686"/>
                </a:cubicBezTo>
                <a:cubicBezTo>
                  <a:pt x="6396578" y="1848113"/>
                  <a:pt x="6466739" y="1878148"/>
                  <a:pt x="6537433" y="1907790"/>
                </a:cubicBezTo>
                <a:cubicBezTo>
                  <a:pt x="6542473" y="1907949"/>
                  <a:pt x="6546435" y="1908891"/>
                  <a:pt x="6550221" y="1910729"/>
                </a:cubicBezTo>
                <a:cubicBezTo>
                  <a:pt x="6742694" y="1932993"/>
                  <a:pt x="6849771" y="2068278"/>
                  <a:pt x="6964438" y="2209505"/>
                </a:cubicBezTo>
                <a:cubicBezTo>
                  <a:pt x="7113162" y="2393201"/>
                  <a:pt x="7266286" y="2592015"/>
                  <a:pt x="7367862" y="2806833"/>
                </a:cubicBezTo>
                <a:cubicBezTo>
                  <a:pt x="7371456" y="2814338"/>
                  <a:pt x="7369522" y="2821080"/>
                  <a:pt x="7364329" y="2826907"/>
                </a:cubicBezTo>
                <a:cubicBezTo>
                  <a:pt x="7348741" y="2844389"/>
                  <a:pt x="7303788" y="2853651"/>
                  <a:pt x="7290545" y="2850663"/>
                </a:cubicBezTo>
                <a:cubicBezTo>
                  <a:pt x="6859896" y="2738539"/>
                  <a:pt x="6609607" y="2342306"/>
                  <a:pt x="6472036" y="1959003"/>
                </a:cubicBezTo>
                <a:cubicBezTo>
                  <a:pt x="6239391" y="1862081"/>
                  <a:pt x="6011946" y="1759868"/>
                  <a:pt x="5792897" y="1647747"/>
                </a:cubicBezTo>
                <a:cubicBezTo>
                  <a:pt x="5817125" y="1702679"/>
                  <a:pt x="5838127" y="1759942"/>
                  <a:pt x="5842751" y="1816112"/>
                </a:cubicBezTo>
                <a:cubicBezTo>
                  <a:pt x="5844184" y="1815832"/>
                  <a:pt x="5846161" y="1815162"/>
                  <a:pt x="5847424" y="1815776"/>
                </a:cubicBezTo>
                <a:cubicBezTo>
                  <a:pt x="6140442" y="1830791"/>
                  <a:pt x="6291873" y="2115536"/>
                  <a:pt x="6399821" y="2344799"/>
                </a:cubicBezTo>
                <a:cubicBezTo>
                  <a:pt x="6413837" y="2374329"/>
                  <a:pt x="6342916" y="2402075"/>
                  <a:pt x="6323232" y="2389634"/>
                </a:cubicBezTo>
                <a:cubicBezTo>
                  <a:pt x="6177906" y="2301146"/>
                  <a:pt x="6052833" y="2198747"/>
                  <a:pt x="5942958" y="2077708"/>
                </a:cubicBezTo>
                <a:cubicBezTo>
                  <a:pt x="5949243" y="2174636"/>
                  <a:pt x="5937179" y="2273417"/>
                  <a:pt x="5921559" y="2378596"/>
                </a:cubicBezTo>
                <a:cubicBezTo>
                  <a:pt x="5888539" y="2593290"/>
                  <a:pt x="5878937" y="2813146"/>
                  <a:pt x="5817651" y="3023919"/>
                </a:cubicBezTo>
                <a:cubicBezTo>
                  <a:pt x="5810408" y="3049005"/>
                  <a:pt x="5741174" y="3089270"/>
                  <a:pt x="5729634" y="3051849"/>
                </a:cubicBezTo>
                <a:cubicBezTo>
                  <a:pt x="5657096" y="2815984"/>
                  <a:pt x="5581632" y="2571559"/>
                  <a:pt x="5611018" y="2316769"/>
                </a:cubicBezTo>
                <a:cubicBezTo>
                  <a:pt x="5622715" y="2217484"/>
                  <a:pt x="5656813" y="2135538"/>
                  <a:pt x="5687608" y="2039972"/>
                </a:cubicBezTo>
                <a:cubicBezTo>
                  <a:pt x="5744741" y="1859679"/>
                  <a:pt x="5733310" y="1742061"/>
                  <a:pt x="5657554" y="1576445"/>
                </a:cubicBezTo>
                <a:cubicBezTo>
                  <a:pt x="5483232" y="1483028"/>
                  <a:pt x="5313009" y="1382833"/>
                  <a:pt x="5150475" y="1274012"/>
                </a:cubicBezTo>
                <a:cubicBezTo>
                  <a:pt x="5326569" y="1559959"/>
                  <a:pt x="5457991" y="1838600"/>
                  <a:pt x="5349142" y="2204405"/>
                </a:cubicBezTo>
                <a:cubicBezTo>
                  <a:pt x="5342604" y="2225928"/>
                  <a:pt x="5273881" y="2261245"/>
                  <a:pt x="5262214" y="2233836"/>
                </a:cubicBezTo>
                <a:cubicBezTo>
                  <a:pt x="5160759" y="2006724"/>
                  <a:pt x="5064863" y="1777114"/>
                  <a:pt x="4981539" y="1542201"/>
                </a:cubicBezTo>
                <a:cubicBezTo>
                  <a:pt x="4932755" y="1405876"/>
                  <a:pt x="4893729" y="1278486"/>
                  <a:pt x="4958461" y="1136957"/>
                </a:cubicBezTo>
                <a:cubicBezTo>
                  <a:pt x="4854219" y="1059900"/>
                  <a:pt x="4753195" y="978221"/>
                  <a:pt x="4655015" y="891426"/>
                </a:cubicBezTo>
                <a:cubicBezTo>
                  <a:pt x="4700834" y="1342763"/>
                  <a:pt x="4530476" y="1779853"/>
                  <a:pt x="4348002" y="2205895"/>
                </a:cubicBezTo>
                <a:cubicBezTo>
                  <a:pt x="4337873" y="2229260"/>
                  <a:pt x="4261560" y="2258626"/>
                  <a:pt x="4262250" y="2219972"/>
                </a:cubicBezTo>
                <a:cubicBezTo>
                  <a:pt x="4268663" y="1744520"/>
                  <a:pt x="4175629" y="1214471"/>
                  <a:pt x="4550611" y="817540"/>
                </a:cubicBezTo>
                <a:cubicBezTo>
                  <a:pt x="4554014" y="814312"/>
                  <a:pt x="4558850" y="810804"/>
                  <a:pt x="4564418" y="808293"/>
                </a:cubicBezTo>
                <a:cubicBezTo>
                  <a:pt x="4461330" y="711325"/>
                  <a:pt x="4361455" y="609738"/>
                  <a:pt x="4266388" y="500083"/>
                </a:cubicBezTo>
                <a:cubicBezTo>
                  <a:pt x="4185451" y="406519"/>
                  <a:pt x="4107556" y="310364"/>
                  <a:pt x="4032842" y="211809"/>
                </a:cubicBezTo>
                <a:close/>
                <a:moveTo>
                  <a:pt x="3721337" y="0"/>
                </a:moveTo>
                <a:lnTo>
                  <a:pt x="3797544" y="0"/>
                </a:lnTo>
                <a:lnTo>
                  <a:pt x="3775734" y="95131"/>
                </a:lnTo>
                <a:cubicBezTo>
                  <a:pt x="3762598" y="156923"/>
                  <a:pt x="3748081" y="217234"/>
                  <a:pt x="3724807" y="272257"/>
                </a:cubicBezTo>
                <a:cubicBezTo>
                  <a:pt x="3725550" y="275539"/>
                  <a:pt x="3726109" y="279707"/>
                  <a:pt x="3726844" y="282988"/>
                </a:cubicBezTo>
                <a:cubicBezTo>
                  <a:pt x="3732776" y="280979"/>
                  <a:pt x="3739065" y="279475"/>
                  <a:pt x="3742664" y="279918"/>
                </a:cubicBezTo>
                <a:cubicBezTo>
                  <a:pt x="4076263" y="313585"/>
                  <a:pt x="4081377" y="922622"/>
                  <a:pt x="4103910" y="1161917"/>
                </a:cubicBezTo>
                <a:cubicBezTo>
                  <a:pt x="4106010" y="1184045"/>
                  <a:pt x="4034389" y="1215360"/>
                  <a:pt x="4020269" y="1200406"/>
                </a:cubicBezTo>
                <a:cubicBezTo>
                  <a:pt x="3826459" y="997506"/>
                  <a:pt x="3735339" y="752983"/>
                  <a:pt x="3674882" y="488524"/>
                </a:cubicBezTo>
                <a:cubicBezTo>
                  <a:pt x="3559684" y="713184"/>
                  <a:pt x="3278706" y="925237"/>
                  <a:pt x="3132682" y="1072284"/>
                </a:cubicBezTo>
                <a:cubicBezTo>
                  <a:pt x="3002939" y="1202191"/>
                  <a:pt x="2899935" y="1287527"/>
                  <a:pt x="2716346" y="1276376"/>
                </a:cubicBezTo>
                <a:cubicBezTo>
                  <a:pt x="2700863" y="1275390"/>
                  <a:pt x="2710506" y="1261536"/>
                  <a:pt x="2716772" y="1255462"/>
                </a:cubicBezTo>
                <a:cubicBezTo>
                  <a:pt x="2980750" y="993927"/>
                  <a:pt x="3207119" y="698608"/>
                  <a:pt x="3471096" y="437072"/>
                </a:cubicBezTo>
                <a:cubicBezTo>
                  <a:pt x="3516376" y="392044"/>
                  <a:pt x="3602281" y="339698"/>
                  <a:pt x="3639057" y="286334"/>
                </a:cubicBezTo>
                <a:cubicBezTo>
                  <a:pt x="3639591" y="285947"/>
                  <a:pt x="3639767" y="285058"/>
                  <a:pt x="3640309" y="284664"/>
                </a:cubicBezTo>
                <a:cubicBezTo>
                  <a:pt x="3642272" y="281720"/>
                  <a:pt x="3644597" y="279273"/>
                  <a:pt x="3646022" y="276711"/>
                </a:cubicBezTo>
                <a:cubicBezTo>
                  <a:pt x="3677659" y="221350"/>
                  <a:pt x="3693078" y="144742"/>
                  <a:pt x="3707943" y="65958"/>
                </a:cubicBezTo>
                <a:close/>
                <a:moveTo>
                  <a:pt x="2867960" y="0"/>
                </a:moveTo>
                <a:lnTo>
                  <a:pt x="2926351" y="0"/>
                </a:lnTo>
                <a:lnTo>
                  <a:pt x="2902823" y="262929"/>
                </a:lnTo>
                <a:cubicBezTo>
                  <a:pt x="2913215" y="221824"/>
                  <a:pt x="2926844" y="180662"/>
                  <a:pt x="2940663" y="140884"/>
                </a:cubicBezTo>
                <a:lnTo>
                  <a:pt x="2947039" y="122524"/>
                </a:lnTo>
                <a:lnTo>
                  <a:pt x="2984316" y="0"/>
                </a:lnTo>
                <a:lnTo>
                  <a:pt x="3016114" y="0"/>
                </a:lnTo>
                <a:lnTo>
                  <a:pt x="2979949" y="119274"/>
                </a:lnTo>
                <a:lnTo>
                  <a:pt x="3023879" y="0"/>
                </a:lnTo>
                <a:lnTo>
                  <a:pt x="3105400" y="0"/>
                </a:lnTo>
                <a:lnTo>
                  <a:pt x="3094669" y="30308"/>
                </a:lnTo>
                <a:cubicBezTo>
                  <a:pt x="3037894" y="178003"/>
                  <a:pt x="2973232" y="323305"/>
                  <a:pt x="2901945" y="466538"/>
                </a:cubicBezTo>
                <a:cubicBezTo>
                  <a:pt x="2895180" y="479835"/>
                  <a:pt x="2815686" y="518381"/>
                  <a:pt x="2815209" y="497361"/>
                </a:cubicBezTo>
                <a:cubicBezTo>
                  <a:pt x="2812746" y="375148"/>
                  <a:pt x="2825702" y="251298"/>
                  <a:pt x="2844845" y="127638"/>
                </a:cubicBezTo>
                <a:close/>
                <a:moveTo>
                  <a:pt x="1057230" y="0"/>
                </a:moveTo>
                <a:lnTo>
                  <a:pt x="1111003" y="0"/>
                </a:lnTo>
                <a:lnTo>
                  <a:pt x="1125553" y="52588"/>
                </a:lnTo>
                <a:cubicBezTo>
                  <a:pt x="1174409" y="196547"/>
                  <a:pt x="1244674" y="336170"/>
                  <a:pt x="1304276" y="476275"/>
                </a:cubicBezTo>
                <a:cubicBezTo>
                  <a:pt x="1351896" y="589579"/>
                  <a:pt x="1459984" y="863646"/>
                  <a:pt x="1492066" y="886333"/>
                </a:cubicBezTo>
                <a:lnTo>
                  <a:pt x="1423698" y="710817"/>
                </a:lnTo>
                <a:cubicBezTo>
                  <a:pt x="1401022" y="652964"/>
                  <a:pt x="1378015" y="593152"/>
                  <a:pt x="1357609" y="532892"/>
                </a:cubicBezTo>
                <a:cubicBezTo>
                  <a:pt x="1339853" y="480241"/>
                  <a:pt x="1324587" y="426487"/>
                  <a:pt x="1309550" y="374031"/>
                </a:cubicBezTo>
                <a:cubicBezTo>
                  <a:pt x="1277632" y="264242"/>
                  <a:pt x="1244842" y="151584"/>
                  <a:pt x="1193673" y="49533"/>
                </a:cubicBezTo>
                <a:lnTo>
                  <a:pt x="1164391" y="0"/>
                </a:lnTo>
                <a:lnTo>
                  <a:pt x="1200666" y="0"/>
                </a:lnTo>
                <a:lnTo>
                  <a:pt x="1223408" y="38996"/>
                </a:lnTo>
                <a:cubicBezTo>
                  <a:pt x="1274817" y="142454"/>
                  <a:pt x="1307626" y="255236"/>
                  <a:pt x="1339635" y="365517"/>
                </a:cubicBezTo>
                <a:cubicBezTo>
                  <a:pt x="1354670" y="417965"/>
                  <a:pt x="1370587" y="471608"/>
                  <a:pt x="1387469" y="523079"/>
                </a:cubicBezTo>
                <a:cubicBezTo>
                  <a:pt x="1407105" y="582792"/>
                  <a:pt x="1430659" y="641842"/>
                  <a:pt x="1452685" y="699806"/>
                </a:cubicBezTo>
                <a:lnTo>
                  <a:pt x="1492092" y="800424"/>
                </a:lnTo>
                <a:cubicBezTo>
                  <a:pt x="1484618" y="760762"/>
                  <a:pt x="1473155" y="705686"/>
                  <a:pt x="1455302" y="632913"/>
                </a:cubicBezTo>
                <a:cubicBezTo>
                  <a:pt x="1413478" y="460985"/>
                  <a:pt x="1347194" y="188426"/>
                  <a:pt x="1222336" y="9480"/>
                </a:cubicBezTo>
                <a:lnTo>
                  <a:pt x="1214634" y="0"/>
                </a:lnTo>
                <a:lnTo>
                  <a:pt x="1289827" y="0"/>
                </a:lnTo>
                <a:lnTo>
                  <a:pt x="1321076" y="59722"/>
                </a:lnTo>
                <a:cubicBezTo>
                  <a:pt x="1409905" y="250193"/>
                  <a:pt x="1460341" y="480374"/>
                  <a:pt x="1512579" y="626441"/>
                </a:cubicBezTo>
                <a:cubicBezTo>
                  <a:pt x="1573756" y="799163"/>
                  <a:pt x="1605359" y="928641"/>
                  <a:pt x="1506076" y="1089289"/>
                </a:cubicBezTo>
                <a:cubicBezTo>
                  <a:pt x="1497659" y="1102817"/>
                  <a:pt x="1489109" y="1088176"/>
                  <a:pt x="1486346" y="1079919"/>
                </a:cubicBezTo>
                <a:cubicBezTo>
                  <a:pt x="1364522" y="729689"/>
                  <a:pt x="1192335" y="398839"/>
                  <a:pt x="1070511" y="48609"/>
                </a:cubicBezTo>
                <a:close/>
                <a:moveTo>
                  <a:pt x="43151" y="0"/>
                </a:moveTo>
                <a:lnTo>
                  <a:pt x="95283" y="0"/>
                </a:lnTo>
                <a:lnTo>
                  <a:pt x="300708" y="154571"/>
                </a:lnTo>
                <a:cubicBezTo>
                  <a:pt x="379729" y="218614"/>
                  <a:pt x="456466" y="285481"/>
                  <a:pt x="530414" y="354673"/>
                </a:cubicBezTo>
                <a:cubicBezTo>
                  <a:pt x="466701" y="288424"/>
                  <a:pt x="401285" y="223977"/>
                  <a:pt x="333785" y="161564"/>
                </a:cubicBezTo>
                <a:lnTo>
                  <a:pt x="147005" y="0"/>
                </a:lnTo>
                <a:lnTo>
                  <a:pt x="272509" y="0"/>
                </a:lnTo>
                <a:lnTo>
                  <a:pt x="326276" y="45847"/>
                </a:lnTo>
                <a:cubicBezTo>
                  <a:pt x="505803" y="208268"/>
                  <a:pt x="670600" y="385490"/>
                  <a:pt x="823759" y="574145"/>
                </a:cubicBezTo>
                <a:cubicBezTo>
                  <a:pt x="833168" y="585952"/>
                  <a:pt x="831522" y="674146"/>
                  <a:pt x="811254" y="665546"/>
                </a:cubicBezTo>
                <a:cubicBezTo>
                  <a:pt x="575890" y="564984"/>
                  <a:pt x="364063" y="406029"/>
                  <a:pt x="154042" y="261522"/>
                </a:cubicBezTo>
                <a:cubicBezTo>
                  <a:pt x="104946" y="227663"/>
                  <a:pt x="58037" y="193597"/>
                  <a:pt x="13550" y="158423"/>
                </a:cubicBezTo>
                <a:lnTo>
                  <a:pt x="0" y="146618"/>
                </a:lnTo>
                <a:lnTo>
                  <a:pt x="0" y="59161"/>
                </a:lnTo>
                <a:lnTo>
                  <a:pt x="45427" y="101078"/>
                </a:lnTo>
                <a:cubicBezTo>
                  <a:pt x="223783" y="254949"/>
                  <a:pt x="433006" y="385896"/>
                  <a:pt x="630103" y="485885"/>
                </a:cubicBezTo>
                <a:cubicBezTo>
                  <a:pt x="595938" y="458865"/>
                  <a:pt x="563284" y="428899"/>
                  <a:pt x="532040" y="399359"/>
                </a:cubicBezTo>
                <a:lnTo>
                  <a:pt x="517618" y="385726"/>
                </a:lnTo>
                <a:cubicBezTo>
                  <a:pt x="442853" y="315667"/>
                  <a:pt x="365106" y="247799"/>
                  <a:pt x="285074" y="182755"/>
                </a:cubicBezTo>
                <a:close/>
              </a:path>
            </a:pathLst>
          </a:cu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useBgFill="1">
        <p:nvSpPr>
          <p:cNvPr id="136" name="Rectangle 135"/>
          <p:cNvSpPr>
            <a:spLocks noGrp="1" noRot="1" noChangeAspect="1" noMove="1" noResize="1" noEditPoints="1" noAdjustHandles="1" noChangeArrowheads="1" noChangeShapeType="1" noTextEdit="1"/>
          </p:cNvSpPr>
          <p:nvPr/>
        </p:nvSpPr>
        <p:spPr>
          <a:xfrm>
            <a:off x="457200" y="457200"/>
            <a:ext cx="11277600" cy="5943600"/>
          </a:xfrm>
          <a:prstGeom prst="rect">
            <a:avLst/>
          </a:prstGeom>
          <a:ln w="12700" cap="flat" cmpd="sng" algn="ctr">
            <a:noFill/>
            <a:prstDash val="solid"/>
            <a:miter lim="800000"/>
          </a:ln>
          <a:effectLst>
            <a:outerShdw blurRad="317500" algn="ctr" rotWithShape="0">
              <a:schemeClr val="tx1">
                <a:alpha val="2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 name="Title 1"/>
          <p:cNvSpPr>
            <a:spLocks noGrp="1"/>
          </p:cNvSpPr>
          <p:nvPr>
            <p:ph type="ctrTitle"/>
          </p:nvPr>
        </p:nvSpPr>
        <p:spPr>
          <a:xfrm>
            <a:off x="3609171" y="1696872"/>
            <a:ext cx="5118905" cy="2286002"/>
          </a:xfrm>
        </p:spPr>
        <p:txBody>
          <a:bodyPr vert="horz" lIns="91440" tIns="45720" rIns="91440" bIns="45720" rtlCol="0" anchor="t">
            <a:normAutofit/>
          </a:bodyPr>
          <a:lstStyle/>
          <a:p>
            <a:r>
              <a:rPr lang="en-US" sz="3000" b="1" u="sng" dirty="0">
                <a:ln w="0"/>
                <a:solidFill>
                  <a:srgbClr val="0070C0"/>
                </a:solidFill>
                <a:effectLst>
                  <a:outerShdw blurRad="38100" dist="38100" dir="2700000" algn="tl">
                    <a:srgbClr val="000000">
                      <a:alpha val="43137"/>
                    </a:srgbClr>
                  </a:outerShdw>
                </a:effectLst>
                <a:sym typeface="Bright Retro"/>
              </a:rPr>
              <a:t>Accounts Payable Implementation Project</a:t>
            </a:r>
            <a:br>
              <a:rPr lang="en-US" sz="3000" b="1" u="sng" dirty="0">
                <a:ln w="0"/>
                <a:solidFill>
                  <a:srgbClr val="0070C0"/>
                </a:solidFill>
                <a:effectLst>
                  <a:outerShdw blurRad="38100" dist="38100" dir="2700000" algn="tl">
                    <a:srgbClr val="000000">
                      <a:alpha val="43137"/>
                    </a:srgbClr>
                  </a:outerShdw>
                </a:effectLst>
                <a:sym typeface="Bright Retro"/>
              </a:rPr>
            </a:br>
            <a:br>
              <a:rPr lang="en-US" sz="3000" b="1" u="sng" dirty="0">
                <a:ln w="0"/>
                <a:solidFill>
                  <a:srgbClr val="0070C0"/>
                </a:solidFill>
                <a:effectLst>
                  <a:outerShdw blurRad="38100" dist="38100" dir="2700000" algn="tl">
                    <a:srgbClr val="000000">
                      <a:alpha val="43137"/>
                    </a:srgbClr>
                  </a:outerShdw>
                </a:effectLst>
              </a:rPr>
            </a:br>
            <a:r>
              <a:rPr lang="en-US" sz="3000" b="1" u="sng" dirty="0">
                <a:ln w="0"/>
                <a:solidFill>
                  <a:srgbClr val="0070C0"/>
                </a:solidFill>
                <a:effectLst>
                  <a:outerShdw blurRad="38100" dist="38100" dir="2700000" algn="tl">
                    <a:srgbClr val="000000">
                      <a:alpha val="43137"/>
                    </a:srgbClr>
                  </a:outerShdw>
                </a:effectLst>
              </a:rPr>
              <a:t>Microsoft Dynamics 365 Finance</a:t>
            </a:r>
          </a:p>
        </p:txBody>
      </p:sp>
      <p:sp>
        <p:nvSpPr>
          <p:cNvPr id="3" name="Subtitle 2"/>
          <p:cNvSpPr>
            <a:spLocks noGrp="1"/>
          </p:cNvSpPr>
          <p:nvPr>
            <p:ph type="subTitle" idx="1"/>
          </p:nvPr>
        </p:nvSpPr>
        <p:spPr>
          <a:xfrm>
            <a:off x="7467598" y="4013894"/>
            <a:ext cx="4495801" cy="1548704"/>
          </a:xfrm>
        </p:spPr>
        <p:txBody>
          <a:bodyPr vert="horz" lIns="91440" tIns="45720" rIns="91440" bIns="45720" rtlCol="0">
            <a:noAutofit/>
          </a:bodyPr>
          <a:lstStyle/>
          <a:p>
            <a:pPr indent="-228600" algn="l">
              <a:buFont typeface="Arial" panose="020B0604020202020204" pitchFamily="34" charset="0"/>
              <a:buChar char="•"/>
            </a:pPr>
            <a:endParaRPr lang="en-US" sz="1600" b="1" dirty="0">
              <a:solidFill>
                <a:srgbClr val="0070C0">
                  <a:alpha val="55000"/>
                </a:srgbClr>
              </a:solidFill>
              <a:sym typeface="Bright Retro"/>
            </a:endParaRPr>
          </a:p>
          <a:p>
            <a:pPr indent="-228600" algn="l">
              <a:buFont typeface="Arial" panose="020B0604020202020204" pitchFamily="34" charset="0"/>
              <a:buChar char="•"/>
            </a:pPr>
            <a:r>
              <a:rPr lang="en-US" sz="1600" b="1" dirty="0">
                <a:solidFill>
                  <a:srgbClr val="0070C0">
                    <a:alpha val="55000"/>
                  </a:srgbClr>
                </a:solidFill>
                <a:sym typeface="Bright Retro"/>
              </a:rPr>
              <a:t>Presented by Accounts Payable group</a:t>
            </a:r>
          </a:p>
          <a:p>
            <a:pPr indent="-228600" algn="l">
              <a:buFont typeface="Arial" panose="020B0604020202020204" pitchFamily="34" charset="0"/>
              <a:buChar char="•"/>
            </a:pPr>
            <a:r>
              <a:rPr lang="en-US" sz="1600" b="1" dirty="0">
                <a:solidFill>
                  <a:srgbClr val="0070C0">
                    <a:alpha val="55000"/>
                  </a:srgbClr>
                </a:solidFill>
                <a:sym typeface="Bright Retro"/>
              </a:rPr>
              <a:t>Group Code : CAI4_ERP7_G1</a:t>
            </a:r>
          </a:p>
          <a:p>
            <a:pPr indent="-228600" algn="l">
              <a:buFont typeface="Arial" panose="020B0604020202020204" pitchFamily="34" charset="0"/>
              <a:buChar char="•"/>
            </a:pPr>
            <a:r>
              <a:rPr lang="en-US" sz="1600" b="1" dirty="0">
                <a:solidFill>
                  <a:srgbClr val="0070C0">
                    <a:alpha val="55000"/>
                  </a:srgbClr>
                </a:solidFill>
                <a:sym typeface="Bright Retro"/>
              </a:rPr>
              <a:t>Date:March-2026</a:t>
            </a:r>
          </a:p>
          <a:p>
            <a:pPr indent="-228600" algn="l">
              <a:buFont typeface="Arial" panose="020B0604020202020204" pitchFamily="34" charset="0"/>
              <a:buChar char="•"/>
            </a:pPr>
            <a:endParaRPr lang="en-US" sz="1600" b="1" dirty="0">
              <a:solidFill>
                <a:srgbClr val="0070C0">
                  <a:alpha val="55000"/>
                </a:srgbClr>
              </a:solidFill>
            </a:endParaRPr>
          </a:p>
        </p:txBody>
      </p:sp>
      <p:pic>
        <p:nvPicPr>
          <p:cNvPr id="14" name="Picture 1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56675" y="1254112"/>
            <a:ext cx="2510623" cy="1262363"/>
          </a:xfrm>
          <a:prstGeom prst="rect">
            <a:avLst/>
          </a:prstGeom>
        </p:spPr>
      </p:pic>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75378" y="612769"/>
            <a:ext cx="2092328" cy="1923591"/>
          </a:xfrm>
          <a:prstGeom prst="rect">
            <a:avLst/>
          </a:prstGeom>
        </p:spPr>
      </p:pic>
      <p:pic>
        <p:nvPicPr>
          <p:cNvPr id="9" name="Picture 8"/>
          <p:cNvPicPr>
            <a:picLocks noChangeAspect="1"/>
          </p:cNvPicPr>
          <p:nvPr/>
        </p:nvPicPr>
        <p:blipFill>
          <a:blip r:embed="rId4"/>
          <a:stretch>
            <a:fillRect/>
          </a:stretch>
        </p:blipFill>
        <p:spPr>
          <a:xfrm>
            <a:off x="1028299" y="4007579"/>
            <a:ext cx="4641849" cy="155501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1000"/>
                                        <p:tgtEl>
                                          <p:spTgt spid="3">
                                            <p:txEl>
                                              <p:pRg st="3" end="3"/>
                                            </p:txEl>
                                          </p:spTgt>
                                        </p:tgtEl>
                                      </p:cBhvr>
                                    </p:animEffect>
                                    <p:anim calcmode="lin" valueType="num">
                                      <p:cBhvr>
                                        <p:cTn id="23"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872359"/>
            <a:ext cx="10012052" cy="1303240"/>
          </a:xfrm>
        </p:spPr>
        <p:txBody>
          <a:bodyPr>
            <a:normAutofit/>
          </a:bodyPr>
          <a:lstStyle/>
          <a:p>
            <a:pPr algn="ctr"/>
            <a:br>
              <a:rPr lang="en-US" b="1" dirty="0">
                <a:solidFill>
                  <a:schemeClr val="tx2"/>
                </a:solidFill>
                <a:latin typeface="Algerian" panose="04020705040A02060702" pitchFamily="82" charset="0"/>
              </a:rPr>
            </a:br>
            <a:r>
              <a:rPr lang="en-US" b="1" dirty="0">
                <a:solidFill>
                  <a:schemeClr val="tx2"/>
                </a:solidFill>
                <a:latin typeface="Algerian" panose="04020705040A02060702" pitchFamily="82" charset="0"/>
              </a:rPr>
              <a:t>Team Members </a:t>
            </a:r>
            <a:endParaRPr lang="ar-EG" b="1" dirty="0">
              <a:solidFill>
                <a:schemeClr val="tx2"/>
              </a:solidFill>
              <a:latin typeface="Algerian" panose="04020705040A02060702" pitchFamily="82" charset="0"/>
            </a:endParaRPr>
          </a:p>
        </p:txBody>
      </p:sp>
      <p:sp>
        <p:nvSpPr>
          <p:cNvPr id="16" name="TextBox 15"/>
          <p:cNvSpPr txBox="1"/>
          <p:nvPr/>
        </p:nvSpPr>
        <p:spPr>
          <a:xfrm rot="10800000" flipH="1" flipV="1">
            <a:off x="8829309" y="3049043"/>
            <a:ext cx="1781154" cy="707886"/>
          </a:xfrm>
          <a:prstGeom prst="rect">
            <a:avLst/>
          </a:prstGeom>
          <a:noFill/>
        </p:spPr>
        <p:txBody>
          <a:bodyPr wrap="square" rtlCol="1">
            <a:spAutoFit/>
          </a:bodyPr>
          <a:lstStyle/>
          <a:p>
            <a:r>
              <a:rPr lang="en-US" sz="2000" b="1" dirty="0">
                <a:ln w="0"/>
                <a:solidFill>
                  <a:schemeClr val="tx2"/>
                </a:solidFill>
                <a:effectLst>
                  <a:outerShdw blurRad="38100" dist="25400" dir="5400000" algn="ctr" rotWithShape="0">
                    <a:srgbClr val="6E747A">
                      <a:alpha val="43000"/>
                    </a:srgbClr>
                  </a:outerShdw>
                </a:effectLst>
              </a:rPr>
              <a:t>Nuur Hesham</a:t>
            </a:r>
          </a:p>
          <a:p>
            <a:r>
              <a:rPr lang="en-US" sz="2000" b="1" dirty="0">
                <a:ln w="0"/>
                <a:solidFill>
                  <a:schemeClr val="tx2"/>
                </a:solidFill>
                <a:effectLst>
                  <a:outerShdw blurRad="38100" dist="25400" dir="5400000" algn="ctr" rotWithShape="0">
                    <a:srgbClr val="6E747A">
                      <a:alpha val="43000"/>
                    </a:srgbClr>
                  </a:outerShdw>
                </a:effectLst>
              </a:rPr>
              <a:t>Team member</a:t>
            </a:r>
            <a:endParaRPr lang="ar-EG" sz="2000" b="1" dirty="0">
              <a:ln w="0"/>
              <a:solidFill>
                <a:schemeClr val="tx2"/>
              </a:solidFill>
              <a:effectLst>
                <a:outerShdw blurRad="38100" dist="25400" dir="5400000" algn="ctr" rotWithShape="0">
                  <a:srgbClr val="6E747A">
                    <a:alpha val="43000"/>
                  </a:srgbClr>
                </a:outerShdw>
              </a:effectLst>
            </a:endParaRPr>
          </a:p>
        </p:txBody>
      </p:sp>
      <p:sp>
        <p:nvSpPr>
          <p:cNvPr id="17" name="TextBox 16"/>
          <p:cNvSpPr txBox="1"/>
          <p:nvPr/>
        </p:nvSpPr>
        <p:spPr>
          <a:xfrm flipH="1">
            <a:off x="8829310" y="4630374"/>
            <a:ext cx="1781154" cy="1015663"/>
          </a:xfrm>
          <a:prstGeom prst="rect">
            <a:avLst/>
          </a:prstGeom>
          <a:noFill/>
        </p:spPr>
        <p:txBody>
          <a:bodyPr wrap="square" rtlCol="1">
            <a:spAutoFit/>
          </a:bodyPr>
          <a:lstStyle/>
          <a:p>
            <a:r>
              <a:rPr lang="en-US" sz="2000" b="1" dirty="0">
                <a:ln w="0"/>
                <a:solidFill>
                  <a:schemeClr val="tx2"/>
                </a:solidFill>
                <a:effectLst>
                  <a:outerShdw blurRad="38100" dist="25400" dir="5400000" algn="ctr" rotWithShape="0">
                    <a:srgbClr val="6E747A">
                      <a:alpha val="43000"/>
                    </a:srgbClr>
                  </a:outerShdw>
                </a:effectLst>
              </a:rPr>
              <a:t>Asmaa Yassin</a:t>
            </a:r>
            <a:br>
              <a:rPr lang="en-US" sz="2000" b="1" dirty="0">
                <a:ln w="0"/>
                <a:solidFill>
                  <a:schemeClr val="tx2"/>
                </a:solidFill>
                <a:effectLst>
                  <a:outerShdw blurRad="38100" dist="25400" dir="5400000" algn="ctr" rotWithShape="0">
                    <a:srgbClr val="6E747A">
                      <a:alpha val="43000"/>
                    </a:srgbClr>
                  </a:outerShdw>
                </a:effectLst>
              </a:rPr>
            </a:br>
            <a:r>
              <a:rPr lang="en-US" sz="2000" b="1" dirty="0">
                <a:ln w="0"/>
                <a:solidFill>
                  <a:schemeClr val="tx2"/>
                </a:solidFill>
                <a:effectLst>
                  <a:outerShdw blurRad="38100" dist="25400" dir="5400000" algn="ctr" rotWithShape="0">
                    <a:srgbClr val="6E747A">
                      <a:alpha val="43000"/>
                    </a:srgbClr>
                  </a:outerShdw>
                </a:effectLst>
              </a:rPr>
              <a:t>Team member</a:t>
            </a:r>
            <a:endParaRPr lang="ar-EG" sz="2000" b="1" dirty="0">
              <a:ln w="0"/>
              <a:solidFill>
                <a:schemeClr val="tx2"/>
              </a:solidFill>
              <a:effectLst>
                <a:outerShdw blurRad="38100" dist="25400" dir="5400000" algn="ctr" rotWithShape="0">
                  <a:srgbClr val="6E747A">
                    <a:alpha val="43000"/>
                  </a:srgbClr>
                </a:outerShdw>
              </a:effectLst>
            </a:endParaRPr>
          </a:p>
          <a:p>
            <a:endParaRPr lang="ar-EG" sz="2000" b="1" dirty="0">
              <a:ln w="0"/>
              <a:solidFill>
                <a:schemeClr val="tx2"/>
              </a:solidFill>
              <a:effectLst>
                <a:outerShdw blurRad="38100" dist="25400" dir="5400000" algn="ctr" rotWithShape="0">
                  <a:srgbClr val="6E747A">
                    <a:alpha val="43000"/>
                  </a:srgbClr>
                </a:outerShdw>
              </a:effectLst>
            </a:endParaRPr>
          </a:p>
        </p:txBody>
      </p:sp>
      <p:pic>
        <p:nvPicPr>
          <p:cNvPr id="3" name="Picture 2"/>
          <p:cNvPicPr>
            <a:picLocks noChangeAspect="1"/>
          </p:cNvPicPr>
          <p:nvPr/>
        </p:nvPicPr>
        <p:blipFill>
          <a:blip r:embed="rId2"/>
          <a:stretch>
            <a:fillRect/>
          </a:stretch>
        </p:blipFill>
        <p:spPr>
          <a:xfrm>
            <a:off x="4008120" y="5871210"/>
            <a:ext cx="3353379" cy="566036"/>
          </a:xfrm>
          <a:prstGeom prst="rect">
            <a:avLst/>
          </a:prstGeom>
        </p:spPr>
      </p:pic>
      <p:sp>
        <p:nvSpPr>
          <p:cNvPr id="11" name="TextBox 10"/>
          <p:cNvSpPr txBox="1"/>
          <p:nvPr/>
        </p:nvSpPr>
        <p:spPr>
          <a:xfrm>
            <a:off x="979734" y="3129920"/>
            <a:ext cx="1603210" cy="707886"/>
          </a:xfrm>
          <a:prstGeom prst="rect">
            <a:avLst/>
          </a:prstGeom>
          <a:noFill/>
        </p:spPr>
        <p:txBody>
          <a:bodyPr wrap="square">
            <a:spAutoFit/>
          </a:bodyPr>
          <a:lstStyle/>
          <a:p>
            <a:r>
              <a:rPr lang="en-US" sz="2000" b="1" dirty="0">
                <a:ln w="0"/>
                <a:solidFill>
                  <a:schemeClr val="tx2"/>
                </a:solidFill>
                <a:effectLst>
                  <a:outerShdw blurRad="38100" dist="25400" dir="5400000" algn="ctr" rotWithShape="0">
                    <a:srgbClr val="6E747A">
                      <a:alpha val="43000"/>
                    </a:srgbClr>
                  </a:outerShdw>
                </a:effectLst>
              </a:rPr>
              <a:t>Belal Hassan</a:t>
            </a:r>
          </a:p>
          <a:p>
            <a:r>
              <a:rPr lang="en-US" sz="2000" b="1" dirty="0">
                <a:ln w="0"/>
                <a:solidFill>
                  <a:schemeClr val="tx2"/>
                </a:solidFill>
                <a:effectLst>
                  <a:outerShdw blurRad="38100" dist="25400" dir="5400000" algn="ctr" rotWithShape="0">
                    <a:srgbClr val="6E747A">
                      <a:alpha val="43000"/>
                    </a:srgbClr>
                  </a:outerShdw>
                </a:effectLst>
              </a:rPr>
              <a:t>Team Leader</a:t>
            </a:r>
          </a:p>
        </p:txBody>
      </p:sp>
      <p:sp>
        <p:nvSpPr>
          <p:cNvPr id="21" name="TextBox 20"/>
          <p:cNvSpPr txBox="1"/>
          <p:nvPr/>
        </p:nvSpPr>
        <p:spPr>
          <a:xfrm rot="10800000" flipV="1">
            <a:off x="4807528" y="4630375"/>
            <a:ext cx="2130595" cy="707886"/>
          </a:xfrm>
          <a:prstGeom prst="rect">
            <a:avLst/>
          </a:prstGeom>
          <a:noFill/>
        </p:spPr>
        <p:txBody>
          <a:bodyPr wrap="square">
            <a:spAutoFit/>
          </a:bodyPr>
          <a:lstStyle/>
          <a:p>
            <a:r>
              <a:rPr lang="en-US" sz="2000" b="1" dirty="0">
                <a:ln w="0"/>
                <a:solidFill>
                  <a:schemeClr val="tx2"/>
                </a:solidFill>
                <a:effectLst>
                  <a:outerShdw blurRad="38100" dist="25400" dir="5400000" algn="ctr" rotWithShape="0">
                    <a:srgbClr val="6E747A">
                      <a:alpha val="43000"/>
                    </a:srgbClr>
                  </a:outerShdw>
                </a:effectLst>
              </a:rPr>
              <a:t>Emad Abdel Aziz</a:t>
            </a:r>
          </a:p>
          <a:p>
            <a:r>
              <a:rPr lang="en-US" sz="2000" b="1" dirty="0">
                <a:ln w="0"/>
                <a:solidFill>
                  <a:schemeClr val="tx2"/>
                </a:solidFill>
                <a:effectLst>
                  <a:outerShdw blurRad="38100" dist="25400" dir="5400000" algn="ctr" rotWithShape="0">
                    <a:srgbClr val="6E747A">
                      <a:alpha val="43000"/>
                    </a:srgbClr>
                  </a:outerShdw>
                </a:effectLst>
              </a:rPr>
              <a:t>Team member</a:t>
            </a:r>
            <a:endParaRPr lang="ar-EG" sz="2000" b="1" dirty="0">
              <a:ln w="0"/>
              <a:solidFill>
                <a:schemeClr val="tx2"/>
              </a:solidFill>
              <a:effectLst>
                <a:outerShdw blurRad="38100" dist="25400" dir="5400000" algn="ctr" rotWithShape="0">
                  <a:srgbClr val="6E747A">
                    <a:alpha val="43000"/>
                  </a:srgbClr>
                </a:outerShdw>
              </a:effectLst>
            </a:endParaRPr>
          </a:p>
        </p:txBody>
      </p:sp>
      <p:sp>
        <p:nvSpPr>
          <p:cNvPr id="25" name="TextBox 24"/>
          <p:cNvSpPr txBox="1"/>
          <p:nvPr/>
        </p:nvSpPr>
        <p:spPr>
          <a:xfrm flipH="1">
            <a:off x="4640829" y="3129920"/>
            <a:ext cx="2130595" cy="707886"/>
          </a:xfrm>
          <a:prstGeom prst="rect">
            <a:avLst/>
          </a:prstGeom>
          <a:noFill/>
        </p:spPr>
        <p:txBody>
          <a:bodyPr wrap="square">
            <a:spAutoFit/>
          </a:bodyPr>
          <a:lstStyle/>
          <a:p>
            <a:r>
              <a:rPr lang="en-US" sz="2000" b="1" dirty="0">
                <a:ln w="0"/>
                <a:solidFill>
                  <a:schemeClr val="tx2"/>
                </a:solidFill>
                <a:effectLst>
                  <a:outerShdw blurRad="38100" dist="25400" dir="5400000" algn="ctr" rotWithShape="0">
                    <a:srgbClr val="6E747A">
                      <a:alpha val="43000"/>
                    </a:srgbClr>
                  </a:outerShdw>
                </a:effectLst>
              </a:rPr>
              <a:t>Abdullah Shamikh</a:t>
            </a:r>
            <a:br>
              <a:rPr lang="ar-EG" sz="2000" b="1" dirty="0">
                <a:ln w="0"/>
                <a:solidFill>
                  <a:schemeClr val="tx2"/>
                </a:solidFill>
                <a:effectLst>
                  <a:outerShdw blurRad="38100" dist="25400" dir="5400000" algn="ctr" rotWithShape="0">
                    <a:srgbClr val="6E747A">
                      <a:alpha val="43000"/>
                    </a:srgbClr>
                  </a:outerShdw>
                </a:effectLst>
              </a:rPr>
            </a:br>
            <a:r>
              <a:rPr lang="en-US" sz="2000" b="1" dirty="0">
                <a:ln w="0"/>
                <a:solidFill>
                  <a:schemeClr val="tx2"/>
                </a:solidFill>
                <a:effectLst>
                  <a:outerShdw blurRad="38100" dist="25400" dir="5400000" algn="ctr" rotWithShape="0">
                    <a:srgbClr val="6E747A">
                      <a:alpha val="43000"/>
                    </a:srgbClr>
                  </a:outerShdw>
                </a:effectLst>
              </a:rPr>
              <a:t>Team member</a:t>
            </a:r>
            <a:endParaRPr lang="ar-EG" sz="2000" b="1" dirty="0">
              <a:ln w="0"/>
              <a:solidFill>
                <a:schemeClr val="tx2"/>
              </a:solidFill>
              <a:effectLst>
                <a:outerShdw blurRad="38100" dist="25400" dir="5400000" algn="ctr" rotWithShape="0">
                  <a:srgbClr val="6E747A">
                    <a:alpha val="43000"/>
                  </a:srgbClr>
                </a:outerShdw>
              </a:effectLst>
            </a:endParaRPr>
          </a:p>
        </p:txBody>
      </p:sp>
      <p:sp>
        <p:nvSpPr>
          <p:cNvPr id="30" name="TextBox 29"/>
          <p:cNvSpPr txBox="1"/>
          <p:nvPr/>
        </p:nvSpPr>
        <p:spPr>
          <a:xfrm rot="10800000" flipH="1" flipV="1">
            <a:off x="979734" y="4630374"/>
            <a:ext cx="1781155" cy="707886"/>
          </a:xfrm>
          <a:prstGeom prst="rect">
            <a:avLst/>
          </a:prstGeom>
          <a:noFill/>
        </p:spPr>
        <p:txBody>
          <a:bodyPr wrap="square" rtlCol="1">
            <a:spAutoFit/>
          </a:bodyPr>
          <a:lstStyle/>
          <a:p>
            <a:r>
              <a:rPr lang="en-US" sz="2000" b="1" dirty="0">
                <a:ln w="0"/>
                <a:solidFill>
                  <a:schemeClr val="tx2"/>
                </a:solidFill>
                <a:effectLst>
                  <a:outerShdw blurRad="38100" dist="25400" dir="5400000" algn="ctr" rotWithShape="0">
                    <a:srgbClr val="6E747A">
                      <a:alpha val="43000"/>
                    </a:srgbClr>
                  </a:outerShdw>
                </a:effectLst>
              </a:rPr>
              <a:t>Marwan Alaa</a:t>
            </a:r>
          </a:p>
          <a:p>
            <a:r>
              <a:rPr lang="en-US" sz="2000" b="1" dirty="0">
                <a:ln w="0"/>
                <a:solidFill>
                  <a:schemeClr val="tx2"/>
                </a:solidFill>
                <a:effectLst>
                  <a:outerShdw blurRad="38100" dist="25400" dir="5400000" algn="ctr" rotWithShape="0">
                    <a:srgbClr val="6E747A">
                      <a:alpha val="43000"/>
                    </a:srgbClr>
                  </a:outerShdw>
                </a:effectLst>
              </a:rPr>
              <a:t>Team member</a:t>
            </a:r>
            <a:endParaRPr lang="ar-EG" sz="2000" b="1" dirty="0">
              <a:ln w="0"/>
              <a:solidFill>
                <a:schemeClr val="tx2"/>
              </a:solidFill>
              <a:effectLst>
                <a:outerShdw blurRad="38100" dist="25400" dir="5400000" algn="ctr" rotWithShape="0">
                  <a:srgbClr val="6E747A">
                    <a:alpha val="43000"/>
                  </a:srgbClr>
                </a:outerShdw>
              </a:effectLst>
            </a:endParaRPr>
          </a:p>
        </p:txBody>
      </p:sp>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8200" y="264628"/>
            <a:ext cx="1417559" cy="130324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352344" y="380063"/>
            <a:ext cx="2516240" cy="1265188"/>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anim calcmode="lin" valueType="num">
                                      <p:cBhvr>
                                        <p:cTn id="8" dur="1000" fill="hold"/>
                                        <p:tgtEl>
                                          <p:spTgt spid="2"/>
                                        </p:tgtEl>
                                        <p:attrNameLst>
                                          <p:attrName>ppt_x</p:attrName>
                                        </p:attrNameLst>
                                      </p:cBhvr>
                                      <p:tavLst>
                                        <p:tav tm="0">
                                          <p:val>
                                            <p:strVal val="#ppt_x"/>
                                          </p:val>
                                        </p:tav>
                                        <p:tav tm="100000">
                                          <p:val>
                                            <p:strVal val="#ppt_x"/>
                                          </p:val>
                                        </p:tav>
                                      </p:tavLst>
                                    </p:anim>
                                    <p:anim calcmode="lin" valueType="num">
                                      <p:cBhvr>
                                        <p:cTn id="9" dur="1000" fill="hold"/>
                                        <p:tgtEl>
                                          <p:spTgt spid="2"/>
                                        </p:tgtEl>
                                        <p:attrNameLst>
                                          <p:attrName>ppt_y</p:attrName>
                                        </p:attrNameLst>
                                      </p:cBhvr>
                                      <p:tavLst>
                                        <p:tav tm="0">
                                          <p:val>
                                            <p:strVal val="#ppt_y+.1"/>
                                          </p:val>
                                        </p:tav>
                                        <p:tav tm="100000">
                                          <p:val>
                                            <p:strVal val="#ppt_y"/>
                                          </p:val>
                                        </p:tav>
                                      </p:tavLst>
                                    </p:anim>
                                  </p:childTnLst>
                                </p:cTn>
                              </p:par>
                              <p:par>
                                <p:cTn id="10" presetID="16" presetClass="entr" presetSubtype="21" fill="hold" nodeType="withEffect">
                                  <p:stCondLst>
                                    <p:cond delay="0"/>
                                  </p:stCondLst>
                                  <p:childTnLst>
                                    <p:set>
                                      <p:cBhvr>
                                        <p:cTn id="11" dur="1" fill="hold">
                                          <p:stCondLst>
                                            <p:cond delay="0"/>
                                          </p:stCondLst>
                                        </p:cTn>
                                        <p:tgtEl>
                                          <p:spTgt spid="17">
                                            <p:txEl>
                                              <p:pRg st="0" end="0"/>
                                            </p:txEl>
                                          </p:spTgt>
                                        </p:tgtEl>
                                        <p:attrNameLst>
                                          <p:attrName>style.visibility</p:attrName>
                                        </p:attrNameLst>
                                      </p:cBhvr>
                                      <p:to>
                                        <p:strVal val="visible"/>
                                      </p:to>
                                    </p:set>
                                    <p:animEffect transition="in" filter="barn(inVertical)">
                                      <p:cBhvr>
                                        <p:cTn id="12" dur="500"/>
                                        <p:tgtEl>
                                          <p:spTgt spid="1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346265" y="1689101"/>
            <a:ext cx="9144000" cy="1739899"/>
          </a:xfrm>
        </p:spPr>
        <p:txBody>
          <a:bodyPr/>
          <a:lstStyle/>
          <a:p>
            <a:r>
              <a:rPr lang="en-US" sz="4800" dirty="0">
                <a:solidFill>
                  <a:schemeClr val="tx2"/>
                </a:solidFill>
                <a:latin typeface="Arial" panose="020B0604020202020204" pitchFamily="34" charset="0"/>
                <a:ea typeface="Bright Retro"/>
                <a:cs typeface="Arial" panose="020B0604020202020204" pitchFamily="34" charset="0"/>
                <a:sym typeface="Bright Retro"/>
              </a:rPr>
              <a:t>Introduction</a:t>
            </a:r>
            <a:endParaRPr lang="ar-EG" sz="4800" dirty="0">
              <a:solidFill>
                <a:schemeClr val="tx2"/>
              </a:solidFill>
              <a:latin typeface="Arial" panose="020B0604020202020204" pitchFamily="34" charset="0"/>
              <a:cs typeface="Arial" panose="020B0604020202020204" pitchFamily="34" charset="0"/>
            </a:endParaRPr>
          </a:p>
        </p:txBody>
      </p:sp>
      <p:sp>
        <p:nvSpPr>
          <p:cNvPr id="3" name="Subtitle 2"/>
          <p:cNvSpPr>
            <a:spLocks noGrp="1"/>
          </p:cNvSpPr>
          <p:nvPr>
            <p:ph type="subTitle" idx="1"/>
          </p:nvPr>
        </p:nvSpPr>
        <p:spPr>
          <a:xfrm>
            <a:off x="1137920" y="3570042"/>
            <a:ext cx="9916160" cy="2166302"/>
          </a:xfrm>
        </p:spPr>
        <p:txBody>
          <a:bodyPr/>
          <a:lstStyle/>
          <a:p>
            <a:pPr algn="l"/>
            <a:r>
              <a:rPr lang="en-US" b="1" dirty="0">
                <a:latin typeface="Kulachat Slab"/>
                <a:ea typeface="Kulachat Slab"/>
                <a:cs typeface="Kulachat Slab"/>
                <a:sym typeface="Kulachat Slab"/>
              </a:rPr>
              <a:t>Project: </a:t>
            </a:r>
            <a:r>
              <a:rPr lang="en-US" b="1" dirty="0"/>
              <a:t>This document outlines the configuration steps implemented in Microsoft Dynamics 365 Finance to deploy the Accounts Payable module for the Modern Electronics Distribution company.</a:t>
            </a:r>
          </a:p>
          <a:p>
            <a:pPr algn="l"/>
            <a:r>
              <a:rPr lang="en-US" b="1" dirty="0">
                <a:latin typeface="Kulachat Slab"/>
                <a:ea typeface="Kulachat Slab"/>
                <a:cs typeface="Kulachat Slab"/>
                <a:sym typeface="Kulachat Slab"/>
              </a:rPr>
              <a:t>Date: March 2026</a:t>
            </a:r>
          </a:p>
          <a:p>
            <a:endParaRPr lang="ar-EG"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51657" y="1689101"/>
            <a:ext cx="2133215" cy="833377"/>
          </a:xfrm>
          <a:prstGeom prst="rect">
            <a:avLst/>
          </a:prstGeom>
        </p:spPr>
      </p:pic>
      <p:pic>
        <p:nvPicPr>
          <p:cNvPr id="5" name="Picture 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2865" y="244943"/>
            <a:ext cx="1417559" cy="1303240"/>
          </a:xfrm>
          <a:prstGeom prst="rect">
            <a:avLst/>
          </a:prstGeom>
        </p:spPr>
      </p:pic>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281920" y="380063"/>
            <a:ext cx="1586664" cy="797789"/>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42" presetClass="entr" presetSubtype="0"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fade">
                                      <p:cBhvr>
                                        <p:cTn id="12" dur="1000"/>
                                        <p:tgtEl>
                                          <p:spTgt spid="3">
                                            <p:txEl>
                                              <p:pRg st="0" end="0"/>
                                            </p:txEl>
                                          </p:spTgt>
                                        </p:tgtEl>
                                      </p:cBhvr>
                                    </p:animEffect>
                                    <p:anim calcmode="lin" valueType="num">
                                      <p:cBhvr>
                                        <p:cTn id="13"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fade">
                                      <p:cBhvr>
                                        <p:cTn id="17" dur="1000"/>
                                        <p:tgtEl>
                                          <p:spTgt spid="3">
                                            <p:txEl>
                                              <p:pRg st="1" end="1"/>
                                            </p:txEl>
                                          </p:spTgt>
                                        </p:tgtEl>
                                      </p:cBhvr>
                                    </p:animEffect>
                                    <p:anim calcmode="lin" valueType="num">
                                      <p:cBhvr>
                                        <p:cTn id="18"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361955" y="1114097"/>
            <a:ext cx="9144000" cy="1448117"/>
          </a:xfrm>
          <a:noFill/>
        </p:spPr>
        <p:txBody>
          <a:bodyPr>
            <a:normAutofit/>
          </a:bodyPr>
          <a:lstStyle/>
          <a:p>
            <a:r>
              <a:rPr lang="en-US" sz="6600" dirty="0">
                <a:solidFill>
                  <a:schemeClr val="tx2"/>
                </a:solidFill>
                <a:latin typeface="Bright Retro"/>
                <a:ea typeface="Bright Retro"/>
                <a:cs typeface="Bright Retro"/>
                <a:sym typeface="Bright Retro"/>
              </a:rPr>
              <a:t> </a:t>
            </a:r>
            <a:r>
              <a:rPr lang="en-US" sz="4800" dirty="0">
                <a:solidFill>
                  <a:schemeClr val="tx2"/>
                </a:solidFill>
                <a:latin typeface="Arial" panose="020B0604020202020204" pitchFamily="34" charset="0"/>
                <a:ea typeface="Bright Retro"/>
                <a:cs typeface="Arial" panose="020B0604020202020204" pitchFamily="34" charset="0"/>
                <a:sym typeface="Bright Retro"/>
              </a:rPr>
              <a:t>Project Overview</a:t>
            </a:r>
            <a:endParaRPr lang="ar-EG" sz="4800" dirty="0">
              <a:solidFill>
                <a:schemeClr val="tx2"/>
              </a:solidFill>
              <a:latin typeface="Arial" panose="020B0604020202020204" pitchFamily="34" charset="0"/>
              <a:cs typeface="Arial" panose="020B0604020202020204" pitchFamily="34" charset="0"/>
            </a:endParaRPr>
          </a:p>
        </p:txBody>
      </p:sp>
      <p:sp>
        <p:nvSpPr>
          <p:cNvPr id="3" name="Subtitle 2"/>
          <p:cNvSpPr>
            <a:spLocks noGrp="1"/>
          </p:cNvSpPr>
          <p:nvPr>
            <p:ph type="subTitle" idx="1"/>
          </p:nvPr>
        </p:nvSpPr>
        <p:spPr>
          <a:xfrm>
            <a:off x="584200" y="2770286"/>
            <a:ext cx="11023600" cy="3923907"/>
          </a:xfrm>
        </p:spPr>
        <p:txBody>
          <a:bodyPr>
            <a:noAutofit/>
          </a:bodyPr>
          <a:lstStyle/>
          <a:p>
            <a:pPr algn="l"/>
            <a:r>
              <a:rPr lang="en-US" sz="2000" b="1" dirty="0">
                <a:latin typeface="Arial Narrow" panose="020B0606020202030204" charset="0"/>
                <a:ea typeface="Kulachat Slab"/>
                <a:cs typeface="Arial Narrow" panose="020B0606020202030204" charset="0"/>
                <a:sym typeface="Kulachat Slab"/>
              </a:rPr>
              <a:t>Company Overview</a:t>
            </a:r>
            <a:r>
              <a:rPr lang="ar-EG" sz="2000" b="1" dirty="0">
                <a:latin typeface="Arial Narrow" panose="020B0606020202030204" charset="0"/>
                <a:ea typeface="Kulachat Slab"/>
                <a:cs typeface="Arial Narrow" panose="020B0606020202030204" charset="0"/>
                <a:sym typeface="Kulachat Slab"/>
              </a:rPr>
              <a:t> </a:t>
            </a:r>
            <a:r>
              <a:rPr lang="en-US" sz="2000" b="1" dirty="0">
                <a:latin typeface="Arial Narrow" panose="020B0606020202030204" charset="0"/>
                <a:ea typeface="Kulachat Slab"/>
                <a:cs typeface="Arial Narrow" panose="020B0606020202030204" charset="0"/>
                <a:sym typeface="Kulachat Slab"/>
              </a:rPr>
              <a:t>Modern Electronics Distribution is an electronics retail and distribution company specializing in supplying electronic products to the market.</a:t>
            </a:r>
            <a:endParaRPr lang="ar-EG" sz="2000" b="1" dirty="0">
              <a:latin typeface="Arial Narrow" panose="020B0606020202030204" charset="0"/>
              <a:ea typeface="Kulachat Slab"/>
              <a:cs typeface="Arial Narrow" panose="020B0606020202030204" charset="0"/>
              <a:sym typeface="Kulachat Slab"/>
            </a:endParaRPr>
          </a:p>
          <a:p>
            <a:pPr algn="l"/>
            <a:br>
              <a:rPr lang="ar-EG" sz="2000" b="1" dirty="0">
                <a:latin typeface="Arial Narrow" panose="020B0606020202030204" charset="0"/>
                <a:ea typeface="Kulachat Slab"/>
                <a:cs typeface="Arial Narrow" panose="020B0606020202030204" charset="0"/>
                <a:sym typeface="Kulachat Slab"/>
              </a:rPr>
            </a:br>
            <a:r>
              <a:rPr lang="en-US" sz="2000" b="1" dirty="0"/>
              <a:t>The company aims to implement and optimize the Accounts Payable module in Microsoft Dynamics 365 Finance to enhance financial efficiency</a:t>
            </a:r>
            <a:endParaRPr lang="ar-EG" sz="2000" b="1" dirty="0">
              <a:latin typeface="Arial Narrow" panose="020B0606020202030204" charset="0"/>
              <a:ea typeface="Kulachat Slab"/>
              <a:cs typeface="Arial Narrow" panose="020B0606020202030204" charset="0"/>
              <a:sym typeface="Kulachat Slab"/>
            </a:endParaRPr>
          </a:p>
          <a:p>
            <a:pPr algn="l"/>
            <a:br>
              <a:rPr lang="ar-EG" sz="2000" b="1" dirty="0">
                <a:latin typeface="Arial Narrow" panose="020B0606020202030204" charset="0"/>
                <a:ea typeface="Kulachat Slab"/>
                <a:cs typeface="Arial Narrow" panose="020B0606020202030204" charset="0"/>
                <a:sym typeface="Kulachat Slab"/>
              </a:rPr>
            </a:br>
            <a:r>
              <a:rPr lang="en-US" sz="2000" b="1" dirty="0">
                <a:latin typeface="Arial Narrow" panose="020B0606020202030204" charset="0"/>
                <a:ea typeface="Kulachat Slab"/>
                <a:cs typeface="Arial Narrow" panose="020B0606020202030204" charset="0"/>
                <a:sym typeface="Kulachat Slab"/>
              </a:rPr>
              <a:t>The main objective is to automate and enhance the process of:</a:t>
            </a:r>
            <a:br>
              <a:rPr lang="ar-EG" sz="2000" b="1" dirty="0">
                <a:latin typeface="Arial Narrow" panose="020B0606020202030204" charset="0"/>
                <a:ea typeface="Kulachat Slab"/>
                <a:cs typeface="Arial Narrow" panose="020B0606020202030204" charset="0"/>
                <a:sym typeface="Kulachat Slab"/>
              </a:rPr>
            </a:br>
            <a:r>
              <a:rPr lang="en-US" sz="2000" b="1" dirty="0">
                <a:latin typeface="Arial Narrow" panose="020B0606020202030204" charset="0"/>
                <a:ea typeface="Kulachat Slab"/>
                <a:cs typeface="Arial Narrow" panose="020B0606020202030204" charset="0"/>
                <a:sym typeface="Kulachat Slab"/>
              </a:rPr>
              <a:t>• Managing vendor invoices</a:t>
            </a:r>
            <a:br>
              <a:rPr lang="ar-EG" sz="2000" b="1" dirty="0">
                <a:latin typeface="Arial Narrow" panose="020B0606020202030204" charset="0"/>
                <a:ea typeface="Kulachat Slab"/>
                <a:cs typeface="Arial Narrow" panose="020B0606020202030204" charset="0"/>
                <a:sym typeface="Kulachat Slab"/>
              </a:rPr>
            </a:br>
            <a:r>
              <a:rPr lang="en-US" sz="2000" b="1" dirty="0">
                <a:latin typeface="Arial Narrow" panose="020B0606020202030204" charset="0"/>
                <a:ea typeface="Kulachat Slab"/>
                <a:cs typeface="Arial Narrow" panose="020B0606020202030204" charset="0"/>
                <a:sym typeface="Kulachat Slab"/>
              </a:rPr>
              <a:t>• Scheduling vendor payments</a:t>
            </a:r>
            <a:br>
              <a:rPr lang="ar-EG" sz="2000" b="1" dirty="0">
                <a:latin typeface="Arial Narrow" panose="020B0606020202030204" charset="0"/>
                <a:ea typeface="Kulachat Slab"/>
                <a:cs typeface="Arial Narrow" panose="020B0606020202030204" charset="0"/>
                <a:sym typeface="Kulachat Slab"/>
              </a:rPr>
            </a:br>
            <a:r>
              <a:rPr lang="en-US" sz="2000" b="1" dirty="0">
                <a:latin typeface="Arial Narrow" panose="020B0606020202030204" charset="0"/>
                <a:ea typeface="Kulachat Slab"/>
                <a:cs typeface="Arial Narrow" panose="020B0606020202030204" charset="0"/>
                <a:sym typeface="Kulachat Slab"/>
              </a:rPr>
              <a:t>• Tracking outstanding balances</a:t>
            </a:r>
            <a:r>
              <a:rPr lang="ar-EG" sz="2000" b="1" dirty="0">
                <a:latin typeface="Arial Narrow" panose="020B0606020202030204" charset="0"/>
                <a:ea typeface="Kulachat Slab"/>
                <a:cs typeface="Arial Narrow" panose="020B0606020202030204" charset="0"/>
                <a:sym typeface="Kulachat Slab"/>
              </a:rPr>
              <a:t> </a:t>
            </a:r>
            <a:r>
              <a:rPr lang="en-US" sz="2000" b="1" dirty="0">
                <a:latin typeface="Arial Narrow" panose="020B0606020202030204" charset="0"/>
                <a:ea typeface="Kulachat Slab"/>
                <a:cs typeface="Arial Narrow" panose="020B0606020202030204" charset="0"/>
                <a:sym typeface="Kulachat Slab"/>
              </a:rPr>
              <a:t>This implementation will help the company achieve better financial control and more efficient vendor management.</a:t>
            </a:r>
            <a:endParaRPr lang="ar-EG" sz="2000" b="1" dirty="0">
              <a:latin typeface="Arial Narrow" panose="020B0606020202030204" charset="0"/>
              <a:cs typeface="Arial Narrow" panose="020B0606020202030204" charset="0"/>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86193"/>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86"/>
            <a:ext cx="1774776" cy="69334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 presetClass="entr" presetSubtype="4" fill="hold"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 calcmode="lin" valueType="num">
                                      <p:cBhvr additive="base">
                                        <p:cTn id="12" dur="500" fill="hold"/>
                                        <p:tgtEl>
                                          <p:spTgt spid="3">
                                            <p:txEl>
                                              <p:pRg st="0" end="0"/>
                                            </p:txEl>
                                          </p:spTgt>
                                        </p:tgtEl>
                                        <p:attrNameLst>
                                          <p:attrName>ppt_x</p:attrName>
                                        </p:attrNameLst>
                                      </p:cBhvr>
                                      <p:tavLst>
                                        <p:tav tm="0">
                                          <p:val>
                                            <p:strVal val="#ppt_x"/>
                                          </p:val>
                                        </p:tav>
                                        <p:tav tm="100000">
                                          <p:val>
                                            <p:strVal val="#ppt_x"/>
                                          </p:val>
                                        </p:tav>
                                      </p:tavLst>
                                    </p:anim>
                                    <p:anim calcmode="lin" valueType="num">
                                      <p:cBhvr additive="base">
                                        <p:cTn id="13" dur="500" fill="hold"/>
                                        <p:tgtEl>
                                          <p:spTgt spid="3">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4" fill="hold">
                      <p:stCondLst>
                        <p:cond delay="indefinite"/>
                      </p:stCondLst>
                      <p:childTnLst>
                        <p:par>
                          <p:cTn id="15" fill="hold">
                            <p:stCondLst>
                              <p:cond delay="0"/>
                            </p:stCondLst>
                            <p:childTnLst>
                              <p:par>
                                <p:cTn id="16" presetID="2" presetClass="entr" presetSubtype="4" fill="hold" nodeType="clickEffect">
                                  <p:stCondLst>
                                    <p:cond delay="0"/>
                                  </p:stCondLst>
                                  <p:childTnLst>
                                    <p:set>
                                      <p:cBhvr>
                                        <p:cTn id="17" dur="1" fill="hold">
                                          <p:stCondLst>
                                            <p:cond delay="0"/>
                                          </p:stCondLst>
                                        </p:cTn>
                                        <p:tgtEl>
                                          <p:spTgt spid="3">
                                            <p:txEl>
                                              <p:pRg st="1" end="1"/>
                                            </p:txEl>
                                          </p:spTgt>
                                        </p:tgtEl>
                                        <p:attrNameLst>
                                          <p:attrName>style.visibility</p:attrName>
                                        </p:attrNameLst>
                                      </p:cBhvr>
                                      <p:to>
                                        <p:strVal val="visible"/>
                                      </p:to>
                                    </p:set>
                                    <p:anim calcmode="lin" valueType="num">
                                      <p:cBhvr additive="base">
                                        <p:cTn id="18"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19"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nodeType="clickEffect">
                                  <p:stCondLst>
                                    <p:cond delay="0"/>
                                  </p:stCondLst>
                                  <p:childTnLst>
                                    <p:set>
                                      <p:cBhvr>
                                        <p:cTn id="23" dur="1" fill="hold">
                                          <p:stCondLst>
                                            <p:cond delay="0"/>
                                          </p:stCondLst>
                                        </p:cTn>
                                        <p:tgtEl>
                                          <p:spTgt spid="3">
                                            <p:txEl>
                                              <p:pRg st="2" end="2"/>
                                            </p:txEl>
                                          </p:spTgt>
                                        </p:tgtEl>
                                        <p:attrNameLst>
                                          <p:attrName>style.visibility</p:attrName>
                                        </p:attrNameLst>
                                      </p:cBhvr>
                                      <p:to>
                                        <p:strVal val="visible"/>
                                      </p:to>
                                    </p:set>
                                    <p:anim calcmode="lin" valueType="num">
                                      <p:cBhvr additive="base">
                                        <p:cTn id="24"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1629103"/>
            <a:ext cx="10681138" cy="1276657"/>
          </a:xfrm>
        </p:spPr>
        <p:txBody>
          <a:bodyPr>
            <a:noAutofit/>
          </a:bodyPr>
          <a:lstStyle/>
          <a:p>
            <a:pPr algn="ctr"/>
            <a:r>
              <a:rPr lang="en-US" sz="3600" b="1" dirty="0">
                <a:solidFill>
                  <a:schemeClr val="tx2"/>
                </a:solidFill>
                <a:latin typeface="Arial" panose="020B0604020202020204" pitchFamily="34" charset="0"/>
                <a:ea typeface="Bright Retro"/>
                <a:cs typeface="Arial" panose="020B0604020202020204" pitchFamily="34" charset="0"/>
                <a:sym typeface="Bright Retro"/>
              </a:rPr>
              <a:t>Client Requirements</a:t>
            </a:r>
            <a:r>
              <a:rPr lang="en-US" sz="4800" b="1" dirty="0">
                <a:solidFill>
                  <a:schemeClr val="tx2"/>
                </a:solidFill>
                <a:latin typeface="Bright Retro"/>
                <a:ea typeface="Bright Retro"/>
                <a:cs typeface="Bright Retro"/>
                <a:sym typeface="Bright Retro"/>
              </a:rPr>
              <a:t> </a:t>
            </a:r>
            <a:br>
              <a:rPr lang="en-US" sz="4800" b="1" dirty="0">
                <a:solidFill>
                  <a:schemeClr val="tx2"/>
                </a:solidFill>
                <a:latin typeface="Bright Retro"/>
                <a:ea typeface="Bright Retro"/>
                <a:cs typeface="Bright Retro"/>
                <a:sym typeface="Bright Retro"/>
              </a:rPr>
            </a:br>
            <a:endParaRPr lang="ar-EG" sz="4800" b="1" dirty="0">
              <a:solidFill>
                <a:schemeClr val="tx2"/>
              </a:solidFill>
            </a:endParaRPr>
          </a:p>
        </p:txBody>
      </p:sp>
      <p:sp>
        <p:nvSpPr>
          <p:cNvPr id="6" name="TextBox 5"/>
          <p:cNvSpPr txBox="1"/>
          <p:nvPr/>
        </p:nvSpPr>
        <p:spPr>
          <a:xfrm>
            <a:off x="672662" y="2411759"/>
            <a:ext cx="10920248" cy="4188460"/>
          </a:xfrm>
          <a:prstGeom prst="rect">
            <a:avLst/>
          </a:prstGeom>
          <a:noFill/>
        </p:spPr>
        <p:txBody>
          <a:bodyPr wrap="square">
            <a:spAutoFit/>
          </a:bodyPr>
          <a:lstStyle/>
          <a:p>
            <a:pPr marL="342900" indent="-342900">
              <a:lnSpc>
                <a:spcPts val="5325"/>
              </a:lnSpc>
              <a:buFont typeface="Arial" panose="020B0604020202020204" pitchFamily="34" charset="0"/>
              <a:buChar char="•"/>
            </a:pPr>
            <a:r>
              <a:rPr lang="en-GB" sz="2000" b="1" dirty="0">
                <a:latin typeface="Arial Narrow" panose="020B0606020202030204" charset="0"/>
                <a:cs typeface="Arial Narrow" panose="020B0606020202030204" charset="0"/>
              </a:rPr>
              <a:t>Record and manage Vendor invoices </a:t>
            </a:r>
          </a:p>
          <a:p>
            <a:pPr marL="342900" indent="-342900">
              <a:lnSpc>
                <a:spcPts val="5325"/>
              </a:lnSpc>
              <a:buFont typeface="Arial" panose="020B0604020202020204" pitchFamily="34" charset="0"/>
              <a:buChar char="•"/>
            </a:pPr>
            <a:r>
              <a:rPr lang="en-GB" sz="2000" b="1" dirty="0">
                <a:latin typeface="Arial Narrow" panose="020B0606020202030204" charset="0"/>
                <a:cs typeface="Arial Narrow" panose="020B0606020202030204" charset="0"/>
              </a:rPr>
              <a:t>Track due payments and manage vendor credit terms</a:t>
            </a:r>
          </a:p>
          <a:p>
            <a:pPr marL="342900" indent="-342900">
              <a:lnSpc>
                <a:spcPts val="5325"/>
              </a:lnSpc>
              <a:buFont typeface="Arial" panose="020B0604020202020204" pitchFamily="34" charset="0"/>
              <a:buChar char="•"/>
            </a:pPr>
            <a:r>
              <a:rPr lang="en-GB" sz="2000" b="1" dirty="0">
                <a:latin typeface="Arial Narrow" panose="020B0606020202030204" charset="0"/>
                <a:cs typeface="Arial Narrow" panose="020B0606020202030204" charset="0"/>
              </a:rPr>
              <a:t> Manage purchase orders linked with Vendor payments  </a:t>
            </a:r>
          </a:p>
          <a:p>
            <a:pPr marL="342900" indent="-342900">
              <a:lnSpc>
                <a:spcPts val="5325"/>
              </a:lnSpc>
              <a:buFont typeface="Arial" panose="020B0604020202020204" pitchFamily="34" charset="0"/>
              <a:buChar char="•"/>
            </a:pPr>
            <a:r>
              <a:rPr lang="en-GB" sz="2000" b="1" dirty="0">
                <a:latin typeface="Arial Narrow" panose="020B0606020202030204" charset="0"/>
                <a:cs typeface="Arial Narrow" panose="020B0606020202030204" charset="0"/>
              </a:rPr>
              <a:t>Automate payment processing and reconciliation </a:t>
            </a:r>
          </a:p>
          <a:p>
            <a:pPr marL="342900" indent="-342900">
              <a:lnSpc>
                <a:spcPts val="5325"/>
              </a:lnSpc>
              <a:buFont typeface="Arial" panose="020B0604020202020204" pitchFamily="34" charset="0"/>
              <a:buChar char="•"/>
            </a:pPr>
            <a:r>
              <a:rPr lang="en-GB" sz="2000" b="1" dirty="0">
                <a:latin typeface="Arial Narrow" panose="020B0606020202030204" charset="0"/>
                <a:cs typeface="Arial Narrow" panose="020B0606020202030204" charset="0"/>
              </a:rPr>
              <a:t>Generate financial reports related to Vendor balances </a:t>
            </a:r>
          </a:p>
          <a:p>
            <a:pPr marL="342900" indent="-342900">
              <a:lnSpc>
                <a:spcPts val="5325"/>
              </a:lnSpc>
              <a:buFont typeface="Arial" panose="020B0604020202020204" pitchFamily="34" charset="0"/>
              <a:buChar char="•"/>
            </a:pPr>
            <a:r>
              <a:rPr lang="en-GB" sz="2000" b="1" dirty="0">
                <a:latin typeface="Arial Narrow" panose="020B0606020202030204" charset="0"/>
                <a:cs typeface="Arial Narrow" panose="020B0606020202030204" charset="0"/>
              </a:rPr>
              <a:t>Provide training to the accounting team on the new system</a:t>
            </a:r>
            <a:r>
              <a:rPr lang="en-GB" sz="2800" b="1" dirty="0">
                <a:latin typeface="Arial Narrow" panose="020B0606020202030204" charset="0"/>
                <a:cs typeface="Arial Narrow" panose="020B0606020202030204" charset="0"/>
              </a:rPr>
              <a:t>.</a:t>
            </a:r>
            <a:endParaRPr lang="ar-EG" sz="2800" b="1" dirty="0">
              <a:latin typeface="Arial Narrow" panose="020B0606020202030204" charset="0"/>
              <a:cs typeface="Arial Narrow" panose="020B0606020202030204" charset="0"/>
            </a:endParaRP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10" y="-167"/>
            <a:ext cx="1417559" cy="1303240"/>
          </a:xfrm>
          <a:prstGeom prst="rect">
            <a:avLst/>
          </a:prstGeom>
        </p:spPr>
      </p:pic>
      <p:pic>
        <p:nvPicPr>
          <p:cNvPr id="8" name="Pictur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86"/>
            <a:ext cx="1774776" cy="69334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6">
                                            <p:txEl>
                                              <p:pRg st="0" end="0"/>
                                            </p:txEl>
                                          </p:spTgt>
                                        </p:tgtEl>
                                        <p:attrNameLst>
                                          <p:attrName>style.visibility</p:attrName>
                                        </p:attrNameLst>
                                      </p:cBhvr>
                                      <p:to>
                                        <p:strVal val="visible"/>
                                      </p:to>
                                    </p:set>
                                    <p:animEffect transition="in" filter="barn(inVertical)">
                                      <p:cBhvr>
                                        <p:cTn id="12" dur="500"/>
                                        <p:tgtEl>
                                          <p:spTgt spid="6">
                                            <p:txEl>
                                              <p:pRg st="0" end="0"/>
                                            </p:txEl>
                                          </p:spTgt>
                                        </p:tgtEl>
                                      </p:cBhvr>
                                    </p:animEffect>
                                  </p:childTnLst>
                                </p:cTn>
                              </p:par>
                              <p:par>
                                <p:cTn id="13" presetID="16" presetClass="entr" presetSubtype="21" fill="hold" nodeType="withEffect">
                                  <p:stCondLst>
                                    <p:cond delay="0"/>
                                  </p:stCondLst>
                                  <p:childTnLst>
                                    <p:set>
                                      <p:cBhvr>
                                        <p:cTn id="14" dur="1" fill="hold">
                                          <p:stCondLst>
                                            <p:cond delay="0"/>
                                          </p:stCondLst>
                                        </p:cTn>
                                        <p:tgtEl>
                                          <p:spTgt spid="6">
                                            <p:txEl>
                                              <p:pRg st="1" end="1"/>
                                            </p:txEl>
                                          </p:spTgt>
                                        </p:tgtEl>
                                        <p:attrNameLst>
                                          <p:attrName>style.visibility</p:attrName>
                                        </p:attrNameLst>
                                      </p:cBhvr>
                                      <p:to>
                                        <p:strVal val="visible"/>
                                      </p:to>
                                    </p:set>
                                    <p:animEffect transition="in" filter="barn(inVertical)">
                                      <p:cBhvr>
                                        <p:cTn id="15" dur="500"/>
                                        <p:tgtEl>
                                          <p:spTgt spid="6">
                                            <p:txEl>
                                              <p:pRg st="1" end="1"/>
                                            </p:txEl>
                                          </p:spTgt>
                                        </p:tgtEl>
                                      </p:cBhvr>
                                    </p:animEffect>
                                  </p:childTnLst>
                                </p:cTn>
                              </p:par>
                              <p:par>
                                <p:cTn id="16" presetID="16" presetClass="entr" presetSubtype="21" fill="hold" nodeType="withEffect">
                                  <p:stCondLst>
                                    <p:cond delay="0"/>
                                  </p:stCondLst>
                                  <p:childTnLst>
                                    <p:set>
                                      <p:cBhvr>
                                        <p:cTn id="17" dur="1" fill="hold">
                                          <p:stCondLst>
                                            <p:cond delay="0"/>
                                          </p:stCondLst>
                                        </p:cTn>
                                        <p:tgtEl>
                                          <p:spTgt spid="6">
                                            <p:txEl>
                                              <p:pRg st="2" end="2"/>
                                            </p:txEl>
                                          </p:spTgt>
                                        </p:tgtEl>
                                        <p:attrNameLst>
                                          <p:attrName>style.visibility</p:attrName>
                                        </p:attrNameLst>
                                      </p:cBhvr>
                                      <p:to>
                                        <p:strVal val="visible"/>
                                      </p:to>
                                    </p:set>
                                    <p:animEffect transition="in" filter="barn(inVertical)">
                                      <p:cBhvr>
                                        <p:cTn id="18" dur="500"/>
                                        <p:tgtEl>
                                          <p:spTgt spid="6">
                                            <p:txEl>
                                              <p:pRg st="2" end="2"/>
                                            </p:txEl>
                                          </p:spTgt>
                                        </p:tgtEl>
                                      </p:cBhvr>
                                    </p:animEffect>
                                  </p:childTnLst>
                                </p:cTn>
                              </p:par>
                              <p:par>
                                <p:cTn id="19" presetID="16" presetClass="entr" presetSubtype="21" fill="hold" nodeType="with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animEffect transition="in" filter="barn(inVertical)">
                                      <p:cBhvr>
                                        <p:cTn id="21" dur="500"/>
                                        <p:tgtEl>
                                          <p:spTgt spid="6">
                                            <p:txEl>
                                              <p:pRg st="3" end="3"/>
                                            </p:txEl>
                                          </p:spTgt>
                                        </p:tgtEl>
                                      </p:cBhvr>
                                    </p:animEffect>
                                  </p:childTnLst>
                                </p:cTn>
                              </p:par>
                              <p:par>
                                <p:cTn id="22" presetID="16" presetClass="entr" presetSubtype="21" fill="hold" nodeType="withEffect">
                                  <p:stCondLst>
                                    <p:cond delay="0"/>
                                  </p:stCondLst>
                                  <p:childTnLst>
                                    <p:set>
                                      <p:cBhvr>
                                        <p:cTn id="23" dur="1" fill="hold">
                                          <p:stCondLst>
                                            <p:cond delay="0"/>
                                          </p:stCondLst>
                                        </p:cTn>
                                        <p:tgtEl>
                                          <p:spTgt spid="6">
                                            <p:txEl>
                                              <p:pRg st="4" end="4"/>
                                            </p:txEl>
                                          </p:spTgt>
                                        </p:tgtEl>
                                        <p:attrNameLst>
                                          <p:attrName>style.visibility</p:attrName>
                                        </p:attrNameLst>
                                      </p:cBhvr>
                                      <p:to>
                                        <p:strVal val="visible"/>
                                      </p:to>
                                    </p:set>
                                    <p:animEffect transition="in" filter="barn(inVertical)">
                                      <p:cBhvr>
                                        <p:cTn id="24" dur="500"/>
                                        <p:tgtEl>
                                          <p:spTgt spid="6">
                                            <p:txEl>
                                              <p:pRg st="4" end="4"/>
                                            </p:txEl>
                                          </p:spTgt>
                                        </p:tgtEl>
                                      </p:cBhvr>
                                    </p:animEffect>
                                  </p:childTnLst>
                                </p:cTn>
                              </p:par>
                              <p:par>
                                <p:cTn id="25" presetID="16" presetClass="entr" presetSubtype="21" fill="hold" nodeType="withEffect">
                                  <p:stCondLst>
                                    <p:cond delay="0"/>
                                  </p:stCondLst>
                                  <p:childTnLst>
                                    <p:set>
                                      <p:cBhvr>
                                        <p:cTn id="26" dur="1" fill="hold">
                                          <p:stCondLst>
                                            <p:cond delay="0"/>
                                          </p:stCondLst>
                                        </p:cTn>
                                        <p:tgtEl>
                                          <p:spTgt spid="6">
                                            <p:txEl>
                                              <p:pRg st="5" end="5"/>
                                            </p:txEl>
                                          </p:spTgt>
                                        </p:tgtEl>
                                        <p:attrNameLst>
                                          <p:attrName>style.visibility</p:attrName>
                                        </p:attrNameLst>
                                      </p:cBhvr>
                                      <p:to>
                                        <p:strVal val="visible"/>
                                      </p:to>
                                    </p:set>
                                    <p:animEffect transition="in" filter="barn(inVertical)">
                                      <p:cBhvr>
                                        <p:cTn id="27" dur="500"/>
                                        <p:tgtEl>
                                          <p:spTgt spid="6">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0" y="950595"/>
            <a:ext cx="12191728" cy="2342515"/>
          </a:xfrm>
        </p:spPr>
        <p:txBody>
          <a:bodyPr>
            <a:noAutofit/>
          </a:bodyPr>
          <a:lstStyle/>
          <a:p>
            <a:pPr algn="ctr"/>
            <a:r>
              <a:rPr lang="en-US" sz="3600" b="1" dirty="0">
                <a:solidFill>
                  <a:schemeClr val="tx2"/>
                </a:solidFill>
                <a:latin typeface="Arial" panose="020B0604020202020204" pitchFamily="34" charset="0"/>
                <a:ea typeface="Bright Retro"/>
                <a:cs typeface="Arial" panose="020B0604020202020204" pitchFamily="34" charset="0"/>
                <a:sym typeface="Bright Retro"/>
              </a:rPr>
              <a:t>Company Financial Setup</a:t>
            </a:r>
            <a:br>
              <a:rPr lang="en-US" sz="4800" b="1" dirty="0">
                <a:solidFill>
                  <a:schemeClr val="tx2"/>
                </a:solidFill>
                <a:latin typeface="Bright Retro"/>
                <a:ea typeface="Bright Retro"/>
                <a:cs typeface="Bright Retro"/>
                <a:sym typeface="Bright Retro"/>
              </a:rPr>
            </a:br>
            <a:r>
              <a:rPr lang="en-US" sz="3600" b="1" dirty="0">
                <a:solidFill>
                  <a:schemeClr val="tx2"/>
                </a:solidFill>
                <a:latin typeface="Arial" panose="020B0604020202020204" pitchFamily="34" charset="0"/>
                <a:ea typeface="Bright Retro"/>
                <a:cs typeface="Arial" panose="020B0604020202020204" pitchFamily="34" charset="0"/>
                <a:sym typeface="Bright Retro"/>
              </a:rPr>
              <a:t>Legal entities</a:t>
            </a:r>
            <a:br>
              <a:rPr lang="en-US" sz="3600" b="1" dirty="0">
                <a:solidFill>
                  <a:schemeClr val="tx2"/>
                </a:solidFill>
                <a:latin typeface="Arial" panose="020B0604020202020204" pitchFamily="34" charset="0"/>
                <a:ea typeface="Bright Retro"/>
                <a:cs typeface="Arial" panose="020B0604020202020204" pitchFamily="34" charset="0"/>
                <a:sym typeface="Bright Retro"/>
              </a:rPr>
            </a:br>
            <a:br>
              <a:rPr lang="en-US" sz="1800" b="1" dirty="0">
                <a:solidFill>
                  <a:schemeClr val="tx2"/>
                </a:solidFill>
                <a:latin typeface="Arial" panose="020B0604020202020204" pitchFamily="34" charset="0"/>
                <a:ea typeface="Bright Retro"/>
                <a:cs typeface="Arial" panose="020B0604020202020204" pitchFamily="34" charset="0"/>
                <a:sym typeface="Bright Retro"/>
              </a:rPr>
            </a:br>
            <a:r>
              <a:rPr lang="en-US" sz="1800" b="1"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The first step is to create a new Legal Entity containing the company name, country, and company data.</a:t>
            </a:r>
            <a:br>
              <a:rPr lang="en-US" sz="1800" b="1"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br>
            <a:br>
              <a:rPr lang="en-US" sz="2000" b="1"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br>
            <a:r>
              <a:rPr lang="en-US" sz="2400" b="1" kern="1400" dirty="0">
                <a:solidFill>
                  <a:srgbClr val="002060"/>
                </a:solidFill>
                <a:effectLst/>
                <a:latin typeface="Arial" panose="020B0604020202020204" pitchFamily="34" charset="0"/>
                <a:cs typeface="Arial" panose="020B0604020202020204" pitchFamily="34" charset="0"/>
                <a:sym typeface="+mn-ea"/>
              </a:rPr>
              <a:t>Form path </a:t>
            </a:r>
            <a:r>
              <a:rPr lang="en-US" sz="2400" kern="1400" dirty="0">
                <a:solidFill>
                  <a:srgbClr val="002060"/>
                </a:solidFill>
                <a:effectLst/>
                <a:latin typeface="Arial" panose="020B0604020202020204" pitchFamily="34" charset="0"/>
                <a:cs typeface="Arial" panose="020B0604020202020204" pitchFamily="34" charset="0"/>
                <a:sym typeface="+mn-ea"/>
              </a:rPr>
              <a:t>    </a:t>
            </a:r>
            <a:r>
              <a:rPr lang="en-US" altLang="en-US" sz="2000" b="1" dirty="0">
                <a:ln w="0"/>
                <a:solidFill>
                  <a:srgbClr val="002060"/>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Organization administration&gt;Organiztion&gt;Legal </a:t>
            </a:r>
            <a:r>
              <a:rPr lang="en-US" altLang="en-US" sz="2000" b="1" dirty="0" err="1">
                <a:ln w="0"/>
                <a:solidFill>
                  <a:srgbClr val="002060"/>
                </a:solidFill>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entitites</a:t>
            </a:r>
            <a:br>
              <a:rPr lang="en-US" altLang="en-US" sz="2000" b="1"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br>
            <a:r>
              <a:rPr lang="en-US" altLang="en-US" sz="2000" b="1" dirty="0">
                <a:ln w="0"/>
                <a:effectLst>
                  <a:outerShdw blurRad="38100" dist="25400" dir="5400000" algn="ctr" rotWithShape="0">
                    <a:srgbClr val="6E747A">
                      <a:alpha val="43000"/>
                    </a:srgbClr>
                  </a:outerShdw>
                </a:effectLst>
                <a:latin typeface="Arial" panose="020B0604020202020204" pitchFamily="34" charset="0"/>
                <a:cs typeface="Arial" panose="020B0604020202020204" pitchFamily="34" charset="0"/>
              </a:rPr>
              <a:t> </a:t>
            </a:r>
            <a:br>
              <a:rPr lang="en-US" sz="2000" b="1" dirty="0">
                <a:ln w="0"/>
                <a:effectLst>
                  <a:outerShdw blurRad="38100" dist="25400" dir="5400000" algn="ctr" rotWithShape="0">
                    <a:srgbClr val="6E747A">
                      <a:alpha val="43000"/>
                    </a:srgbClr>
                  </a:outerShdw>
                </a:effectLst>
                <a:latin typeface="Arial Narrow" panose="020B0606020202030204" charset="0"/>
                <a:cs typeface="Arial Narrow" panose="020B0606020202030204" charset="0"/>
              </a:rPr>
            </a:br>
            <a:endParaRPr lang="ar-EG" sz="2000" b="1" dirty="0">
              <a:solidFill>
                <a:schemeClr val="tx2"/>
              </a:solidFill>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67"/>
            <a:ext cx="1417559" cy="1303240"/>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86"/>
            <a:ext cx="1774776" cy="693347"/>
          </a:xfrm>
          <a:prstGeom prst="rect">
            <a:avLst/>
          </a:prstGeom>
        </p:spPr>
      </p:pic>
      <p:pic>
        <p:nvPicPr>
          <p:cNvPr id="3" name="Picture 2"/>
          <p:cNvPicPr>
            <a:picLocks noChangeAspect="1"/>
          </p:cNvPicPr>
          <p:nvPr/>
        </p:nvPicPr>
        <p:blipFill>
          <a:blip r:embed="rId4"/>
          <a:stretch>
            <a:fillRect/>
          </a:stretch>
        </p:blipFill>
        <p:spPr>
          <a:xfrm>
            <a:off x="0" y="3018155"/>
            <a:ext cx="12192000" cy="385635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1629103"/>
            <a:ext cx="10210014" cy="1276657"/>
          </a:xfrm>
        </p:spPr>
        <p:txBody>
          <a:bodyPr>
            <a:noAutofit/>
          </a:bodyPr>
          <a:lstStyle/>
          <a:p>
            <a:pPr algn="ctr"/>
            <a:r>
              <a:rPr lang="en-US" sz="3600" b="1" dirty="0">
                <a:solidFill>
                  <a:schemeClr val="tx2"/>
                </a:solidFill>
                <a:latin typeface="Arial" panose="020B0604020202020204" pitchFamily="34" charset="0"/>
                <a:ea typeface="Bright Retro"/>
                <a:cs typeface="Arial" panose="020B0604020202020204" pitchFamily="34" charset="0"/>
                <a:sym typeface="Bright Retro"/>
              </a:rPr>
              <a:t>General Ledger Setup  Financial Setup</a:t>
            </a:r>
            <a:br>
              <a:rPr lang="en-US" sz="4800" b="1" dirty="0">
                <a:solidFill>
                  <a:schemeClr val="tx2"/>
                </a:solidFill>
                <a:latin typeface="Bright Retro"/>
                <a:ea typeface="Bright Retro"/>
                <a:cs typeface="Bright Retro"/>
                <a:sym typeface="Bright Retro"/>
              </a:rPr>
            </a:br>
            <a:endParaRPr lang="ar-EG" sz="4800" b="1" dirty="0">
              <a:solidFill>
                <a:schemeClr val="tx2"/>
              </a:solidFill>
            </a:endParaRP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67"/>
            <a:ext cx="1417559" cy="1303240"/>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86"/>
            <a:ext cx="1774776" cy="693347"/>
          </a:xfrm>
          <a:prstGeom prst="rect">
            <a:avLst/>
          </a:prstGeom>
        </p:spPr>
      </p:pic>
      <p:graphicFrame>
        <p:nvGraphicFramePr>
          <p:cNvPr id="10" name="Diagram 9"/>
          <p:cNvGraphicFramePr/>
          <p:nvPr/>
        </p:nvGraphicFramePr>
        <p:xfrm>
          <a:off x="1983510" y="2218543"/>
          <a:ext cx="8074889" cy="4467069"/>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barn(inVertical)">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817245"/>
            <a:ext cx="10515600" cy="302260"/>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Charts of accounts</a:t>
            </a: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00" y="111593"/>
            <a:ext cx="1417559" cy="1303240"/>
          </a:xfrm>
          <a:prstGeom prst="rect">
            <a:avLst/>
          </a:prstGeom>
        </p:spPr>
      </p:pic>
      <p:pic>
        <p:nvPicPr>
          <p:cNvPr id="10" name="Pictur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25295"/>
            <a:ext cx="1774776" cy="693347"/>
          </a:xfrm>
          <a:prstGeom prst="rect">
            <a:avLst/>
          </a:prstGeom>
        </p:spPr>
      </p:pic>
      <p:graphicFrame>
        <p:nvGraphicFramePr>
          <p:cNvPr id="4" name="Table 3"/>
          <p:cNvGraphicFramePr>
            <a:graphicFrameLocks noGrp="1"/>
          </p:cNvGraphicFramePr>
          <p:nvPr/>
        </p:nvGraphicFramePr>
        <p:xfrm>
          <a:off x="1229194" y="1825157"/>
          <a:ext cx="8634334" cy="3205196"/>
        </p:xfrm>
        <a:graphic>
          <a:graphicData uri="http://schemas.openxmlformats.org/drawingml/2006/table">
            <a:tbl>
              <a:tblPr firstRow="1" firstCol="1" bandRow="1">
                <a:tableStyleId>{5C22544A-7EE6-4342-B048-85BDC9FD1C3A}</a:tableStyleId>
              </a:tblPr>
              <a:tblGrid>
                <a:gridCol w="2226880">
                  <a:extLst>
                    <a:ext uri="{9D8B030D-6E8A-4147-A177-3AD203B41FA5}">
                      <a16:colId xmlns:a16="http://schemas.microsoft.com/office/drawing/2014/main" val="20000"/>
                    </a:ext>
                  </a:extLst>
                </a:gridCol>
                <a:gridCol w="6407454">
                  <a:extLst>
                    <a:ext uri="{9D8B030D-6E8A-4147-A177-3AD203B41FA5}">
                      <a16:colId xmlns:a16="http://schemas.microsoft.com/office/drawing/2014/main" val="20001"/>
                    </a:ext>
                  </a:extLst>
                </a:gridCol>
              </a:tblGrid>
              <a:tr h="608824">
                <a:tc>
                  <a:txBody>
                    <a:bodyPr/>
                    <a:lstStyle/>
                    <a:p>
                      <a:pPr>
                        <a:lnSpc>
                          <a:spcPct val="150000"/>
                        </a:lnSpc>
                        <a:spcBef>
                          <a:spcPts val="600"/>
                        </a:spcBef>
                        <a:buNone/>
                      </a:pPr>
                      <a:r>
                        <a:rPr lang="en-US" sz="2000" kern="1400">
                          <a:effectLst/>
                        </a:rPr>
                        <a:t>Process code</a:t>
                      </a:r>
                      <a:endParaRPr lang="en-US" sz="20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2000" kern="1400">
                          <a:effectLst/>
                        </a:rPr>
                        <a:t>01.01.01. Financial Management </a:t>
                      </a:r>
                      <a:endParaRPr lang="en-US" sz="20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608824">
                <a:tc>
                  <a:txBody>
                    <a:bodyPr/>
                    <a:lstStyle/>
                    <a:p>
                      <a:pPr>
                        <a:lnSpc>
                          <a:spcPct val="150000"/>
                        </a:lnSpc>
                        <a:spcBef>
                          <a:spcPts val="600"/>
                        </a:spcBef>
                        <a:buNone/>
                      </a:pPr>
                      <a:r>
                        <a:rPr lang="en-US" sz="2000" kern="1400">
                          <a:effectLst/>
                        </a:rPr>
                        <a:t>Process name</a:t>
                      </a:r>
                      <a:endParaRPr lang="en-US" sz="20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2000" kern="1400">
                          <a:effectLst/>
                        </a:rPr>
                        <a:t>Chart of accounts</a:t>
                      </a:r>
                      <a:endParaRPr lang="en-US" sz="20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993774">
                <a:tc>
                  <a:txBody>
                    <a:bodyPr/>
                    <a:lstStyle/>
                    <a:p>
                      <a:pPr>
                        <a:lnSpc>
                          <a:spcPct val="150000"/>
                        </a:lnSpc>
                        <a:spcBef>
                          <a:spcPts val="600"/>
                        </a:spcBef>
                        <a:buNone/>
                      </a:pPr>
                      <a:r>
                        <a:rPr lang="en-US" sz="2000" kern="1400">
                          <a:effectLst/>
                        </a:rPr>
                        <a:t>Process description</a:t>
                      </a:r>
                      <a:endParaRPr lang="en-US" sz="20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2000" kern="1400">
                          <a:effectLst/>
                        </a:rPr>
                        <a:t>Main account creation</a:t>
                      </a:r>
                      <a:endParaRPr lang="en-US" sz="20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993774">
                <a:tc>
                  <a:txBody>
                    <a:bodyPr/>
                    <a:lstStyle/>
                    <a:p>
                      <a:pPr>
                        <a:lnSpc>
                          <a:spcPct val="150000"/>
                        </a:lnSpc>
                        <a:spcBef>
                          <a:spcPts val="600"/>
                        </a:spcBef>
                        <a:buNone/>
                      </a:pPr>
                      <a:r>
                        <a:rPr lang="en-US" sz="2000" kern="1400">
                          <a:effectLst/>
                        </a:rPr>
                        <a:t>Form path</a:t>
                      </a:r>
                      <a:endParaRPr lang="en-US" sz="20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2000" kern="1400" dirty="0">
                          <a:effectLst/>
                        </a:rPr>
                        <a:t>General Ledger &gt;&gt; Chart of accounts &gt;&gt; accounts &gt;&gt; Chart of accounts</a:t>
                      </a:r>
                      <a:endParaRPr lang="en-US" sz="2000"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28535" y="1480984"/>
            <a:ext cx="10515600" cy="1037364"/>
          </a:xfrm>
        </p:spPr>
        <p:txBody>
          <a:bodyPr>
            <a:noAutofit/>
          </a:bodyPr>
          <a:lstStyle/>
          <a:p>
            <a:pPr>
              <a:lnSpc>
                <a:spcPts val="8170"/>
              </a:lnSpc>
            </a:pPr>
            <a:r>
              <a:rPr lang="en-US" sz="2800" b="1" dirty="0">
                <a:solidFill>
                  <a:schemeClr val="tx2"/>
                </a:solidFill>
                <a:latin typeface="Arial" panose="020B0604020202020204" pitchFamily="34" charset="0"/>
                <a:ea typeface="Bright Retro"/>
                <a:cs typeface="Arial" panose="020B0604020202020204" pitchFamily="34" charset="0"/>
                <a:sym typeface="Bright Retro"/>
              </a:rPr>
              <a:t>•	 Create the main accounts in the chart of accounts.</a:t>
            </a: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00" y="111593"/>
            <a:ext cx="1417559" cy="1303240"/>
          </a:xfrm>
          <a:prstGeom prst="rect">
            <a:avLst/>
          </a:prstGeom>
        </p:spPr>
      </p:pic>
      <p:pic>
        <p:nvPicPr>
          <p:cNvPr id="10" name="Pictur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25295"/>
            <a:ext cx="1774776" cy="693347"/>
          </a:xfrm>
          <a:prstGeom prst="rect">
            <a:avLst/>
          </a:prstGeom>
        </p:spPr>
      </p:pic>
      <p:pic>
        <p:nvPicPr>
          <p:cNvPr id="11" name="Picture 10"/>
          <p:cNvPicPr>
            <a:picLocks noChangeAspect="1"/>
          </p:cNvPicPr>
          <p:nvPr/>
        </p:nvPicPr>
        <p:blipFill>
          <a:blip r:embed="rId4"/>
          <a:stretch>
            <a:fillRect/>
          </a:stretch>
        </p:blipFill>
        <p:spPr>
          <a:xfrm>
            <a:off x="0" y="2584500"/>
            <a:ext cx="12192000" cy="4324716"/>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28535" y="1600150"/>
            <a:ext cx="10515600" cy="693346"/>
          </a:xfrm>
        </p:spPr>
        <p:txBody>
          <a:bodyPr>
            <a:noAutofit/>
          </a:bodyPr>
          <a:lstStyle/>
          <a:p>
            <a:pPr>
              <a:lnSpc>
                <a:spcPts val="8170"/>
              </a:lnSpc>
            </a:pPr>
            <a:r>
              <a:rPr lang="en-US" sz="2800" b="1" dirty="0">
                <a:solidFill>
                  <a:schemeClr val="tx2"/>
                </a:solidFill>
                <a:latin typeface="Arial" panose="020B0604020202020204" pitchFamily="34" charset="0"/>
                <a:ea typeface="Bright Retro"/>
                <a:cs typeface="Arial" panose="020B0604020202020204" pitchFamily="34" charset="0"/>
                <a:sym typeface="Bright Retro"/>
              </a:rPr>
              <a:t>	</a:t>
            </a: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00" y="111593"/>
            <a:ext cx="1417559" cy="1303240"/>
          </a:xfrm>
          <a:prstGeom prst="rect">
            <a:avLst/>
          </a:prstGeom>
        </p:spPr>
      </p:pic>
      <p:pic>
        <p:nvPicPr>
          <p:cNvPr id="10" name="Pictur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25295"/>
            <a:ext cx="1774776" cy="693347"/>
          </a:xfrm>
          <a:prstGeom prst="rect">
            <a:avLst/>
          </a:prstGeom>
        </p:spPr>
      </p:pic>
      <p:sp>
        <p:nvSpPr>
          <p:cNvPr id="13" name="TextBox 12"/>
          <p:cNvSpPr txBox="1"/>
          <p:nvPr/>
        </p:nvSpPr>
        <p:spPr>
          <a:xfrm>
            <a:off x="794479" y="1577491"/>
            <a:ext cx="9622473" cy="954107"/>
          </a:xfrm>
          <a:prstGeom prst="rect">
            <a:avLst/>
          </a:prstGeom>
          <a:noFill/>
        </p:spPr>
        <p:txBody>
          <a:bodyPr wrap="square">
            <a:spAutoFit/>
          </a:bodyPr>
          <a:lstStyle/>
          <a:p>
            <a:pPr algn="ctr"/>
            <a:r>
              <a:rPr lang="en-US" sz="2800" b="1" dirty="0">
                <a:solidFill>
                  <a:srgbClr val="002060"/>
                </a:solidFill>
                <a:latin typeface="Arial" panose="020B0604020202020204" pitchFamily="34" charset="0"/>
                <a:cs typeface="Arial" panose="020B0604020202020204" pitchFamily="34" charset="0"/>
              </a:rPr>
              <a:t>	Clicking New will open the creation of the new account form.</a:t>
            </a:r>
            <a:endParaRPr lang="ar-EG" sz="2800" b="1" dirty="0">
              <a:solidFill>
                <a:srgbClr val="002060"/>
              </a:solidFill>
              <a:latin typeface="Arial" panose="020B0604020202020204" pitchFamily="34" charset="0"/>
              <a:cs typeface="Arial" panose="020B0604020202020204" pitchFamily="34" charset="0"/>
            </a:endParaRPr>
          </a:p>
        </p:txBody>
      </p:sp>
      <p:pic>
        <p:nvPicPr>
          <p:cNvPr id="15" name="Picture 14"/>
          <p:cNvPicPr>
            <a:picLocks noChangeAspect="1"/>
          </p:cNvPicPr>
          <p:nvPr/>
        </p:nvPicPr>
        <p:blipFill>
          <a:blip r:embed="rId4"/>
          <a:stretch>
            <a:fillRect/>
          </a:stretch>
        </p:blipFill>
        <p:spPr>
          <a:xfrm>
            <a:off x="272" y="2478813"/>
            <a:ext cx="12191728" cy="4379187"/>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28535" y="1600150"/>
            <a:ext cx="10515600" cy="693346"/>
          </a:xfrm>
        </p:spPr>
        <p:txBody>
          <a:bodyPr>
            <a:noAutofit/>
          </a:bodyPr>
          <a:lstStyle/>
          <a:p>
            <a:pPr>
              <a:lnSpc>
                <a:spcPts val="8170"/>
              </a:lnSpc>
            </a:pPr>
            <a:r>
              <a:rPr lang="en-US" sz="2800" b="1" dirty="0">
                <a:solidFill>
                  <a:schemeClr val="tx2"/>
                </a:solidFill>
                <a:latin typeface="Arial" panose="020B0604020202020204" pitchFamily="34" charset="0"/>
                <a:ea typeface="Bright Retro"/>
                <a:cs typeface="Arial" panose="020B0604020202020204" pitchFamily="34" charset="0"/>
                <a:sym typeface="Bright Retro"/>
              </a:rPr>
              <a:t>	</a:t>
            </a: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00" y="111593"/>
            <a:ext cx="1417559" cy="1303240"/>
          </a:xfrm>
          <a:prstGeom prst="rect">
            <a:avLst/>
          </a:prstGeom>
        </p:spPr>
      </p:pic>
      <p:pic>
        <p:nvPicPr>
          <p:cNvPr id="10" name="Pictur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25295"/>
            <a:ext cx="1774776" cy="693347"/>
          </a:xfrm>
          <a:prstGeom prst="rect">
            <a:avLst/>
          </a:prstGeom>
        </p:spPr>
      </p:pic>
      <p:sp>
        <p:nvSpPr>
          <p:cNvPr id="13" name="TextBox 12"/>
          <p:cNvSpPr txBox="1"/>
          <p:nvPr/>
        </p:nvSpPr>
        <p:spPr>
          <a:xfrm>
            <a:off x="328535" y="1600150"/>
            <a:ext cx="7809875" cy="523220"/>
          </a:xfrm>
          <a:prstGeom prst="rect">
            <a:avLst/>
          </a:prstGeom>
          <a:noFill/>
        </p:spPr>
        <p:txBody>
          <a:bodyPr wrap="square">
            <a:spAutoFit/>
          </a:bodyPr>
          <a:lstStyle/>
          <a:p>
            <a:r>
              <a:rPr lang="en-US" sz="2800" b="1">
                <a:solidFill>
                  <a:srgbClr val="002060"/>
                </a:solidFill>
                <a:latin typeface="Arial" panose="020B0604020202020204" pitchFamily="34" charset="0"/>
                <a:cs typeface="Arial" panose="020B0604020202020204" pitchFamily="34" charset="0"/>
              </a:rPr>
              <a:t>Screen Information:</a:t>
            </a:r>
            <a:endParaRPr lang="ar-EG" sz="2800" b="1" dirty="0">
              <a:solidFill>
                <a:srgbClr val="002060"/>
              </a:solidFill>
              <a:latin typeface="Arial" panose="020B0604020202020204" pitchFamily="34" charset="0"/>
              <a:cs typeface="Arial" panose="020B0604020202020204" pitchFamily="34" charset="0"/>
            </a:endParaRPr>
          </a:p>
        </p:txBody>
      </p:sp>
      <p:sp>
        <p:nvSpPr>
          <p:cNvPr id="4" name="TextBox 3"/>
          <p:cNvSpPr txBox="1"/>
          <p:nvPr/>
        </p:nvSpPr>
        <p:spPr>
          <a:xfrm>
            <a:off x="63499" y="2308688"/>
            <a:ext cx="9395294" cy="4093428"/>
          </a:xfrm>
          <a:prstGeom prst="rect">
            <a:avLst/>
          </a:prstGeom>
          <a:noFill/>
        </p:spPr>
        <p:txBody>
          <a:bodyPr wrap="square">
            <a:spAutoFit/>
          </a:bodyPr>
          <a:lstStyle/>
          <a:p>
            <a:r>
              <a:rPr lang="en-US" sz="2000" b="1" dirty="0"/>
              <a:t>1. Enter an account number in the Main account field.</a:t>
            </a:r>
            <a:br>
              <a:rPr lang="en-US" sz="2000" b="1" dirty="0"/>
            </a:br>
            <a:endParaRPr lang="en-US" sz="2000" b="1" dirty="0"/>
          </a:p>
          <a:p>
            <a:r>
              <a:rPr lang="en-US" sz="2000" b="1" dirty="0"/>
              <a:t>2. Enter an account Name in the Name field</a:t>
            </a:r>
            <a:br>
              <a:rPr lang="en-US" sz="2000" b="1" dirty="0"/>
            </a:br>
            <a:endParaRPr lang="en-US" sz="2000" b="1" dirty="0"/>
          </a:p>
          <a:p>
            <a:r>
              <a:rPr lang="en-US" sz="2000" b="1" dirty="0"/>
              <a:t>3. Select the Main Account Type.</a:t>
            </a:r>
          </a:p>
          <a:p>
            <a:r>
              <a:rPr lang="en-US" sz="2000" b="1" dirty="0"/>
              <a:t>4. Select main account category.</a:t>
            </a:r>
            <a:br>
              <a:rPr lang="en-US" sz="2000" b="1" dirty="0"/>
            </a:br>
            <a:endParaRPr lang="en-US" sz="2000" b="1" dirty="0"/>
          </a:p>
          <a:p>
            <a:r>
              <a:rPr lang="en-US" sz="2000" b="1" dirty="0"/>
              <a:t>5. Select the Do not allow entry check box if a user should not be manually entering this account in a journal entry.</a:t>
            </a:r>
            <a:br>
              <a:rPr lang="en-US" sz="2000" b="1" dirty="0"/>
            </a:br>
            <a:r>
              <a:rPr lang="en-US" sz="2000" b="1" dirty="0"/>
              <a:t> By selecting this check box, users are prevented from entering a value for this account.</a:t>
            </a:r>
            <a:br>
              <a:rPr lang="en-US" sz="2000" b="1" dirty="0"/>
            </a:br>
            <a:endParaRPr lang="en-US" sz="2000" b="1" dirty="0"/>
          </a:p>
          <a:p>
            <a:r>
              <a:rPr lang="en-US" sz="2000" b="1" dirty="0"/>
              <a:t>6. Select the Default Currency in the Currency field.</a:t>
            </a:r>
          </a:p>
          <a:p>
            <a:r>
              <a:rPr lang="en-US" sz="2000" b="1" dirty="0"/>
              <a:t>7. Select the foreign currency revaluation check box if should can be used to revalue.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28535" y="1259174"/>
            <a:ext cx="10515600" cy="554636"/>
          </a:xfrm>
        </p:spPr>
        <p:txBody>
          <a:bodyPr>
            <a:noAutofit/>
          </a:bodyPr>
          <a:lstStyle/>
          <a:p>
            <a:pPr algn="ctr"/>
            <a:r>
              <a:rPr lang="x-none" b="1" dirty="0">
                <a:solidFill>
                  <a:srgbClr val="002060"/>
                </a:solidFill>
                <a:latin typeface="Arial" panose="020B0604020202020204" pitchFamily="34" charset="0"/>
                <a:cs typeface="Arial" panose="020B0604020202020204" pitchFamily="34" charset="0"/>
              </a:rPr>
              <a:t>Financial Dimensions</a:t>
            </a:r>
            <a:endParaRPr lang="en-US" b="1" dirty="0">
              <a:solidFill>
                <a:srgbClr val="002060"/>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00" y="111593"/>
            <a:ext cx="1417559" cy="1303240"/>
          </a:xfrm>
          <a:prstGeom prst="rect">
            <a:avLst/>
          </a:prstGeom>
        </p:spPr>
      </p:pic>
      <p:pic>
        <p:nvPicPr>
          <p:cNvPr id="10" name="Pictur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25295"/>
            <a:ext cx="1774776" cy="693347"/>
          </a:xfrm>
          <a:prstGeom prst="rect">
            <a:avLst/>
          </a:prstGeom>
        </p:spPr>
      </p:pic>
      <p:graphicFrame>
        <p:nvGraphicFramePr>
          <p:cNvPr id="3" name="Table 2"/>
          <p:cNvGraphicFramePr>
            <a:graphicFrameLocks noGrp="1"/>
          </p:cNvGraphicFramePr>
          <p:nvPr/>
        </p:nvGraphicFramePr>
        <p:xfrm>
          <a:off x="929390" y="2143592"/>
          <a:ext cx="8721309" cy="3177916"/>
        </p:xfrm>
        <a:graphic>
          <a:graphicData uri="http://schemas.openxmlformats.org/drawingml/2006/table">
            <a:tbl>
              <a:tblPr firstRow="1" firstCol="1" bandRow="1">
                <a:tableStyleId>{5C22544A-7EE6-4342-B048-85BDC9FD1C3A}</a:tableStyleId>
              </a:tblPr>
              <a:tblGrid>
                <a:gridCol w="2249312">
                  <a:extLst>
                    <a:ext uri="{9D8B030D-6E8A-4147-A177-3AD203B41FA5}">
                      <a16:colId xmlns:a16="http://schemas.microsoft.com/office/drawing/2014/main" val="20000"/>
                    </a:ext>
                  </a:extLst>
                </a:gridCol>
                <a:gridCol w="6471997">
                  <a:extLst>
                    <a:ext uri="{9D8B030D-6E8A-4147-A177-3AD203B41FA5}">
                      <a16:colId xmlns:a16="http://schemas.microsoft.com/office/drawing/2014/main" val="20001"/>
                    </a:ext>
                  </a:extLst>
                </a:gridCol>
              </a:tblGrid>
              <a:tr h="517993">
                <a:tc>
                  <a:txBody>
                    <a:bodyPr/>
                    <a:lstStyle/>
                    <a:p>
                      <a:pPr>
                        <a:lnSpc>
                          <a:spcPct val="150000"/>
                        </a:lnSpc>
                        <a:spcBef>
                          <a:spcPts val="600"/>
                        </a:spcBef>
                        <a:buNone/>
                      </a:pPr>
                      <a:r>
                        <a:rPr lang="en-US" sz="1800" b="1" kern="1400">
                          <a:effectLst/>
                          <a:cs typeface="+mn-cs"/>
                        </a:rPr>
                        <a:t>Process code</a:t>
                      </a:r>
                      <a:endParaRPr lang="en-US" sz="1800" b="1" kern="1400">
                        <a:effectLst/>
                        <a:latin typeface="Calibri" panose="020F0502020204030204" pitchFamily="34" charset="0"/>
                        <a:ea typeface="MS Mincho" panose="02020609040205080304" pitchFamily="49" charset="-128"/>
                        <a:cs typeface="+mn-cs"/>
                      </a:endParaRPr>
                    </a:p>
                  </a:txBody>
                  <a:tcPr marL="68580" marR="68580" marT="0" marB="0"/>
                </a:tc>
                <a:tc>
                  <a:txBody>
                    <a:bodyPr/>
                    <a:lstStyle/>
                    <a:p>
                      <a:pPr>
                        <a:lnSpc>
                          <a:spcPct val="150000"/>
                        </a:lnSpc>
                        <a:spcBef>
                          <a:spcPts val="600"/>
                        </a:spcBef>
                        <a:buNone/>
                      </a:pPr>
                      <a:r>
                        <a:rPr lang="en-US" sz="1800" b="1" kern="1400">
                          <a:effectLst/>
                          <a:cs typeface="+mn-cs"/>
                        </a:rPr>
                        <a:t>01.02.01. Financial Management </a:t>
                      </a:r>
                      <a:endParaRPr lang="en-US" sz="1800" b="1" kern="1400">
                        <a:effectLst/>
                        <a:latin typeface="Calibri" panose="020F0502020204030204" pitchFamily="34" charset="0"/>
                        <a:ea typeface="MS Mincho" panose="02020609040205080304" pitchFamily="49" charset="-128"/>
                        <a:cs typeface="+mn-cs"/>
                      </a:endParaRPr>
                    </a:p>
                  </a:txBody>
                  <a:tcPr marL="68580" marR="68580" marT="0" marB="0"/>
                </a:tc>
                <a:extLst>
                  <a:ext uri="{0D108BD9-81ED-4DB2-BD59-A6C34878D82A}">
                    <a16:rowId xmlns:a16="http://schemas.microsoft.com/office/drawing/2014/main" val="10000"/>
                  </a:ext>
                </a:extLst>
              </a:tr>
              <a:tr h="517993">
                <a:tc>
                  <a:txBody>
                    <a:bodyPr/>
                    <a:lstStyle/>
                    <a:p>
                      <a:pPr>
                        <a:lnSpc>
                          <a:spcPct val="150000"/>
                        </a:lnSpc>
                        <a:spcBef>
                          <a:spcPts val="600"/>
                        </a:spcBef>
                        <a:buNone/>
                      </a:pPr>
                      <a:r>
                        <a:rPr lang="en-US" sz="1800" b="1" kern="1400">
                          <a:effectLst/>
                          <a:cs typeface="+mn-cs"/>
                        </a:rPr>
                        <a:t>Process name</a:t>
                      </a:r>
                      <a:endParaRPr lang="en-US" sz="1800" b="1" kern="1400">
                        <a:effectLst/>
                        <a:latin typeface="Calibri" panose="020F0502020204030204" pitchFamily="34" charset="0"/>
                        <a:ea typeface="MS Mincho" panose="02020609040205080304" pitchFamily="49" charset="-128"/>
                        <a:cs typeface="+mn-cs"/>
                      </a:endParaRPr>
                    </a:p>
                  </a:txBody>
                  <a:tcPr marL="68580" marR="68580" marT="0" marB="0"/>
                </a:tc>
                <a:tc>
                  <a:txBody>
                    <a:bodyPr/>
                    <a:lstStyle/>
                    <a:p>
                      <a:pPr>
                        <a:lnSpc>
                          <a:spcPct val="150000"/>
                        </a:lnSpc>
                        <a:spcBef>
                          <a:spcPts val="600"/>
                        </a:spcBef>
                        <a:buNone/>
                      </a:pPr>
                      <a:r>
                        <a:rPr lang="en-US" sz="1800" b="1" kern="1400" dirty="0">
                          <a:effectLst/>
                          <a:cs typeface="+mn-cs"/>
                        </a:rPr>
                        <a:t>Financial Dimensions</a:t>
                      </a:r>
                      <a:endParaRPr lang="en-US" sz="1800" b="1" kern="1400" dirty="0">
                        <a:effectLst/>
                        <a:latin typeface="Calibri" panose="020F0502020204030204" pitchFamily="34" charset="0"/>
                        <a:ea typeface="MS Mincho" panose="02020609040205080304" pitchFamily="49" charset="-128"/>
                        <a:cs typeface="+mn-cs"/>
                      </a:endParaRPr>
                    </a:p>
                  </a:txBody>
                  <a:tcPr marL="68580" marR="68580" marT="0" marB="0"/>
                </a:tc>
                <a:extLst>
                  <a:ext uri="{0D108BD9-81ED-4DB2-BD59-A6C34878D82A}">
                    <a16:rowId xmlns:a16="http://schemas.microsoft.com/office/drawing/2014/main" val="10001"/>
                  </a:ext>
                </a:extLst>
              </a:tr>
              <a:tr h="1070965">
                <a:tc>
                  <a:txBody>
                    <a:bodyPr/>
                    <a:lstStyle/>
                    <a:p>
                      <a:pPr>
                        <a:lnSpc>
                          <a:spcPct val="150000"/>
                        </a:lnSpc>
                        <a:spcBef>
                          <a:spcPts val="600"/>
                        </a:spcBef>
                        <a:buNone/>
                      </a:pPr>
                      <a:r>
                        <a:rPr lang="en-US" sz="1800" b="1" kern="1400">
                          <a:effectLst/>
                          <a:cs typeface="+mn-cs"/>
                        </a:rPr>
                        <a:t>Process description</a:t>
                      </a:r>
                      <a:endParaRPr lang="en-US" sz="1800" b="1" kern="1400">
                        <a:effectLst/>
                        <a:latin typeface="Calibri" panose="020F0502020204030204" pitchFamily="34" charset="0"/>
                        <a:ea typeface="MS Mincho" panose="02020609040205080304" pitchFamily="49" charset="-128"/>
                        <a:cs typeface="+mn-cs"/>
                      </a:endParaRPr>
                    </a:p>
                  </a:txBody>
                  <a:tcPr marL="68580" marR="68580" marT="0" marB="0"/>
                </a:tc>
                <a:tc>
                  <a:txBody>
                    <a:bodyPr/>
                    <a:lstStyle/>
                    <a:p>
                      <a:pPr>
                        <a:lnSpc>
                          <a:spcPct val="150000"/>
                        </a:lnSpc>
                        <a:spcBef>
                          <a:spcPts val="600"/>
                        </a:spcBef>
                        <a:buNone/>
                      </a:pPr>
                      <a:r>
                        <a:rPr lang="en-US" sz="1800" b="1" kern="1400">
                          <a:effectLst/>
                          <a:cs typeface="+mn-cs"/>
                        </a:rPr>
                        <a:t>Create financial Dimensions</a:t>
                      </a:r>
                      <a:endParaRPr lang="en-US" sz="1800" b="1" kern="1400">
                        <a:effectLst/>
                        <a:latin typeface="Calibri" panose="020F0502020204030204" pitchFamily="34" charset="0"/>
                        <a:ea typeface="MS Mincho" panose="02020609040205080304" pitchFamily="49" charset="-128"/>
                        <a:cs typeface="+mn-cs"/>
                      </a:endParaRPr>
                    </a:p>
                  </a:txBody>
                  <a:tcPr marL="68580" marR="68580" marT="0" marB="0"/>
                </a:tc>
                <a:extLst>
                  <a:ext uri="{0D108BD9-81ED-4DB2-BD59-A6C34878D82A}">
                    <a16:rowId xmlns:a16="http://schemas.microsoft.com/office/drawing/2014/main" val="10002"/>
                  </a:ext>
                </a:extLst>
              </a:tr>
              <a:tr h="1070965">
                <a:tc>
                  <a:txBody>
                    <a:bodyPr/>
                    <a:lstStyle/>
                    <a:p>
                      <a:pPr>
                        <a:lnSpc>
                          <a:spcPct val="150000"/>
                        </a:lnSpc>
                        <a:spcBef>
                          <a:spcPts val="600"/>
                        </a:spcBef>
                        <a:buNone/>
                      </a:pPr>
                      <a:r>
                        <a:rPr lang="en-US" sz="1800" b="1" kern="1400">
                          <a:effectLst/>
                          <a:cs typeface="+mn-cs"/>
                        </a:rPr>
                        <a:t>Form path</a:t>
                      </a:r>
                      <a:endParaRPr lang="en-US" sz="1800" b="1" kern="1400">
                        <a:effectLst/>
                        <a:latin typeface="Calibri" panose="020F0502020204030204" pitchFamily="34" charset="0"/>
                        <a:ea typeface="MS Mincho" panose="02020609040205080304" pitchFamily="49" charset="-128"/>
                        <a:cs typeface="+mn-cs"/>
                      </a:endParaRPr>
                    </a:p>
                  </a:txBody>
                  <a:tcPr marL="68580" marR="68580" marT="0" marB="0"/>
                </a:tc>
                <a:tc>
                  <a:txBody>
                    <a:bodyPr/>
                    <a:lstStyle/>
                    <a:p>
                      <a:pPr>
                        <a:lnSpc>
                          <a:spcPct val="150000"/>
                        </a:lnSpc>
                        <a:spcBef>
                          <a:spcPts val="600"/>
                        </a:spcBef>
                        <a:buNone/>
                      </a:pPr>
                      <a:r>
                        <a:rPr lang="en-US" sz="1800" b="1" kern="1400" dirty="0">
                          <a:effectLst/>
                          <a:cs typeface="+mn-cs"/>
                        </a:rPr>
                        <a:t>General ledger &gt;&gt; Chart of account &gt;&gt; Dimensions &gt;&gt; Financial Dimensions</a:t>
                      </a:r>
                      <a:endParaRPr lang="en-US" sz="1800" b="1" kern="1400" dirty="0">
                        <a:effectLst/>
                        <a:latin typeface="Calibri" panose="020F0502020204030204" pitchFamily="34" charset="0"/>
                        <a:ea typeface="MS Mincho" panose="02020609040205080304" pitchFamily="49" charset="-128"/>
                        <a:cs typeface="+mn-cs"/>
                      </a:endParaRPr>
                    </a:p>
                  </a:txBody>
                  <a:tcPr marL="68580" marR="68580" marT="0" marB="0"/>
                </a:tc>
                <a:extLst>
                  <a:ext uri="{0D108BD9-81ED-4DB2-BD59-A6C34878D82A}">
                    <a16:rowId xmlns:a16="http://schemas.microsoft.com/office/drawing/2014/main" val="10003"/>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28535" y="959371"/>
            <a:ext cx="10515600" cy="854440"/>
          </a:xfrm>
        </p:spPr>
        <p:txBody>
          <a:bodyPr>
            <a:noAutofit/>
          </a:bodyPr>
          <a:lstStyle/>
          <a:p>
            <a:pPr algn="ctr"/>
            <a:r>
              <a:rPr lang="x-none" b="1" dirty="0">
                <a:solidFill>
                  <a:srgbClr val="002060"/>
                </a:solidFill>
                <a:latin typeface="Arial" panose="020B0604020202020204" pitchFamily="34" charset="0"/>
                <a:cs typeface="Arial" panose="020B0604020202020204" pitchFamily="34" charset="0"/>
              </a:rPr>
              <a:t>Financial Dimensions</a:t>
            </a:r>
            <a:endParaRPr lang="en-US" b="1" dirty="0">
              <a:solidFill>
                <a:srgbClr val="002060"/>
              </a:solidFill>
              <a:latin typeface="Arial" panose="020B0604020202020204" pitchFamily="34" charset="0"/>
              <a:cs typeface="Arial" panose="020B0604020202020204" pitchFamily="34" charset="0"/>
            </a:endParaRPr>
          </a:p>
        </p:txBody>
      </p:sp>
      <p:pic>
        <p:nvPicPr>
          <p:cNvPr id="7" name="Picture 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500" y="111593"/>
            <a:ext cx="1417559" cy="1303240"/>
          </a:xfrm>
          <a:prstGeom prst="rect">
            <a:avLst/>
          </a:prstGeom>
        </p:spPr>
      </p:pic>
      <p:pic>
        <p:nvPicPr>
          <p:cNvPr id="10" name="Picture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25295"/>
            <a:ext cx="1774776" cy="693347"/>
          </a:xfrm>
          <a:prstGeom prst="rect">
            <a:avLst/>
          </a:prstGeom>
        </p:spPr>
      </p:pic>
      <p:sp>
        <p:nvSpPr>
          <p:cNvPr id="5" name="TextBox 4"/>
          <p:cNvSpPr txBox="1"/>
          <p:nvPr/>
        </p:nvSpPr>
        <p:spPr>
          <a:xfrm>
            <a:off x="-28224" y="1866223"/>
            <a:ext cx="11304340" cy="5012847"/>
          </a:xfrm>
          <a:prstGeom prst="rect">
            <a:avLst/>
          </a:prstGeom>
          <a:noFill/>
        </p:spPr>
        <p:txBody>
          <a:bodyPr wrap="square">
            <a:spAutoFit/>
          </a:bodyPr>
          <a:lstStyle/>
          <a:p>
            <a:pPr marL="457200">
              <a:lnSpc>
                <a:spcPct val="150000"/>
              </a:lnSpc>
              <a:spcBef>
                <a:spcPts val="600"/>
              </a:spcBef>
              <a:spcAft>
                <a:spcPts val="1000"/>
              </a:spcAft>
              <a:buNone/>
            </a:pPr>
            <a:r>
              <a:rPr lang="x-none" sz="1600" b="1" kern="1400" dirty="0">
                <a:effectLst/>
                <a:latin typeface="Segoe UI" panose="020B0502040204020203" pitchFamily="34" charset="0"/>
                <a:ea typeface="MS Mincho" panose="02020609040205080304" pitchFamily="49" charset="-128"/>
              </a:rPr>
              <a:t>The financial dimensions are used to:</a:t>
            </a:r>
            <a:endParaRPr lang="en-US" sz="1600" b="1" kern="1400" dirty="0">
              <a:effectLst/>
              <a:latin typeface="Calibri" panose="020F0502020204030204" pitchFamily="34" charset="0"/>
              <a:ea typeface="MS Mincho" panose="02020609040205080304" pitchFamily="49" charset="-128"/>
            </a:endParaRPr>
          </a:p>
          <a:p>
            <a:pPr marL="342900" lvl="0" indent="-342900">
              <a:lnSpc>
                <a:spcPct val="150000"/>
              </a:lnSpc>
              <a:spcBef>
                <a:spcPts val="600"/>
              </a:spcBef>
              <a:buFont typeface="+mj-lt"/>
              <a:buAutoNum type="arabicPeriod"/>
            </a:pPr>
            <a:r>
              <a:rPr lang="x-none" sz="1600" b="1" kern="1400" dirty="0">
                <a:effectLst/>
                <a:latin typeface="Segoe UI" panose="020B0502040204020203" pitchFamily="34" charset="0"/>
                <a:ea typeface="MS Mincho" panose="02020609040205080304" pitchFamily="49" charset="-128"/>
              </a:rPr>
              <a:t>Provide a more detailed description of a transaction.</a:t>
            </a:r>
            <a:endParaRPr lang="en-US" sz="1600" b="1" kern="1400" dirty="0">
              <a:effectLst/>
              <a:latin typeface="Calibri" panose="020F0502020204030204" pitchFamily="34" charset="0"/>
              <a:ea typeface="MS Mincho" panose="02020609040205080304" pitchFamily="49" charset="-128"/>
            </a:endParaRPr>
          </a:p>
          <a:p>
            <a:pPr marL="342900" lvl="0" indent="-342900">
              <a:lnSpc>
                <a:spcPct val="150000"/>
              </a:lnSpc>
              <a:spcBef>
                <a:spcPts val="600"/>
              </a:spcBef>
              <a:buFont typeface="+mj-lt"/>
              <a:buAutoNum type="arabicPeriod"/>
            </a:pPr>
            <a:r>
              <a:rPr lang="x-none" sz="1600" b="1" kern="1400" dirty="0">
                <a:effectLst/>
                <a:latin typeface="Segoe UI" panose="020B0502040204020203" pitchFamily="34" charset="0"/>
                <a:ea typeface="MS Mincho" panose="02020609040205080304" pitchFamily="49" charset="-128"/>
              </a:rPr>
              <a:t>Simplify the accounting process when you enable detailed analysis without the creation of a detailed Chart of Accounts.</a:t>
            </a:r>
            <a:endParaRPr lang="en-US" sz="1600" b="1" kern="1400" dirty="0">
              <a:effectLst/>
              <a:latin typeface="Calibri" panose="020F0502020204030204" pitchFamily="34" charset="0"/>
              <a:ea typeface="MS Mincho" panose="02020609040205080304" pitchFamily="49" charset="-128"/>
            </a:endParaRPr>
          </a:p>
          <a:p>
            <a:pPr marL="342900" lvl="0" indent="-342900">
              <a:lnSpc>
                <a:spcPct val="150000"/>
              </a:lnSpc>
              <a:spcBef>
                <a:spcPts val="600"/>
              </a:spcBef>
              <a:buFont typeface="+mj-lt"/>
              <a:buAutoNum type="arabicPeriod"/>
            </a:pPr>
            <a:r>
              <a:rPr lang="x-none" sz="1600" b="1" kern="1400" dirty="0">
                <a:effectLst/>
                <a:latin typeface="Segoe UI" panose="020B0502040204020203" pitchFamily="34" charset="0"/>
                <a:ea typeface="MS Mincho" panose="02020609040205080304" pitchFamily="49" charset="-128"/>
              </a:rPr>
              <a:t>Are defined to analyze and classify financial transactions as follows:</a:t>
            </a:r>
            <a:endParaRPr lang="en-US" sz="1600" b="1" kern="1400" dirty="0">
              <a:effectLst/>
              <a:latin typeface="Calibri" panose="020F0502020204030204" pitchFamily="34" charset="0"/>
              <a:ea typeface="MS Mincho" panose="02020609040205080304" pitchFamily="49" charset="-128"/>
            </a:endParaRPr>
          </a:p>
          <a:p>
            <a:pPr marL="342900" lvl="0" indent="-342900">
              <a:lnSpc>
                <a:spcPct val="150000"/>
              </a:lnSpc>
              <a:spcBef>
                <a:spcPts val="600"/>
              </a:spcBef>
              <a:buFont typeface="Wingdings" panose="05000000000000000000" pitchFamily="2" charset="2"/>
              <a:buChar char=""/>
              <a:tabLst>
                <a:tab pos="1257300" algn="l"/>
              </a:tabLst>
            </a:pPr>
            <a:r>
              <a:rPr lang="x-none" sz="1600" b="1" kern="1400" dirty="0">
                <a:effectLst/>
                <a:latin typeface="Segoe UI" panose="020B0502040204020203" pitchFamily="34" charset="0"/>
                <a:ea typeface="MS Mincho" panose="02020609040205080304" pitchFamily="49" charset="-128"/>
              </a:rPr>
              <a:t>Financial transactions usually are organized according to voucher and account number.</a:t>
            </a:r>
            <a:endParaRPr lang="en-US" sz="1600" b="1" kern="1400" dirty="0">
              <a:effectLst/>
              <a:latin typeface="Calibri" panose="020F0502020204030204" pitchFamily="34" charset="0"/>
              <a:ea typeface="MS Mincho" panose="02020609040205080304" pitchFamily="49" charset="-128"/>
            </a:endParaRPr>
          </a:p>
          <a:p>
            <a:pPr marL="342900" lvl="0" indent="-342900">
              <a:lnSpc>
                <a:spcPct val="150000"/>
              </a:lnSpc>
              <a:spcBef>
                <a:spcPts val="600"/>
              </a:spcBef>
              <a:buFont typeface="Wingdings" panose="05000000000000000000" pitchFamily="2" charset="2"/>
              <a:buChar char=""/>
              <a:tabLst>
                <a:tab pos="1257300" algn="l"/>
              </a:tabLst>
            </a:pPr>
            <a:r>
              <a:rPr lang="x-none" sz="1600" b="1" kern="1400" dirty="0">
                <a:effectLst/>
                <a:latin typeface="Segoe UI" panose="020B0502040204020203" pitchFamily="34" charset="0"/>
                <a:ea typeface="MS Mincho" panose="02020609040205080304" pitchFamily="49" charset="-128"/>
              </a:rPr>
              <a:t>Additional grouping and classification options are available when you assign several dimensions to transactions.</a:t>
            </a:r>
            <a:endParaRPr lang="en-US" sz="1600" b="1" kern="1400" dirty="0">
              <a:effectLst/>
              <a:latin typeface="Calibri" panose="020F0502020204030204" pitchFamily="34" charset="0"/>
              <a:ea typeface="MS Mincho" panose="02020609040205080304" pitchFamily="49" charset="-128"/>
            </a:endParaRPr>
          </a:p>
          <a:p>
            <a:pPr marL="342900" lvl="0" indent="-342900">
              <a:lnSpc>
                <a:spcPct val="150000"/>
              </a:lnSpc>
              <a:spcBef>
                <a:spcPts val="600"/>
              </a:spcBef>
              <a:spcAft>
                <a:spcPts val="600"/>
              </a:spcAft>
              <a:buFont typeface="+mj-lt"/>
              <a:buAutoNum type="arabicPeriod"/>
            </a:pPr>
            <a:r>
              <a:rPr lang="x-none" sz="1600" b="1" kern="1400" dirty="0">
                <a:effectLst/>
                <a:latin typeface="Segoe UI" panose="020B0502040204020203" pitchFamily="34" charset="0"/>
                <a:ea typeface="MS Mincho" panose="02020609040205080304" pitchFamily="49" charset="-128"/>
              </a:rPr>
              <a:t>There are two types of financial dimensions:</a:t>
            </a:r>
            <a:endParaRPr lang="en-US" sz="1600" b="1" kern="1400" dirty="0">
              <a:effectLst/>
              <a:latin typeface="Calibri" panose="020F0502020204030204" pitchFamily="34" charset="0"/>
              <a:ea typeface="MS Mincho" panose="02020609040205080304" pitchFamily="49" charset="-128"/>
            </a:endParaRPr>
          </a:p>
          <a:p>
            <a:pPr marL="342900" lvl="0" indent="-342900">
              <a:lnSpc>
                <a:spcPct val="150000"/>
              </a:lnSpc>
              <a:spcBef>
                <a:spcPts val="600"/>
              </a:spcBef>
              <a:spcAft>
                <a:spcPts val="600"/>
              </a:spcAft>
              <a:buFont typeface="+mj-lt"/>
              <a:buAutoNum type="arabicPeriod"/>
            </a:pPr>
            <a:r>
              <a:rPr lang="en-US" sz="1600" b="1" kern="1400" dirty="0">
                <a:effectLst/>
                <a:latin typeface="Segoe UI" panose="020B0502040204020203" pitchFamily="34" charset="0"/>
                <a:ea typeface="MS Mincho" panose="02020609040205080304" pitchFamily="49" charset="-128"/>
              </a:rPr>
              <a:t>Custom dimensions the values are entered and maintained by users such as branches.</a:t>
            </a:r>
            <a:endParaRPr lang="en-US" sz="1600" b="1" kern="1400" dirty="0">
              <a:effectLst/>
              <a:latin typeface="Calibri" panose="020F0502020204030204" pitchFamily="34" charset="0"/>
              <a:ea typeface="MS Mincho" panose="02020609040205080304" pitchFamily="49" charset="-128"/>
            </a:endParaRPr>
          </a:p>
          <a:p>
            <a:pPr marL="342900" lvl="0" indent="-342900">
              <a:lnSpc>
                <a:spcPct val="150000"/>
              </a:lnSpc>
              <a:spcBef>
                <a:spcPts val="600"/>
              </a:spcBef>
              <a:spcAft>
                <a:spcPts val="600"/>
              </a:spcAft>
              <a:buFont typeface="+mj-lt"/>
              <a:buAutoNum type="arabicPeriod"/>
            </a:pPr>
            <a:r>
              <a:rPr lang="en-US" sz="1600" b="1" kern="1400" dirty="0">
                <a:effectLst/>
                <a:latin typeface="Segoe UI" panose="020B0502040204020203" pitchFamily="34" charset="0"/>
                <a:ea typeface="MS Mincho" panose="02020609040205080304" pitchFamily="49" charset="-128"/>
              </a:rPr>
              <a:t>Standard dimensions, the values are defined somewhere else in the system and automatically imported as dimensions, such as in Customers or vendors.</a:t>
            </a:r>
            <a:endParaRPr lang="en-US" sz="1600" b="1" kern="1400" dirty="0">
              <a:effectLst/>
              <a:latin typeface="Calibri" panose="020F0502020204030204" pitchFamily="34" charset="0"/>
              <a:ea typeface="MS Mincho" panose="02020609040205080304" pitchFamily="49" charset="-128"/>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817245"/>
            <a:ext cx="10515600" cy="724535"/>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Financial Dimensions</a:t>
            </a: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30643"/>
            <a:ext cx="1417559" cy="1303240"/>
          </a:xfrm>
          <a:prstGeom prst="rect">
            <a:avLst/>
          </a:prstGeom>
        </p:spPr>
      </p:pic>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86"/>
            <a:ext cx="1774776" cy="693347"/>
          </a:xfrm>
          <a:prstGeom prst="rect">
            <a:avLst/>
          </a:prstGeom>
        </p:spPr>
      </p:pic>
      <p:pic>
        <p:nvPicPr>
          <p:cNvPr id="4" name="Picture 3"/>
          <p:cNvPicPr>
            <a:picLocks noChangeAspect="1"/>
          </p:cNvPicPr>
          <p:nvPr/>
        </p:nvPicPr>
        <p:blipFill>
          <a:blip r:embed="rId4"/>
          <a:stretch>
            <a:fillRect/>
          </a:stretch>
        </p:blipFill>
        <p:spPr>
          <a:xfrm>
            <a:off x="-272" y="1665864"/>
            <a:ext cx="12192000" cy="3385821"/>
          </a:xfrm>
          <a:prstGeom prst="rect">
            <a:avLst/>
          </a:prstGeom>
        </p:spPr>
      </p:pic>
      <p:sp>
        <p:nvSpPr>
          <p:cNvPr id="8" name="TextBox 7"/>
          <p:cNvSpPr txBox="1"/>
          <p:nvPr/>
        </p:nvSpPr>
        <p:spPr>
          <a:xfrm rot="10800000" flipV="1">
            <a:off x="0" y="5144019"/>
            <a:ext cx="8094689" cy="1569660"/>
          </a:xfrm>
          <a:prstGeom prst="rect">
            <a:avLst/>
          </a:prstGeom>
          <a:noFill/>
        </p:spPr>
        <p:txBody>
          <a:bodyPr wrap="square">
            <a:spAutoFit/>
          </a:bodyPr>
          <a:lstStyle/>
          <a:p>
            <a:r>
              <a:rPr lang="en-US" sz="2400" b="1" dirty="0">
                <a:solidFill>
                  <a:srgbClr val="002060"/>
                </a:solidFill>
              </a:rPr>
              <a:t>Screen Information:</a:t>
            </a:r>
          </a:p>
          <a:p>
            <a:r>
              <a:rPr lang="en-US" b="1" dirty="0"/>
              <a:t>1- Click new</a:t>
            </a:r>
          </a:p>
          <a:p>
            <a:r>
              <a:rPr lang="en-US" b="1" dirty="0"/>
              <a:t>2- from Use values from: select &lt; Custom dimension &gt; or select specific financial dimension</a:t>
            </a:r>
          </a:p>
          <a:p>
            <a:r>
              <a:rPr lang="en-US" b="1" dirty="0"/>
              <a:t>3- Click on dimension values in case of Custom dimension.</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817245"/>
            <a:ext cx="10515600" cy="588645"/>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Financial dimensions</a:t>
            </a: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97953"/>
            <a:ext cx="1417559" cy="1303240"/>
          </a:xfrm>
          <a:prstGeom prst="rect">
            <a:avLst/>
          </a:prstGeom>
        </p:spPr>
      </p:pic>
      <p:sp>
        <p:nvSpPr>
          <p:cNvPr id="3" name="Title 1"/>
          <p:cNvSpPr txBox="1"/>
          <p:nvPr/>
        </p:nvSpPr>
        <p:spPr>
          <a:xfrm>
            <a:off x="0" y="1692275"/>
            <a:ext cx="11516995" cy="1236345"/>
          </a:xfrm>
          <a:prstGeom prst="rect">
            <a:avLst/>
          </a:prstGeom>
          <a:no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endParaRP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4" name="Picture 3" descr="A screenshot of a computer&#10;&#10;Description automatically generated"/>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1672272"/>
            <a:ext cx="12191727" cy="3325640"/>
          </a:xfrm>
          <a:prstGeom prst="rect">
            <a:avLst/>
          </a:prstGeom>
        </p:spPr>
      </p:pic>
      <p:sp>
        <p:nvSpPr>
          <p:cNvPr id="7" name="TextBox 6"/>
          <p:cNvSpPr txBox="1"/>
          <p:nvPr/>
        </p:nvSpPr>
        <p:spPr>
          <a:xfrm>
            <a:off x="-19987" y="5165725"/>
            <a:ext cx="6093500" cy="1292662"/>
          </a:xfrm>
          <a:prstGeom prst="rect">
            <a:avLst/>
          </a:prstGeom>
          <a:noFill/>
        </p:spPr>
        <p:txBody>
          <a:bodyPr wrap="square">
            <a:spAutoFit/>
          </a:bodyPr>
          <a:lstStyle/>
          <a:p>
            <a:r>
              <a:rPr lang="en-US" sz="2400" b="1" dirty="0">
                <a:solidFill>
                  <a:srgbClr val="002060"/>
                </a:solidFill>
              </a:rPr>
              <a:t>Screen Information</a:t>
            </a:r>
            <a:r>
              <a:rPr lang="en-US" b="1" dirty="0"/>
              <a:t>:</a:t>
            </a:r>
          </a:p>
          <a:p>
            <a:r>
              <a:rPr lang="en-US" b="1" dirty="0"/>
              <a:t>1- Click new</a:t>
            </a:r>
          </a:p>
          <a:p>
            <a:r>
              <a:rPr lang="en-US" b="1" dirty="0"/>
              <a:t>2- From Dimension value: Enter dimensions code</a:t>
            </a:r>
          </a:p>
          <a:p>
            <a:r>
              <a:rPr lang="en-US" b="1" dirty="0"/>
              <a:t>3- From Description: Enter dimensions name </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1019330"/>
            <a:ext cx="10515600" cy="1004341"/>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Fiscal Calendar </a:t>
            </a: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9731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graphicFrame>
        <p:nvGraphicFramePr>
          <p:cNvPr id="4" name="Table 3"/>
          <p:cNvGraphicFramePr>
            <a:graphicFrameLocks noGrp="1"/>
          </p:cNvGraphicFramePr>
          <p:nvPr/>
        </p:nvGraphicFramePr>
        <p:xfrm>
          <a:off x="1417558" y="2349759"/>
          <a:ext cx="8999393" cy="2467407"/>
        </p:xfrm>
        <a:graphic>
          <a:graphicData uri="http://schemas.openxmlformats.org/drawingml/2006/table">
            <a:tbl>
              <a:tblPr firstRow="1" firstCol="1" bandRow="1">
                <a:tableStyleId>{5C22544A-7EE6-4342-B048-85BDC9FD1C3A}</a:tableStyleId>
              </a:tblPr>
              <a:tblGrid>
                <a:gridCol w="2321032">
                  <a:extLst>
                    <a:ext uri="{9D8B030D-6E8A-4147-A177-3AD203B41FA5}">
                      <a16:colId xmlns:a16="http://schemas.microsoft.com/office/drawing/2014/main" val="20000"/>
                    </a:ext>
                  </a:extLst>
                </a:gridCol>
                <a:gridCol w="6678361">
                  <a:extLst>
                    <a:ext uri="{9D8B030D-6E8A-4147-A177-3AD203B41FA5}">
                      <a16:colId xmlns:a16="http://schemas.microsoft.com/office/drawing/2014/main" val="20001"/>
                    </a:ext>
                  </a:extLst>
                </a:gridCol>
              </a:tblGrid>
              <a:tr h="536486">
                <a:tc>
                  <a:txBody>
                    <a:bodyPr/>
                    <a:lstStyle/>
                    <a:p>
                      <a:pPr>
                        <a:lnSpc>
                          <a:spcPct val="150000"/>
                        </a:lnSpc>
                        <a:spcBef>
                          <a:spcPts val="600"/>
                        </a:spcBef>
                        <a:buNone/>
                      </a:pPr>
                      <a:r>
                        <a:rPr lang="en-US" sz="2000" b="1" kern="1400">
                          <a:effectLst/>
                          <a:latin typeface="Arial" panose="020B0604020202020204" pitchFamily="34" charset="0"/>
                          <a:cs typeface="Arial" panose="020B0604020202020204" pitchFamily="34" charset="0"/>
                        </a:rPr>
                        <a:t>Process code</a:t>
                      </a:r>
                      <a:endParaRPr lang="en-US" sz="20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2000" b="1" kern="1400">
                          <a:effectLst/>
                          <a:latin typeface="Arial" panose="020B0604020202020204" pitchFamily="34" charset="0"/>
                          <a:cs typeface="Arial" panose="020B0604020202020204" pitchFamily="34" charset="0"/>
                        </a:rPr>
                        <a:t>01.01.02. Financial Management</a:t>
                      </a:r>
                      <a:endParaRPr lang="en-US" sz="20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0"/>
                  </a:ext>
                </a:extLst>
              </a:tr>
              <a:tr h="536486">
                <a:tc>
                  <a:txBody>
                    <a:bodyPr/>
                    <a:lstStyle/>
                    <a:p>
                      <a:pPr>
                        <a:lnSpc>
                          <a:spcPct val="150000"/>
                        </a:lnSpc>
                        <a:spcBef>
                          <a:spcPts val="600"/>
                        </a:spcBef>
                        <a:buNone/>
                      </a:pPr>
                      <a:r>
                        <a:rPr lang="en-US" sz="2000" b="1" kern="1400">
                          <a:effectLst/>
                          <a:latin typeface="Arial" panose="020B0604020202020204" pitchFamily="34" charset="0"/>
                          <a:cs typeface="Arial" panose="020B0604020202020204" pitchFamily="34" charset="0"/>
                        </a:rPr>
                        <a:t>Process name</a:t>
                      </a:r>
                      <a:endParaRPr lang="en-US" sz="20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2000" b="1" kern="1400">
                          <a:effectLst/>
                          <a:latin typeface="Arial" panose="020B0604020202020204" pitchFamily="34" charset="0"/>
                          <a:cs typeface="Arial" panose="020B0604020202020204" pitchFamily="34" charset="0"/>
                        </a:rPr>
                        <a:t>Fiscal Calendar</a:t>
                      </a:r>
                      <a:endParaRPr lang="en-US" sz="20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1"/>
                  </a:ext>
                </a:extLst>
              </a:tr>
              <a:tr h="536486">
                <a:tc>
                  <a:txBody>
                    <a:bodyPr/>
                    <a:lstStyle/>
                    <a:p>
                      <a:pPr>
                        <a:lnSpc>
                          <a:spcPct val="150000"/>
                        </a:lnSpc>
                        <a:spcBef>
                          <a:spcPts val="600"/>
                        </a:spcBef>
                        <a:buNone/>
                      </a:pPr>
                      <a:r>
                        <a:rPr lang="en-US" sz="2000" b="1" kern="1400">
                          <a:effectLst/>
                          <a:latin typeface="Arial" panose="020B0604020202020204" pitchFamily="34" charset="0"/>
                          <a:cs typeface="Arial" panose="020B0604020202020204" pitchFamily="34" charset="0"/>
                        </a:rPr>
                        <a:t>Process description</a:t>
                      </a:r>
                      <a:endParaRPr lang="en-US" sz="20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2000" b="1" kern="1400">
                          <a:effectLst/>
                          <a:latin typeface="Arial" panose="020B0604020202020204" pitchFamily="34" charset="0"/>
                          <a:cs typeface="Arial" panose="020B0604020202020204" pitchFamily="34" charset="0"/>
                        </a:rPr>
                        <a:t>Create Fiscal Calendar</a:t>
                      </a:r>
                      <a:endParaRPr lang="en-US" sz="20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2"/>
                  </a:ext>
                </a:extLst>
              </a:tr>
              <a:tr h="536486">
                <a:tc>
                  <a:txBody>
                    <a:bodyPr/>
                    <a:lstStyle/>
                    <a:p>
                      <a:pPr>
                        <a:lnSpc>
                          <a:spcPct val="150000"/>
                        </a:lnSpc>
                        <a:spcBef>
                          <a:spcPts val="600"/>
                        </a:spcBef>
                        <a:buNone/>
                      </a:pPr>
                      <a:r>
                        <a:rPr lang="en-US" sz="2000" b="1" kern="1400">
                          <a:effectLst/>
                          <a:latin typeface="Arial" panose="020B0604020202020204" pitchFamily="34" charset="0"/>
                          <a:cs typeface="Arial" panose="020B0604020202020204" pitchFamily="34" charset="0"/>
                        </a:rPr>
                        <a:t>Form path</a:t>
                      </a:r>
                      <a:endParaRPr lang="en-US" sz="20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2000" b="1" kern="1400" dirty="0">
                          <a:effectLst/>
                          <a:latin typeface="Arial" panose="020B0604020202020204" pitchFamily="34" charset="0"/>
                          <a:cs typeface="Arial" panose="020B0604020202020204" pitchFamily="34" charset="0"/>
                        </a:rPr>
                        <a:t>General ledger &gt;&gt; Setup &gt;&gt; Fiscal Calendars</a:t>
                      </a:r>
                      <a:endParaRPr lang="en-US" sz="2000" b="1" kern="1400" dirty="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3"/>
                  </a:ext>
                </a:extLst>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093033" y="1080834"/>
            <a:ext cx="10515600" cy="1303240"/>
          </a:xfrm>
        </p:spPr>
        <p:txBody>
          <a:bodyPr>
            <a:noAutofit/>
          </a:bodyPr>
          <a:lstStyle/>
          <a:p>
            <a:pPr algn="ctr">
              <a:lnSpc>
                <a:spcPts val="8170"/>
              </a:lnSpc>
            </a:pPr>
            <a:r>
              <a:rPr lang="en-US" sz="2400" b="1" dirty="0">
                <a:solidFill>
                  <a:schemeClr val="tx2"/>
                </a:solidFill>
                <a:latin typeface="Arial" panose="020B0604020202020204" pitchFamily="34" charset="0"/>
                <a:ea typeface="Bright Retro"/>
                <a:cs typeface="Arial" panose="020B0604020202020204" pitchFamily="34" charset="0"/>
                <a:sym typeface="Bright Retro"/>
              </a:rPr>
              <a:t>* We will create fiscal calendar start in 1/1 and end in 31/12</a:t>
            </a: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9731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5" name="Picture 4"/>
          <p:cNvPicPr>
            <a:picLocks noChangeAspect="1"/>
          </p:cNvPicPr>
          <p:nvPr/>
        </p:nvPicPr>
        <p:blipFill>
          <a:blip r:embed="rId4"/>
          <a:stretch>
            <a:fillRect/>
          </a:stretch>
        </p:blipFill>
        <p:spPr>
          <a:xfrm>
            <a:off x="0" y="2384074"/>
            <a:ext cx="12191728" cy="4473926"/>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093033" y="1080834"/>
            <a:ext cx="10515600" cy="1303240"/>
          </a:xfrm>
        </p:spPr>
        <p:txBody>
          <a:bodyPr>
            <a:noAutofit/>
          </a:bodyPr>
          <a:lstStyle/>
          <a:p>
            <a:pPr>
              <a:lnSpc>
                <a:spcPts val="8170"/>
              </a:lnSpc>
            </a:pPr>
            <a:r>
              <a:rPr lang="en-US" sz="2400" b="1" dirty="0">
                <a:solidFill>
                  <a:schemeClr val="tx2"/>
                </a:solidFill>
                <a:latin typeface="Arial" panose="020B0604020202020204" pitchFamily="34" charset="0"/>
                <a:ea typeface="Bright Retro"/>
                <a:cs typeface="Arial" panose="020B0604020202020204" pitchFamily="34" charset="0"/>
                <a:sym typeface="Bright Retro"/>
              </a:rPr>
              <a:t>Screen Information:</a:t>
            </a: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9731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
        <p:nvSpPr>
          <p:cNvPr id="7" name="TextBox 6"/>
          <p:cNvSpPr txBox="1"/>
          <p:nvPr/>
        </p:nvSpPr>
        <p:spPr>
          <a:xfrm>
            <a:off x="104930" y="2280980"/>
            <a:ext cx="9548735" cy="4570482"/>
          </a:xfrm>
          <a:prstGeom prst="rect">
            <a:avLst/>
          </a:prstGeom>
          <a:noFill/>
        </p:spPr>
        <p:txBody>
          <a:bodyPr wrap="square">
            <a:spAutoFit/>
          </a:bodyPr>
          <a:lstStyle/>
          <a:p>
            <a:pPr marL="342900" lvl="0" indent="-342900" rtl="0">
              <a:lnSpc>
                <a:spcPct val="150000"/>
              </a:lnSpc>
              <a:spcBef>
                <a:spcPts val="600"/>
              </a:spcBef>
              <a:buFont typeface="+mj-lt"/>
              <a:buAutoNum type="arabicPeriod"/>
              <a:tabLst>
                <a:tab pos="685800" algn="l"/>
              </a:tabLst>
            </a:pPr>
            <a:r>
              <a:rPr lang="x-none" sz="1800" b="1" kern="1400" dirty="0">
                <a:effectLst/>
                <a:latin typeface="Segoe UI" panose="020B0502040204020203" pitchFamily="34" charset="0"/>
                <a:ea typeface="MS Mincho" panose="02020609040205080304" pitchFamily="49" charset="-128"/>
                <a:cs typeface="Times New Roman" panose="02020603050405020304" pitchFamily="18" charset="0"/>
              </a:rPr>
              <a:t>Enter Fiscal Calendar name in the Calendar field.</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p>
            <a:pPr marL="342900" lvl="0" indent="-342900">
              <a:lnSpc>
                <a:spcPct val="150000"/>
              </a:lnSpc>
              <a:spcBef>
                <a:spcPts val="600"/>
              </a:spcBef>
              <a:buFont typeface="+mj-lt"/>
              <a:buAutoNum type="arabicPeriod"/>
              <a:tabLst>
                <a:tab pos="685800" algn="l"/>
              </a:tabLst>
            </a:pPr>
            <a:r>
              <a:rPr lang="x-none" sz="1800" b="1" kern="1400" dirty="0">
                <a:effectLst/>
                <a:latin typeface="Segoe UI" panose="020B0502040204020203" pitchFamily="34" charset="0"/>
                <a:ea typeface="MS Mincho" panose="02020609040205080304" pitchFamily="49" charset="-128"/>
                <a:cs typeface="Times New Roman" panose="02020603050405020304" pitchFamily="18" charset="0"/>
              </a:rPr>
              <a:t>Enter Fiscal Calendar description in the Description field.</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p>
            <a:pPr marL="342900" lvl="0" indent="-342900">
              <a:lnSpc>
                <a:spcPct val="150000"/>
              </a:lnSpc>
              <a:spcBef>
                <a:spcPts val="600"/>
              </a:spcBef>
              <a:buFont typeface="+mj-lt"/>
              <a:buAutoNum type="arabicPeriod"/>
              <a:tabLst>
                <a:tab pos="685800" algn="l"/>
              </a:tabLst>
            </a:pPr>
            <a:r>
              <a:rPr lang="x-none" sz="1800" b="1" kern="1400" dirty="0">
                <a:effectLst/>
                <a:latin typeface="Segoe UI" panose="020B0502040204020203" pitchFamily="34" charset="0"/>
                <a:ea typeface="MS Mincho" panose="02020609040205080304" pitchFamily="49" charset="-128"/>
                <a:cs typeface="Times New Roman" panose="02020603050405020304" pitchFamily="18" charset="0"/>
              </a:rPr>
              <a:t>In the Start of fiscal year field, enter the start date of the first Fiscal Year in the Calendar</a:t>
            </a:r>
            <a:r>
              <a:rPr lang="en-US" sz="1800" b="1" kern="1400" dirty="0">
                <a:effectLst/>
                <a:latin typeface="Segoe UI" panose="020B0502040204020203" pitchFamily="34" charset="0"/>
                <a:ea typeface="MS Mincho" panose="02020609040205080304" pitchFamily="49" charset="-128"/>
                <a:cs typeface="Times New Roman" panose="02020603050405020304" pitchFamily="18" charset="0"/>
              </a:rPr>
              <a:t> (1/1)</a:t>
            </a:r>
            <a:r>
              <a:rPr lang="x-none" sz="1800" b="1" kern="1400" dirty="0">
                <a:effectLst/>
                <a:latin typeface="Segoe UI" panose="020B0502040204020203" pitchFamily="34" charset="0"/>
                <a:ea typeface="MS Mincho" panose="02020609040205080304" pitchFamily="49" charset="-128"/>
                <a:cs typeface="Times New Roman" panose="02020603050405020304" pitchFamily="18" charset="0"/>
              </a:rPr>
              <a:t>.</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p>
            <a:pPr marL="342900" lvl="0" indent="-342900">
              <a:lnSpc>
                <a:spcPct val="150000"/>
              </a:lnSpc>
              <a:spcBef>
                <a:spcPts val="600"/>
              </a:spcBef>
              <a:buFont typeface="+mj-lt"/>
              <a:buAutoNum type="arabicPeriod"/>
              <a:tabLst>
                <a:tab pos="685800" algn="l"/>
              </a:tabLst>
            </a:pPr>
            <a:r>
              <a:rPr lang="x-none" sz="1800" b="1" kern="1400" dirty="0">
                <a:effectLst/>
                <a:latin typeface="Segoe UI" panose="020B0502040204020203" pitchFamily="34" charset="0"/>
                <a:ea typeface="MS Mincho" panose="02020609040205080304" pitchFamily="49" charset="-128"/>
                <a:cs typeface="Times New Roman" panose="02020603050405020304" pitchFamily="18" charset="0"/>
              </a:rPr>
              <a:t>In the End of fiscal year field, enter the end date of the first Fiscal Year in the calendar.</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p>
            <a:pPr marL="342900" lvl="0" indent="-342900">
              <a:lnSpc>
                <a:spcPct val="150000"/>
              </a:lnSpc>
              <a:spcBef>
                <a:spcPts val="600"/>
              </a:spcBef>
              <a:buFont typeface="+mj-lt"/>
              <a:buAutoNum type="arabicPeriod"/>
              <a:tabLst>
                <a:tab pos="685800" algn="l"/>
              </a:tabLst>
            </a:pPr>
            <a:r>
              <a:rPr lang="x-none" sz="1800" b="1" kern="1400" dirty="0">
                <a:effectLst/>
                <a:latin typeface="Segoe UI" panose="020B0502040204020203" pitchFamily="34" charset="0"/>
                <a:ea typeface="MS Mincho" panose="02020609040205080304" pitchFamily="49" charset="-128"/>
                <a:cs typeface="Times New Roman" panose="02020603050405020304" pitchFamily="18" charset="0"/>
              </a:rPr>
              <a:t>Enter the name of the first Fiscal Year in the calendar in the Fiscal year name field.</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p>
            <a:pPr marL="342900" lvl="0" indent="-342900">
              <a:lnSpc>
                <a:spcPct val="150000"/>
              </a:lnSpc>
              <a:spcBef>
                <a:spcPts val="600"/>
              </a:spcBef>
              <a:buFont typeface="+mj-lt"/>
              <a:buAutoNum type="arabicPeriod"/>
              <a:tabLst>
                <a:tab pos="685800" algn="l"/>
              </a:tabLst>
            </a:pPr>
            <a:r>
              <a:rPr lang="x-none" sz="1800" b="1" kern="1400" dirty="0">
                <a:effectLst/>
                <a:latin typeface="Segoe UI" panose="020B0502040204020203" pitchFamily="34" charset="0"/>
                <a:ea typeface="MS Mincho" panose="02020609040205080304" pitchFamily="49" charset="-128"/>
                <a:cs typeface="Times New Roman" panose="02020603050405020304" pitchFamily="18" charset="0"/>
              </a:rPr>
              <a:t>In the Length of period field, enter 1.</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p>
            <a:pPr marL="342900" lvl="0" indent="-342900">
              <a:lnSpc>
                <a:spcPct val="150000"/>
              </a:lnSpc>
              <a:spcBef>
                <a:spcPts val="600"/>
              </a:spcBef>
              <a:buFont typeface="+mj-lt"/>
              <a:buAutoNum type="arabicPeriod"/>
              <a:tabLst>
                <a:tab pos="685800" algn="l"/>
              </a:tabLst>
            </a:pPr>
            <a:r>
              <a:rPr lang="x-none" sz="1800" b="1" kern="1400" dirty="0">
                <a:effectLst/>
                <a:latin typeface="Segoe UI" panose="020B0502040204020203" pitchFamily="34" charset="0"/>
                <a:ea typeface="MS Mincho" panose="02020609040205080304" pitchFamily="49" charset="-128"/>
                <a:cs typeface="Times New Roman" panose="02020603050405020304" pitchFamily="18" charset="0"/>
              </a:rPr>
              <a:t>In the Unit field, click the arrow to select Months.</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p>
            <a:pPr>
              <a:buNone/>
            </a:pPr>
            <a:r>
              <a:rPr lang="en-US" sz="1800" b="1" kern="1400" dirty="0">
                <a:effectLst/>
                <a:latin typeface="Segoe UI" panose="020B0502040204020203" pitchFamily="34" charset="0"/>
                <a:ea typeface="MS Mincho" panose="02020609040205080304" pitchFamily="49" charset="-128"/>
              </a:rPr>
              <a:t>8. Click the Create button to create the year.</a:t>
            </a:r>
            <a:endParaRPr lang="ar-EG" b="1"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608330"/>
            <a:ext cx="10515600" cy="729615"/>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Configure Account Structures.</a:t>
            </a: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9731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graphicFrame>
        <p:nvGraphicFramePr>
          <p:cNvPr id="4" name="Table 3"/>
          <p:cNvGraphicFramePr>
            <a:graphicFrameLocks noGrp="1"/>
          </p:cNvGraphicFramePr>
          <p:nvPr/>
        </p:nvGraphicFramePr>
        <p:xfrm>
          <a:off x="1633928" y="2263515"/>
          <a:ext cx="8274569" cy="2369348"/>
        </p:xfrm>
        <a:graphic>
          <a:graphicData uri="http://schemas.openxmlformats.org/drawingml/2006/table">
            <a:tbl>
              <a:tblPr firstRow="1" firstCol="1" bandRow="1">
                <a:tableStyleId>{5C22544A-7EE6-4342-B048-85BDC9FD1C3A}</a:tableStyleId>
              </a:tblPr>
              <a:tblGrid>
                <a:gridCol w="2134093">
                  <a:extLst>
                    <a:ext uri="{9D8B030D-6E8A-4147-A177-3AD203B41FA5}">
                      <a16:colId xmlns:a16="http://schemas.microsoft.com/office/drawing/2014/main" val="20000"/>
                    </a:ext>
                  </a:extLst>
                </a:gridCol>
                <a:gridCol w="6140476">
                  <a:extLst>
                    <a:ext uri="{9D8B030D-6E8A-4147-A177-3AD203B41FA5}">
                      <a16:colId xmlns:a16="http://schemas.microsoft.com/office/drawing/2014/main" val="20001"/>
                    </a:ext>
                  </a:extLst>
                </a:gridCol>
              </a:tblGrid>
              <a:tr h="463204">
                <a:tc>
                  <a:txBody>
                    <a:bodyPr/>
                    <a:lstStyle/>
                    <a:p>
                      <a:pPr>
                        <a:lnSpc>
                          <a:spcPct val="150000"/>
                        </a:lnSpc>
                        <a:spcBef>
                          <a:spcPts val="600"/>
                        </a:spcBef>
                        <a:buNone/>
                      </a:pPr>
                      <a:r>
                        <a:rPr lang="en-US" sz="1800" b="1" kern="1400">
                          <a:effectLst/>
                        </a:rPr>
                        <a:t>Process code</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01.02.02. Financial Management</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463204">
                <a:tc>
                  <a:txBody>
                    <a:bodyPr/>
                    <a:lstStyle/>
                    <a:p>
                      <a:pPr>
                        <a:lnSpc>
                          <a:spcPct val="150000"/>
                        </a:lnSpc>
                        <a:spcBef>
                          <a:spcPts val="600"/>
                        </a:spcBef>
                        <a:buNone/>
                      </a:pPr>
                      <a:r>
                        <a:rPr lang="en-US" sz="1800" b="1" kern="1400">
                          <a:effectLst/>
                        </a:rPr>
                        <a:t>Process name</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Configure account structures</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463204">
                <a:tc>
                  <a:txBody>
                    <a:bodyPr/>
                    <a:lstStyle/>
                    <a:p>
                      <a:pPr>
                        <a:lnSpc>
                          <a:spcPct val="150000"/>
                        </a:lnSpc>
                        <a:spcBef>
                          <a:spcPts val="600"/>
                        </a:spcBef>
                        <a:buNone/>
                      </a:pPr>
                      <a:r>
                        <a:rPr lang="en-US" sz="1800" b="1" kern="1400">
                          <a:effectLst/>
                        </a:rPr>
                        <a:t>Process description</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Create account structures</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979736">
                <a:tc>
                  <a:txBody>
                    <a:bodyPr/>
                    <a:lstStyle/>
                    <a:p>
                      <a:pPr>
                        <a:lnSpc>
                          <a:spcPct val="150000"/>
                        </a:lnSpc>
                        <a:spcBef>
                          <a:spcPts val="600"/>
                        </a:spcBef>
                        <a:buNone/>
                      </a:pPr>
                      <a:r>
                        <a:rPr lang="en-US" sz="1800" b="1" kern="1400">
                          <a:effectLst/>
                        </a:rPr>
                        <a:t>Form path</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dirty="0">
                          <a:effectLst/>
                        </a:rPr>
                        <a:t>General ledger &gt;&gt; Chart of accounts &gt;&gt; structures &gt;&gt; Configure account structures</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bl>
          </a:graphicData>
        </a:graphic>
      </p:graphicFrame>
      <p:sp>
        <p:nvSpPr>
          <p:cNvPr id="7" name="TextBox 6"/>
          <p:cNvSpPr txBox="1"/>
          <p:nvPr/>
        </p:nvSpPr>
        <p:spPr>
          <a:xfrm>
            <a:off x="1417559" y="5096768"/>
            <a:ext cx="8490938" cy="1015663"/>
          </a:xfrm>
          <a:prstGeom prst="rect">
            <a:avLst/>
          </a:prstGeom>
          <a:noFill/>
        </p:spPr>
        <p:txBody>
          <a:bodyPr wrap="square">
            <a:spAutoFit/>
          </a:bodyPr>
          <a:lstStyle/>
          <a:p>
            <a:r>
              <a:rPr lang="en-US" sz="2000" b="1" dirty="0">
                <a:latin typeface="Arial" panose="020B0604020202020204" pitchFamily="34" charset="0"/>
                <a:cs typeface="Arial" panose="020B0604020202020204" pitchFamily="34" charset="0"/>
              </a:rPr>
              <a:t>Account structures use the main account and financial dimensions to create a set of rules that determine the order and values used when entering the account number.</a:t>
            </a:r>
            <a:endParaRPr lang="ar-EG" sz="2000" b="1" dirty="0">
              <a:latin typeface="Arial" panose="020B0604020202020204" pitchFamily="34" charset="0"/>
              <a:cs typeface="Arial" panose="020B0604020202020204" pitchFamily="34"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608330"/>
            <a:ext cx="10515600" cy="729615"/>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Configure account structures</a:t>
            </a: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97318"/>
            <a:ext cx="1417559" cy="1303240"/>
          </a:xfrm>
          <a:prstGeom prst="rect">
            <a:avLst/>
          </a:prstGeom>
        </p:spPr>
      </p:pic>
      <p:sp>
        <p:nvSpPr>
          <p:cNvPr id="3" name="Title 1"/>
          <p:cNvSpPr txBox="1"/>
          <p:nvPr/>
        </p:nvSpPr>
        <p:spPr>
          <a:xfrm>
            <a:off x="0" y="1687195"/>
            <a:ext cx="11555730" cy="1104265"/>
          </a:xfrm>
          <a:prstGeom prst="rect">
            <a:avLst/>
          </a:prstGeom>
          <a:no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endPar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endParaRPr>
          </a:p>
        </p:txBody>
      </p:sp>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7" name="Picture 6"/>
          <p:cNvPicPr>
            <a:picLocks noChangeAspect="1"/>
          </p:cNvPicPr>
          <p:nvPr/>
        </p:nvPicPr>
        <p:blipFill>
          <a:blip r:embed="rId4"/>
          <a:stretch>
            <a:fillRect/>
          </a:stretch>
        </p:blipFill>
        <p:spPr>
          <a:xfrm>
            <a:off x="0" y="1500558"/>
            <a:ext cx="12192000" cy="3476176"/>
          </a:xfrm>
          <a:prstGeom prst="rect">
            <a:avLst/>
          </a:prstGeom>
        </p:spPr>
      </p:pic>
      <p:sp>
        <p:nvSpPr>
          <p:cNvPr id="11" name="TextBox 10"/>
          <p:cNvSpPr txBox="1"/>
          <p:nvPr/>
        </p:nvSpPr>
        <p:spPr>
          <a:xfrm>
            <a:off x="0" y="4922727"/>
            <a:ext cx="12189502" cy="1939505"/>
          </a:xfrm>
          <a:prstGeom prst="rect">
            <a:avLst/>
          </a:prstGeom>
          <a:noFill/>
        </p:spPr>
        <p:txBody>
          <a:bodyPr wrap="square">
            <a:spAutoFit/>
          </a:bodyPr>
          <a:lstStyle/>
          <a:p>
            <a:pPr marL="57150" indent="-57150">
              <a:lnSpc>
                <a:spcPct val="150000"/>
              </a:lnSpc>
              <a:spcBef>
                <a:spcPts val="600"/>
              </a:spcBef>
              <a:spcAft>
                <a:spcPts val="1200"/>
              </a:spcAft>
              <a:buNone/>
            </a:pPr>
            <a:r>
              <a:rPr lang="en-US" b="1" u="sng" kern="1400" dirty="0">
                <a:solidFill>
                  <a:srgbClr val="002060"/>
                </a:solidFill>
                <a:effectLst/>
                <a:latin typeface="Arial" panose="020B0604020202020204" pitchFamily="34" charset="0"/>
                <a:ea typeface="MS Mincho" panose="02020609040205080304" pitchFamily="49" charset="-128"/>
                <a:cs typeface="Arial" panose="020B0604020202020204" pitchFamily="34" charset="0"/>
              </a:rPr>
              <a:t>Screen Information:</a:t>
            </a:r>
            <a:br>
              <a:rPr lang="en-US" sz="1400" u="sng" kern="1400" dirty="0">
                <a:solidFill>
                  <a:srgbClr val="FF0000"/>
                </a:solidFill>
                <a:effectLst/>
                <a:latin typeface="Arial" panose="020B0604020202020204" pitchFamily="34" charset="0"/>
                <a:ea typeface="MS Mincho" panose="02020609040205080304" pitchFamily="49" charset="-128"/>
                <a:cs typeface="Arial" panose="020B0604020202020204" pitchFamily="34" charset="0"/>
              </a:rPr>
            </a:br>
            <a:r>
              <a:rPr lang="en-US" sz="1600" b="1" kern="1400" dirty="0">
                <a:effectLst/>
                <a:latin typeface="Arial" panose="020B0604020202020204" pitchFamily="34" charset="0"/>
                <a:ea typeface="MS Mincho" panose="02020609040205080304" pitchFamily="49" charset="-128"/>
                <a:cs typeface="Arial" panose="020B0604020202020204" pitchFamily="34" charset="0"/>
              </a:rPr>
              <a:t>1- From Add segment we can add all financial dimensions we need</a:t>
            </a:r>
            <a:br>
              <a:rPr lang="en-US" sz="1600" b="1" kern="1400" dirty="0">
                <a:effectLst/>
                <a:latin typeface="Arial" panose="020B0604020202020204" pitchFamily="34" charset="0"/>
                <a:ea typeface="MS Mincho" panose="02020609040205080304" pitchFamily="49" charset="-128"/>
                <a:cs typeface="Arial" panose="020B0604020202020204" pitchFamily="34" charset="0"/>
              </a:rPr>
            </a:br>
            <a:r>
              <a:rPr lang="en-US" sz="1600" b="1" kern="1400" dirty="0">
                <a:effectLst/>
                <a:latin typeface="Arial" panose="020B0604020202020204" pitchFamily="34" charset="0"/>
                <a:ea typeface="MS Mincho" panose="02020609040205080304" pitchFamily="49" charset="-128"/>
                <a:cs typeface="Arial" panose="020B0604020202020204" pitchFamily="34" charset="0"/>
              </a:rPr>
              <a:t>2- From Activate we can active the account structures </a:t>
            </a:r>
            <a:br>
              <a:rPr lang="en-US" sz="1600" b="1" kern="1400" dirty="0">
                <a:effectLst/>
                <a:latin typeface="Arial" panose="020B0604020202020204" pitchFamily="34" charset="0"/>
                <a:ea typeface="MS Mincho" panose="02020609040205080304" pitchFamily="49" charset="-128"/>
                <a:cs typeface="Arial" panose="020B0604020202020204" pitchFamily="34" charset="0"/>
              </a:rPr>
            </a:br>
            <a:r>
              <a:rPr lang="en-US" sz="1600" b="1" kern="1400" dirty="0">
                <a:effectLst/>
                <a:latin typeface="Arial" panose="020B0604020202020204" pitchFamily="34" charset="0"/>
                <a:ea typeface="MS Mincho" panose="02020609040205080304" pitchFamily="49" charset="-128"/>
                <a:cs typeface="Arial" panose="020B0604020202020204" pitchFamily="34" charset="0"/>
              </a:rPr>
              <a:t>Note: we can make any financial dimension mandatory or optional in accounting entries by using checkbox Blank values are allowed</a:t>
            </a:r>
            <a:r>
              <a:rPr lang="en-US" sz="1400" kern="1400" dirty="0">
                <a:solidFill>
                  <a:srgbClr val="7B7B7B"/>
                </a:solidFill>
                <a:effectLst/>
                <a:latin typeface="Arial" panose="020B0604020202020204" pitchFamily="34" charset="0"/>
                <a:ea typeface="MS Mincho" panose="02020609040205080304" pitchFamily="49" charset="-128"/>
                <a:cs typeface="Arial" panose="020B0604020202020204" pitchFamily="34" charset="0"/>
              </a:rPr>
              <a:t>.</a:t>
            </a:r>
            <a:endParaRPr lang="en-US" sz="1400" kern="1400" dirty="0">
              <a:effectLst/>
              <a:latin typeface="Arial" panose="020B0604020202020204" pitchFamily="34" charset="0"/>
              <a:ea typeface="MS Mincho" panose="02020609040205080304" pitchFamily="49" charset="-128"/>
              <a:cs typeface="Arial" panose="020B0604020202020204" pitchFamily="34"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608330"/>
            <a:ext cx="10515600" cy="729615"/>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Currency Exchange Rate</a:t>
            </a: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9731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graphicFrame>
        <p:nvGraphicFramePr>
          <p:cNvPr id="4" name="Table 3"/>
          <p:cNvGraphicFramePr>
            <a:graphicFrameLocks noGrp="1"/>
          </p:cNvGraphicFramePr>
          <p:nvPr/>
        </p:nvGraphicFramePr>
        <p:xfrm>
          <a:off x="539646" y="1946380"/>
          <a:ext cx="8867879" cy="2412164"/>
        </p:xfrm>
        <a:graphic>
          <a:graphicData uri="http://schemas.openxmlformats.org/drawingml/2006/table">
            <a:tbl>
              <a:tblPr firstRow="1" firstCol="1" bandRow="1">
                <a:tableStyleId>{5C22544A-7EE6-4342-B048-85BDC9FD1C3A}</a:tableStyleId>
              </a:tblPr>
              <a:tblGrid>
                <a:gridCol w="2287113">
                  <a:extLst>
                    <a:ext uri="{9D8B030D-6E8A-4147-A177-3AD203B41FA5}">
                      <a16:colId xmlns:a16="http://schemas.microsoft.com/office/drawing/2014/main" val="20000"/>
                    </a:ext>
                  </a:extLst>
                </a:gridCol>
                <a:gridCol w="6580766">
                  <a:extLst>
                    <a:ext uri="{9D8B030D-6E8A-4147-A177-3AD203B41FA5}">
                      <a16:colId xmlns:a16="http://schemas.microsoft.com/office/drawing/2014/main" val="20001"/>
                    </a:ext>
                  </a:extLst>
                </a:gridCol>
              </a:tblGrid>
              <a:tr h="603041">
                <a:tc>
                  <a:txBody>
                    <a:bodyPr/>
                    <a:lstStyle/>
                    <a:p>
                      <a:pPr>
                        <a:lnSpc>
                          <a:spcPct val="150000"/>
                        </a:lnSpc>
                        <a:spcBef>
                          <a:spcPts val="600"/>
                        </a:spcBef>
                        <a:buNone/>
                      </a:pPr>
                      <a:r>
                        <a:rPr lang="en-US" sz="1400" b="1" kern="1400">
                          <a:effectLst/>
                          <a:latin typeface="Arial" panose="020B0604020202020204" pitchFamily="34" charset="0"/>
                          <a:cs typeface="Arial" panose="020B0604020202020204" pitchFamily="34" charset="0"/>
                        </a:rPr>
                        <a:t>Process code</a:t>
                      </a:r>
                      <a:endParaRPr lang="en-US" sz="14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1400" b="1" kern="1400">
                          <a:effectLst/>
                          <a:latin typeface="Arial" panose="020B0604020202020204" pitchFamily="34" charset="0"/>
                          <a:cs typeface="Arial" panose="020B0604020202020204" pitchFamily="34" charset="0"/>
                        </a:rPr>
                        <a:t>01.06.01. Financial Management</a:t>
                      </a:r>
                      <a:endParaRPr lang="en-US" sz="14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0"/>
                  </a:ext>
                </a:extLst>
              </a:tr>
              <a:tr h="603041">
                <a:tc>
                  <a:txBody>
                    <a:bodyPr/>
                    <a:lstStyle/>
                    <a:p>
                      <a:pPr>
                        <a:lnSpc>
                          <a:spcPct val="150000"/>
                        </a:lnSpc>
                        <a:spcBef>
                          <a:spcPts val="600"/>
                        </a:spcBef>
                        <a:buNone/>
                      </a:pPr>
                      <a:r>
                        <a:rPr lang="en-US" sz="1400" b="1" kern="1400">
                          <a:effectLst/>
                          <a:latin typeface="Arial" panose="020B0604020202020204" pitchFamily="34" charset="0"/>
                          <a:cs typeface="Arial" panose="020B0604020202020204" pitchFamily="34" charset="0"/>
                        </a:rPr>
                        <a:t>Process name</a:t>
                      </a:r>
                      <a:endParaRPr lang="en-US" sz="14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1400" b="1" kern="1400">
                          <a:effectLst/>
                          <a:latin typeface="Arial" panose="020B0604020202020204" pitchFamily="34" charset="0"/>
                          <a:cs typeface="Arial" panose="020B0604020202020204" pitchFamily="34" charset="0"/>
                        </a:rPr>
                        <a:t>Currency exchange rates</a:t>
                      </a:r>
                      <a:endParaRPr lang="en-US" sz="14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1"/>
                  </a:ext>
                </a:extLst>
              </a:tr>
              <a:tr h="603041">
                <a:tc>
                  <a:txBody>
                    <a:bodyPr/>
                    <a:lstStyle/>
                    <a:p>
                      <a:pPr>
                        <a:lnSpc>
                          <a:spcPct val="150000"/>
                        </a:lnSpc>
                        <a:spcBef>
                          <a:spcPts val="600"/>
                        </a:spcBef>
                        <a:buNone/>
                      </a:pPr>
                      <a:r>
                        <a:rPr lang="en-US" sz="1400" b="1" kern="1400">
                          <a:effectLst/>
                          <a:latin typeface="Arial" panose="020B0604020202020204" pitchFamily="34" charset="0"/>
                          <a:cs typeface="Arial" panose="020B0604020202020204" pitchFamily="34" charset="0"/>
                        </a:rPr>
                        <a:t>Process description</a:t>
                      </a:r>
                      <a:endParaRPr lang="en-US" sz="14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1400" b="1" kern="1400" dirty="0">
                          <a:effectLst/>
                          <a:latin typeface="Arial" panose="020B0604020202020204" pitchFamily="34" charset="0"/>
                          <a:cs typeface="Arial" panose="020B0604020202020204" pitchFamily="34" charset="0"/>
                        </a:rPr>
                        <a:t>Create exchange rates</a:t>
                      </a:r>
                      <a:endParaRPr lang="en-US" sz="1400" b="1" kern="1400" dirty="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2"/>
                  </a:ext>
                </a:extLst>
              </a:tr>
              <a:tr h="603041">
                <a:tc>
                  <a:txBody>
                    <a:bodyPr/>
                    <a:lstStyle/>
                    <a:p>
                      <a:pPr>
                        <a:lnSpc>
                          <a:spcPct val="150000"/>
                        </a:lnSpc>
                        <a:spcBef>
                          <a:spcPts val="600"/>
                        </a:spcBef>
                        <a:buNone/>
                      </a:pPr>
                      <a:r>
                        <a:rPr lang="en-US" sz="1400" b="1" kern="1400">
                          <a:effectLst/>
                          <a:latin typeface="Arial" panose="020B0604020202020204" pitchFamily="34" charset="0"/>
                          <a:cs typeface="Arial" panose="020B0604020202020204" pitchFamily="34" charset="0"/>
                        </a:rPr>
                        <a:t>Form path</a:t>
                      </a:r>
                      <a:endParaRPr lang="en-US" sz="14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1400" b="1" kern="1400" dirty="0">
                          <a:effectLst/>
                          <a:latin typeface="Arial" panose="020B0604020202020204" pitchFamily="34" charset="0"/>
                          <a:cs typeface="Arial" panose="020B0604020202020204" pitchFamily="34" charset="0"/>
                        </a:rPr>
                        <a:t>General Ledger &gt;&gt; Currencies &gt;&gt; Currencies &gt;&gt; Currency exchange rates</a:t>
                      </a:r>
                      <a:endParaRPr lang="en-US" sz="1400" b="1" kern="1400" dirty="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3"/>
                  </a:ext>
                </a:extLst>
              </a:tr>
            </a:tbl>
          </a:graphicData>
        </a:graphic>
      </p:graphicFrame>
      <p:sp>
        <p:nvSpPr>
          <p:cNvPr id="6" name="TextBox 5"/>
          <p:cNvSpPr txBox="1"/>
          <p:nvPr/>
        </p:nvSpPr>
        <p:spPr>
          <a:xfrm>
            <a:off x="378501" y="4966979"/>
            <a:ext cx="7431373" cy="646331"/>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 In Microsoft Dynamics 365, all currencies are provided by default and we will use the Egyptian pound as the functional currency.</a:t>
            </a:r>
            <a:endParaRPr lang="ar-EG" b="1" dirty="0">
              <a:latin typeface="Arial" panose="020B0604020202020204" pitchFamily="34" charset="0"/>
              <a:cs typeface="Arial" panose="020B06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608330"/>
            <a:ext cx="10515600" cy="729615"/>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Currency Exchange Rate</a:t>
            </a: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9731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5" name="Picture 4"/>
          <p:cNvPicPr>
            <a:picLocks noChangeAspect="1"/>
          </p:cNvPicPr>
          <p:nvPr/>
        </p:nvPicPr>
        <p:blipFill>
          <a:blip r:embed="rId4"/>
          <a:stretch>
            <a:fillRect/>
          </a:stretch>
        </p:blipFill>
        <p:spPr>
          <a:xfrm>
            <a:off x="0" y="1780466"/>
            <a:ext cx="12191728" cy="3406131"/>
          </a:xfrm>
          <a:prstGeom prst="rect">
            <a:avLst/>
          </a:prstGeom>
        </p:spPr>
      </p:pic>
      <p:sp>
        <p:nvSpPr>
          <p:cNvPr id="12" name="TextBox 11"/>
          <p:cNvSpPr txBox="1"/>
          <p:nvPr/>
        </p:nvSpPr>
        <p:spPr>
          <a:xfrm>
            <a:off x="0" y="5380672"/>
            <a:ext cx="10148342" cy="1477328"/>
          </a:xfrm>
          <a:prstGeom prst="rect">
            <a:avLst/>
          </a:prstGeom>
          <a:noFill/>
        </p:spPr>
        <p:txBody>
          <a:bodyPr wrap="square">
            <a:spAutoFit/>
          </a:bodyPr>
          <a:lstStyle/>
          <a:p>
            <a:r>
              <a:rPr lang="en-US" b="1" dirty="0">
                <a:solidFill>
                  <a:srgbClr val="002060"/>
                </a:solidFill>
              </a:rPr>
              <a:t>Screen Information:</a:t>
            </a:r>
          </a:p>
          <a:p>
            <a:r>
              <a:rPr lang="en-US" dirty="0"/>
              <a:t>1</a:t>
            </a:r>
            <a:r>
              <a:rPr lang="en-US" b="1" dirty="0"/>
              <a:t>. Click the New button.</a:t>
            </a:r>
          </a:p>
          <a:p>
            <a:r>
              <a:rPr lang="en-US" b="1" dirty="0"/>
              <a:t>2. Define the necessary exchange rates between a currency pair by selecting a currency in the from currency and the two currency drop-down list.</a:t>
            </a:r>
          </a:p>
          <a:p>
            <a:r>
              <a:rPr lang="en-US" b="1" dirty="0"/>
              <a:t>3. Define the start date and exchange rate, exchange value will be calculated automatically.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a:extLst>
            <a:ext uri="{FF2B5EF4-FFF2-40B4-BE49-F238E27FC236}">
              <a16:creationId xmlns:a16="http://schemas.microsoft.com/office/drawing/2014/main" id="{8A6A48AD-8724-33A3-54CF-3E9BEAB86D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104992-E9CB-7C6B-A18E-ED75DD2BFEA9}"/>
              </a:ext>
            </a:extLst>
          </p:cNvPr>
          <p:cNvSpPr>
            <a:spLocks noGrp="1"/>
          </p:cNvSpPr>
          <p:nvPr>
            <p:ph type="title"/>
          </p:nvPr>
        </p:nvSpPr>
        <p:spPr>
          <a:xfrm>
            <a:off x="2441864" y="792074"/>
            <a:ext cx="6608618" cy="729615"/>
          </a:xfrm>
        </p:spPr>
        <p:txBody>
          <a:bodyPr>
            <a:noAutofit/>
          </a:bodyPr>
          <a:lstStyle/>
          <a:p>
            <a:pPr fontAlgn="t"/>
            <a:br>
              <a:rPr lang="en-US" sz="3600" b="1" dirty="0">
                <a:solidFill>
                  <a:schemeClr val="tx2"/>
                </a:solidFill>
                <a:latin typeface="Arial" panose="020B0604020202020204" pitchFamily="34" charset="0"/>
                <a:ea typeface="Bright Retro"/>
                <a:cs typeface="Arial" panose="020B0604020202020204" pitchFamily="34" charset="0"/>
                <a:sym typeface="Bright Retro"/>
              </a:rPr>
            </a:br>
            <a:br>
              <a:rPr lang="en-US" dirty="0"/>
            </a:br>
            <a:br>
              <a:rPr lang="en-US" sz="3600" dirty="0"/>
            </a:br>
            <a:endParaRPr lang="en-US" sz="3600" b="1" dirty="0">
              <a:solidFill>
                <a:schemeClr val="tx2"/>
              </a:solidFill>
              <a:latin typeface="Arial" panose="020B0604020202020204" pitchFamily="34" charset="0"/>
              <a:ea typeface="Bright Retro"/>
              <a:cs typeface="Arial" panose="020B0604020202020204" pitchFamily="34" charset="0"/>
              <a:sym typeface="Bright Retro"/>
            </a:endParaRPr>
          </a:p>
        </p:txBody>
      </p:sp>
      <p:pic>
        <p:nvPicPr>
          <p:cNvPr id="8" name="Picture 7">
            <a:extLst>
              <a:ext uri="{FF2B5EF4-FFF2-40B4-BE49-F238E27FC236}">
                <a16:creationId xmlns:a16="http://schemas.microsoft.com/office/drawing/2014/main" id="{37E26066-EB68-0B37-2E2B-38A5C0A5593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97318"/>
            <a:ext cx="1417559" cy="1303240"/>
          </a:xfrm>
          <a:prstGeom prst="rect">
            <a:avLst/>
          </a:prstGeom>
        </p:spPr>
      </p:pic>
      <p:pic>
        <p:nvPicPr>
          <p:cNvPr id="9" name="Picture 8">
            <a:extLst>
              <a:ext uri="{FF2B5EF4-FFF2-40B4-BE49-F238E27FC236}">
                <a16:creationId xmlns:a16="http://schemas.microsoft.com/office/drawing/2014/main" id="{D35BA956-562C-8555-1D52-3FEBB61BBB3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
        <p:nvSpPr>
          <p:cNvPr id="6" name="TextBox 5">
            <a:extLst>
              <a:ext uri="{FF2B5EF4-FFF2-40B4-BE49-F238E27FC236}">
                <a16:creationId xmlns:a16="http://schemas.microsoft.com/office/drawing/2014/main" id="{F5C75777-0AE2-5CEE-8ED7-7A9865320CAA}"/>
              </a:ext>
            </a:extLst>
          </p:cNvPr>
          <p:cNvSpPr txBox="1"/>
          <p:nvPr/>
        </p:nvSpPr>
        <p:spPr>
          <a:xfrm>
            <a:off x="378501" y="4966979"/>
            <a:ext cx="7431373" cy="369332"/>
          </a:xfrm>
          <a:prstGeom prst="rect">
            <a:avLst/>
          </a:prstGeom>
          <a:noFill/>
        </p:spPr>
        <p:txBody>
          <a:bodyPr wrap="square">
            <a:spAutoFit/>
          </a:bodyPr>
          <a:lstStyle/>
          <a:p>
            <a:endParaRPr lang="ar-EG" b="1" dirty="0">
              <a:latin typeface="Arial" panose="020B0604020202020204" pitchFamily="34" charset="0"/>
              <a:cs typeface="Arial" panose="020B0604020202020204" pitchFamily="34" charset="0"/>
            </a:endParaRPr>
          </a:p>
        </p:txBody>
      </p:sp>
      <p:sp>
        <p:nvSpPr>
          <p:cNvPr id="12" name="TextBox 11">
            <a:extLst>
              <a:ext uri="{FF2B5EF4-FFF2-40B4-BE49-F238E27FC236}">
                <a16:creationId xmlns:a16="http://schemas.microsoft.com/office/drawing/2014/main" id="{29703C74-8783-9D86-1D99-CDF02B2BECFA}"/>
              </a:ext>
            </a:extLst>
          </p:cNvPr>
          <p:cNvSpPr txBox="1"/>
          <p:nvPr/>
        </p:nvSpPr>
        <p:spPr>
          <a:xfrm>
            <a:off x="3493943" y="972215"/>
            <a:ext cx="6094268" cy="523220"/>
          </a:xfrm>
          <a:prstGeom prst="rect">
            <a:avLst/>
          </a:prstGeom>
          <a:noFill/>
        </p:spPr>
        <p:txBody>
          <a:bodyPr wrap="square">
            <a:spAutoFit/>
          </a:bodyPr>
          <a:lstStyle/>
          <a:p>
            <a:r>
              <a:rPr lang="en-US" sz="2800" b="1" dirty="0">
                <a:solidFill>
                  <a:srgbClr val="002060"/>
                </a:solidFill>
              </a:rPr>
              <a:t>General ledger&gt; Ledger setup&gt; Ledger</a:t>
            </a:r>
          </a:p>
        </p:txBody>
      </p:sp>
      <p:pic>
        <p:nvPicPr>
          <p:cNvPr id="14" name="Picture 13">
            <a:extLst>
              <a:ext uri="{FF2B5EF4-FFF2-40B4-BE49-F238E27FC236}">
                <a16:creationId xmlns:a16="http://schemas.microsoft.com/office/drawing/2014/main" id="{5E37960D-75CB-8C67-6BCB-B97A510B2ECC}"/>
              </a:ext>
            </a:extLst>
          </p:cNvPr>
          <p:cNvPicPr>
            <a:picLocks noChangeAspect="1"/>
          </p:cNvPicPr>
          <p:nvPr/>
        </p:nvPicPr>
        <p:blipFill>
          <a:blip r:embed="rId4"/>
          <a:stretch>
            <a:fillRect/>
          </a:stretch>
        </p:blipFill>
        <p:spPr>
          <a:xfrm>
            <a:off x="0" y="1535570"/>
            <a:ext cx="12192000" cy="5322430"/>
          </a:xfrm>
          <a:prstGeom prst="rect">
            <a:avLst/>
          </a:prstGeom>
        </p:spPr>
      </p:pic>
      <p:cxnSp>
        <p:nvCxnSpPr>
          <p:cNvPr id="16" name="Straight Arrow Connector 15">
            <a:extLst>
              <a:ext uri="{FF2B5EF4-FFF2-40B4-BE49-F238E27FC236}">
                <a16:creationId xmlns:a16="http://schemas.microsoft.com/office/drawing/2014/main" id="{C63D6633-8A08-2814-0CAE-B80BC75334C5}"/>
              </a:ext>
            </a:extLst>
          </p:cNvPr>
          <p:cNvCxnSpPr/>
          <p:nvPr/>
        </p:nvCxnSpPr>
        <p:spPr>
          <a:xfrm>
            <a:off x="644236" y="2712027"/>
            <a:ext cx="207819" cy="34290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8" name="Straight Arrow Connector 17">
            <a:extLst>
              <a:ext uri="{FF2B5EF4-FFF2-40B4-BE49-F238E27FC236}">
                <a16:creationId xmlns:a16="http://schemas.microsoft.com/office/drawing/2014/main" id="{D956F774-3C36-480F-A519-96EBDD08FC24}"/>
              </a:ext>
            </a:extLst>
          </p:cNvPr>
          <p:cNvCxnSpPr/>
          <p:nvPr/>
        </p:nvCxnSpPr>
        <p:spPr>
          <a:xfrm>
            <a:off x="2015836" y="2628900"/>
            <a:ext cx="342900" cy="446809"/>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20" name="Straight Arrow Connector 19">
            <a:extLst>
              <a:ext uri="{FF2B5EF4-FFF2-40B4-BE49-F238E27FC236}">
                <a16:creationId xmlns:a16="http://schemas.microsoft.com/office/drawing/2014/main" id="{05E6732B-CEC2-C5FA-4107-04DBC0EF249D}"/>
              </a:ext>
            </a:extLst>
          </p:cNvPr>
          <p:cNvCxnSpPr/>
          <p:nvPr/>
        </p:nvCxnSpPr>
        <p:spPr>
          <a:xfrm>
            <a:off x="3605645" y="2535382"/>
            <a:ext cx="446810" cy="519545"/>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22" name="Straight Arrow Connector 21">
            <a:extLst>
              <a:ext uri="{FF2B5EF4-FFF2-40B4-BE49-F238E27FC236}">
                <a16:creationId xmlns:a16="http://schemas.microsoft.com/office/drawing/2014/main" id="{8BCEF727-6653-E39C-DA48-A30E955EB7A5}"/>
              </a:ext>
            </a:extLst>
          </p:cNvPr>
          <p:cNvCxnSpPr/>
          <p:nvPr/>
        </p:nvCxnSpPr>
        <p:spPr>
          <a:xfrm>
            <a:off x="197427" y="3605645"/>
            <a:ext cx="477982" cy="415637"/>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24" name="Straight Arrow Connector 23">
            <a:extLst>
              <a:ext uri="{FF2B5EF4-FFF2-40B4-BE49-F238E27FC236}">
                <a16:creationId xmlns:a16="http://schemas.microsoft.com/office/drawing/2014/main" id="{2A7AA466-1A75-F41A-33F0-ACF5ED0E5602}"/>
              </a:ext>
            </a:extLst>
          </p:cNvPr>
          <p:cNvCxnSpPr/>
          <p:nvPr/>
        </p:nvCxnSpPr>
        <p:spPr>
          <a:xfrm>
            <a:off x="197427" y="5902036"/>
            <a:ext cx="322118" cy="498764"/>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26" name="Straight Arrow Connector 25">
            <a:extLst>
              <a:ext uri="{FF2B5EF4-FFF2-40B4-BE49-F238E27FC236}">
                <a16:creationId xmlns:a16="http://schemas.microsoft.com/office/drawing/2014/main" id="{00FE73D3-A251-10F2-97E4-E70748A693B3}"/>
              </a:ext>
            </a:extLst>
          </p:cNvPr>
          <p:cNvCxnSpPr/>
          <p:nvPr/>
        </p:nvCxnSpPr>
        <p:spPr>
          <a:xfrm>
            <a:off x="4187536" y="5891645"/>
            <a:ext cx="467591" cy="561110"/>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28" name="Straight Arrow Connector 27">
            <a:extLst>
              <a:ext uri="{FF2B5EF4-FFF2-40B4-BE49-F238E27FC236}">
                <a16:creationId xmlns:a16="http://schemas.microsoft.com/office/drawing/2014/main" id="{FC97B814-118C-EDD7-FCD4-D272A39DDAD8}"/>
              </a:ext>
            </a:extLst>
          </p:cNvPr>
          <p:cNvCxnSpPr/>
          <p:nvPr/>
        </p:nvCxnSpPr>
        <p:spPr>
          <a:xfrm>
            <a:off x="7959436" y="5902036"/>
            <a:ext cx="498764" cy="426028"/>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145501032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608330"/>
            <a:ext cx="10515600" cy="729615"/>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Journal Names</a:t>
            </a: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9731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graphicFrame>
        <p:nvGraphicFramePr>
          <p:cNvPr id="4" name="Table 3"/>
          <p:cNvGraphicFramePr>
            <a:graphicFrameLocks noGrp="1"/>
          </p:cNvGraphicFramePr>
          <p:nvPr/>
        </p:nvGraphicFramePr>
        <p:xfrm>
          <a:off x="1417559" y="1748957"/>
          <a:ext cx="8154859" cy="2383526"/>
        </p:xfrm>
        <a:graphic>
          <a:graphicData uri="http://schemas.openxmlformats.org/drawingml/2006/table">
            <a:tbl>
              <a:tblPr firstRow="1" firstCol="1" bandRow="1">
                <a:tableStyleId>{5C22544A-7EE6-4342-B048-85BDC9FD1C3A}</a:tableStyleId>
              </a:tblPr>
              <a:tblGrid>
                <a:gridCol w="2103218">
                  <a:extLst>
                    <a:ext uri="{9D8B030D-6E8A-4147-A177-3AD203B41FA5}">
                      <a16:colId xmlns:a16="http://schemas.microsoft.com/office/drawing/2014/main" val="20000"/>
                    </a:ext>
                  </a:extLst>
                </a:gridCol>
                <a:gridCol w="6051641">
                  <a:extLst>
                    <a:ext uri="{9D8B030D-6E8A-4147-A177-3AD203B41FA5}">
                      <a16:colId xmlns:a16="http://schemas.microsoft.com/office/drawing/2014/main" val="20001"/>
                    </a:ext>
                  </a:extLst>
                </a:gridCol>
              </a:tblGrid>
              <a:tr h="537122">
                <a:tc>
                  <a:txBody>
                    <a:bodyPr/>
                    <a:lstStyle/>
                    <a:p>
                      <a:pPr>
                        <a:lnSpc>
                          <a:spcPct val="150000"/>
                        </a:lnSpc>
                        <a:spcBef>
                          <a:spcPts val="600"/>
                        </a:spcBef>
                        <a:buNone/>
                      </a:pPr>
                      <a:r>
                        <a:rPr lang="en-US" sz="1800" b="1" kern="1400">
                          <a:effectLst/>
                          <a:latin typeface="Arial" panose="020B0604020202020204" pitchFamily="34" charset="0"/>
                          <a:cs typeface="Arial" panose="020B0604020202020204" pitchFamily="34" charset="0"/>
                        </a:rPr>
                        <a:t>Process code</a:t>
                      </a:r>
                      <a:endParaRPr lang="en-US" sz="18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1800" b="1" kern="1400">
                          <a:effectLst/>
                          <a:latin typeface="Arial" panose="020B0604020202020204" pitchFamily="34" charset="0"/>
                          <a:cs typeface="Arial" panose="020B0604020202020204" pitchFamily="34" charset="0"/>
                        </a:rPr>
                        <a:t>01.03.01. Financial Management</a:t>
                      </a:r>
                      <a:endParaRPr lang="en-US" sz="18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0"/>
                  </a:ext>
                </a:extLst>
              </a:tr>
              <a:tr h="537122">
                <a:tc>
                  <a:txBody>
                    <a:bodyPr/>
                    <a:lstStyle/>
                    <a:p>
                      <a:pPr>
                        <a:lnSpc>
                          <a:spcPct val="150000"/>
                        </a:lnSpc>
                        <a:spcBef>
                          <a:spcPts val="600"/>
                        </a:spcBef>
                        <a:buNone/>
                      </a:pPr>
                      <a:r>
                        <a:rPr lang="en-US" sz="1800" b="1" kern="1400">
                          <a:effectLst/>
                          <a:latin typeface="Arial" panose="020B0604020202020204" pitchFamily="34" charset="0"/>
                          <a:cs typeface="Arial" panose="020B0604020202020204" pitchFamily="34" charset="0"/>
                        </a:rPr>
                        <a:t>Process name</a:t>
                      </a:r>
                      <a:endParaRPr lang="en-US" sz="18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1800" b="1" kern="1400">
                          <a:effectLst/>
                          <a:latin typeface="Arial" panose="020B0604020202020204" pitchFamily="34" charset="0"/>
                          <a:cs typeface="Arial" panose="020B0604020202020204" pitchFamily="34" charset="0"/>
                        </a:rPr>
                        <a:t>Journal names</a:t>
                      </a:r>
                      <a:endParaRPr lang="en-US" sz="18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1"/>
                  </a:ext>
                </a:extLst>
              </a:tr>
              <a:tr h="537122">
                <a:tc>
                  <a:txBody>
                    <a:bodyPr/>
                    <a:lstStyle/>
                    <a:p>
                      <a:pPr>
                        <a:lnSpc>
                          <a:spcPct val="150000"/>
                        </a:lnSpc>
                        <a:spcBef>
                          <a:spcPts val="600"/>
                        </a:spcBef>
                        <a:buNone/>
                      </a:pPr>
                      <a:r>
                        <a:rPr lang="en-US" sz="1800" b="1" kern="1400" dirty="0">
                          <a:effectLst/>
                          <a:latin typeface="Arial" panose="020B0604020202020204" pitchFamily="34" charset="0"/>
                          <a:cs typeface="Arial" panose="020B0604020202020204" pitchFamily="34" charset="0"/>
                        </a:rPr>
                        <a:t>Process description</a:t>
                      </a:r>
                      <a:endParaRPr lang="en-US" sz="1800" b="1" kern="1400" dirty="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1800" b="1" kern="1400" dirty="0">
                          <a:effectLst/>
                          <a:latin typeface="Arial" panose="020B0604020202020204" pitchFamily="34" charset="0"/>
                          <a:cs typeface="Arial" panose="020B0604020202020204" pitchFamily="34" charset="0"/>
                        </a:rPr>
                        <a:t>Create Journal names</a:t>
                      </a:r>
                      <a:endParaRPr lang="en-US" sz="1800" b="1" kern="1400" dirty="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2"/>
                  </a:ext>
                </a:extLst>
              </a:tr>
              <a:tr h="537122">
                <a:tc>
                  <a:txBody>
                    <a:bodyPr/>
                    <a:lstStyle/>
                    <a:p>
                      <a:pPr>
                        <a:lnSpc>
                          <a:spcPct val="150000"/>
                        </a:lnSpc>
                        <a:spcBef>
                          <a:spcPts val="600"/>
                        </a:spcBef>
                        <a:buNone/>
                      </a:pPr>
                      <a:r>
                        <a:rPr lang="en-US" sz="1800" b="1" kern="1400">
                          <a:effectLst/>
                          <a:latin typeface="Arial" panose="020B0604020202020204" pitchFamily="34" charset="0"/>
                          <a:cs typeface="Arial" panose="020B0604020202020204" pitchFamily="34" charset="0"/>
                        </a:rPr>
                        <a:t>Form path</a:t>
                      </a:r>
                      <a:endParaRPr lang="en-US" sz="1800" b="1" kern="140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tc>
                  <a:txBody>
                    <a:bodyPr/>
                    <a:lstStyle/>
                    <a:p>
                      <a:pPr>
                        <a:lnSpc>
                          <a:spcPct val="150000"/>
                        </a:lnSpc>
                        <a:spcBef>
                          <a:spcPts val="600"/>
                        </a:spcBef>
                        <a:buNone/>
                      </a:pPr>
                      <a:r>
                        <a:rPr lang="en-US" sz="1800" b="1" kern="1400" dirty="0">
                          <a:effectLst/>
                          <a:latin typeface="Arial" panose="020B0604020202020204" pitchFamily="34" charset="0"/>
                          <a:cs typeface="Arial" panose="020B0604020202020204" pitchFamily="34" charset="0"/>
                        </a:rPr>
                        <a:t>General Ledger &gt;&gt; Journals Setup &gt;&gt; Journal names</a:t>
                      </a:r>
                      <a:endParaRPr lang="en-US" sz="1800" b="1" kern="1400" dirty="0">
                        <a:effectLst/>
                        <a:latin typeface="Arial" panose="020B0604020202020204" pitchFamily="34" charset="0"/>
                        <a:ea typeface="MS Mincho" panose="02020609040205080304" pitchFamily="49" charset="-128"/>
                        <a:cs typeface="Arial" panose="020B0604020202020204" pitchFamily="34" charset="0"/>
                      </a:endParaRPr>
                    </a:p>
                  </a:txBody>
                  <a:tcPr marL="68580" marR="68580" marT="0" marB="0"/>
                </a:tc>
                <a:extLst>
                  <a:ext uri="{0D108BD9-81ED-4DB2-BD59-A6C34878D82A}">
                    <a16:rowId xmlns:a16="http://schemas.microsoft.com/office/drawing/2014/main" val="10003"/>
                  </a:ext>
                </a:extLst>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199" y="207951"/>
            <a:ext cx="10515600" cy="729615"/>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Journal Names</a:t>
            </a:r>
          </a:p>
        </p:txBody>
      </p:sp>
      <p:pic>
        <p:nvPicPr>
          <p:cNvPr id="8" name="Picture 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78862"/>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5" name="Picture 4"/>
          <p:cNvPicPr>
            <a:picLocks noChangeAspect="1"/>
          </p:cNvPicPr>
          <p:nvPr/>
        </p:nvPicPr>
        <p:blipFill>
          <a:blip r:embed="rId4"/>
          <a:stretch>
            <a:fillRect/>
          </a:stretch>
        </p:blipFill>
        <p:spPr>
          <a:xfrm>
            <a:off x="0" y="1294738"/>
            <a:ext cx="12191727" cy="2677655"/>
          </a:xfrm>
          <a:prstGeom prst="rect">
            <a:avLst/>
          </a:prstGeom>
        </p:spPr>
      </p:pic>
      <p:sp>
        <p:nvSpPr>
          <p:cNvPr id="7" name="TextBox 6"/>
          <p:cNvSpPr txBox="1"/>
          <p:nvPr/>
        </p:nvSpPr>
        <p:spPr>
          <a:xfrm>
            <a:off x="2362" y="3972393"/>
            <a:ext cx="11351437" cy="2677656"/>
          </a:xfrm>
          <a:prstGeom prst="rect">
            <a:avLst/>
          </a:prstGeom>
          <a:noFill/>
        </p:spPr>
        <p:txBody>
          <a:bodyPr wrap="square">
            <a:spAutoFit/>
          </a:bodyPr>
          <a:lstStyle/>
          <a:p>
            <a:r>
              <a:rPr lang="en-US" dirty="0"/>
              <a:t>	</a:t>
            </a:r>
            <a:r>
              <a:rPr lang="en-US" sz="2400" b="1" dirty="0">
                <a:solidFill>
                  <a:srgbClr val="002060"/>
                </a:solidFill>
              </a:rPr>
              <a:t>Screen Information:</a:t>
            </a:r>
          </a:p>
          <a:p>
            <a:r>
              <a:rPr lang="en-US" dirty="0"/>
              <a:t>1</a:t>
            </a:r>
            <a:r>
              <a:rPr lang="en-US" b="1" dirty="0"/>
              <a:t>. Enter a recognizable journal name in the Name field.</a:t>
            </a:r>
          </a:p>
          <a:p>
            <a:r>
              <a:rPr lang="en-US" b="1" dirty="0"/>
              <a:t>2. Enter a description of the journal that clearly describes the purpose of the journal in the Description field.</a:t>
            </a:r>
          </a:p>
          <a:p>
            <a:r>
              <a:rPr lang="en-US" b="1" dirty="0"/>
              <a:t>3. Select the type of journal in the Journal type list. The journal type determines what the journal is used for and in which module it is available. For example, the customer payment Journal type is used only for customer payment journals.</a:t>
            </a:r>
          </a:p>
          <a:p>
            <a:r>
              <a:rPr lang="en-US" b="1" dirty="0"/>
              <a:t>4. Approval is to activate the approval of certain users on the journal transactions before posting.</a:t>
            </a:r>
          </a:p>
          <a:p>
            <a:r>
              <a:rPr lang="en-US" b="1" dirty="0"/>
              <a:t>5. Blocking is to allow only certain users to use this journal</a:t>
            </a:r>
          </a:p>
          <a:p>
            <a:r>
              <a:rPr lang="en-US" b="1" dirty="0"/>
              <a:t>6. Voucher series is the number sequence (serial) of the vouchers in the selected journal</a:t>
            </a:r>
          </a:p>
        </p:txBody>
      </p:sp>
      <p:cxnSp>
        <p:nvCxnSpPr>
          <p:cNvPr id="11" name="Straight Arrow Connector 10"/>
          <p:cNvCxnSpPr/>
          <p:nvPr/>
        </p:nvCxnSpPr>
        <p:spPr>
          <a:xfrm flipV="1">
            <a:off x="2794000" y="2070100"/>
            <a:ext cx="584200" cy="3810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3" name="Straight Arrow Connector 12"/>
          <p:cNvCxnSpPr/>
          <p:nvPr/>
        </p:nvCxnSpPr>
        <p:spPr>
          <a:xfrm flipV="1">
            <a:off x="5029200" y="2882900"/>
            <a:ext cx="520700" cy="2540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5" name="Straight Arrow Connector 14"/>
          <p:cNvCxnSpPr/>
          <p:nvPr/>
        </p:nvCxnSpPr>
        <p:spPr>
          <a:xfrm flipV="1">
            <a:off x="1028700" y="1549400"/>
            <a:ext cx="388859" cy="3302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7" name="Straight Arrow Connector 16"/>
          <p:cNvCxnSpPr/>
          <p:nvPr/>
        </p:nvCxnSpPr>
        <p:spPr>
          <a:xfrm flipV="1">
            <a:off x="4000500" y="2070100"/>
            <a:ext cx="381000" cy="4699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9" name="Straight Arrow Connector 18"/>
          <p:cNvCxnSpPr/>
          <p:nvPr/>
        </p:nvCxnSpPr>
        <p:spPr>
          <a:xfrm flipV="1">
            <a:off x="2794000" y="2451100"/>
            <a:ext cx="774700" cy="4318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817071"/>
            <a:ext cx="10515600" cy="822543"/>
          </a:xfrm>
        </p:spPr>
        <p:txBody>
          <a:bodyPr>
            <a:noAutofit/>
          </a:bodyPr>
          <a:lstStyle/>
          <a:p>
            <a:pPr algn="ctr">
              <a:lnSpc>
                <a:spcPts val="8170"/>
              </a:lnSpc>
            </a:pPr>
            <a:r>
              <a:rPr lang="en-US" sz="3600" b="1" dirty="0">
                <a:solidFill>
                  <a:schemeClr val="tx2"/>
                </a:solidFill>
                <a:latin typeface="Bright Retro"/>
                <a:ea typeface="Bright Retro"/>
                <a:cs typeface="Bright Retro"/>
                <a:sym typeface="Bright Retro"/>
              </a:rPr>
              <a:t>Account Payable</a:t>
            </a:r>
          </a:p>
        </p:txBody>
      </p:sp>
      <p:graphicFrame>
        <p:nvGraphicFramePr>
          <p:cNvPr id="4" name="Diagram 3"/>
          <p:cNvGraphicFramePr/>
          <p:nvPr/>
        </p:nvGraphicFramePr>
        <p:xfrm>
          <a:off x="3299380" y="1856650"/>
          <a:ext cx="5759779" cy="45479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6" name="Picture 5"/>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838200" y="264628"/>
            <a:ext cx="1417559" cy="1303240"/>
          </a:xfrm>
          <a:prstGeom prst="rect">
            <a:avLst/>
          </a:prstGeom>
        </p:spPr>
      </p:pic>
      <p:pic>
        <p:nvPicPr>
          <p:cNvPr id="9" name="Picture 8"/>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0416952" y="15770"/>
            <a:ext cx="1774776" cy="693347"/>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817071"/>
            <a:ext cx="10515600" cy="822543"/>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Vendor Groups</a:t>
            </a: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4016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graphicFrame>
        <p:nvGraphicFramePr>
          <p:cNvPr id="6" name="Table 5"/>
          <p:cNvGraphicFramePr>
            <a:graphicFrameLocks noGrp="1"/>
          </p:cNvGraphicFramePr>
          <p:nvPr/>
        </p:nvGraphicFramePr>
        <p:xfrm>
          <a:off x="1417559" y="2424938"/>
          <a:ext cx="8132841" cy="1475740"/>
        </p:xfrm>
        <a:graphic>
          <a:graphicData uri="http://schemas.openxmlformats.org/drawingml/2006/table">
            <a:tbl>
              <a:tblPr firstRow="1" firstCol="1" bandRow="1">
                <a:tableStyleId>{5C22544A-7EE6-4342-B048-85BDC9FD1C3A}</a:tableStyleId>
              </a:tblPr>
              <a:tblGrid>
                <a:gridCol w="2097540">
                  <a:extLst>
                    <a:ext uri="{9D8B030D-6E8A-4147-A177-3AD203B41FA5}">
                      <a16:colId xmlns:a16="http://schemas.microsoft.com/office/drawing/2014/main" val="20000"/>
                    </a:ext>
                  </a:extLst>
                </a:gridCol>
                <a:gridCol w="6035301">
                  <a:extLst>
                    <a:ext uri="{9D8B030D-6E8A-4147-A177-3AD203B41FA5}">
                      <a16:colId xmlns:a16="http://schemas.microsoft.com/office/drawing/2014/main" val="20001"/>
                    </a:ext>
                  </a:extLst>
                </a:gridCol>
              </a:tblGrid>
              <a:tr h="190500">
                <a:tc>
                  <a:txBody>
                    <a:bodyPr/>
                    <a:lstStyle/>
                    <a:p>
                      <a:pPr>
                        <a:lnSpc>
                          <a:spcPct val="150000"/>
                        </a:lnSpc>
                        <a:spcBef>
                          <a:spcPts val="600"/>
                        </a:spcBef>
                        <a:buNone/>
                      </a:pPr>
                      <a:r>
                        <a:rPr lang="en-US" sz="1800" b="1" kern="1400">
                          <a:effectLst/>
                        </a:rPr>
                        <a:t>Process code</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04.01.01. Financial Management</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190500">
                <a:tc>
                  <a:txBody>
                    <a:bodyPr/>
                    <a:lstStyle/>
                    <a:p>
                      <a:pPr>
                        <a:lnSpc>
                          <a:spcPct val="150000"/>
                        </a:lnSpc>
                        <a:spcBef>
                          <a:spcPts val="600"/>
                        </a:spcBef>
                        <a:buNone/>
                      </a:pPr>
                      <a:r>
                        <a:rPr lang="en-US" sz="1800" b="1" kern="1400">
                          <a:effectLst/>
                        </a:rPr>
                        <a:t>Process name</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Vendor Groups</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0500">
                <a:tc>
                  <a:txBody>
                    <a:bodyPr/>
                    <a:lstStyle/>
                    <a:p>
                      <a:pPr>
                        <a:lnSpc>
                          <a:spcPct val="150000"/>
                        </a:lnSpc>
                        <a:spcBef>
                          <a:spcPts val="600"/>
                        </a:spcBef>
                        <a:buNone/>
                      </a:pPr>
                      <a:r>
                        <a:rPr lang="en-US" sz="1800" b="1" kern="1400">
                          <a:effectLst/>
                        </a:rPr>
                        <a:t>Process description</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Vendor Groups</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266065">
                <a:tc>
                  <a:txBody>
                    <a:bodyPr/>
                    <a:lstStyle/>
                    <a:p>
                      <a:pPr>
                        <a:lnSpc>
                          <a:spcPct val="150000"/>
                        </a:lnSpc>
                        <a:spcBef>
                          <a:spcPts val="600"/>
                        </a:spcBef>
                        <a:buNone/>
                      </a:pPr>
                      <a:r>
                        <a:rPr lang="en-US" sz="1800" b="1" kern="1400">
                          <a:effectLst/>
                        </a:rPr>
                        <a:t>Form path</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dirty="0">
                          <a:effectLst/>
                        </a:rPr>
                        <a:t>Accounts payable &gt;&gt; Vendors &gt;&gt; Vendor Groups</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bl>
          </a:graphicData>
        </a:graphic>
      </p:graphicFrame>
      <p:sp>
        <p:nvSpPr>
          <p:cNvPr id="10" name="TextBox 9"/>
          <p:cNvSpPr txBox="1"/>
          <p:nvPr/>
        </p:nvSpPr>
        <p:spPr>
          <a:xfrm>
            <a:off x="393700" y="4192538"/>
            <a:ext cx="10023252" cy="1477328"/>
          </a:xfrm>
          <a:prstGeom prst="rect">
            <a:avLst/>
          </a:prstGeom>
          <a:noFill/>
        </p:spPr>
        <p:txBody>
          <a:bodyPr wrap="square">
            <a:spAutoFit/>
          </a:bodyPr>
          <a:lstStyle/>
          <a:p>
            <a:r>
              <a:rPr lang="en-US" b="1" dirty="0"/>
              <a:t>* Use vendor groups to set up certain information that always defaults when you enter a new vendor.</a:t>
            </a:r>
          </a:p>
          <a:p>
            <a:r>
              <a:rPr lang="en-US" b="1" dirty="0"/>
              <a:t>*For example, use the vendor group to set up automatic posting to General *Ledger accounts generated by vendor transactions. </a:t>
            </a:r>
          </a:p>
          <a:p>
            <a:r>
              <a:rPr lang="en-US" b="1" dirty="0"/>
              <a:t>*In the Vendor groups form, set up vendor groups. You must set up at least one vendor group, because a vendor group must be specified when you create a new vendor.</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8200" y="817071"/>
            <a:ext cx="10515600" cy="822543"/>
          </a:xfrm>
        </p:spPr>
        <p:txBody>
          <a:bodyPr>
            <a:noAutofit/>
          </a:bodyPr>
          <a:lstStyle/>
          <a:p>
            <a:pPr algn="ctr">
              <a:lnSpc>
                <a:spcPts val="8170"/>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Vendor Groups</a:t>
            </a: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4016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4" name="Picture 3"/>
          <p:cNvPicPr>
            <a:picLocks noChangeAspect="1"/>
          </p:cNvPicPr>
          <p:nvPr/>
        </p:nvPicPr>
        <p:blipFill>
          <a:blip r:embed="rId4"/>
          <a:stretch>
            <a:fillRect/>
          </a:stretch>
        </p:blipFill>
        <p:spPr>
          <a:xfrm>
            <a:off x="0" y="1763443"/>
            <a:ext cx="12191728" cy="2884757"/>
          </a:xfrm>
          <a:prstGeom prst="rect">
            <a:avLst/>
          </a:prstGeom>
        </p:spPr>
      </p:pic>
      <p:sp>
        <p:nvSpPr>
          <p:cNvPr id="7" name="TextBox 6"/>
          <p:cNvSpPr txBox="1"/>
          <p:nvPr/>
        </p:nvSpPr>
        <p:spPr>
          <a:xfrm>
            <a:off x="139700" y="4702738"/>
            <a:ext cx="7493000" cy="1754326"/>
          </a:xfrm>
          <a:prstGeom prst="rect">
            <a:avLst/>
          </a:prstGeom>
          <a:noFill/>
        </p:spPr>
        <p:txBody>
          <a:bodyPr wrap="square">
            <a:spAutoFit/>
          </a:bodyPr>
          <a:lstStyle/>
          <a:p>
            <a:r>
              <a:rPr lang="en-US" b="1" dirty="0">
                <a:solidFill>
                  <a:srgbClr val="002060"/>
                </a:solidFill>
              </a:rPr>
              <a:t>Screen Information</a:t>
            </a:r>
            <a:br>
              <a:rPr lang="en-US" dirty="0"/>
            </a:br>
            <a:endParaRPr lang="en-US" dirty="0"/>
          </a:p>
          <a:p>
            <a:r>
              <a:rPr lang="en-US" b="1" dirty="0"/>
              <a:t>1. Click the New button to create a new record.</a:t>
            </a:r>
          </a:p>
          <a:p>
            <a:r>
              <a:rPr lang="en-US" b="1" dirty="0"/>
              <a:t>2. Enter a short name or code for the vendor group in the Vendor group field. This name is used throughout the system.</a:t>
            </a:r>
          </a:p>
          <a:p>
            <a:r>
              <a:rPr lang="en-US" b="1" dirty="0"/>
              <a:t>3. Enter the full name of the vendor group in the Description field. </a:t>
            </a:r>
          </a:p>
        </p:txBody>
      </p:sp>
      <p:cxnSp>
        <p:nvCxnSpPr>
          <p:cNvPr id="11" name="Straight Arrow Connector 10"/>
          <p:cNvCxnSpPr/>
          <p:nvPr/>
        </p:nvCxnSpPr>
        <p:spPr>
          <a:xfrm flipV="1">
            <a:off x="1143000" y="2146300"/>
            <a:ext cx="177800" cy="3175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3503295" y="220345"/>
            <a:ext cx="5186045" cy="1405255"/>
          </a:xfrm>
          <a:prstGeom prst="rect">
            <a:avLst/>
          </a:prstGeom>
        </p:spPr>
        <p:txBody>
          <a:bodyPr wrap="square" lIns="0" tIns="0" rIns="0" bIns="0" rtlCol="0" anchor="t">
            <a:noAutofit/>
          </a:bodyPr>
          <a:lstStyle/>
          <a:p>
            <a:pPr algn="ctr">
              <a:lnSpc>
                <a:spcPts val="8170"/>
              </a:lnSpc>
            </a:pPr>
            <a:r>
              <a:rPr lang="en-US" sz="3600" b="1" dirty="0">
                <a:solidFill>
                  <a:schemeClr val="tx2"/>
                </a:solidFill>
                <a:latin typeface="Bright Retro"/>
                <a:ea typeface="Bright Retro"/>
                <a:cs typeface="Bright Retro"/>
                <a:sym typeface="Bright Retro"/>
              </a:rPr>
              <a:t>Create New Vendors</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67"/>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graphicFrame>
        <p:nvGraphicFramePr>
          <p:cNvPr id="7" name="Table 6"/>
          <p:cNvGraphicFramePr>
            <a:graphicFrameLocks noGrp="1"/>
          </p:cNvGraphicFramePr>
          <p:nvPr/>
        </p:nvGraphicFramePr>
        <p:xfrm>
          <a:off x="1828800" y="1092200"/>
          <a:ext cx="7642225" cy="1739900"/>
        </p:xfrm>
        <a:graphic>
          <a:graphicData uri="http://schemas.openxmlformats.org/drawingml/2006/table">
            <a:tbl>
              <a:tblPr firstRow="1" firstCol="1" bandRow="1">
                <a:tableStyleId>{5C22544A-7EE6-4342-B048-85BDC9FD1C3A}</a:tableStyleId>
              </a:tblPr>
              <a:tblGrid>
                <a:gridCol w="1971005">
                  <a:extLst>
                    <a:ext uri="{9D8B030D-6E8A-4147-A177-3AD203B41FA5}">
                      <a16:colId xmlns:a16="http://schemas.microsoft.com/office/drawing/2014/main" val="20000"/>
                    </a:ext>
                  </a:extLst>
                </a:gridCol>
                <a:gridCol w="5671220">
                  <a:extLst>
                    <a:ext uri="{9D8B030D-6E8A-4147-A177-3AD203B41FA5}">
                      <a16:colId xmlns:a16="http://schemas.microsoft.com/office/drawing/2014/main" val="20001"/>
                    </a:ext>
                  </a:extLst>
                </a:gridCol>
              </a:tblGrid>
              <a:tr h="434975">
                <a:tc>
                  <a:txBody>
                    <a:bodyPr/>
                    <a:lstStyle/>
                    <a:p>
                      <a:pPr>
                        <a:lnSpc>
                          <a:spcPct val="150000"/>
                        </a:lnSpc>
                        <a:spcBef>
                          <a:spcPts val="600"/>
                        </a:spcBef>
                        <a:buNone/>
                      </a:pPr>
                      <a:r>
                        <a:rPr lang="en-US" sz="1800" kern="1400">
                          <a:effectLst/>
                        </a:rPr>
                        <a:t>Process code</a:t>
                      </a:r>
                      <a:endParaRPr lang="en-US" sz="18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04.01.02. Financial Management</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434975">
                <a:tc>
                  <a:txBody>
                    <a:bodyPr/>
                    <a:lstStyle/>
                    <a:p>
                      <a:pPr>
                        <a:lnSpc>
                          <a:spcPct val="150000"/>
                        </a:lnSpc>
                        <a:spcBef>
                          <a:spcPts val="600"/>
                        </a:spcBef>
                        <a:buNone/>
                      </a:pPr>
                      <a:r>
                        <a:rPr lang="en-US" sz="1800" kern="1400">
                          <a:effectLst/>
                        </a:rPr>
                        <a:t>Process name</a:t>
                      </a:r>
                      <a:endParaRPr lang="en-US" sz="18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dirty="0">
                          <a:effectLst/>
                        </a:rPr>
                        <a:t>Create New Vendor</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434975">
                <a:tc>
                  <a:txBody>
                    <a:bodyPr/>
                    <a:lstStyle/>
                    <a:p>
                      <a:pPr>
                        <a:lnSpc>
                          <a:spcPct val="150000"/>
                        </a:lnSpc>
                        <a:spcBef>
                          <a:spcPts val="600"/>
                        </a:spcBef>
                        <a:buNone/>
                      </a:pPr>
                      <a:r>
                        <a:rPr lang="en-US" sz="1800" kern="1400" dirty="0">
                          <a:effectLst/>
                        </a:rPr>
                        <a:t>Process description</a:t>
                      </a:r>
                      <a:endParaRPr lang="en-US" sz="1800"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Create New Vendors </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434975">
                <a:tc>
                  <a:txBody>
                    <a:bodyPr/>
                    <a:lstStyle/>
                    <a:p>
                      <a:pPr>
                        <a:lnSpc>
                          <a:spcPct val="150000"/>
                        </a:lnSpc>
                        <a:spcBef>
                          <a:spcPts val="600"/>
                        </a:spcBef>
                        <a:buNone/>
                      </a:pPr>
                      <a:r>
                        <a:rPr lang="en-US" sz="1800" kern="1400">
                          <a:effectLst/>
                        </a:rPr>
                        <a:t>Form path</a:t>
                      </a:r>
                      <a:endParaRPr lang="en-US" sz="18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dirty="0">
                          <a:effectLst/>
                        </a:rPr>
                        <a:t>Accounts payable &gt; Vendors &gt; All Vendors</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bl>
          </a:graphicData>
        </a:graphic>
      </p:graphicFrame>
      <p:pic>
        <p:nvPicPr>
          <p:cNvPr id="11" name="Picture 10"/>
          <p:cNvPicPr>
            <a:picLocks noChangeAspect="1"/>
          </p:cNvPicPr>
          <p:nvPr/>
        </p:nvPicPr>
        <p:blipFill>
          <a:blip r:embed="rId4"/>
          <a:stretch>
            <a:fillRect/>
          </a:stretch>
        </p:blipFill>
        <p:spPr>
          <a:xfrm>
            <a:off x="0" y="2832100"/>
            <a:ext cx="12192000" cy="4025900"/>
          </a:xfrm>
          <a:prstGeom prst="rect">
            <a:avLst/>
          </a:prstGeom>
        </p:spPr>
      </p:pic>
      <p:cxnSp>
        <p:nvCxnSpPr>
          <p:cNvPr id="15" name="Straight Arrow Connector 14"/>
          <p:cNvCxnSpPr/>
          <p:nvPr/>
        </p:nvCxnSpPr>
        <p:spPr>
          <a:xfrm flipV="1">
            <a:off x="863600" y="3429000"/>
            <a:ext cx="279400" cy="5334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3503295" y="220345"/>
            <a:ext cx="5186045" cy="1262665"/>
          </a:xfrm>
          <a:prstGeom prst="rect">
            <a:avLst/>
          </a:prstGeom>
        </p:spPr>
        <p:txBody>
          <a:bodyPr wrap="square" lIns="0" tIns="0" rIns="0" bIns="0" rtlCol="0" anchor="t">
            <a:noAutofit/>
          </a:bodyPr>
          <a:lstStyle/>
          <a:p>
            <a:pPr algn="ctr">
              <a:lnSpc>
                <a:spcPts val="8170"/>
              </a:lnSpc>
            </a:pPr>
            <a:r>
              <a:rPr lang="en-US" sz="3600" b="1" dirty="0">
                <a:solidFill>
                  <a:schemeClr val="tx2"/>
                </a:solidFill>
                <a:latin typeface="Bright Retro"/>
                <a:ea typeface="Bright Retro"/>
                <a:cs typeface="Bright Retro"/>
                <a:sym typeface="Bright Retro"/>
              </a:rPr>
              <a:t>Create New Vendors</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67"/>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3" name="Picture 2"/>
          <p:cNvPicPr>
            <a:picLocks noChangeAspect="1"/>
          </p:cNvPicPr>
          <p:nvPr/>
        </p:nvPicPr>
        <p:blipFill>
          <a:blip r:embed="rId4"/>
          <a:stretch>
            <a:fillRect/>
          </a:stretch>
        </p:blipFill>
        <p:spPr>
          <a:xfrm>
            <a:off x="0" y="1955906"/>
            <a:ext cx="12191728" cy="3168285"/>
          </a:xfrm>
          <a:prstGeom prst="rect">
            <a:avLst/>
          </a:prstGeom>
        </p:spPr>
      </p:pic>
      <p:sp>
        <p:nvSpPr>
          <p:cNvPr id="8" name="TextBox 7"/>
          <p:cNvSpPr txBox="1"/>
          <p:nvPr/>
        </p:nvSpPr>
        <p:spPr>
          <a:xfrm>
            <a:off x="1092200" y="1483010"/>
            <a:ext cx="8318500" cy="369332"/>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1-	Click “New” to open the Vendor form for creation of new vendor.</a:t>
            </a:r>
            <a:endParaRPr lang="ar-EG" b="1" dirty="0">
              <a:latin typeface="Arial" panose="020B0604020202020204" pitchFamily="34" charset="0"/>
              <a:cs typeface="Arial" panose="020B0604020202020204" pitchFamily="34" charset="0"/>
            </a:endParaRPr>
          </a:p>
        </p:txBody>
      </p:sp>
      <p:sp>
        <p:nvSpPr>
          <p:cNvPr id="12" name="TextBox 11"/>
          <p:cNvSpPr txBox="1"/>
          <p:nvPr/>
        </p:nvSpPr>
        <p:spPr>
          <a:xfrm>
            <a:off x="0" y="5124192"/>
            <a:ext cx="7025005" cy="1477328"/>
          </a:xfrm>
          <a:prstGeom prst="rect">
            <a:avLst/>
          </a:prstGeom>
          <a:noFill/>
        </p:spPr>
        <p:txBody>
          <a:bodyPr wrap="square">
            <a:spAutoFit/>
          </a:bodyPr>
          <a:lstStyle/>
          <a:p>
            <a:r>
              <a:rPr lang="en-US" b="1" dirty="0">
                <a:solidFill>
                  <a:srgbClr val="002060"/>
                </a:solidFill>
              </a:rPr>
              <a:t>Screen Information</a:t>
            </a:r>
          </a:p>
          <a:p>
            <a:r>
              <a:rPr lang="en-US" dirty="0"/>
              <a:t>1. Enter the Vendor ID with up to 10 characters in the Vendor account field application will generate it automatically.</a:t>
            </a:r>
          </a:p>
          <a:p>
            <a:r>
              <a:rPr lang="en-US" dirty="0"/>
              <a:t>2. Enter the vendor’s name with up to 30 characters in the Name field.</a:t>
            </a:r>
          </a:p>
          <a:p>
            <a:r>
              <a:rPr lang="en-US" dirty="0"/>
              <a:t>3. Select the vendor group to which the vendor belongs in the Group list.</a:t>
            </a:r>
          </a:p>
        </p:txBody>
      </p:sp>
      <p:cxnSp>
        <p:nvCxnSpPr>
          <p:cNvPr id="14" name="Straight Arrow Connector 13"/>
          <p:cNvCxnSpPr/>
          <p:nvPr/>
        </p:nvCxnSpPr>
        <p:spPr>
          <a:xfrm flipV="1">
            <a:off x="939800" y="2374900"/>
            <a:ext cx="342900" cy="4572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7" name="Straight Arrow Connector 16"/>
          <p:cNvCxnSpPr/>
          <p:nvPr/>
        </p:nvCxnSpPr>
        <p:spPr>
          <a:xfrm flipV="1">
            <a:off x="241300" y="4254500"/>
            <a:ext cx="215900" cy="3810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9" name="Straight Arrow Connector 18"/>
          <p:cNvCxnSpPr/>
          <p:nvPr/>
        </p:nvCxnSpPr>
        <p:spPr>
          <a:xfrm flipV="1">
            <a:off x="1828800" y="4076700"/>
            <a:ext cx="431800" cy="3556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1" name="Straight Arrow Connector 20"/>
          <p:cNvCxnSpPr/>
          <p:nvPr/>
        </p:nvCxnSpPr>
        <p:spPr>
          <a:xfrm flipV="1">
            <a:off x="1866900" y="4635500"/>
            <a:ext cx="406400" cy="488691"/>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3503295" y="220345"/>
            <a:ext cx="5186045" cy="1262665"/>
          </a:xfrm>
          <a:prstGeom prst="rect">
            <a:avLst/>
          </a:prstGeom>
        </p:spPr>
        <p:txBody>
          <a:bodyPr wrap="square" lIns="0" tIns="0" rIns="0" bIns="0" rtlCol="0" anchor="t">
            <a:noAutofit/>
          </a:bodyPr>
          <a:lstStyle/>
          <a:p>
            <a:pPr algn="ctr">
              <a:lnSpc>
                <a:spcPts val="8170"/>
              </a:lnSpc>
            </a:pPr>
            <a:r>
              <a:rPr lang="en-US" sz="3600" b="1" dirty="0">
                <a:solidFill>
                  <a:schemeClr val="tx2"/>
                </a:solidFill>
                <a:latin typeface="Bright Retro"/>
                <a:ea typeface="Bright Retro"/>
                <a:cs typeface="Bright Retro"/>
                <a:sym typeface="Bright Retro"/>
              </a:rPr>
              <a:t>Create New Vendors</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67"/>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5" name="Picture 4"/>
          <p:cNvPicPr>
            <a:picLocks noChangeAspect="1"/>
          </p:cNvPicPr>
          <p:nvPr/>
        </p:nvPicPr>
        <p:blipFill>
          <a:blip r:embed="rId4"/>
          <a:stretch>
            <a:fillRect/>
          </a:stretch>
        </p:blipFill>
        <p:spPr>
          <a:xfrm>
            <a:off x="0" y="1483009"/>
            <a:ext cx="10517068" cy="2098017"/>
          </a:xfrm>
          <a:prstGeom prst="rect">
            <a:avLst/>
          </a:prstGeom>
        </p:spPr>
      </p:pic>
      <p:sp>
        <p:nvSpPr>
          <p:cNvPr id="10" name="TextBox 9"/>
          <p:cNvSpPr txBox="1"/>
          <p:nvPr/>
        </p:nvSpPr>
        <p:spPr>
          <a:xfrm>
            <a:off x="0" y="4186127"/>
            <a:ext cx="6096000" cy="369332"/>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4. select the default vendor currency.</a:t>
            </a:r>
            <a:endParaRPr lang="ar-EG" b="1" dirty="0">
              <a:latin typeface="Arial" panose="020B0604020202020204" pitchFamily="34" charset="0"/>
              <a:cs typeface="Arial" panose="020B0604020202020204" pitchFamily="34" charset="0"/>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3503295" y="220345"/>
            <a:ext cx="5186045" cy="1262665"/>
          </a:xfrm>
          <a:prstGeom prst="rect">
            <a:avLst/>
          </a:prstGeom>
        </p:spPr>
        <p:txBody>
          <a:bodyPr wrap="square" lIns="0" tIns="0" rIns="0" bIns="0" rtlCol="0" anchor="t">
            <a:noAutofit/>
          </a:bodyPr>
          <a:lstStyle/>
          <a:p>
            <a:pPr algn="ctr">
              <a:lnSpc>
                <a:spcPts val="8170"/>
              </a:lnSpc>
            </a:pPr>
            <a:r>
              <a:rPr lang="en-US" sz="3600" b="1" dirty="0">
                <a:solidFill>
                  <a:schemeClr val="tx2"/>
                </a:solidFill>
                <a:latin typeface="Bright Retro"/>
                <a:ea typeface="Bright Retro"/>
                <a:cs typeface="Bright Retro"/>
                <a:sym typeface="Bright Retro"/>
              </a:rPr>
              <a:t>Create New Vendors</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67"/>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3" name="Picture 2"/>
          <p:cNvPicPr>
            <a:picLocks noChangeAspect="1"/>
          </p:cNvPicPr>
          <p:nvPr/>
        </p:nvPicPr>
        <p:blipFill>
          <a:blip r:embed="rId4"/>
          <a:stretch>
            <a:fillRect/>
          </a:stretch>
        </p:blipFill>
        <p:spPr>
          <a:xfrm>
            <a:off x="0" y="1461813"/>
            <a:ext cx="12191728" cy="3046687"/>
          </a:xfrm>
          <a:prstGeom prst="rect">
            <a:avLst/>
          </a:prstGeom>
        </p:spPr>
      </p:pic>
      <p:sp>
        <p:nvSpPr>
          <p:cNvPr id="8" name="TextBox 7"/>
          <p:cNvSpPr txBox="1"/>
          <p:nvPr/>
        </p:nvSpPr>
        <p:spPr>
          <a:xfrm>
            <a:off x="330200" y="4815406"/>
            <a:ext cx="6096000" cy="646331"/>
          </a:xfrm>
          <a:prstGeom prst="rect">
            <a:avLst/>
          </a:prstGeom>
          <a:noFill/>
        </p:spPr>
        <p:txBody>
          <a:bodyPr wrap="square">
            <a:spAutoFit/>
          </a:bodyPr>
          <a:lstStyle/>
          <a:p>
            <a:r>
              <a:rPr lang="en-US" b="1" dirty="0"/>
              <a:t>5. Enter the vendor's addresses on the Addresses Fast Tab.</a:t>
            </a:r>
          </a:p>
          <a:p>
            <a:r>
              <a:rPr lang="en-US" b="1" dirty="0"/>
              <a:t>6. click the registration ID</a:t>
            </a:r>
          </a:p>
        </p:txBody>
      </p:sp>
      <p:cxnSp>
        <p:nvCxnSpPr>
          <p:cNvPr id="12" name="Straight Arrow Connector 11"/>
          <p:cNvCxnSpPr/>
          <p:nvPr/>
        </p:nvCxnSpPr>
        <p:spPr>
          <a:xfrm flipV="1">
            <a:off x="7848600" y="1752600"/>
            <a:ext cx="584200" cy="6858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3503295" y="220345"/>
            <a:ext cx="5186045" cy="1262665"/>
          </a:xfrm>
          <a:prstGeom prst="rect">
            <a:avLst/>
          </a:prstGeom>
        </p:spPr>
        <p:txBody>
          <a:bodyPr wrap="square" lIns="0" tIns="0" rIns="0" bIns="0" rtlCol="0" anchor="t">
            <a:noAutofit/>
          </a:bodyPr>
          <a:lstStyle/>
          <a:p>
            <a:pPr algn="ctr">
              <a:lnSpc>
                <a:spcPts val="8170"/>
              </a:lnSpc>
            </a:pPr>
            <a:r>
              <a:rPr lang="en-US" sz="3600" b="1" dirty="0">
                <a:solidFill>
                  <a:schemeClr val="tx2"/>
                </a:solidFill>
                <a:latin typeface="Bright Retro"/>
                <a:ea typeface="Bright Retro"/>
                <a:cs typeface="Bright Retro"/>
                <a:sym typeface="Bright Retro"/>
              </a:rPr>
              <a:t>Create New Vendors</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67"/>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5" name="Picture 4"/>
          <p:cNvPicPr>
            <a:picLocks noChangeAspect="1"/>
          </p:cNvPicPr>
          <p:nvPr/>
        </p:nvPicPr>
        <p:blipFill>
          <a:blip r:embed="rId4"/>
          <a:stretch>
            <a:fillRect/>
          </a:stretch>
        </p:blipFill>
        <p:spPr>
          <a:xfrm>
            <a:off x="1" y="1155700"/>
            <a:ext cx="12192000" cy="2603500"/>
          </a:xfrm>
          <a:prstGeom prst="rect">
            <a:avLst/>
          </a:prstGeom>
        </p:spPr>
      </p:pic>
      <p:sp>
        <p:nvSpPr>
          <p:cNvPr id="14" name="TextBox 13"/>
          <p:cNvSpPr txBox="1"/>
          <p:nvPr/>
        </p:nvSpPr>
        <p:spPr>
          <a:xfrm>
            <a:off x="0" y="3994140"/>
            <a:ext cx="11899900" cy="2031325"/>
          </a:xfrm>
          <a:prstGeom prst="rect">
            <a:avLst/>
          </a:prstGeom>
          <a:noFill/>
        </p:spPr>
        <p:txBody>
          <a:bodyPr wrap="square">
            <a:spAutoFit/>
          </a:bodyPr>
          <a:lstStyle/>
          <a:p>
            <a:r>
              <a:rPr lang="en-US" b="1" dirty="0"/>
              <a:t>9-you can add invoice account which is more like parent-child relationship where finance side is owned by invoice account and order processing / fulfillment is done by order account. If left blank, then invoice account is same as vendor account.</a:t>
            </a:r>
          </a:p>
          <a:p>
            <a:r>
              <a:rPr lang="en-US" b="1" dirty="0"/>
              <a:t>10- You can set up a default tax profile ( Withholding tax &amp; Sales tax) for a vendor. </a:t>
            </a:r>
            <a:br>
              <a:rPr lang="en-US" b="1" dirty="0"/>
            </a:br>
            <a:r>
              <a:rPr lang="en-US" b="1" dirty="0"/>
              <a:t>By default, the tax information is used when you create transactions for the customer or vendor. </a:t>
            </a:r>
            <a:br>
              <a:rPr lang="en-US" b="1" dirty="0"/>
            </a:br>
            <a:r>
              <a:rPr lang="en-US" b="1" dirty="0"/>
              <a:t>However, you can change the default information for individual transactions if you have to.</a:t>
            </a:r>
            <a:br>
              <a:rPr lang="en-US" b="1" dirty="0"/>
            </a:br>
            <a:endParaRPr lang="en-US" b="1" dirty="0"/>
          </a:p>
          <a:p>
            <a:r>
              <a:rPr lang="en-US" b="1" dirty="0"/>
              <a:t>Note  Withholding tax will not be calculated if the Calculate withholding tax checkbox is not switched on for this vendor.</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1779481" y="513975"/>
            <a:ext cx="8633026" cy="804545"/>
          </a:xfrm>
          <a:prstGeom prst="rect">
            <a:avLst/>
          </a:prstGeom>
        </p:spPr>
        <p:txBody>
          <a:bodyPr wrap="square" lIns="0" tIns="0" rIns="0" bIns="0" rtlCol="0" anchor="t">
            <a:spAutoFit/>
          </a:bodyPr>
          <a:lstStyle/>
          <a:p>
            <a:pPr algn="ctr">
              <a:lnSpc>
                <a:spcPts val="627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Vendor Posting profiles</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264628"/>
            <a:ext cx="1417559" cy="130324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2507" y="-105"/>
            <a:ext cx="1774776" cy="693347"/>
          </a:xfrm>
          <a:prstGeom prst="rect">
            <a:avLst/>
          </a:prstGeom>
        </p:spPr>
      </p:pic>
      <p:graphicFrame>
        <p:nvGraphicFramePr>
          <p:cNvPr id="2" name="Table 1"/>
          <p:cNvGraphicFramePr>
            <a:graphicFrameLocks noGrp="1"/>
          </p:cNvGraphicFramePr>
          <p:nvPr/>
        </p:nvGraphicFramePr>
        <p:xfrm>
          <a:off x="1957286" y="1439288"/>
          <a:ext cx="7718425" cy="1475740"/>
        </p:xfrm>
        <a:graphic>
          <a:graphicData uri="http://schemas.openxmlformats.org/drawingml/2006/table">
            <a:tbl>
              <a:tblPr firstRow="1" firstCol="1" bandRow="1">
                <a:tableStyleId>{5C22544A-7EE6-4342-B048-85BDC9FD1C3A}</a:tableStyleId>
              </a:tblPr>
              <a:tblGrid>
                <a:gridCol w="1990658">
                  <a:extLst>
                    <a:ext uri="{9D8B030D-6E8A-4147-A177-3AD203B41FA5}">
                      <a16:colId xmlns:a16="http://schemas.microsoft.com/office/drawing/2014/main" val="20000"/>
                    </a:ext>
                  </a:extLst>
                </a:gridCol>
                <a:gridCol w="5727767">
                  <a:extLst>
                    <a:ext uri="{9D8B030D-6E8A-4147-A177-3AD203B41FA5}">
                      <a16:colId xmlns:a16="http://schemas.microsoft.com/office/drawing/2014/main" val="20001"/>
                    </a:ext>
                  </a:extLst>
                </a:gridCol>
              </a:tblGrid>
              <a:tr h="190500">
                <a:tc>
                  <a:txBody>
                    <a:bodyPr/>
                    <a:lstStyle/>
                    <a:p>
                      <a:pPr>
                        <a:lnSpc>
                          <a:spcPct val="150000"/>
                        </a:lnSpc>
                        <a:spcBef>
                          <a:spcPts val="600"/>
                        </a:spcBef>
                        <a:buNone/>
                      </a:pPr>
                      <a:r>
                        <a:rPr lang="en-US" sz="1800" b="1" kern="1400">
                          <a:effectLst/>
                        </a:rPr>
                        <a:t>Process code</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04.01.03. Financial Management</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190500">
                <a:tc>
                  <a:txBody>
                    <a:bodyPr/>
                    <a:lstStyle/>
                    <a:p>
                      <a:pPr>
                        <a:lnSpc>
                          <a:spcPct val="150000"/>
                        </a:lnSpc>
                        <a:spcBef>
                          <a:spcPts val="600"/>
                        </a:spcBef>
                        <a:buNone/>
                      </a:pPr>
                      <a:r>
                        <a:rPr lang="en-US" sz="1800" b="1" kern="1400">
                          <a:effectLst/>
                        </a:rPr>
                        <a:t>Process name</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Vendor Posting Profile</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0500">
                <a:tc>
                  <a:txBody>
                    <a:bodyPr/>
                    <a:lstStyle/>
                    <a:p>
                      <a:pPr>
                        <a:lnSpc>
                          <a:spcPct val="150000"/>
                        </a:lnSpc>
                        <a:spcBef>
                          <a:spcPts val="600"/>
                        </a:spcBef>
                        <a:buNone/>
                      </a:pPr>
                      <a:r>
                        <a:rPr lang="en-US" sz="1800" b="1" kern="1400">
                          <a:effectLst/>
                        </a:rPr>
                        <a:t>Process description</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Vendor Posting Profile</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0">
                <a:tc>
                  <a:txBody>
                    <a:bodyPr/>
                    <a:lstStyle/>
                    <a:p>
                      <a:pPr>
                        <a:lnSpc>
                          <a:spcPct val="150000"/>
                        </a:lnSpc>
                        <a:spcBef>
                          <a:spcPts val="600"/>
                        </a:spcBef>
                        <a:buNone/>
                      </a:pPr>
                      <a:r>
                        <a:rPr lang="en-US" sz="1800" b="1" kern="1400">
                          <a:effectLst/>
                        </a:rPr>
                        <a:t>Form path</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dirty="0">
                          <a:effectLst/>
                        </a:rPr>
                        <a:t>Accounts payable &gt; Setup &gt; Vendor Posting Profiles</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bl>
          </a:graphicData>
        </a:graphic>
      </p:graphicFrame>
      <p:sp>
        <p:nvSpPr>
          <p:cNvPr id="9" name="TextBox 8"/>
          <p:cNvSpPr txBox="1"/>
          <p:nvPr/>
        </p:nvSpPr>
        <p:spPr>
          <a:xfrm>
            <a:off x="1790700" y="3162300"/>
            <a:ext cx="7885011" cy="923330"/>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Vendor posting profiles enable you to assign general ledger accounts and document settings to all vendors, a group of vendors, or a single vendor. </a:t>
            </a:r>
            <a:endParaRPr lang="ar-EG" b="1" dirty="0">
              <a:latin typeface="Arial" panose="020B0604020202020204" pitchFamily="34" charset="0"/>
              <a:cs typeface="Arial" panose="020B0604020202020204" pitchFamily="34" charset="0"/>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1779481" y="513975"/>
            <a:ext cx="8633026" cy="804545"/>
          </a:xfrm>
          <a:prstGeom prst="rect">
            <a:avLst/>
          </a:prstGeom>
        </p:spPr>
        <p:txBody>
          <a:bodyPr wrap="square" lIns="0" tIns="0" rIns="0" bIns="0" rtlCol="0" anchor="t">
            <a:spAutoFit/>
          </a:bodyPr>
          <a:lstStyle/>
          <a:p>
            <a:pPr algn="ctr">
              <a:lnSpc>
                <a:spcPts val="627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Vendor Posting profiles</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264628"/>
            <a:ext cx="1417559" cy="130324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2507" y="-105"/>
            <a:ext cx="1774776" cy="693347"/>
          </a:xfrm>
          <a:prstGeom prst="rect">
            <a:avLst/>
          </a:prstGeom>
        </p:spPr>
      </p:pic>
      <p:pic>
        <p:nvPicPr>
          <p:cNvPr id="8" name="Picture 7"/>
          <p:cNvPicPr>
            <a:picLocks noChangeAspect="1"/>
          </p:cNvPicPr>
          <p:nvPr/>
        </p:nvPicPr>
        <p:blipFill>
          <a:blip r:embed="rId4"/>
          <a:stretch>
            <a:fillRect/>
          </a:stretch>
        </p:blipFill>
        <p:spPr>
          <a:xfrm>
            <a:off x="-19050" y="1635616"/>
            <a:ext cx="12192000" cy="2794000"/>
          </a:xfrm>
          <a:prstGeom prst="rect">
            <a:avLst/>
          </a:prstGeom>
        </p:spPr>
      </p:pic>
      <p:sp>
        <p:nvSpPr>
          <p:cNvPr id="12" name="TextBox 11"/>
          <p:cNvSpPr txBox="1"/>
          <p:nvPr/>
        </p:nvSpPr>
        <p:spPr>
          <a:xfrm>
            <a:off x="139700" y="4497365"/>
            <a:ext cx="11874500" cy="2308324"/>
          </a:xfrm>
          <a:prstGeom prst="rect">
            <a:avLst/>
          </a:prstGeom>
          <a:noFill/>
        </p:spPr>
        <p:txBody>
          <a:bodyPr wrap="square">
            <a:spAutoFit/>
          </a:bodyPr>
          <a:lstStyle/>
          <a:p>
            <a:r>
              <a:rPr lang="en-US" b="1" dirty="0">
                <a:solidFill>
                  <a:srgbClr val="002060"/>
                </a:solidFill>
              </a:rPr>
              <a:t>Screen Information</a:t>
            </a:r>
          </a:p>
          <a:p>
            <a:r>
              <a:rPr lang="en-US" sz="1400" b="1" dirty="0"/>
              <a:t>1. Click the New button to create a new record.</a:t>
            </a:r>
          </a:p>
          <a:p>
            <a:r>
              <a:rPr lang="en-US" sz="1400" b="1" dirty="0"/>
              <a:t>2. Enter a code or a short name for the posting profile in the Posting profile field.</a:t>
            </a:r>
          </a:p>
          <a:p>
            <a:r>
              <a:rPr lang="en-US" sz="1400" b="1" dirty="0"/>
              <a:t>3. Enter a description of the posting profile in the Description field.</a:t>
            </a:r>
          </a:p>
          <a:p>
            <a:r>
              <a:rPr lang="en-US" sz="1400" b="1" dirty="0"/>
              <a:t>4. From the Vendor posting profiles form, click the Setup Fast Tab.</a:t>
            </a:r>
          </a:p>
          <a:p>
            <a:r>
              <a:rPr lang="en-US" sz="1400" b="1" dirty="0"/>
              <a:t>5. Click the Add button to add a new line.</a:t>
            </a:r>
          </a:p>
          <a:p>
            <a:r>
              <a:rPr lang="en-US" sz="1400" b="1" dirty="0"/>
              <a:t>6. Select an Account code:</a:t>
            </a:r>
          </a:p>
          <a:p>
            <a:r>
              <a:rPr lang="en-US" sz="1400" b="1" dirty="0"/>
              <a:t>	Table</a:t>
            </a:r>
          </a:p>
          <a:p>
            <a:r>
              <a:rPr lang="en-US" sz="1400" b="1" dirty="0"/>
              <a:t>	Group</a:t>
            </a:r>
          </a:p>
          <a:p>
            <a:r>
              <a:rPr lang="en-US" sz="1400" b="1" dirty="0"/>
              <a:t>	All</a:t>
            </a:r>
          </a:p>
        </p:txBody>
      </p:sp>
      <p:cxnSp>
        <p:nvCxnSpPr>
          <p:cNvPr id="14" name="Straight Arrow Connector 13"/>
          <p:cNvCxnSpPr/>
          <p:nvPr/>
        </p:nvCxnSpPr>
        <p:spPr>
          <a:xfrm flipV="1">
            <a:off x="876300" y="2095500"/>
            <a:ext cx="444500" cy="6223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6" name="Straight Arrow Connector 15"/>
          <p:cNvCxnSpPr/>
          <p:nvPr/>
        </p:nvCxnSpPr>
        <p:spPr>
          <a:xfrm flipV="1">
            <a:off x="2108200" y="2717800"/>
            <a:ext cx="660400" cy="7112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8" name="Straight Arrow Connector 17"/>
          <p:cNvCxnSpPr/>
          <p:nvPr/>
        </p:nvCxnSpPr>
        <p:spPr>
          <a:xfrm flipV="1">
            <a:off x="2311400" y="3517900"/>
            <a:ext cx="431800" cy="6096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0" name="Straight Arrow Connector 19"/>
          <p:cNvCxnSpPr/>
          <p:nvPr/>
        </p:nvCxnSpPr>
        <p:spPr>
          <a:xfrm flipV="1">
            <a:off x="4953000" y="3721100"/>
            <a:ext cx="723900" cy="3556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2" name="Straight Arrow Connector 21"/>
          <p:cNvCxnSpPr/>
          <p:nvPr/>
        </p:nvCxnSpPr>
        <p:spPr>
          <a:xfrm flipV="1">
            <a:off x="7442200" y="3314700"/>
            <a:ext cx="406400" cy="2032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1779481" y="513975"/>
            <a:ext cx="8633026" cy="804545"/>
          </a:xfrm>
          <a:prstGeom prst="rect">
            <a:avLst/>
          </a:prstGeom>
        </p:spPr>
        <p:txBody>
          <a:bodyPr wrap="square" lIns="0" tIns="0" rIns="0" bIns="0" rtlCol="0" anchor="t">
            <a:spAutoFit/>
          </a:bodyPr>
          <a:lstStyle/>
          <a:p>
            <a:pPr algn="ctr">
              <a:lnSpc>
                <a:spcPts val="627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Vendor Posting profiles</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264628"/>
            <a:ext cx="1417559" cy="130324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2507" y="-105"/>
            <a:ext cx="1774776" cy="693347"/>
          </a:xfrm>
          <a:prstGeom prst="rect">
            <a:avLst/>
          </a:prstGeom>
        </p:spPr>
      </p:pic>
      <p:sp>
        <p:nvSpPr>
          <p:cNvPr id="9" name="TextBox 8"/>
          <p:cNvSpPr txBox="1"/>
          <p:nvPr/>
        </p:nvSpPr>
        <p:spPr>
          <a:xfrm>
            <a:off x="292100" y="1988741"/>
            <a:ext cx="11633200" cy="2585323"/>
          </a:xfrm>
          <a:prstGeom prst="rect">
            <a:avLst/>
          </a:prstGeom>
          <a:noFill/>
        </p:spPr>
        <p:txBody>
          <a:bodyPr wrap="square">
            <a:spAutoFit/>
          </a:bodyPr>
          <a:lstStyle/>
          <a:p>
            <a:r>
              <a:rPr lang="en-US" b="1" dirty="0">
                <a:latin typeface="Arial" panose="020B0604020202020204" pitchFamily="34" charset="0"/>
                <a:cs typeface="Arial" panose="020B0604020202020204" pitchFamily="34" charset="0"/>
              </a:rPr>
              <a:t>7. Specify which vendors belong to the current posting profile in the Account/Group number field.</a:t>
            </a:r>
          </a:p>
          <a:p>
            <a:r>
              <a:rPr lang="en-US" b="1" dirty="0">
                <a:latin typeface="Arial" panose="020B0604020202020204" pitchFamily="34" charset="0"/>
                <a:cs typeface="Arial" panose="020B0604020202020204" pitchFamily="34" charset="0"/>
              </a:rPr>
              <a:t>If Table is selected in the Account code field, enter the account number of the vendor to whom the posting profile relates.</a:t>
            </a:r>
            <a:br>
              <a:rPr lang="en-US" b="1" dirty="0">
                <a:latin typeface="Arial" panose="020B0604020202020204" pitchFamily="34" charset="0"/>
                <a:cs typeface="Arial" panose="020B0604020202020204" pitchFamily="34" charset="0"/>
              </a:rPr>
            </a:br>
            <a:endParaRPr lang="en-US" b="1" dirty="0">
              <a:latin typeface="Arial" panose="020B0604020202020204" pitchFamily="34" charset="0"/>
              <a:cs typeface="Arial" panose="020B0604020202020204" pitchFamily="34" charset="0"/>
            </a:endParaRPr>
          </a:p>
          <a:p>
            <a:r>
              <a:rPr lang="en-US" b="1" dirty="0">
                <a:latin typeface="Arial" panose="020B0604020202020204" pitchFamily="34" charset="0"/>
                <a:cs typeface="Arial" panose="020B0604020202020204" pitchFamily="34" charset="0"/>
              </a:rPr>
              <a:t>If Group is selected in the Account code field, enter the vendor group to which the posting profile relates.</a:t>
            </a:r>
          </a:p>
          <a:p>
            <a:r>
              <a:rPr lang="en-US" b="1" dirty="0">
                <a:latin typeface="Arial" panose="020B0604020202020204" pitchFamily="34" charset="0"/>
                <a:cs typeface="Arial" panose="020B0604020202020204" pitchFamily="34" charset="0"/>
              </a:rPr>
              <a:t>If All is selected in the Account code field, do not fill in the field.</a:t>
            </a:r>
            <a:br>
              <a:rPr lang="en-US" b="1" dirty="0">
                <a:latin typeface="Arial" panose="020B0604020202020204" pitchFamily="34" charset="0"/>
                <a:cs typeface="Arial" panose="020B0604020202020204" pitchFamily="34" charset="0"/>
              </a:rPr>
            </a:br>
            <a:endParaRPr lang="en-US" b="1" dirty="0">
              <a:latin typeface="Arial" panose="020B0604020202020204" pitchFamily="34" charset="0"/>
              <a:cs typeface="Arial" panose="020B0604020202020204" pitchFamily="34" charset="0"/>
            </a:endParaRPr>
          </a:p>
          <a:p>
            <a:r>
              <a:rPr lang="en-US" b="1" dirty="0">
                <a:latin typeface="Arial" panose="020B0604020202020204" pitchFamily="34" charset="0"/>
                <a:cs typeface="Arial" panose="020B0604020202020204" pitchFamily="34" charset="0"/>
              </a:rPr>
              <a:t>8. Select the account number of the ledger account that is used as the vendor summary account (Accounts Payable) for the vendor(s) to whom the posting profile relates in the Summary account field.</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1779480" y="513975"/>
            <a:ext cx="8869470" cy="711028"/>
          </a:xfrm>
          <a:prstGeom prst="rect">
            <a:avLst/>
          </a:prstGeom>
        </p:spPr>
        <p:txBody>
          <a:bodyPr wrap="square" lIns="0" tIns="0" rIns="0" bIns="0" rtlCol="0" anchor="t">
            <a:spAutoFit/>
          </a:bodyPr>
          <a:lstStyle/>
          <a:p>
            <a:pPr algn="ctr">
              <a:lnSpc>
                <a:spcPts val="627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Accounts Payable Parameters</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6675" y="41622"/>
            <a:ext cx="1417559" cy="130324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2507" y="-105"/>
            <a:ext cx="1774776" cy="693347"/>
          </a:xfrm>
          <a:prstGeom prst="rect">
            <a:avLst/>
          </a:prstGeom>
        </p:spPr>
      </p:pic>
      <p:sp>
        <p:nvSpPr>
          <p:cNvPr id="3" name="TextBox 2"/>
          <p:cNvSpPr txBox="1"/>
          <p:nvPr/>
        </p:nvSpPr>
        <p:spPr>
          <a:xfrm>
            <a:off x="66674" y="1225003"/>
            <a:ext cx="10582275" cy="1200329"/>
          </a:xfrm>
          <a:prstGeom prst="rect">
            <a:avLst/>
          </a:prstGeom>
          <a:noFill/>
        </p:spPr>
        <p:txBody>
          <a:bodyPr wrap="square">
            <a:spAutoFit/>
          </a:bodyPr>
          <a:lstStyle/>
          <a:p>
            <a:r>
              <a:rPr lang="en-US" b="1" dirty="0"/>
              <a:t>Form path</a:t>
            </a:r>
          </a:p>
          <a:p>
            <a:r>
              <a:rPr lang="en-US" b="1" dirty="0"/>
              <a:t>Accounts Payable → Setup → Accounts Payable Parameters</a:t>
            </a:r>
          </a:p>
          <a:p>
            <a:r>
              <a:rPr lang="en-US" b="1" dirty="0"/>
              <a:t>Explanation</a:t>
            </a:r>
          </a:p>
          <a:p>
            <a:r>
              <a:rPr lang="en-US" b="1" dirty="0"/>
              <a:t>Important settings for the Accounts Payable module were configured to control vendor transactions</a:t>
            </a:r>
            <a:r>
              <a:rPr lang="en-US" dirty="0"/>
              <a:t>.</a:t>
            </a:r>
          </a:p>
        </p:txBody>
      </p:sp>
      <p:pic>
        <p:nvPicPr>
          <p:cNvPr id="7" name="Picture 6"/>
          <p:cNvPicPr>
            <a:picLocks noChangeAspect="1"/>
          </p:cNvPicPr>
          <p:nvPr/>
        </p:nvPicPr>
        <p:blipFill>
          <a:blip r:embed="rId4"/>
          <a:stretch>
            <a:fillRect/>
          </a:stretch>
        </p:blipFill>
        <p:spPr>
          <a:xfrm>
            <a:off x="0" y="2333625"/>
            <a:ext cx="12192000" cy="4524375"/>
          </a:xfrm>
          <a:prstGeom prst="rect">
            <a:avLst/>
          </a:prstGeom>
        </p:spPr>
      </p:pic>
      <p:cxnSp>
        <p:nvCxnSpPr>
          <p:cNvPr id="10" name="Straight Arrow Connector 9"/>
          <p:cNvCxnSpPr/>
          <p:nvPr/>
        </p:nvCxnSpPr>
        <p:spPr>
          <a:xfrm flipV="1">
            <a:off x="1779480" y="4762500"/>
            <a:ext cx="709720" cy="6604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1779481" y="513975"/>
            <a:ext cx="8633026" cy="711028"/>
          </a:xfrm>
          <a:prstGeom prst="rect">
            <a:avLst/>
          </a:prstGeom>
        </p:spPr>
        <p:txBody>
          <a:bodyPr wrap="square" lIns="0" tIns="0" rIns="0" bIns="0" rtlCol="0" anchor="t">
            <a:spAutoFit/>
          </a:bodyPr>
          <a:lstStyle/>
          <a:p>
            <a:pPr algn="ctr">
              <a:lnSpc>
                <a:spcPts val="627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Methods of Payment</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264628"/>
            <a:ext cx="1417559" cy="130324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2507" y="-105"/>
            <a:ext cx="1774776" cy="693347"/>
          </a:xfrm>
          <a:prstGeom prst="rect">
            <a:avLst/>
          </a:prstGeom>
        </p:spPr>
      </p:pic>
      <p:graphicFrame>
        <p:nvGraphicFramePr>
          <p:cNvPr id="2" name="Table 1"/>
          <p:cNvGraphicFramePr>
            <a:graphicFrameLocks noGrp="1"/>
          </p:cNvGraphicFramePr>
          <p:nvPr/>
        </p:nvGraphicFramePr>
        <p:xfrm>
          <a:off x="1779481" y="1382077"/>
          <a:ext cx="7628038" cy="1597660"/>
        </p:xfrm>
        <a:graphic>
          <a:graphicData uri="http://schemas.openxmlformats.org/drawingml/2006/table">
            <a:tbl>
              <a:tblPr firstRow="1" firstCol="1" bandRow="1">
                <a:tableStyleId>{5C22544A-7EE6-4342-B048-85BDC9FD1C3A}</a:tableStyleId>
              </a:tblPr>
              <a:tblGrid>
                <a:gridCol w="1967346">
                  <a:extLst>
                    <a:ext uri="{9D8B030D-6E8A-4147-A177-3AD203B41FA5}">
                      <a16:colId xmlns:a16="http://schemas.microsoft.com/office/drawing/2014/main" val="20000"/>
                    </a:ext>
                  </a:extLst>
                </a:gridCol>
                <a:gridCol w="5660692">
                  <a:extLst>
                    <a:ext uri="{9D8B030D-6E8A-4147-A177-3AD203B41FA5}">
                      <a16:colId xmlns:a16="http://schemas.microsoft.com/office/drawing/2014/main" val="20001"/>
                    </a:ext>
                  </a:extLst>
                </a:gridCol>
              </a:tblGrid>
              <a:tr h="190500">
                <a:tc>
                  <a:txBody>
                    <a:bodyPr/>
                    <a:lstStyle/>
                    <a:p>
                      <a:pPr>
                        <a:lnSpc>
                          <a:spcPct val="150000"/>
                        </a:lnSpc>
                        <a:spcBef>
                          <a:spcPts val="600"/>
                        </a:spcBef>
                        <a:buNone/>
                      </a:pPr>
                      <a:r>
                        <a:rPr lang="en-US" sz="1800" b="1" kern="1400">
                          <a:effectLst/>
                        </a:rPr>
                        <a:t>Process code</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04.03.01. Financial Management</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190500">
                <a:tc>
                  <a:txBody>
                    <a:bodyPr/>
                    <a:lstStyle/>
                    <a:p>
                      <a:pPr>
                        <a:lnSpc>
                          <a:spcPct val="150000"/>
                        </a:lnSpc>
                        <a:spcBef>
                          <a:spcPts val="600"/>
                        </a:spcBef>
                        <a:buNone/>
                      </a:pPr>
                      <a:r>
                        <a:rPr lang="en-US" sz="1800" b="1" kern="1400">
                          <a:effectLst/>
                        </a:rPr>
                        <a:t>Process name</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Methods Of Payment</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0500">
                <a:tc>
                  <a:txBody>
                    <a:bodyPr/>
                    <a:lstStyle/>
                    <a:p>
                      <a:pPr>
                        <a:lnSpc>
                          <a:spcPct val="150000"/>
                        </a:lnSpc>
                        <a:spcBef>
                          <a:spcPts val="600"/>
                        </a:spcBef>
                        <a:buNone/>
                      </a:pPr>
                      <a:r>
                        <a:rPr lang="en-US" sz="1800" b="1" kern="1400">
                          <a:effectLst/>
                        </a:rPr>
                        <a:t>Process description</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a:effectLst/>
                        </a:rPr>
                        <a:t>Methods Of Payment</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490855">
                <a:tc>
                  <a:txBody>
                    <a:bodyPr/>
                    <a:lstStyle/>
                    <a:p>
                      <a:pPr>
                        <a:lnSpc>
                          <a:spcPct val="150000"/>
                        </a:lnSpc>
                        <a:spcBef>
                          <a:spcPts val="600"/>
                        </a:spcBef>
                        <a:buNone/>
                      </a:pPr>
                      <a:r>
                        <a:rPr lang="en-US" sz="1800" b="1" kern="1400">
                          <a:effectLst/>
                        </a:rPr>
                        <a:t>Form path</a:t>
                      </a:r>
                      <a:endParaRPr lang="en-US" sz="18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b="1" kern="1400" dirty="0">
                          <a:effectLst/>
                        </a:rPr>
                        <a:t>Accounts payable &gt; Payment Setup &gt; methods of Payment</a:t>
                      </a:r>
                      <a:endParaRPr lang="en-US" sz="1800" b="1"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bl>
          </a:graphicData>
        </a:graphic>
      </p:graphicFrame>
      <p:sp>
        <p:nvSpPr>
          <p:cNvPr id="7" name="TextBox 6"/>
          <p:cNvSpPr txBox="1"/>
          <p:nvPr/>
        </p:nvSpPr>
        <p:spPr>
          <a:xfrm>
            <a:off x="114300" y="3278099"/>
            <a:ext cx="9293217" cy="1200329"/>
          </a:xfrm>
          <a:prstGeom prst="rect">
            <a:avLst/>
          </a:prstGeom>
          <a:noFill/>
        </p:spPr>
        <p:txBody>
          <a:bodyPr wrap="square">
            <a:spAutoFit/>
          </a:bodyPr>
          <a:lstStyle/>
          <a:p>
            <a:r>
              <a:rPr lang="en-US" b="1" dirty="0"/>
              <a:t>In the Methods of payment form, specify all the methods of payment the company uses to pay its vendors.</a:t>
            </a:r>
            <a:br>
              <a:rPr lang="en-US" b="1" dirty="0"/>
            </a:br>
            <a:r>
              <a:rPr lang="en-US" b="1" dirty="0"/>
              <a:t> For each method of payment, enter information that states how payments should be summarized and posted.</a:t>
            </a:r>
            <a:endParaRPr lang="ar-EG" b="1"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1779481" y="513975"/>
            <a:ext cx="8633026" cy="711028"/>
          </a:xfrm>
          <a:prstGeom prst="rect">
            <a:avLst/>
          </a:prstGeom>
        </p:spPr>
        <p:txBody>
          <a:bodyPr wrap="square" lIns="0" tIns="0" rIns="0" bIns="0" rtlCol="0" anchor="t">
            <a:spAutoFit/>
          </a:bodyPr>
          <a:lstStyle/>
          <a:p>
            <a:pPr algn="ctr">
              <a:lnSpc>
                <a:spcPts val="627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Methods of Payment</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264628"/>
            <a:ext cx="1417559" cy="130324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2507" y="-105"/>
            <a:ext cx="1774776" cy="693347"/>
          </a:xfrm>
          <a:prstGeom prst="rect">
            <a:avLst/>
          </a:prstGeom>
        </p:spPr>
      </p:pic>
      <p:pic>
        <p:nvPicPr>
          <p:cNvPr id="3" name="Picture 2"/>
          <p:cNvPicPr>
            <a:picLocks noChangeAspect="1"/>
          </p:cNvPicPr>
          <p:nvPr/>
        </p:nvPicPr>
        <p:blipFill>
          <a:blip r:embed="rId4"/>
          <a:stretch>
            <a:fillRect/>
          </a:stretch>
        </p:blipFill>
        <p:spPr>
          <a:xfrm>
            <a:off x="0" y="1567868"/>
            <a:ext cx="12001500" cy="2483432"/>
          </a:xfrm>
          <a:prstGeom prst="rect">
            <a:avLst/>
          </a:prstGeom>
        </p:spPr>
      </p:pic>
      <p:sp>
        <p:nvSpPr>
          <p:cNvPr id="9" name="TextBox 8"/>
          <p:cNvSpPr txBox="1"/>
          <p:nvPr/>
        </p:nvSpPr>
        <p:spPr>
          <a:xfrm>
            <a:off x="0" y="3943264"/>
            <a:ext cx="6096000" cy="2893100"/>
          </a:xfrm>
          <a:prstGeom prst="rect">
            <a:avLst/>
          </a:prstGeom>
          <a:noFill/>
        </p:spPr>
        <p:txBody>
          <a:bodyPr wrap="square">
            <a:spAutoFit/>
          </a:bodyPr>
          <a:lstStyle/>
          <a:p>
            <a:r>
              <a:rPr lang="en-US" sz="2000" b="1" dirty="0">
                <a:solidFill>
                  <a:srgbClr val="002060"/>
                </a:solidFill>
              </a:rPr>
              <a:t>Screen Information</a:t>
            </a:r>
          </a:p>
          <a:p>
            <a:r>
              <a:rPr lang="en-US" dirty="0"/>
              <a:t>1- Click the New button to create a new record.</a:t>
            </a:r>
          </a:p>
          <a:p>
            <a:r>
              <a:rPr lang="en-US" dirty="0"/>
              <a:t>2- Enter a name for the new method of payment in the Method of payment field</a:t>
            </a:r>
          </a:p>
          <a:p>
            <a:r>
              <a:rPr lang="en-US" dirty="0"/>
              <a:t>3- Enter a description of the method of payment in the Description field.</a:t>
            </a:r>
          </a:p>
          <a:p>
            <a:r>
              <a:rPr lang="en-US" dirty="0"/>
              <a:t>4- Enter the Account Type (Ledger, Bank….) and the payment account for this method of payment.</a:t>
            </a:r>
          </a:p>
          <a:p>
            <a:r>
              <a:rPr lang="en-US" dirty="0"/>
              <a:t>5- incase of methods of payment checks active checkbox Bridging posting and select main account for Bridging account.</a:t>
            </a:r>
          </a:p>
        </p:txBody>
      </p:sp>
      <p:cxnSp>
        <p:nvCxnSpPr>
          <p:cNvPr id="11" name="Straight Arrow Connector 10"/>
          <p:cNvCxnSpPr/>
          <p:nvPr/>
        </p:nvCxnSpPr>
        <p:spPr>
          <a:xfrm flipV="1">
            <a:off x="952500" y="1689100"/>
            <a:ext cx="465059" cy="7874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3" name="Straight Arrow Connector 12"/>
          <p:cNvCxnSpPr/>
          <p:nvPr/>
        </p:nvCxnSpPr>
        <p:spPr>
          <a:xfrm flipV="1">
            <a:off x="3886200" y="3086100"/>
            <a:ext cx="635000" cy="4445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2145665" y="902335"/>
            <a:ext cx="8397240" cy="682625"/>
          </a:xfrm>
          <a:prstGeom prst="rect">
            <a:avLst/>
          </a:prstGeom>
        </p:spPr>
        <p:txBody>
          <a:bodyPr wrap="square" lIns="0" tIns="0" rIns="0" bIns="0" rtlCol="0" anchor="t">
            <a:noAutofit/>
          </a:bodyPr>
          <a:lstStyle/>
          <a:p>
            <a:pPr algn="ctr">
              <a:lnSpc>
                <a:spcPts val="627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Payment Schedules</a:t>
            </a:r>
          </a:p>
        </p:txBody>
      </p:sp>
      <p:pic>
        <p:nvPicPr>
          <p:cNvPr id="7" name="Picture 6"/>
          <p:cNvPicPr>
            <a:picLocks noChangeAspect="1"/>
          </p:cNvPicPr>
          <p:nvPr/>
        </p:nvPicPr>
        <p:blipFill>
          <a:blip r:embed="rId3"/>
          <a:stretch>
            <a:fillRect/>
          </a:stretch>
        </p:blipFill>
        <p:spPr>
          <a:xfrm>
            <a:off x="0" y="2987548"/>
            <a:ext cx="12191999" cy="3870452"/>
          </a:xfrm>
          <a:prstGeom prst="rect">
            <a:avLst/>
          </a:prstGeom>
        </p:spPr>
      </p:pic>
      <p:pic>
        <p:nvPicPr>
          <p:cNvPr id="4" name="Picture 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0" y="121118"/>
            <a:ext cx="1417559" cy="1303240"/>
          </a:xfrm>
          <a:prstGeom prst="rect">
            <a:avLst/>
          </a:prstGeom>
        </p:spPr>
      </p:pic>
      <p:pic>
        <p:nvPicPr>
          <p:cNvPr id="5" name="Picture 4"/>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
        <p:nvSpPr>
          <p:cNvPr id="8" name="TextBox 7"/>
          <p:cNvSpPr txBox="1"/>
          <p:nvPr/>
        </p:nvSpPr>
        <p:spPr>
          <a:xfrm>
            <a:off x="381000" y="1424358"/>
            <a:ext cx="7353300" cy="677108"/>
          </a:xfrm>
          <a:prstGeom prst="rect">
            <a:avLst/>
          </a:prstGeom>
          <a:noFill/>
        </p:spPr>
        <p:txBody>
          <a:bodyPr wrap="square">
            <a:spAutoFit/>
          </a:bodyPr>
          <a:lstStyle/>
          <a:p>
            <a:r>
              <a:rPr lang="en-US" sz="2000" b="1" dirty="0">
                <a:solidFill>
                  <a:srgbClr val="002060"/>
                </a:solidFill>
              </a:rPr>
              <a:t>Form path</a:t>
            </a:r>
          </a:p>
          <a:p>
            <a:r>
              <a:rPr lang="en-US" b="1" dirty="0"/>
              <a:t>Accounts Payable → Setup → Payment schedules</a:t>
            </a:r>
          </a:p>
        </p:txBody>
      </p:sp>
      <p:sp>
        <p:nvSpPr>
          <p:cNvPr id="10" name="TextBox 9"/>
          <p:cNvSpPr txBox="1"/>
          <p:nvPr/>
        </p:nvSpPr>
        <p:spPr>
          <a:xfrm>
            <a:off x="381000" y="2060916"/>
            <a:ext cx="6096000" cy="923330"/>
          </a:xfrm>
          <a:prstGeom prst="rect">
            <a:avLst/>
          </a:prstGeom>
          <a:noFill/>
        </p:spPr>
        <p:txBody>
          <a:bodyPr wrap="square">
            <a:spAutoFit/>
          </a:bodyPr>
          <a:lstStyle/>
          <a:p>
            <a:r>
              <a:rPr lang="en-US" dirty="0"/>
              <a:t>A Payment Schedule is a feature used to split a total invoice or payable amount into multiple payments over time, instead of paying the full amount at once.</a:t>
            </a:r>
            <a:endParaRPr lang="ar-EG" dirty="0"/>
          </a:p>
        </p:txBody>
      </p:sp>
      <p:cxnSp>
        <p:nvCxnSpPr>
          <p:cNvPr id="12" name="Straight Arrow Connector 11"/>
          <p:cNvCxnSpPr/>
          <p:nvPr/>
        </p:nvCxnSpPr>
        <p:spPr>
          <a:xfrm flipV="1">
            <a:off x="1130300" y="3429000"/>
            <a:ext cx="419100" cy="5461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4" name="Straight Arrow Connector 13"/>
          <p:cNvCxnSpPr/>
          <p:nvPr/>
        </p:nvCxnSpPr>
        <p:spPr>
          <a:xfrm flipV="1">
            <a:off x="1803400" y="4178300"/>
            <a:ext cx="800100" cy="6858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2524760" y="135394"/>
            <a:ext cx="7142480" cy="1115695"/>
          </a:xfrm>
          <a:prstGeom prst="rect">
            <a:avLst/>
          </a:prstGeom>
        </p:spPr>
        <p:txBody>
          <a:bodyPr wrap="square" lIns="0" tIns="0" rIns="0" bIns="0" rtlCol="0" anchor="t">
            <a:noAutofit/>
          </a:bodyPr>
          <a:lstStyle/>
          <a:p>
            <a:pPr algn="ctr">
              <a:lnSpc>
                <a:spcPts val="654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Payment Terms</a:t>
            </a: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105150"/>
            <a:ext cx="12192000" cy="3752850"/>
          </a:xfrm>
          <a:prstGeom prst="rect">
            <a:avLst/>
          </a:prstGeom>
        </p:spPr>
      </p:pic>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5725" y="-32746"/>
            <a:ext cx="1417559" cy="130324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
        <p:nvSpPr>
          <p:cNvPr id="8" name="TextBox 7"/>
          <p:cNvSpPr txBox="1"/>
          <p:nvPr/>
        </p:nvSpPr>
        <p:spPr>
          <a:xfrm>
            <a:off x="85725" y="1347551"/>
            <a:ext cx="7924800" cy="1661993"/>
          </a:xfrm>
          <a:prstGeom prst="rect">
            <a:avLst/>
          </a:prstGeom>
          <a:noFill/>
        </p:spPr>
        <p:txBody>
          <a:bodyPr wrap="square">
            <a:spAutoFit/>
          </a:bodyPr>
          <a:lstStyle/>
          <a:p>
            <a:r>
              <a:rPr lang="en-US" b="1" dirty="0">
                <a:solidFill>
                  <a:srgbClr val="002060"/>
                </a:solidFill>
              </a:rPr>
              <a:t>Form path</a:t>
            </a:r>
          </a:p>
          <a:p>
            <a:r>
              <a:rPr lang="en-US" sz="1400" dirty="0">
                <a:latin typeface="Arial" panose="020B0604020202020204" pitchFamily="34" charset="0"/>
                <a:cs typeface="Arial" panose="020B0604020202020204" pitchFamily="34" charset="0"/>
              </a:rPr>
              <a:t>Accounts Payable → Setup → Payment Terms</a:t>
            </a:r>
          </a:p>
          <a:p>
            <a:r>
              <a:rPr lang="en-US" sz="1400" dirty="0">
                <a:latin typeface="Arial" panose="020B0604020202020204" pitchFamily="34" charset="0"/>
                <a:cs typeface="Arial" panose="020B0604020202020204" pitchFamily="34" charset="0"/>
              </a:rPr>
              <a:t>Explanation</a:t>
            </a:r>
          </a:p>
          <a:p>
            <a:r>
              <a:rPr lang="en-US" sz="1400" dirty="0">
                <a:latin typeface="Arial" panose="020B0604020202020204" pitchFamily="34" charset="0"/>
                <a:cs typeface="Arial" panose="020B0604020202020204" pitchFamily="34" charset="0"/>
              </a:rPr>
              <a:t>Payment terms define when vendor invoices must be paid.</a:t>
            </a:r>
          </a:p>
          <a:p>
            <a:r>
              <a:rPr lang="en-US" sz="1400" dirty="0">
                <a:latin typeface="Arial" panose="020B0604020202020204" pitchFamily="34" charset="0"/>
                <a:cs typeface="Arial" panose="020B0604020202020204" pitchFamily="34" charset="0"/>
              </a:rPr>
              <a:t>Examples created:</a:t>
            </a:r>
          </a:p>
          <a:p>
            <a:r>
              <a:rPr lang="en-US" sz="1400" dirty="0">
                <a:latin typeface="Arial" panose="020B0604020202020204" pitchFamily="34" charset="0"/>
                <a:cs typeface="Arial" panose="020B0604020202020204" pitchFamily="34" charset="0"/>
              </a:rPr>
              <a:t>• Net 15</a:t>
            </a:r>
          </a:p>
          <a:p>
            <a:r>
              <a:rPr lang="en-US" sz="1400" dirty="0">
                <a:latin typeface="Arial" panose="020B0604020202020204" pitchFamily="34" charset="0"/>
                <a:cs typeface="Arial" panose="020B0604020202020204" pitchFamily="34" charset="0"/>
              </a:rPr>
              <a:t>• Net 30</a:t>
            </a:r>
          </a:p>
        </p:txBody>
      </p:sp>
      <p:cxnSp>
        <p:nvCxnSpPr>
          <p:cNvPr id="10" name="Straight Arrow Connector 9"/>
          <p:cNvCxnSpPr/>
          <p:nvPr/>
        </p:nvCxnSpPr>
        <p:spPr>
          <a:xfrm flipV="1">
            <a:off x="1003300" y="3644900"/>
            <a:ext cx="499984" cy="9779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2" name="Straight Arrow Connector 11"/>
          <p:cNvCxnSpPr/>
          <p:nvPr/>
        </p:nvCxnSpPr>
        <p:spPr>
          <a:xfrm flipV="1">
            <a:off x="1803400" y="4660900"/>
            <a:ext cx="721360" cy="8890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4" name="Straight Arrow Connector 13"/>
          <p:cNvCxnSpPr/>
          <p:nvPr/>
        </p:nvCxnSpPr>
        <p:spPr>
          <a:xfrm flipV="1">
            <a:off x="3657600" y="5905500"/>
            <a:ext cx="1092200" cy="4572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6" name="Straight Arrow Connector 15"/>
          <p:cNvCxnSpPr/>
          <p:nvPr/>
        </p:nvCxnSpPr>
        <p:spPr>
          <a:xfrm flipV="1">
            <a:off x="1803400" y="5549900"/>
            <a:ext cx="721360" cy="6731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2052129" y="229496"/>
            <a:ext cx="6891402" cy="769620"/>
          </a:xfrm>
          <a:prstGeom prst="rect">
            <a:avLst/>
          </a:prstGeom>
        </p:spPr>
        <p:txBody>
          <a:bodyPr wrap="square" lIns="0" tIns="0" rIns="0" bIns="0" rtlCol="0" anchor="t">
            <a:spAutoFit/>
          </a:bodyPr>
          <a:lstStyle/>
          <a:p>
            <a:pPr algn="ctr">
              <a:lnSpc>
                <a:spcPts val="600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Cash Discounts</a:t>
            </a:r>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145454"/>
            <a:ext cx="12192000" cy="3712545"/>
          </a:xfrm>
          <a:prstGeom prst="rect">
            <a:avLst/>
          </a:prstGeom>
        </p:spPr>
      </p:pic>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0" y="41622"/>
            <a:ext cx="1417559" cy="130324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
        <p:nvSpPr>
          <p:cNvPr id="8" name="TextBox 7"/>
          <p:cNvSpPr txBox="1"/>
          <p:nvPr/>
        </p:nvSpPr>
        <p:spPr>
          <a:xfrm>
            <a:off x="0" y="1668126"/>
            <a:ext cx="6096000" cy="1477328"/>
          </a:xfrm>
          <a:prstGeom prst="rect">
            <a:avLst/>
          </a:prstGeom>
          <a:noFill/>
        </p:spPr>
        <p:txBody>
          <a:bodyPr wrap="square">
            <a:spAutoFit/>
          </a:bodyPr>
          <a:lstStyle/>
          <a:p>
            <a:r>
              <a:rPr lang="en-US" sz="2000" b="1" dirty="0">
                <a:solidFill>
                  <a:srgbClr val="002060"/>
                </a:solidFill>
              </a:rPr>
              <a:t>Form path</a:t>
            </a:r>
          </a:p>
          <a:p>
            <a:r>
              <a:rPr lang="en-US" sz="1400" dirty="0">
                <a:latin typeface="Arial" panose="020B0604020202020204" pitchFamily="34" charset="0"/>
                <a:cs typeface="Arial" panose="020B0604020202020204" pitchFamily="34" charset="0"/>
              </a:rPr>
              <a:t>Accounts Payable → Setup → Cash Discounts</a:t>
            </a:r>
          </a:p>
          <a:p>
            <a:r>
              <a:rPr lang="en-US" sz="1400" dirty="0">
                <a:latin typeface="Arial" panose="020B0604020202020204" pitchFamily="34" charset="0"/>
                <a:cs typeface="Arial" panose="020B0604020202020204" pitchFamily="34" charset="0"/>
              </a:rPr>
              <a:t>Explanation</a:t>
            </a:r>
          </a:p>
          <a:p>
            <a:r>
              <a:rPr lang="en-US" sz="1400" dirty="0">
                <a:latin typeface="Arial" panose="020B0604020202020204" pitchFamily="34" charset="0"/>
                <a:cs typeface="Arial" panose="020B0604020202020204" pitchFamily="34" charset="0"/>
              </a:rPr>
              <a:t>Cash discounts were configured to allow early payment discounts.</a:t>
            </a:r>
          </a:p>
          <a:p>
            <a:r>
              <a:rPr lang="en-US" sz="1400" dirty="0">
                <a:latin typeface="Arial" panose="020B0604020202020204" pitchFamily="34" charset="0"/>
                <a:cs typeface="Arial" panose="020B0604020202020204" pitchFamily="34" charset="0"/>
              </a:rPr>
              <a:t>Example:</a:t>
            </a:r>
          </a:p>
          <a:p>
            <a:r>
              <a:rPr lang="en-US" sz="1400" dirty="0">
                <a:latin typeface="Arial" panose="020B0604020202020204" pitchFamily="34" charset="0"/>
                <a:cs typeface="Arial" panose="020B0604020202020204" pitchFamily="34" charset="0"/>
              </a:rPr>
              <a:t>2% discount if paid within 10 days.</a:t>
            </a:r>
          </a:p>
        </p:txBody>
      </p:sp>
      <p:cxnSp>
        <p:nvCxnSpPr>
          <p:cNvPr id="10" name="Straight Arrow Connector 9"/>
          <p:cNvCxnSpPr/>
          <p:nvPr/>
        </p:nvCxnSpPr>
        <p:spPr>
          <a:xfrm flipV="1">
            <a:off x="825500" y="3517900"/>
            <a:ext cx="592059" cy="9906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2" name="Straight Arrow Connector 11"/>
          <p:cNvCxnSpPr/>
          <p:nvPr/>
        </p:nvCxnSpPr>
        <p:spPr>
          <a:xfrm flipV="1">
            <a:off x="1663700" y="4419600"/>
            <a:ext cx="749300" cy="770274"/>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4" name="Straight Arrow Connector 13"/>
          <p:cNvCxnSpPr/>
          <p:nvPr/>
        </p:nvCxnSpPr>
        <p:spPr>
          <a:xfrm flipV="1">
            <a:off x="1417559" y="6311900"/>
            <a:ext cx="982741" cy="3429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6" name="Straight Arrow Connector 15"/>
          <p:cNvCxnSpPr/>
          <p:nvPr/>
        </p:nvCxnSpPr>
        <p:spPr>
          <a:xfrm flipV="1">
            <a:off x="4229100" y="5664200"/>
            <a:ext cx="520700" cy="3556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8" name="Straight Arrow Connector 17"/>
          <p:cNvCxnSpPr/>
          <p:nvPr/>
        </p:nvCxnSpPr>
        <p:spPr>
          <a:xfrm flipV="1">
            <a:off x="2052129" y="6654800"/>
            <a:ext cx="754571" cy="16157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2650490" y="693420"/>
            <a:ext cx="6891655" cy="696595"/>
          </a:xfrm>
          <a:prstGeom prst="rect">
            <a:avLst/>
          </a:prstGeom>
        </p:spPr>
        <p:txBody>
          <a:bodyPr wrap="square" lIns="0" tIns="0" rIns="0" bIns="0" rtlCol="0" anchor="t">
            <a:noAutofit/>
          </a:bodyPr>
          <a:lstStyle/>
          <a:p>
            <a:pPr algn="ctr">
              <a:lnSpc>
                <a:spcPts val="636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Invoice Journal</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10" y="8682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graphicFrame>
        <p:nvGraphicFramePr>
          <p:cNvPr id="5" name="Table 4"/>
          <p:cNvGraphicFramePr>
            <a:graphicFrameLocks noGrp="1"/>
          </p:cNvGraphicFramePr>
          <p:nvPr/>
        </p:nvGraphicFramePr>
        <p:xfrm>
          <a:off x="1814197" y="1577848"/>
          <a:ext cx="6891654" cy="1467868"/>
        </p:xfrm>
        <a:graphic>
          <a:graphicData uri="http://schemas.openxmlformats.org/drawingml/2006/table">
            <a:tbl>
              <a:tblPr firstRow="1" firstCol="1" bandRow="1">
                <a:tableStyleId>{5C22544A-7EE6-4342-B048-85BDC9FD1C3A}</a:tableStyleId>
              </a:tblPr>
              <a:tblGrid>
                <a:gridCol w="1777425">
                  <a:extLst>
                    <a:ext uri="{9D8B030D-6E8A-4147-A177-3AD203B41FA5}">
                      <a16:colId xmlns:a16="http://schemas.microsoft.com/office/drawing/2014/main" val="20000"/>
                    </a:ext>
                  </a:extLst>
                </a:gridCol>
                <a:gridCol w="5114229">
                  <a:extLst>
                    <a:ext uri="{9D8B030D-6E8A-4147-A177-3AD203B41FA5}">
                      <a16:colId xmlns:a16="http://schemas.microsoft.com/office/drawing/2014/main" val="20001"/>
                    </a:ext>
                  </a:extLst>
                </a:gridCol>
              </a:tblGrid>
              <a:tr h="190500">
                <a:tc>
                  <a:txBody>
                    <a:bodyPr/>
                    <a:lstStyle/>
                    <a:p>
                      <a:pPr>
                        <a:lnSpc>
                          <a:spcPct val="150000"/>
                        </a:lnSpc>
                        <a:spcBef>
                          <a:spcPts val="600"/>
                        </a:spcBef>
                        <a:buNone/>
                      </a:pPr>
                      <a:r>
                        <a:rPr lang="en-US" sz="1400" b="1" kern="1400">
                          <a:effectLst/>
                        </a:rPr>
                        <a:t>Process code</a:t>
                      </a:r>
                      <a:endParaRPr lang="en-US" sz="14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400" b="1" kern="1400" dirty="0">
                          <a:effectLst/>
                        </a:rPr>
                        <a:t>04.02.02. Financial Management</a:t>
                      </a:r>
                      <a:endParaRPr lang="en-US" sz="1400" b="1"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190500">
                <a:tc>
                  <a:txBody>
                    <a:bodyPr/>
                    <a:lstStyle/>
                    <a:p>
                      <a:pPr>
                        <a:lnSpc>
                          <a:spcPct val="150000"/>
                        </a:lnSpc>
                        <a:spcBef>
                          <a:spcPts val="600"/>
                        </a:spcBef>
                        <a:buNone/>
                      </a:pPr>
                      <a:r>
                        <a:rPr lang="en-US" sz="1400" b="1" kern="1400" dirty="0">
                          <a:effectLst/>
                        </a:rPr>
                        <a:t>Process name</a:t>
                      </a:r>
                      <a:endParaRPr lang="en-US" sz="1400" b="1"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400" b="1" kern="1400">
                          <a:effectLst/>
                        </a:rPr>
                        <a:t>Invoice Journal</a:t>
                      </a:r>
                      <a:endParaRPr lang="en-US" sz="14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190500">
                <a:tc>
                  <a:txBody>
                    <a:bodyPr/>
                    <a:lstStyle/>
                    <a:p>
                      <a:pPr>
                        <a:lnSpc>
                          <a:spcPct val="150000"/>
                        </a:lnSpc>
                        <a:spcBef>
                          <a:spcPts val="600"/>
                        </a:spcBef>
                        <a:buNone/>
                      </a:pPr>
                      <a:r>
                        <a:rPr lang="en-US" sz="1400" b="1" kern="1400">
                          <a:effectLst/>
                        </a:rPr>
                        <a:t>Process description</a:t>
                      </a:r>
                      <a:endParaRPr lang="en-US" sz="14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400" b="1" kern="1400" dirty="0">
                          <a:effectLst/>
                        </a:rPr>
                        <a:t>Invoice Journal will be used to record the purchasing transactions of services</a:t>
                      </a:r>
                      <a:endParaRPr lang="en-US" sz="1400" b="1"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225425">
                <a:tc>
                  <a:txBody>
                    <a:bodyPr/>
                    <a:lstStyle/>
                    <a:p>
                      <a:pPr>
                        <a:lnSpc>
                          <a:spcPct val="150000"/>
                        </a:lnSpc>
                        <a:spcBef>
                          <a:spcPts val="600"/>
                        </a:spcBef>
                        <a:buNone/>
                      </a:pPr>
                      <a:r>
                        <a:rPr lang="en-US" sz="1400" b="1" kern="1400">
                          <a:effectLst/>
                        </a:rPr>
                        <a:t>Form path</a:t>
                      </a:r>
                      <a:endParaRPr lang="en-US" sz="1400" b="1"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400" b="1" kern="1400" dirty="0">
                          <a:effectLst/>
                        </a:rPr>
                        <a:t>Accounts payable &gt; Invoices&gt; Invoice Journal</a:t>
                      </a:r>
                      <a:endParaRPr lang="en-US" sz="1400" b="1"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bl>
          </a:graphicData>
        </a:graphic>
      </p:graphicFrame>
      <p:sp>
        <p:nvSpPr>
          <p:cNvPr id="7" name="TextBox 6"/>
          <p:cNvSpPr txBox="1"/>
          <p:nvPr/>
        </p:nvSpPr>
        <p:spPr>
          <a:xfrm>
            <a:off x="2114550" y="3233549"/>
            <a:ext cx="6324600" cy="646331"/>
          </a:xfrm>
          <a:prstGeom prst="rect">
            <a:avLst/>
          </a:prstGeom>
          <a:noFill/>
        </p:spPr>
        <p:txBody>
          <a:bodyPr wrap="square">
            <a:spAutoFit/>
          </a:bodyPr>
          <a:lstStyle/>
          <a:p>
            <a:r>
              <a:rPr lang="en-US" b="1" dirty="0"/>
              <a:t>Click “New” and choose the invoice journal and enter the required description for the journal</a:t>
            </a:r>
            <a:endParaRPr lang="ar-EG" b="1" dirty="0"/>
          </a:p>
        </p:txBody>
      </p:sp>
      <p:pic>
        <p:nvPicPr>
          <p:cNvPr id="3" name="Picture 2">
            <a:extLst>
              <a:ext uri="{FF2B5EF4-FFF2-40B4-BE49-F238E27FC236}">
                <a16:creationId xmlns:a16="http://schemas.microsoft.com/office/drawing/2014/main" id="{A0B62A6C-059D-F8CB-8AF7-04605E91F834}"/>
              </a:ext>
            </a:extLst>
          </p:cNvPr>
          <p:cNvPicPr>
            <a:picLocks noChangeAspect="1"/>
          </p:cNvPicPr>
          <p:nvPr/>
        </p:nvPicPr>
        <p:blipFill>
          <a:blip r:embed="rId4"/>
          <a:stretch>
            <a:fillRect/>
          </a:stretch>
        </p:blipFill>
        <p:spPr>
          <a:xfrm>
            <a:off x="0" y="3812285"/>
            <a:ext cx="12191728" cy="3045715"/>
          </a:xfrm>
          <a:prstGeom prst="rect">
            <a:avLst/>
          </a:prstGeom>
        </p:spPr>
      </p:pic>
      <p:cxnSp>
        <p:nvCxnSpPr>
          <p:cNvPr id="10" name="Straight Arrow Connector 9">
            <a:extLst>
              <a:ext uri="{FF2B5EF4-FFF2-40B4-BE49-F238E27FC236}">
                <a16:creationId xmlns:a16="http://schemas.microsoft.com/office/drawing/2014/main" id="{5F29CDDF-2901-73BD-198E-64DC7E83C300}"/>
              </a:ext>
            </a:extLst>
          </p:cNvPr>
          <p:cNvCxnSpPr/>
          <p:nvPr/>
        </p:nvCxnSpPr>
        <p:spPr>
          <a:xfrm flipV="1">
            <a:off x="1018309" y="4052455"/>
            <a:ext cx="466560" cy="529936"/>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2" name="Straight Arrow Connector 11">
            <a:extLst>
              <a:ext uri="{FF2B5EF4-FFF2-40B4-BE49-F238E27FC236}">
                <a16:creationId xmlns:a16="http://schemas.microsoft.com/office/drawing/2014/main" id="{514CE5B6-5783-5043-F34A-30827622BA98}"/>
              </a:ext>
            </a:extLst>
          </p:cNvPr>
          <p:cNvCxnSpPr/>
          <p:nvPr/>
        </p:nvCxnSpPr>
        <p:spPr>
          <a:xfrm flipV="1">
            <a:off x="176645" y="5943600"/>
            <a:ext cx="768928" cy="498764"/>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4" name="Straight Arrow Connector 13">
            <a:extLst>
              <a:ext uri="{FF2B5EF4-FFF2-40B4-BE49-F238E27FC236}">
                <a16:creationId xmlns:a16="http://schemas.microsoft.com/office/drawing/2014/main" id="{56E21F28-2AD7-FB97-C69E-C3BD362E2953}"/>
              </a:ext>
            </a:extLst>
          </p:cNvPr>
          <p:cNvCxnSpPr/>
          <p:nvPr/>
        </p:nvCxnSpPr>
        <p:spPr>
          <a:xfrm flipV="1">
            <a:off x="675409" y="6265718"/>
            <a:ext cx="576180" cy="4572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6" name="Straight Arrow Connector 15">
            <a:extLst>
              <a:ext uri="{FF2B5EF4-FFF2-40B4-BE49-F238E27FC236}">
                <a16:creationId xmlns:a16="http://schemas.microsoft.com/office/drawing/2014/main" id="{08BA52E8-BF8D-981F-3A04-A09D76749ED1}"/>
              </a:ext>
            </a:extLst>
          </p:cNvPr>
          <p:cNvCxnSpPr/>
          <p:nvPr/>
        </p:nvCxnSpPr>
        <p:spPr>
          <a:xfrm flipV="1">
            <a:off x="4010891" y="5943600"/>
            <a:ext cx="446809" cy="322118"/>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18" name="Straight Arrow Connector 17">
            <a:extLst>
              <a:ext uri="{FF2B5EF4-FFF2-40B4-BE49-F238E27FC236}">
                <a16:creationId xmlns:a16="http://schemas.microsoft.com/office/drawing/2014/main" id="{43017211-85DF-15F9-67A2-21B797E2C685}"/>
              </a:ext>
            </a:extLst>
          </p:cNvPr>
          <p:cNvCxnSpPr/>
          <p:nvPr/>
        </p:nvCxnSpPr>
        <p:spPr>
          <a:xfrm flipV="1">
            <a:off x="4468091" y="6265718"/>
            <a:ext cx="187036" cy="4572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cxnSp>
        <p:nvCxnSpPr>
          <p:cNvPr id="20" name="Straight Arrow Connector 19">
            <a:extLst>
              <a:ext uri="{FF2B5EF4-FFF2-40B4-BE49-F238E27FC236}">
                <a16:creationId xmlns:a16="http://schemas.microsoft.com/office/drawing/2014/main" id="{68329955-4E6A-91A3-7F16-22B2F4C8EDBF}"/>
              </a:ext>
            </a:extLst>
          </p:cNvPr>
          <p:cNvCxnSpPr/>
          <p:nvPr/>
        </p:nvCxnSpPr>
        <p:spPr>
          <a:xfrm flipV="1">
            <a:off x="2650490" y="4052455"/>
            <a:ext cx="446001" cy="529936"/>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2476990" y="194844"/>
            <a:ext cx="6891655" cy="696595"/>
          </a:xfrm>
          <a:prstGeom prst="rect">
            <a:avLst/>
          </a:prstGeom>
        </p:spPr>
        <p:txBody>
          <a:bodyPr wrap="square" lIns="0" tIns="0" rIns="0" bIns="0" rtlCol="0" anchor="t">
            <a:noAutofit/>
          </a:bodyPr>
          <a:lstStyle/>
          <a:p>
            <a:pPr algn="ctr">
              <a:lnSpc>
                <a:spcPts val="636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Invoice Journal</a:t>
            </a:r>
          </a:p>
        </p:txBody>
      </p:sp>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310" y="86828"/>
            <a:ext cx="1417559" cy="1303240"/>
          </a:xfrm>
          <a:prstGeom prst="rect">
            <a:avLst/>
          </a:prstGeom>
        </p:spPr>
      </p:pic>
      <p:pic>
        <p:nvPicPr>
          <p:cNvPr id="9" name="Picture 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
        <p:nvSpPr>
          <p:cNvPr id="11" name="TextBox 10"/>
          <p:cNvSpPr txBox="1"/>
          <p:nvPr/>
        </p:nvSpPr>
        <p:spPr>
          <a:xfrm>
            <a:off x="2505083" y="904187"/>
            <a:ext cx="7553325" cy="369332"/>
          </a:xfrm>
          <a:prstGeom prst="rect">
            <a:avLst/>
          </a:prstGeom>
          <a:noFill/>
        </p:spPr>
        <p:txBody>
          <a:bodyPr wrap="square">
            <a:spAutoFit/>
          </a:bodyPr>
          <a:lstStyle/>
          <a:p>
            <a:r>
              <a:rPr lang="en-US" b="1" dirty="0"/>
              <a:t>Click “Lines” to open the journal voucher screen to record the invoice.</a:t>
            </a:r>
            <a:endParaRPr lang="ar-EG" b="1" dirty="0"/>
          </a:p>
        </p:txBody>
      </p:sp>
      <p:pic>
        <p:nvPicPr>
          <p:cNvPr id="75" name="Picture 74">
            <a:extLst>
              <a:ext uri="{FF2B5EF4-FFF2-40B4-BE49-F238E27FC236}">
                <a16:creationId xmlns:a16="http://schemas.microsoft.com/office/drawing/2014/main" id="{AAE013D8-4A8C-BCB8-5EC9-9FC4B2018902}"/>
              </a:ext>
            </a:extLst>
          </p:cNvPr>
          <p:cNvPicPr>
            <a:picLocks noChangeAspect="1"/>
          </p:cNvPicPr>
          <p:nvPr/>
        </p:nvPicPr>
        <p:blipFill>
          <a:blip r:embed="rId5"/>
          <a:stretch>
            <a:fillRect/>
          </a:stretch>
        </p:blipFill>
        <p:spPr>
          <a:xfrm>
            <a:off x="-272" y="1373889"/>
            <a:ext cx="12192000" cy="1782900"/>
          </a:xfrm>
          <a:prstGeom prst="rect">
            <a:avLst/>
          </a:prstGeom>
        </p:spPr>
      </p:pic>
      <p:cxnSp>
        <p:nvCxnSpPr>
          <p:cNvPr id="77" name="Straight Arrow Connector 76">
            <a:extLst>
              <a:ext uri="{FF2B5EF4-FFF2-40B4-BE49-F238E27FC236}">
                <a16:creationId xmlns:a16="http://schemas.microsoft.com/office/drawing/2014/main" id="{CE7A6DDF-E609-CFF2-14F6-1F0429084CAC}"/>
              </a:ext>
            </a:extLst>
          </p:cNvPr>
          <p:cNvCxnSpPr/>
          <p:nvPr/>
        </p:nvCxnSpPr>
        <p:spPr>
          <a:xfrm flipV="1">
            <a:off x="467591" y="2899064"/>
            <a:ext cx="308498" cy="176645"/>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79" name="Straight Arrow Connector 78">
            <a:extLst>
              <a:ext uri="{FF2B5EF4-FFF2-40B4-BE49-F238E27FC236}">
                <a16:creationId xmlns:a16="http://schemas.microsoft.com/office/drawing/2014/main" id="{3C4AA55B-BDE5-4178-F2A7-8D0AF5FDD294}"/>
              </a:ext>
            </a:extLst>
          </p:cNvPr>
          <p:cNvCxnSpPr/>
          <p:nvPr/>
        </p:nvCxnSpPr>
        <p:spPr>
          <a:xfrm flipV="1">
            <a:off x="3096491" y="2878282"/>
            <a:ext cx="446809" cy="190885"/>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81" name="Straight Arrow Connector 80">
            <a:extLst>
              <a:ext uri="{FF2B5EF4-FFF2-40B4-BE49-F238E27FC236}">
                <a16:creationId xmlns:a16="http://schemas.microsoft.com/office/drawing/2014/main" id="{EEB06900-3555-5B1E-8E74-346492AC4DB6}"/>
              </a:ext>
            </a:extLst>
          </p:cNvPr>
          <p:cNvCxnSpPr/>
          <p:nvPr/>
        </p:nvCxnSpPr>
        <p:spPr>
          <a:xfrm flipV="1">
            <a:off x="5839691" y="2899064"/>
            <a:ext cx="571500" cy="176645"/>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83" name="Straight Arrow Connector 82">
            <a:extLst>
              <a:ext uri="{FF2B5EF4-FFF2-40B4-BE49-F238E27FC236}">
                <a16:creationId xmlns:a16="http://schemas.microsoft.com/office/drawing/2014/main" id="{53EF10F4-BB93-A736-79F2-C2D5475AFAC4}"/>
              </a:ext>
            </a:extLst>
          </p:cNvPr>
          <p:cNvCxnSpPr/>
          <p:nvPr/>
        </p:nvCxnSpPr>
        <p:spPr>
          <a:xfrm flipV="1">
            <a:off x="7148945" y="2899064"/>
            <a:ext cx="446810" cy="426027"/>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85" name="Straight Arrow Connector 84">
            <a:extLst>
              <a:ext uri="{FF2B5EF4-FFF2-40B4-BE49-F238E27FC236}">
                <a16:creationId xmlns:a16="http://schemas.microsoft.com/office/drawing/2014/main" id="{5E090BD4-D674-393B-CCE6-868152B4ABC9}"/>
              </a:ext>
            </a:extLst>
          </p:cNvPr>
          <p:cNvCxnSpPr/>
          <p:nvPr/>
        </p:nvCxnSpPr>
        <p:spPr>
          <a:xfrm flipV="1">
            <a:off x="9590809" y="2878282"/>
            <a:ext cx="290946" cy="436418"/>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87" name="Straight Arrow Connector 86">
            <a:extLst>
              <a:ext uri="{FF2B5EF4-FFF2-40B4-BE49-F238E27FC236}">
                <a16:creationId xmlns:a16="http://schemas.microsoft.com/office/drawing/2014/main" id="{91F04EA0-72D8-1C74-1155-D2095BEC62B3}"/>
              </a:ext>
            </a:extLst>
          </p:cNvPr>
          <p:cNvCxnSpPr/>
          <p:nvPr/>
        </p:nvCxnSpPr>
        <p:spPr>
          <a:xfrm flipV="1">
            <a:off x="8925791" y="2878282"/>
            <a:ext cx="301336" cy="233795"/>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89" name="Straight Arrow Connector 88">
            <a:extLst>
              <a:ext uri="{FF2B5EF4-FFF2-40B4-BE49-F238E27FC236}">
                <a16:creationId xmlns:a16="http://schemas.microsoft.com/office/drawing/2014/main" id="{9775C68C-B99E-DAA8-8D44-91538BF83EC8}"/>
              </a:ext>
            </a:extLst>
          </p:cNvPr>
          <p:cNvCxnSpPr/>
          <p:nvPr/>
        </p:nvCxnSpPr>
        <p:spPr>
          <a:xfrm flipV="1">
            <a:off x="11450782" y="2878282"/>
            <a:ext cx="197427" cy="233795"/>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91" name="Straight Arrow Connector 90">
            <a:extLst>
              <a:ext uri="{FF2B5EF4-FFF2-40B4-BE49-F238E27FC236}">
                <a16:creationId xmlns:a16="http://schemas.microsoft.com/office/drawing/2014/main" id="{67B7F8FB-33FF-6CA2-A447-66FFCFCF9929}"/>
              </a:ext>
            </a:extLst>
          </p:cNvPr>
          <p:cNvCxnSpPr/>
          <p:nvPr/>
        </p:nvCxnSpPr>
        <p:spPr>
          <a:xfrm flipV="1">
            <a:off x="776089" y="1787236"/>
            <a:ext cx="574729" cy="390481"/>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93" name="Straight Arrow Connector 92">
            <a:extLst>
              <a:ext uri="{FF2B5EF4-FFF2-40B4-BE49-F238E27FC236}">
                <a16:creationId xmlns:a16="http://schemas.microsoft.com/office/drawing/2014/main" id="{B9300DEB-3FB8-D394-60EC-2B60F6E04E34}"/>
              </a:ext>
            </a:extLst>
          </p:cNvPr>
          <p:cNvCxnSpPr/>
          <p:nvPr/>
        </p:nvCxnSpPr>
        <p:spPr>
          <a:xfrm flipV="1">
            <a:off x="301336" y="1610591"/>
            <a:ext cx="320504" cy="467591"/>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pic>
        <p:nvPicPr>
          <p:cNvPr id="95" name="Picture 94">
            <a:extLst>
              <a:ext uri="{FF2B5EF4-FFF2-40B4-BE49-F238E27FC236}">
                <a16:creationId xmlns:a16="http://schemas.microsoft.com/office/drawing/2014/main" id="{6096C03A-61BE-D10B-C401-4E5A8EF4A1C7}"/>
              </a:ext>
            </a:extLst>
          </p:cNvPr>
          <p:cNvPicPr>
            <a:picLocks noChangeAspect="1"/>
          </p:cNvPicPr>
          <p:nvPr/>
        </p:nvPicPr>
        <p:blipFill>
          <a:blip r:embed="rId6"/>
          <a:stretch>
            <a:fillRect/>
          </a:stretch>
        </p:blipFill>
        <p:spPr>
          <a:xfrm>
            <a:off x="-272" y="3179184"/>
            <a:ext cx="12163953" cy="1704975"/>
          </a:xfrm>
          <a:prstGeom prst="rect">
            <a:avLst/>
          </a:prstGeom>
        </p:spPr>
      </p:pic>
      <p:cxnSp>
        <p:nvCxnSpPr>
          <p:cNvPr id="97" name="Straight Arrow Connector 96">
            <a:extLst>
              <a:ext uri="{FF2B5EF4-FFF2-40B4-BE49-F238E27FC236}">
                <a16:creationId xmlns:a16="http://schemas.microsoft.com/office/drawing/2014/main" id="{76329FE1-BFCF-26C4-16ED-338DDB3A99C9}"/>
              </a:ext>
            </a:extLst>
          </p:cNvPr>
          <p:cNvCxnSpPr/>
          <p:nvPr/>
        </p:nvCxnSpPr>
        <p:spPr>
          <a:xfrm flipV="1">
            <a:off x="301336" y="3844636"/>
            <a:ext cx="474753" cy="374073"/>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99" name="Straight Arrow Connector 98">
            <a:extLst>
              <a:ext uri="{FF2B5EF4-FFF2-40B4-BE49-F238E27FC236}">
                <a16:creationId xmlns:a16="http://schemas.microsoft.com/office/drawing/2014/main" id="{185E202B-8499-58C9-40FE-D5268674118F}"/>
              </a:ext>
            </a:extLst>
          </p:cNvPr>
          <p:cNvCxnSpPr/>
          <p:nvPr/>
        </p:nvCxnSpPr>
        <p:spPr>
          <a:xfrm flipV="1">
            <a:off x="1974273" y="4031672"/>
            <a:ext cx="644236" cy="374073"/>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01" name="Straight Arrow Connector 100">
            <a:extLst>
              <a:ext uri="{FF2B5EF4-FFF2-40B4-BE49-F238E27FC236}">
                <a16:creationId xmlns:a16="http://schemas.microsoft.com/office/drawing/2014/main" id="{A575CEB0-40C6-F704-3B64-DB04CD9A3A83}"/>
              </a:ext>
            </a:extLst>
          </p:cNvPr>
          <p:cNvCxnSpPr/>
          <p:nvPr/>
        </p:nvCxnSpPr>
        <p:spPr>
          <a:xfrm flipV="1">
            <a:off x="8239991" y="3844636"/>
            <a:ext cx="685800" cy="550719"/>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03" name="Straight Arrow Connector 102">
            <a:extLst>
              <a:ext uri="{FF2B5EF4-FFF2-40B4-BE49-F238E27FC236}">
                <a16:creationId xmlns:a16="http://schemas.microsoft.com/office/drawing/2014/main" id="{C28B3B23-141C-4259-5576-5CBCA9234B24}"/>
              </a:ext>
            </a:extLst>
          </p:cNvPr>
          <p:cNvCxnSpPr/>
          <p:nvPr/>
        </p:nvCxnSpPr>
        <p:spPr>
          <a:xfrm flipH="1">
            <a:off x="3761509" y="4114800"/>
            <a:ext cx="904009" cy="415636"/>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pic>
        <p:nvPicPr>
          <p:cNvPr id="105" name="Picture 104">
            <a:extLst>
              <a:ext uri="{FF2B5EF4-FFF2-40B4-BE49-F238E27FC236}">
                <a16:creationId xmlns:a16="http://schemas.microsoft.com/office/drawing/2014/main" id="{9493B414-59A7-706D-C637-5487DC721A97}"/>
              </a:ext>
            </a:extLst>
          </p:cNvPr>
          <p:cNvPicPr>
            <a:picLocks noChangeAspect="1"/>
          </p:cNvPicPr>
          <p:nvPr/>
        </p:nvPicPr>
        <p:blipFill>
          <a:blip r:embed="rId7"/>
          <a:stretch>
            <a:fillRect/>
          </a:stretch>
        </p:blipFill>
        <p:spPr>
          <a:xfrm>
            <a:off x="-28319" y="4884159"/>
            <a:ext cx="12192000" cy="1973841"/>
          </a:xfrm>
          <a:prstGeom prst="rect">
            <a:avLst/>
          </a:prstGeom>
        </p:spPr>
      </p:pic>
      <p:cxnSp>
        <p:nvCxnSpPr>
          <p:cNvPr id="107" name="Straight Arrow Connector 106">
            <a:extLst>
              <a:ext uri="{FF2B5EF4-FFF2-40B4-BE49-F238E27FC236}">
                <a16:creationId xmlns:a16="http://schemas.microsoft.com/office/drawing/2014/main" id="{65654340-3DA3-D46B-B23E-E7375C5CE506}"/>
              </a:ext>
            </a:extLst>
          </p:cNvPr>
          <p:cNvCxnSpPr/>
          <p:nvPr/>
        </p:nvCxnSpPr>
        <p:spPr>
          <a:xfrm>
            <a:off x="8697191" y="6099464"/>
            <a:ext cx="671454" cy="290945"/>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09" name="Straight Arrow Connector 108">
            <a:extLst>
              <a:ext uri="{FF2B5EF4-FFF2-40B4-BE49-F238E27FC236}">
                <a16:creationId xmlns:a16="http://schemas.microsoft.com/office/drawing/2014/main" id="{767C58C2-6487-F7BE-5697-1A18464268C4}"/>
              </a:ext>
            </a:extLst>
          </p:cNvPr>
          <p:cNvCxnSpPr/>
          <p:nvPr/>
        </p:nvCxnSpPr>
        <p:spPr>
          <a:xfrm>
            <a:off x="4249882" y="6182591"/>
            <a:ext cx="613063" cy="238991"/>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cxnSp>
        <p:nvCxnSpPr>
          <p:cNvPr id="111" name="Straight Arrow Connector 110">
            <a:extLst>
              <a:ext uri="{FF2B5EF4-FFF2-40B4-BE49-F238E27FC236}">
                <a16:creationId xmlns:a16="http://schemas.microsoft.com/office/drawing/2014/main" id="{83A8CED6-BE80-8CD6-4961-0B50207CC78F}"/>
              </a:ext>
            </a:extLst>
          </p:cNvPr>
          <p:cNvCxnSpPr/>
          <p:nvPr/>
        </p:nvCxnSpPr>
        <p:spPr>
          <a:xfrm>
            <a:off x="4052455" y="6556664"/>
            <a:ext cx="737754" cy="187036"/>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2650490" y="693420"/>
            <a:ext cx="6891655" cy="696595"/>
          </a:xfrm>
          <a:prstGeom prst="rect">
            <a:avLst/>
          </a:prstGeom>
        </p:spPr>
        <p:txBody>
          <a:bodyPr wrap="square" lIns="0" tIns="0" rIns="0" bIns="0" rtlCol="0" anchor="t">
            <a:noAutofit/>
          </a:bodyPr>
          <a:lstStyle/>
          <a:p>
            <a:pPr algn="ctr">
              <a:lnSpc>
                <a:spcPts val="636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Invoice Journal</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310" y="86828"/>
            <a:ext cx="1417559" cy="1303240"/>
          </a:xfrm>
          <a:prstGeom prst="rect">
            <a:avLst/>
          </a:prstGeom>
        </p:spPr>
      </p:pic>
      <p:pic>
        <p:nvPicPr>
          <p:cNvPr id="9" name="Picture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
        <p:nvSpPr>
          <p:cNvPr id="7" name="TextBox 6"/>
          <p:cNvSpPr txBox="1"/>
          <p:nvPr/>
        </p:nvSpPr>
        <p:spPr>
          <a:xfrm>
            <a:off x="67309" y="1751965"/>
            <a:ext cx="11990433" cy="4308872"/>
          </a:xfrm>
          <a:prstGeom prst="rect">
            <a:avLst/>
          </a:prstGeom>
          <a:noFill/>
        </p:spPr>
        <p:txBody>
          <a:bodyPr wrap="square">
            <a:spAutoFit/>
          </a:bodyPr>
          <a:lstStyle/>
          <a:p>
            <a:r>
              <a:rPr lang="en-US" sz="2000" b="1" dirty="0">
                <a:solidFill>
                  <a:srgbClr val="002060"/>
                </a:solidFill>
              </a:rPr>
              <a:t>Screen Information</a:t>
            </a:r>
            <a:br>
              <a:rPr lang="en-US" sz="2000" b="1" dirty="0">
                <a:solidFill>
                  <a:srgbClr val="002060"/>
                </a:solidFill>
              </a:rPr>
            </a:br>
            <a:endParaRPr lang="en-US" sz="2000" b="1" dirty="0">
              <a:solidFill>
                <a:srgbClr val="002060"/>
              </a:solidFill>
            </a:endParaRPr>
          </a:p>
          <a:p>
            <a:r>
              <a:rPr lang="en-US" b="1" dirty="0"/>
              <a:t>1- Enter the posting date in the Date field. The system date displays, but you can change it.</a:t>
            </a:r>
            <a:br>
              <a:rPr lang="en-US" b="1" dirty="0"/>
            </a:br>
            <a:endParaRPr lang="en-US" b="1" dirty="0"/>
          </a:p>
          <a:p>
            <a:r>
              <a:rPr lang="en-US" b="1" dirty="0"/>
              <a:t>2-The Voucher is entered automatically according to the number sequence attached to the journal.</a:t>
            </a:r>
            <a:br>
              <a:rPr lang="en-US" b="1" dirty="0"/>
            </a:br>
            <a:endParaRPr lang="en-US" b="1" dirty="0"/>
          </a:p>
          <a:p>
            <a:r>
              <a:rPr lang="en-US" b="1" dirty="0"/>
              <a:t>3- Select the vendor to register the invoice of in the Account field.</a:t>
            </a:r>
            <a:br>
              <a:rPr lang="en-US" b="1" dirty="0"/>
            </a:br>
            <a:endParaRPr lang="en-US" b="1" dirty="0"/>
          </a:p>
          <a:p>
            <a:r>
              <a:rPr lang="en-US" b="1" dirty="0"/>
              <a:t>4- Enter the invoice number in the Invoice field. You cannot post the invoice register if you do not specify an invoice number.</a:t>
            </a:r>
            <a:br>
              <a:rPr lang="en-US" b="1" dirty="0"/>
            </a:br>
            <a:endParaRPr lang="en-US" b="1" dirty="0"/>
          </a:p>
          <a:p>
            <a:r>
              <a:rPr lang="en-US" b="1" dirty="0"/>
              <a:t>5- Select the description regarding the transaction in the Description field. </a:t>
            </a:r>
            <a:br>
              <a:rPr lang="en-US" b="1" dirty="0"/>
            </a:br>
            <a:endParaRPr lang="en-US" b="1" dirty="0"/>
          </a:p>
          <a:p>
            <a:r>
              <a:rPr lang="en-US" b="1" dirty="0"/>
              <a:t>6- Enter the appropriate amount in the given currency Credit fields. Select the offset account type and account.</a:t>
            </a:r>
            <a:br>
              <a:rPr lang="en-US" b="1" dirty="0"/>
            </a:br>
            <a:endParaRPr lang="en-US" b="1" dirty="0"/>
          </a:p>
          <a:p>
            <a:r>
              <a:rPr lang="en-US" b="1" dirty="0"/>
              <a:t>7- Select the currency.</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3135596" y="185983"/>
            <a:ext cx="5214232" cy="730265"/>
          </a:xfrm>
          <a:prstGeom prst="rect">
            <a:avLst/>
          </a:prstGeom>
        </p:spPr>
        <p:txBody>
          <a:bodyPr wrap="square" lIns="0" tIns="0" rIns="0" bIns="0" rtlCol="0" anchor="t">
            <a:spAutoFit/>
          </a:bodyPr>
          <a:lstStyle/>
          <a:p>
            <a:pPr algn="ctr">
              <a:lnSpc>
                <a:spcPts val="645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Payment Journal </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264628"/>
            <a:ext cx="1417559" cy="130324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graphicFrame>
        <p:nvGraphicFramePr>
          <p:cNvPr id="11" name="Table 10"/>
          <p:cNvGraphicFramePr>
            <a:graphicFrameLocks noGrp="1"/>
          </p:cNvGraphicFramePr>
          <p:nvPr/>
        </p:nvGraphicFramePr>
        <p:xfrm>
          <a:off x="2381250" y="916248"/>
          <a:ext cx="7162800" cy="2038854"/>
        </p:xfrm>
        <a:graphic>
          <a:graphicData uri="http://schemas.openxmlformats.org/drawingml/2006/table">
            <a:tbl>
              <a:tblPr firstRow="1" firstCol="1" bandRow="1">
                <a:tableStyleId>{5C22544A-7EE6-4342-B048-85BDC9FD1C3A}</a:tableStyleId>
              </a:tblPr>
              <a:tblGrid>
                <a:gridCol w="1847357">
                  <a:extLst>
                    <a:ext uri="{9D8B030D-6E8A-4147-A177-3AD203B41FA5}">
                      <a16:colId xmlns:a16="http://schemas.microsoft.com/office/drawing/2014/main" val="20000"/>
                    </a:ext>
                  </a:extLst>
                </a:gridCol>
                <a:gridCol w="5315443">
                  <a:extLst>
                    <a:ext uri="{9D8B030D-6E8A-4147-A177-3AD203B41FA5}">
                      <a16:colId xmlns:a16="http://schemas.microsoft.com/office/drawing/2014/main" val="20001"/>
                    </a:ext>
                  </a:extLst>
                </a:gridCol>
              </a:tblGrid>
              <a:tr h="260890">
                <a:tc>
                  <a:txBody>
                    <a:bodyPr/>
                    <a:lstStyle/>
                    <a:p>
                      <a:pPr>
                        <a:lnSpc>
                          <a:spcPct val="150000"/>
                        </a:lnSpc>
                        <a:spcBef>
                          <a:spcPts val="600"/>
                        </a:spcBef>
                        <a:buNone/>
                      </a:pPr>
                      <a:r>
                        <a:rPr lang="en-US" sz="1800" kern="1400">
                          <a:effectLst/>
                        </a:rPr>
                        <a:t>Process code</a:t>
                      </a:r>
                      <a:endParaRPr lang="en-US" sz="18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kern="1400">
                          <a:effectLst/>
                        </a:rPr>
                        <a:t>04.04.01. Financial Management</a:t>
                      </a:r>
                      <a:endParaRPr lang="en-US" sz="18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0"/>
                  </a:ext>
                </a:extLst>
              </a:tr>
              <a:tr h="260890">
                <a:tc>
                  <a:txBody>
                    <a:bodyPr/>
                    <a:lstStyle/>
                    <a:p>
                      <a:pPr>
                        <a:lnSpc>
                          <a:spcPct val="150000"/>
                        </a:lnSpc>
                        <a:spcBef>
                          <a:spcPts val="600"/>
                        </a:spcBef>
                        <a:buNone/>
                      </a:pPr>
                      <a:r>
                        <a:rPr lang="en-US" sz="1800" kern="1400">
                          <a:effectLst/>
                        </a:rPr>
                        <a:t>Process name</a:t>
                      </a:r>
                      <a:endParaRPr lang="en-US" sz="18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kern="1400" dirty="0">
                          <a:effectLst/>
                        </a:rPr>
                        <a:t>Payment Journal</a:t>
                      </a:r>
                      <a:endParaRPr lang="en-US" sz="1800"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1"/>
                  </a:ext>
                </a:extLst>
              </a:tr>
              <a:tr h="260890">
                <a:tc>
                  <a:txBody>
                    <a:bodyPr/>
                    <a:lstStyle/>
                    <a:p>
                      <a:pPr>
                        <a:lnSpc>
                          <a:spcPct val="150000"/>
                        </a:lnSpc>
                        <a:spcBef>
                          <a:spcPts val="600"/>
                        </a:spcBef>
                        <a:buNone/>
                      </a:pPr>
                      <a:r>
                        <a:rPr lang="en-US" sz="1800" kern="1400">
                          <a:effectLst/>
                        </a:rPr>
                        <a:t>Process description</a:t>
                      </a:r>
                      <a:endParaRPr lang="en-US" sz="18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kern="1400" dirty="0">
                          <a:effectLst/>
                        </a:rPr>
                        <a:t>Payment To vendor </a:t>
                      </a:r>
                      <a:endParaRPr lang="en-US" sz="1800"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2"/>
                  </a:ext>
                </a:extLst>
              </a:tr>
              <a:tr h="520569">
                <a:tc>
                  <a:txBody>
                    <a:bodyPr/>
                    <a:lstStyle/>
                    <a:p>
                      <a:pPr>
                        <a:lnSpc>
                          <a:spcPct val="150000"/>
                        </a:lnSpc>
                        <a:spcBef>
                          <a:spcPts val="600"/>
                        </a:spcBef>
                        <a:buNone/>
                      </a:pPr>
                      <a:r>
                        <a:rPr lang="en-US" sz="1800" kern="1400">
                          <a:effectLst/>
                        </a:rPr>
                        <a:t>Form path</a:t>
                      </a:r>
                      <a:endParaRPr lang="en-US" sz="1800" kern="140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tc>
                  <a:txBody>
                    <a:bodyPr/>
                    <a:lstStyle/>
                    <a:p>
                      <a:pPr>
                        <a:lnSpc>
                          <a:spcPct val="150000"/>
                        </a:lnSpc>
                        <a:spcBef>
                          <a:spcPts val="600"/>
                        </a:spcBef>
                        <a:buNone/>
                      </a:pPr>
                      <a:r>
                        <a:rPr lang="en-US" sz="1800" kern="1400" dirty="0">
                          <a:effectLst/>
                        </a:rPr>
                        <a:t>Account payable &gt; Payments &gt; Payment Journals</a:t>
                      </a:r>
                      <a:endParaRPr lang="en-US" sz="1800" kern="1400" dirty="0">
                        <a:effectLst/>
                        <a:latin typeface="Calibri" panose="020F0502020204030204" pitchFamily="34" charset="0"/>
                        <a:ea typeface="MS Mincho" panose="02020609040205080304" pitchFamily="49" charset="-128"/>
                        <a:cs typeface="Times New Roman" panose="02020603050405020304" pitchFamily="18" charset="0"/>
                      </a:endParaRPr>
                    </a:p>
                  </a:txBody>
                  <a:tcPr marL="68580" marR="68580" marT="0" marB="0"/>
                </a:tc>
                <a:extLst>
                  <a:ext uri="{0D108BD9-81ED-4DB2-BD59-A6C34878D82A}">
                    <a16:rowId xmlns:a16="http://schemas.microsoft.com/office/drawing/2014/main" val="10003"/>
                  </a:ext>
                </a:extLst>
              </a:tr>
            </a:tbl>
          </a:graphicData>
        </a:graphic>
      </p:graphicFrame>
      <p:sp>
        <p:nvSpPr>
          <p:cNvPr id="13" name="TextBox 12"/>
          <p:cNvSpPr txBox="1"/>
          <p:nvPr/>
        </p:nvSpPr>
        <p:spPr>
          <a:xfrm>
            <a:off x="609600" y="3184096"/>
            <a:ext cx="7848600" cy="1200329"/>
          </a:xfrm>
          <a:prstGeom prst="rect">
            <a:avLst/>
          </a:prstGeom>
          <a:noFill/>
        </p:spPr>
        <p:txBody>
          <a:bodyPr wrap="square">
            <a:spAutoFit/>
          </a:bodyPr>
          <a:lstStyle/>
          <a:p>
            <a:r>
              <a:rPr lang="en-US" dirty="0"/>
              <a:t>1- Go to Accounts payable &gt; Payments &gt; Payment journal. </a:t>
            </a:r>
          </a:p>
          <a:p>
            <a:r>
              <a:rPr lang="en-US" dirty="0"/>
              <a:t>2- Click New to create a new payment journal.</a:t>
            </a:r>
          </a:p>
          <a:p>
            <a:r>
              <a:rPr lang="en-US" dirty="0"/>
              <a:t>3- Select journal name and enter Description. </a:t>
            </a:r>
          </a:p>
          <a:p>
            <a:r>
              <a:rPr lang="en-US" dirty="0"/>
              <a:t>4- Click lines to open the chosen journal and record the payment voucher.</a:t>
            </a:r>
          </a:p>
        </p:txBody>
      </p:sp>
      <p:pic>
        <p:nvPicPr>
          <p:cNvPr id="15" name="Picture 14"/>
          <p:cNvPicPr>
            <a:picLocks noChangeAspect="1"/>
          </p:cNvPicPr>
          <p:nvPr/>
        </p:nvPicPr>
        <p:blipFill>
          <a:blip r:embed="rId4"/>
          <a:stretch>
            <a:fillRect/>
          </a:stretch>
        </p:blipFill>
        <p:spPr>
          <a:xfrm>
            <a:off x="-1" y="4114633"/>
            <a:ext cx="11096625" cy="2743367"/>
          </a:xfrm>
          <a:prstGeom prst="rect">
            <a:avLst/>
          </a:prstGeom>
        </p:spPr>
      </p:pic>
      <p:cxnSp>
        <p:nvCxnSpPr>
          <p:cNvPr id="17" name="Straight Arrow Connector 16"/>
          <p:cNvCxnSpPr/>
          <p:nvPr/>
        </p:nvCxnSpPr>
        <p:spPr>
          <a:xfrm flipV="1">
            <a:off x="609600" y="4384425"/>
            <a:ext cx="807959" cy="708275"/>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264628"/>
            <a:ext cx="1417559" cy="130324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
        <p:nvSpPr>
          <p:cNvPr id="10" name="TextBox 9"/>
          <p:cNvSpPr txBox="1"/>
          <p:nvPr/>
        </p:nvSpPr>
        <p:spPr>
          <a:xfrm>
            <a:off x="-1" y="4945872"/>
            <a:ext cx="10201276" cy="1754326"/>
          </a:xfrm>
          <a:prstGeom prst="rect">
            <a:avLst/>
          </a:prstGeom>
          <a:noFill/>
        </p:spPr>
        <p:txBody>
          <a:bodyPr wrap="square">
            <a:spAutoFit/>
          </a:bodyPr>
          <a:lstStyle/>
          <a:p>
            <a:r>
              <a:rPr lang="en-US" dirty="0"/>
              <a:t>4- Invoices can be paid in full or partially through the payment vouchers.</a:t>
            </a:r>
          </a:p>
          <a:p>
            <a:r>
              <a:rPr lang="en-US" dirty="0"/>
              <a:t>5- The payment information can be manually filled or choose the vendor in the voucher and then choose “settle Transactions” and select the invoice that is needed to be paid, and the system will generate the information required to be filled.</a:t>
            </a:r>
          </a:p>
          <a:p>
            <a:r>
              <a:rPr lang="en-US" dirty="0"/>
              <a:t>6- This will open “Settle Open Transactions” screen from which to choose the invoice to be paid from the list of open invoices of the chosen vendor.</a:t>
            </a:r>
          </a:p>
        </p:txBody>
      </p:sp>
      <p:cxnSp>
        <p:nvCxnSpPr>
          <p:cNvPr id="12" name="Straight Arrow Connector 11"/>
          <p:cNvCxnSpPr/>
          <p:nvPr/>
        </p:nvCxnSpPr>
        <p:spPr>
          <a:xfrm flipV="1">
            <a:off x="5080000" y="4572000"/>
            <a:ext cx="1397000" cy="373872"/>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pic>
        <p:nvPicPr>
          <p:cNvPr id="3" name="Picture 2">
            <a:extLst>
              <a:ext uri="{FF2B5EF4-FFF2-40B4-BE49-F238E27FC236}">
                <a16:creationId xmlns:a16="http://schemas.microsoft.com/office/drawing/2014/main" id="{8B57DD10-618C-3C58-E000-3C8870FBABE3}"/>
              </a:ext>
            </a:extLst>
          </p:cNvPr>
          <p:cNvPicPr>
            <a:picLocks noChangeAspect="1"/>
          </p:cNvPicPr>
          <p:nvPr/>
        </p:nvPicPr>
        <p:blipFill>
          <a:blip r:embed="rId4"/>
          <a:stretch>
            <a:fillRect/>
          </a:stretch>
        </p:blipFill>
        <p:spPr>
          <a:xfrm>
            <a:off x="-1" y="1715171"/>
            <a:ext cx="12143510" cy="2952750"/>
          </a:xfrm>
          <a:prstGeom prst="rect">
            <a:avLst/>
          </a:prstGeom>
        </p:spPr>
      </p:pic>
      <p:cxnSp>
        <p:nvCxnSpPr>
          <p:cNvPr id="7" name="Straight Arrow Connector 6">
            <a:extLst>
              <a:ext uri="{FF2B5EF4-FFF2-40B4-BE49-F238E27FC236}">
                <a16:creationId xmlns:a16="http://schemas.microsoft.com/office/drawing/2014/main" id="{1CE8D3AC-948F-563E-5DA9-FFA961385206}"/>
              </a:ext>
            </a:extLst>
          </p:cNvPr>
          <p:cNvCxnSpPr/>
          <p:nvPr/>
        </p:nvCxnSpPr>
        <p:spPr>
          <a:xfrm>
            <a:off x="1417559" y="3345873"/>
            <a:ext cx="941177" cy="332509"/>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264628"/>
            <a:ext cx="1417559" cy="130324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pic>
        <p:nvPicPr>
          <p:cNvPr id="3" name="Picture 2"/>
          <p:cNvPicPr>
            <a:picLocks noGrp="1" noRot="1" noChangeAspect="1" noMove="1" noResize="1" noEditPoints="1" noAdjustHandles="1" noChangeArrowheads="1" noChangeShapeType="1" noCrop="1"/>
          </p:cNvPicPr>
          <p:nvPr/>
        </p:nvPicPr>
        <p:blipFill>
          <a:blip r:embed="rId4"/>
          <a:stretch>
            <a:fillRect/>
          </a:stretch>
        </p:blipFill>
        <p:spPr>
          <a:xfrm>
            <a:off x="0" y="1638301"/>
            <a:ext cx="12191728" cy="4019370"/>
          </a:xfrm>
          <a:prstGeom prst="rect">
            <a:avLst/>
          </a:prstGeom>
        </p:spPr>
      </p:pic>
      <p:sp>
        <p:nvSpPr>
          <p:cNvPr id="7" name="TextBox 6"/>
          <p:cNvSpPr txBox="1"/>
          <p:nvPr/>
        </p:nvSpPr>
        <p:spPr>
          <a:xfrm>
            <a:off x="-136" y="5657671"/>
            <a:ext cx="6096000" cy="1200329"/>
          </a:xfrm>
          <a:prstGeom prst="rect">
            <a:avLst/>
          </a:prstGeom>
          <a:noFill/>
        </p:spPr>
        <p:txBody>
          <a:bodyPr wrap="square">
            <a:spAutoFit/>
          </a:bodyPr>
          <a:lstStyle/>
          <a:p>
            <a:r>
              <a:rPr lang="en-US" dirty="0"/>
              <a:t>8- Check the box in the “Mark” column to choose the invoice or several invoices.</a:t>
            </a:r>
          </a:p>
          <a:p>
            <a:r>
              <a:rPr lang="en-US" dirty="0"/>
              <a:t>9- withholding tax will be automatically calculated if you set the Calculate withholding tax checkbox to Yes in the vendor card.</a:t>
            </a:r>
          </a:p>
        </p:txBody>
      </p:sp>
      <p:cxnSp>
        <p:nvCxnSpPr>
          <p:cNvPr id="11" name="Straight Arrow Connector 10"/>
          <p:cNvCxnSpPr/>
          <p:nvPr/>
        </p:nvCxnSpPr>
        <p:spPr>
          <a:xfrm flipV="1">
            <a:off x="520700" y="3136900"/>
            <a:ext cx="647700" cy="4191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264628"/>
            <a:ext cx="1417559" cy="1303240"/>
          </a:xfrm>
          <a:prstGeom prst="rect">
            <a:avLst/>
          </a:prstGeom>
        </p:spPr>
      </p:pic>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
        <p:nvSpPr>
          <p:cNvPr id="6" name="TextBox 5"/>
          <p:cNvSpPr txBox="1"/>
          <p:nvPr/>
        </p:nvSpPr>
        <p:spPr>
          <a:xfrm>
            <a:off x="2143125" y="1419910"/>
            <a:ext cx="6096000" cy="646331"/>
          </a:xfrm>
          <a:prstGeom prst="rect">
            <a:avLst/>
          </a:prstGeom>
          <a:noFill/>
        </p:spPr>
        <p:txBody>
          <a:bodyPr wrap="square">
            <a:spAutoFit/>
          </a:bodyPr>
          <a:lstStyle/>
          <a:p>
            <a:r>
              <a:rPr lang="en-US" dirty="0"/>
              <a:t>10- Then user can choose the method of payment or chose offset account and post.</a:t>
            </a:r>
            <a:endParaRPr lang="ar-EG" dirty="0"/>
          </a:p>
        </p:txBody>
      </p:sp>
      <p:pic>
        <p:nvPicPr>
          <p:cNvPr id="9" name="Picture 8"/>
          <p:cNvPicPr>
            <a:picLocks noChangeAspect="1"/>
          </p:cNvPicPr>
          <p:nvPr/>
        </p:nvPicPr>
        <p:blipFill>
          <a:blip r:embed="rId4"/>
          <a:stretch>
            <a:fillRect/>
          </a:stretch>
        </p:blipFill>
        <p:spPr>
          <a:xfrm>
            <a:off x="0" y="2323975"/>
            <a:ext cx="10801350" cy="1790950"/>
          </a:xfrm>
          <a:prstGeom prst="rect">
            <a:avLst/>
          </a:prstGeom>
        </p:spPr>
      </p:pic>
      <p:cxnSp>
        <p:nvCxnSpPr>
          <p:cNvPr id="11" name="Straight Arrow Connector 10"/>
          <p:cNvCxnSpPr/>
          <p:nvPr/>
        </p:nvCxnSpPr>
        <p:spPr>
          <a:xfrm flipV="1">
            <a:off x="4762500" y="3568700"/>
            <a:ext cx="927100" cy="444500"/>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5" name="Title 4"/>
          <p:cNvSpPr>
            <a:spLocks noGrp="1"/>
          </p:cNvSpPr>
          <p:nvPr>
            <p:ph type="title"/>
          </p:nvPr>
        </p:nvSpPr>
        <p:spPr>
          <a:xfrm rot="10800000" flipV="1">
            <a:off x="838200" y="1690688"/>
            <a:ext cx="10515600" cy="3785552"/>
          </a:xfrm>
        </p:spPr>
        <p:txBody>
          <a:bodyPr>
            <a:normAutofit/>
          </a:bodyPr>
          <a:lstStyle/>
          <a:p>
            <a:pPr algn="ctr"/>
            <a:r>
              <a:rPr lang="en-GB" sz="6000" b="1" dirty="0">
                <a:solidFill>
                  <a:schemeClr val="tx2"/>
                </a:solidFill>
              </a:rPr>
              <a:t>Financial reports related to Vendor balances </a:t>
            </a:r>
            <a:endParaRPr lang="ar-EG" sz="6000" b="1" dirty="0">
              <a:solidFill>
                <a:schemeClr val="tx2"/>
              </a:solidFill>
            </a:endParaRPr>
          </a:p>
        </p:txBody>
      </p:sp>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68108"/>
            <a:ext cx="1417559" cy="1303240"/>
          </a:xfrm>
          <a:prstGeom prst="rect">
            <a:avLst/>
          </a:prstGeom>
        </p:spPr>
      </p:pic>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580">
                                          <p:stCondLst>
                                            <p:cond delay="0"/>
                                          </p:stCondLst>
                                        </p:cTn>
                                        <p:tgtEl>
                                          <p:spTgt spid="5"/>
                                        </p:tgtEl>
                                      </p:cBhvr>
                                    </p:animEffect>
                                    <p:anim calcmode="lin" valueType="num">
                                      <p:cBhvr>
                                        <p:cTn id="8" dur="1822" tmFilter="0,0; 0.14,0.36; 0.43,0.73; 0.71,0.91; 1.0,1.0">
                                          <p:stCondLst>
                                            <p:cond delay="0"/>
                                          </p:stCondLst>
                                        </p:cTn>
                                        <p:tgtEl>
                                          <p:spTgt spid="5"/>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5"/>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5"/>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5"/>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5"/>
                                        </p:tgtEl>
                                        <p:attrNameLst>
                                          <p:attrName>ppt_y</p:attrName>
                                        </p:attrNameLst>
                                      </p:cBhvr>
                                      <p:tavLst>
                                        <p:tav tm="0" fmla="#ppt_y-sin(pi*$)/81">
                                          <p:val>
                                            <p:fltVal val="0"/>
                                          </p:val>
                                        </p:tav>
                                        <p:tav tm="100000">
                                          <p:val>
                                            <p:fltVal val="1"/>
                                          </p:val>
                                        </p:tav>
                                      </p:tavLst>
                                    </p:anim>
                                    <p:animScale>
                                      <p:cBhvr>
                                        <p:cTn id="13" dur="26">
                                          <p:stCondLst>
                                            <p:cond delay="650"/>
                                          </p:stCondLst>
                                        </p:cTn>
                                        <p:tgtEl>
                                          <p:spTgt spid="5"/>
                                        </p:tgtEl>
                                      </p:cBhvr>
                                      <p:to x="100000" y="60000"/>
                                    </p:animScale>
                                    <p:animScale>
                                      <p:cBhvr>
                                        <p:cTn id="14" dur="166" decel="50000">
                                          <p:stCondLst>
                                            <p:cond delay="676"/>
                                          </p:stCondLst>
                                        </p:cTn>
                                        <p:tgtEl>
                                          <p:spTgt spid="5"/>
                                        </p:tgtEl>
                                      </p:cBhvr>
                                      <p:to x="100000" y="100000"/>
                                    </p:animScale>
                                    <p:animScale>
                                      <p:cBhvr>
                                        <p:cTn id="15" dur="26">
                                          <p:stCondLst>
                                            <p:cond delay="1312"/>
                                          </p:stCondLst>
                                        </p:cTn>
                                        <p:tgtEl>
                                          <p:spTgt spid="5"/>
                                        </p:tgtEl>
                                      </p:cBhvr>
                                      <p:to x="100000" y="80000"/>
                                    </p:animScale>
                                    <p:animScale>
                                      <p:cBhvr>
                                        <p:cTn id="16" dur="166" decel="50000">
                                          <p:stCondLst>
                                            <p:cond delay="1338"/>
                                          </p:stCondLst>
                                        </p:cTn>
                                        <p:tgtEl>
                                          <p:spTgt spid="5"/>
                                        </p:tgtEl>
                                      </p:cBhvr>
                                      <p:to x="100000" y="100000"/>
                                    </p:animScale>
                                    <p:animScale>
                                      <p:cBhvr>
                                        <p:cTn id="17" dur="26">
                                          <p:stCondLst>
                                            <p:cond delay="1642"/>
                                          </p:stCondLst>
                                        </p:cTn>
                                        <p:tgtEl>
                                          <p:spTgt spid="5"/>
                                        </p:tgtEl>
                                      </p:cBhvr>
                                      <p:to x="100000" y="90000"/>
                                    </p:animScale>
                                    <p:animScale>
                                      <p:cBhvr>
                                        <p:cTn id="18" dur="166" decel="50000">
                                          <p:stCondLst>
                                            <p:cond delay="1668"/>
                                          </p:stCondLst>
                                        </p:cTn>
                                        <p:tgtEl>
                                          <p:spTgt spid="5"/>
                                        </p:tgtEl>
                                      </p:cBhvr>
                                      <p:to x="100000" y="100000"/>
                                    </p:animScale>
                                    <p:animScale>
                                      <p:cBhvr>
                                        <p:cTn id="19" dur="26">
                                          <p:stCondLst>
                                            <p:cond delay="1808"/>
                                          </p:stCondLst>
                                        </p:cTn>
                                        <p:tgtEl>
                                          <p:spTgt spid="5"/>
                                        </p:tgtEl>
                                      </p:cBhvr>
                                      <p:to x="100000" y="95000"/>
                                    </p:animScale>
                                    <p:animScale>
                                      <p:cBhvr>
                                        <p:cTn id="20" dur="166" decel="50000">
                                          <p:stCondLst>
                                            <p:cond delay="1834"/>
                                          </p:stCondLst>
                                        </p:cTn>
                                        <p:tgtEl>
                                          <p:spTgt spid="5"/>
                                        </p:tgtEl>
                                      </p:cBhvr>
                                      <p:to x="100000" y="100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Lst>
  </p:timing>
</p:sld>
</file>

<file path=ppt/slides/slide51.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2670258" y="778957"/>
            <a:ext cx="6851483" cy="746760"/>
          </a:xfrm>
          <a:prstGeom prst="rect">
            <a:avLst/>
          </a:prstGeom>
        </p:spPr>
        <p:txBody>
          <a:bodyPr wrap="square" lIns="0" tIns="0" rIns="0" bIns="0" rtlCol="0" anchor="t">
            <a:spAutoFit/>
          </a:bodyPr>
          <a:lstStyle/>
          <a:p>
            <a:pPr algn="ctr">
              <a:lnSpc>
                <a:spcPts val="582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Vendor Transactions Report</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6680" y="138898"/>
            <a:ext cx="1417559" cy="1303240"/>
          </a:xfrm>
          <a:prstGeom prst="rect">
            <a:avLst/>
          </a:prstGeom>
        </p:spPr>
      </p:pic>
      <p:pic>
        <p:nvPicPr>
          <p:cNvPr id="9" name="Picture 8"/>
          <p:cNvPicPr>
            <a:picLocks noChangeAspect="1"/>
          </p:cNvPicPr>
          <p:nvPr/>
        </p:nvPicPr>
        <p:blipFill>
          <a:blip r:embed="rId3"/>
          <a:stretch>
            <a:fillRect/>
          </a:stretch>
        </p:blipFill>
        <p:spPr>
          <a:xfrm>
            <a:off x="0" y="3095377"/>
            <a:ext cx="12192000" cy="3751230"/>
          </a:xfrm>
          <a:prstGeom prst="rect">
            <a:avLst/>
          </a:prstGeom>
        </p:spPr>
      </p:pic>
      <p:pic>
        <p:nvPicPr>
          <p:cNvPr id="11" name="Picture 10"/>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
        <p:nvSpPr>
          <p:cNvPr id="3" name="TextBox 2"/>
          <p:cNvSpPr txBox="1"/>
          <p:nvPr/>
        </p:nvSpPr>
        <p:spPr>
          <a:xfrm>
            <a:off x="0" y="1525717"/>
            <a:ext cx="7696200" cy="1569660"/>
          </a:xfrm>
          <a:prstGeom prst="rect">
            <a:avLst/>
          </a:prstGeom>
          <a:noFill/>
        </p:spPr>
        <p:txBody>
          <a:bodyPr wrap="square">
            <a:spAutoFit/>
          </a:bodyPr>
          <a:lstStyle/>
          <a:p>
            <a:r>
              <a:rPr lang="en-US" sz="2400" b="1" dirty="0">
                <a:solidFill>
                  <a:srgbClr val="002060"/>
                </a:solidFill>
              </a:rPr>
              <a:t>Form path</a:t>
            </a:r>
          </a:p>
          <a:p>
            <a:r>
              <a:rPr lang="en-US" b="1" dirty="0"/>
              <a:t>Accounts Payable → Inquiries → Vendor transaction</a:t>
            </a:r>
            <a:br>
              <a:rPr lang="en-US" b="1" dirty="0"/>
            </a:br>
            <a:r>
              <a:rPr lang="en-US" b="1" dirty="0"/>
              <a:t>Description</a:t>
            </a:r>
            <a:br>
              <a:rPr lang="en-US" b="1" dirty="0"/>
            </a:br>
            <a:r>
              <a:rPr lang="en-US" b="1" dirty="0"/>
              <a:t>This report display all financial transactions redated to vendors within a specific period</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6" name="TextBox 3"/>
          <p:cNvSpPr txBox="1"/>
          <p:nvPr/>
        </p:nvSpPr>
        <p:spPr>
          <a:xfrm>
            <a:off x="2525486" y="538846"/>
            <a:ext cx="6851483" cy="746760"/>
          </a:xfrm>
          <a:prstGeom prst="rect">
            <a:avLst/>
          </a:prstGeom>
        </p:spPr>
        <p:txBody>
          <a:bodyPr wrap="square" lIns="0" tIns="0" rIns="0" bIns="0" rtlCol="0" anchor="t">
            <a:spAutoFit/>
          </a:bodyPr>
          <a:lstStyle/>
          <a:p>
            <a:pPr algn="ctr">
              <a:lnSpc>
                <a:spcPts val="582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Vendor balance list</a:t>
            </a:r>
          </a:p>
        </p:txBody>
      </p:sp>
      <p:pic>
        <p:nvPicPr>
          <p:cNvPr id="5" name="Picture 4"/>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7945" y="168743"/>
            <a:ext cx="1417559" cy="1303240"/>
          </a:xfrm>
          <a:prstGeom prst="rect">
            <a:avLst/>
          </a:prstGeom>
        </p:spPr>
      </p:pic>
      <p:pic>
        <p:nvPicPr>
          <p:cNvPr id="7" name="Picture 6"/>
          <p:cNvPicPr>
            <a:picLocks noChangeAspect="1"/>
          </p:cNvPicPr>
          <p:nvPr/>
        </p:nvPicPr>
        <p:blipFill>
          <a:blip r:embed="rId3"/>
          <a:stretch>
            <a:fillRect/>
          </a:stretch>
        </p:blipFill>
        <p:spPr>
          <a:xfrm>
            <a:off x="0" y="2832020"/>
            <a:ext cx="12192000" cy="4025980"/>
          </a:xfrm>
          <a:prstGeom prst="rect">
            <a:avLst/>
          </a:prstGeom>
        </p:spPr>
      </p:pic>
      <p:pic>
        <p:nvPicPr>
          <p:cNvPr id="9" name="Picture 8"/>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
        <p:nvSpPr>
          <p:cNvPr id="10" name="TextBox 9"/>
          <p:cNvSpPr txBox="1"/>
          <p:nvPr/>
        </p:nvSpPr>
        <p:spPr>
          <a:xfrm>
            <a:off x="67944" y="1600914"/>
            <a:ext cx="6256655" cy="1231106"/>
          </a:xfrm>
          <a:prstGeom prst="rect">
            <a:avLst/>
          </a:prstGeom>
          <a:noFill/>
        </p:spPr>
        <p:txBody>
          <a:bodyPr wrap="square">
            <a:spAutoFit/>
          </a:bodyPr>
          <a:lstStyle/>
          <a:p>
            <a:r>
              <a:rPr lang="en-US" sz="2000" b="1" dirty="0">
                <a:solidFill>
                  <a:srgbClr val="002060"/>
                </a:solidFill>
              </a:rPr>
              <a:t>Form path</a:t>
            </a:r>
          </a:p>
          <a:p>
            <a:r>
              <a:rPr lang="en-US" b="1" dirty="0"/>
              <a:t>Accounts Payable → Inquiries → Vendor Balance</a:t>
            </a:r>
            <a:br>
              <a:rPr lang="en-US" b="1" dirty="0"/>
            </a:br>
            <a:r>
              <a:rPr lang="en-US" b="1" dirty="0"/>
              <a:t>Description</a:t>
            </a:r>
            <a:br>
              <a:rPr lang="en-US" b="1" dirty="0"/>
            </a:br>
            <a:r>
              <a:rPr lang="en-US" b="1" dirty="0"/>
              <a:t>This report shows the balance owed to each Vendor</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5" name="TextBox 4"/>
          <p:cNvSpPr txBox="1"/>
          <p:nvPr/>
        </p:nvSpPr>
        <p:spPr>
          <a:xfrm>
            <a:off x="918342" y="778957"/>
            <a:ext cx="10337103" cy="815975"/>
          </a:xfrm>
          <a:prstGeom prst="rect">
            <a:avLst/>
          </a:prstGeom>
        </p:spPr>
        <p:txBody>
          <a:bodyPr lIns="0" tIns="0" rIns="0" bIns="0" rtlCol="0" anchor="t">
            <a:spAutoFit/>
          </a:bodyPr>
          <a:lstStyle/>
          <a:p>
            <a:pPr algn="ctr">
              <a:lnSpc>
                <a:spcPts val="6365"/>
              </a:lnSpc>
            </a:pPr>
            <a:r>
              <a:rPr lang="en-US" sz="3600" b="1" dirty="0">
                <a:solidFill>
                  <a:schemeClr val="tx2"/>
                </a:solidFill>
                <a:latin typeface="Arial" panose="020B0604020202020204" pitchFamily="34" charset="0"/>
                <a:ea typeface="Bright Retro"/>
                <a:cs typeface="Arial" panose="020B0604020202020204" pitchFamily="34" charset="0"/>
                <a:sym typeface="Bright Retro"/>
              </a:rPr>
              <a:t>Vendor Aging Report </a:t>
            </a:r>
          </a:p>
        </p:txBody>
      </p:sp>
      <p:pic>
        <p:nvPicPr>
          <p:cNvPr id="4" name="Picture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110323"/>
            <a:ext cx="1417559" cy="1303240"/>
          </a:xfrm>
          <a:prstGeom prst="rect">
            <a:avLst/>
          </a:prstGeom>
        </p:spPr>
      </p:pic>
      <p:pic>
        <p:nvPicPr>
          <p:cNvPr id="7" name="Picture 6"/>
          <p:cNvPicPr>
            <a:picLocks noChangeAspect="1"/>
          </p:cNvPicPr>
          <p:nvPr/>
        </p:nvPicPr>
        <p:blipFill>
          <a:blip r:embed="rId3"/>
          <a:stretch>
            <a:fillRect/>
          </a:stretch>
        </p:blipFill>
        <p:spPr>
          <a:xfrm>
            <a:off x="0" y="2832020"/>
            <a:ext cx="12192000" cy="4033276"/>
          </a:xfrm>
          <a:prstGeom prst="rect">
            <a:avLst/>
          </a:prstGeom>
        </p:spPr>
      </p:pic>
      <p:pic>
        <p:nvPicPr>
          <p:cNvPr id="8" name="Picture 7"/>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0416952" y="-24235"/>
            <a:ext cx="1774776" cy="693347"/>
          </a:xfrm>
          <a:prstGeom prst="rect">
            <a:avLst/>
          </a:prstGeom>
        </p:spPr>
      </p:pic>
      <p:sp>
        <p:nvSpPr>
          <p:cNvPr id="2" name="TextBox 1"/>
          <p:cNvSpPr txBox="1"/>
          <p:nvPr/>
        </p:nvSpPr>
        <p:spPr>
          <a:xfrm>
            <a:off x="67944" y="1600914"/>
            <a:ext cx="6256655" cy="1231106"/>
          </a:xfrm>
          <a:prstGeom prst="rect">
            <a:avLst/>
          </a:prstGeom>
          <a:noFill/>
        </p:spPr>
        <p:txBody>
          <a:bodyPr wrap="square">
            <a:spAutoFit/>
          </a:bodyPr>
          <a:lstStyle/>
          <a:p>
            <a:r>
              <a:rPr lang="en-US" sz="2000" b="1" dirty="0">
                <a:solidFill>
                  <a:srgbClr val="002060"/>
                </a:solidFill>
              </a:rPr>
              <a:t>Form path</a:t>
            </a:r>
          </a:p>
          <a:p>
            <a:r>
              <a:rPr lang="en-US" b="1" dirty="0"/>
              <a:t>Accounts Payable → Inquiries → Vendor aging report</a:t>
            </a:r>
            <a:br>
              <a:rPr lang="en-US" b="1" dirty="0"/>
            </a:br>
            <a:r>
              <a:rPr lang="en-US" b="1" dirty="0"/>
              <a:t>Description</a:t>
            </a:r>
            <a:br>
              <a:rPr lang="en-US" b="1" dirty="0"/>
            </a:br>
            <a:r>
              <a:rPr lang="en-US" b="1" dirty="0"/>
              <a:t>Shows vendor aging balances classified based on aging periods</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pic>
        <p:nvPicPr>
          <p:cNvPr id="6" name="Picture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26365" y="-229"/>
            <a:ext cx="1417559" cy="1303240"/>
          </a:xfrm>
          <a:prstGeom prst="rect">
            <a:avLst/>
          </a:prstGeom>
        </p:spPr>
      </p:pic>
      <p:sp>
        <p:nvSpPr>
          <p:cNvPr id="3" name="Title 1"/>
          <p:cNvSpPr txBox="1"/>
          <p:nvPr/>
        </p:nvSpPr>
        <p:spPr>
          <a:xfrm>
            <a:off x="277793" y="1458410"/>
            <a:ext cx="11771454" cy="5399591"/>
          </a:xfrm>
          <a:prstGeom prst="rect">
            <a:avLst/>
          </a:prstGeom>
          <a:noFill/>
          <a:ln w="9525" cap="flat" cmpd="sng" algn="ctr">
            <a:solidFill>
              <a:schemeClr val="accent5"/>
            </a:solidFill>
            <a:prstDash val="solid"/>
            <a:round/>
            <a:headEnd type="none" w="med" len="med"/>
            <a:tailEnd type="none" w="med" len="med"/>
          </a:ln>
        </p:spPr>
        <p:style>
          <a:lnRef idx="0">
            <a:scrgbClr r="0" g="0" b="0"/>
          </a:lnRef>
          <a:fillRef idx="0">
            <a:scrgbClr r="0" g="0" b="0"/>
          </a:fillRef>
          <a:effectRef idx="0">
            <a:scrgbClr r="0" g="0" b="0"/>
          </a:effectRef>
          <a:fontRef idx="minor">
            <a:schemeClr val="accent5"/>
          </a:fontRef>
        </p:style>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sz="2800" b="1" dirty="0">
                <a:ln w="0"/>
                <a:solidFill>
                  <a:schemeClr val="accent5">
                    <a:lumMod val="50000"/>
                  </a:schemeClr>
                </a:solidFill>
                <a:effectLst>
                  <a:outerShdw blurRad="38100" dist="19050" dir="2700000" algn="tl" rotWithShape="0">
                    <a:schemeClr val="dk1">
                      <a:alpha val="40000"/>
                    </a:schemeClr>
                  </a:outerShdw>
                </a:effectLst>
                <a:latin typeface="Aharoni" panose="020F0502020204030204" pitchFamily="2" charset="-79"/>
                <a:cs typeface="Aharoni" panose="020F0502020204030204" pitchFamily="2" charset="-79"/>
              </a:rPr>
              <a:t>Conclusion</a:t>
            </a:r>
          </a:p>
          <a:p>
            <a:r>
              <a:rPr lang="en-US" sz="2400" b="1" dirty="0">
                <a:solidFill>
                  <a:schemeClr val="tx2"/>
                </a:solidFill>
                <a:latin typeface="Aharoni" panose="020F0502020204030204" pitchFamily="2" charset="-79"/>
                <a:cs typeface="Aharoni" panose="020F0502020204030204" pitchFamily="2" charset="-79"/>
              </a:rPr>
              <a:t>Project Summary:</a:t>
            </a:r>
            <a:br>
              <a:rPr lang="en-US" sz="2000" b="1" dirty="0"/>
            </a:br>
            <a:r>
              <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rPr>
              <a:t>The Accounts Payable Implementation Project in Microsoft Dynamics 365 Finance successfully established a structured and automated AP process, covering vendor setup, invoice management, payment processing, and reporting.</a:t>
            </a:r>
            <a:endParaRPr lang="en-US" sz="2000" b="1" dirty="0">
              <a:ln w="0"/>
              <a:solidFill>
                <a:schemeClr val="accent1"/>
              </a:solidFill>
              <a:effectLst>
                <a:outerShdw blurRad="38100" dist="25400" dir="5400000" algn="ctr" rotWithShape="0">
                  <a:srgbClr val="6E747A">
                    <a:alpha val="43000"/>
                  </a:srgbClr>
                </a:outerShdw>
              </a:effectLst>
            </a:endParaRPr>
          </a:p>
          <a:p>
            <a:endParaRPr lang="en-US" sz="2000" b="1" dirty="0"/>
          </a:p>
          <a:p>
            <a:r>
              <a:rPr lang="en-US" sz="2400" b="1" dirty="0">
                <a:solidFill>
                  <a:schemeClr val="tx2"/>
                </a:solidFill>
                <a:latin typeface="Aharoni" panose="020F0502020204030204" pitchFamily="2" charset="-79"/>
                <a:cs typeface="Aharoni" panose="020F0502020204030204" pitchFamily="2" charset="-79"/>
              </a:rPr>
              <a:t>Key Achievements:</a:t>
            </a:r>
          </a:p>
          <a:p>
            <a:r>
              <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rPr>
              <a:t>Configured legal entities, vendor groups, and posting profiles for accurate financial transactions. </a:t>
            </a:r>
          </a:p>
          <a:p>
            <a:r>
              <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rPr>
              <a:t>Streamlined invoice journals, settlement processes, and payment methods for operational efficiency. </a:t>
            </a:r>
          </a:p>
          <a:p>
            <a:r>
              <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rPr>
              <a:t>Implemented payment schedules, terms of payment, and cash discounts to optimize cash flow. </a:t>
            </a:r>
          </a:p>
          <a:p>
            <a:r>
              <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rPr>
              <a:t>Generated vendor reports and aging analysis to enhance monitoring and decision-making. </a:t>
            </a:r>
          </a:p>
          <a:p>
            <a:endParaRPr lang="en-US" sz="2000" b="1" dirty="0"/>
          </a:p>
          <a:p>
            <a:r>
              <a:rPr lang="en-US" sz="2400" b="1" dirty="0">
                <a:solidFill>
                  <a:schemeClr val="tx2"/>
                </a:solidFill>
                <a:latin typeface="Aharoni" panose="020F0502020204030204" pitchFamily="2" charset="-79"/>
                <a:cs typeface="Aharoni" panose="020F0502020204030204" pitchFamily="2" charset="-79"/>
              </a:rPr>
              <a:t>Benefits Realized:</a:t>
            </a:r>
          </a:p>
          <a:p>
            <a:r>
              <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rPr>
              <a:t>Improved accuracy and consistency in vendor transactions. </a:t>
            </a:r>
          </a:p>
          <a:p>
            <a:r>
              <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rPr>
              <a:t>Enhanced control and compliance with financial policies. </a:t>
            </a:r>
          </a:p>
          <a:p>
            <a:r>
              <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rPr>
              <a:t>Increased efficiency in accounts payable processing. </a:t>
            </a:r>
          </a:p>
          <a:p>
            <a:r>
              <a:rPr lang="en-US" sz="2000" b="1" dirty="0">
                <a:ln w="0"/>
                <a:solidFill>
                  <a:schemeClr val="tx1"/>
                </a:solidFill>
                <a:effectLst>
                  <a:outerShdw blurRad="38100" dist="25400" dir="5400000" algn="ctr" rotWithShape="0">
                    <a:srgbClr val="6E747A">
                      <a:alpha val="43000"/>
                    </a:srgbClr>
                  </a:outerShdw>
                </a:effectLst>
                <a:latin typeface="Arial Narrow" panose="020B0606020202030204" charset="0"/>
                <a:cs typeface="Arial Narrow" panose="020B0606020202030204" charset="0"/>
              </a:rPr>
              <a:t>Better visibility into outstanding liabilities and cash management.</a:t>
            </a:r>
            <a:r>
              <a:rPr lang="en-US" sz="2000" b="1" dirty="0">
                <a:ln w="0"/>
                <a:solidFill>
                  <a:schemeClr val="accent1"/>
                </a:solidFill>
                <a:effectLst>
                  <a:outerShdw blurRad="38100" dist="25400" dir="5400000" algn="ctr" rotWithShape="0">
                    <a:srgbClr val="6E747A">
                      <a:alpha val="43000"/>
                    </a:srgbClr>
                  </a:outerShdw>
                </a:effectLst>
              </a:rPr>
              <a:t> </a:t>
            </a:r>
          </a:p>
          <a:p>
            <a:endParaRPr lang="en-US" sz="2000" b="1" dirty="0">
              <a:ln w="0"/>
              <a:solidFill>
                <a:schemeClr val="accent1"/>
              </a:solidFill>
              <a:effectLst>
                <a:outerShdw blurRad="38100" dist="25400" dir="5400000" algn="ctr" rotWithShape="0">
                  <a:srgbClr val="6E747A">
                    <a:alpha val="43000"/>
                  </a:srgbClr>
                </a:outerShdw>
              </a:effectLst>
            </a:endParaRP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416952" y="-105"/>
            <a:ext cx="1774776" cy="693347"/>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gradFill>
          <a:gsLst>
            <a:gs pos="62678">
              <a:srgbClr val="BBCEE5"/>
            </a:gs>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effectLst/>
      </p:bgPr>
    </p:bg>
    <p:spTree>
      <p:nvGrpSpPr>
        <p:cNvPr id="1" name=""/>
        <p:cNvGrpSpPr/>
        <p:nvPr/>
      </p:nvGrpSpPr>
      <p:grpSpPr>
        <a:xfrm>
          <a:off x="0" y="0"/>
          <a:ext cx="0" cy="0"/>
          <a:chOff x="0" y="0"/>
          <a:chExt cx="0" cy="0"/>
        </a:xfrm>
      </p:grpSpPr>
      <p:sp>
        <p:nvSpPr>
          <p:cNvPr id="5" name="TextBox 4"/>
          <p:cNvSpPr txBox="1"/>
          <p:nvPr/>
        </p:nvSpPr>
        <p:spPr>
          <a:xfrm>
            <a:off x="3334657" y="1047007"/>
            <a:ext cx="5868365" cy="4008085"/>
          </a:xfrm>
          <a:prstGeom prst="rect">
            <a:avLst/>
          </a:prstGeom>
          <a:noFill/>
        </p:spPr>
        <p:txBody>
          <a:bodyPr wrap="square">
            <a:spAutoFit/>
          </a:bodyPr>
          <a:lstStyle/>
          <a:p>
            <a:pPr algn="ctr">
              <a:lnSpc>
                <a:spcPts val="16000"/>
              </a:lnSpc>
            </a:pPr>
            <a:r>
              <a:rPr lang="en-US" sz="9600" dirty="0">
                <a:solidFill>
                  <a:schemeClr val="tx2"/>
                </a:solidFill>
                <a:latin typeface="Bright Retro"/>
                <a:ea typeface="Bright Retro"/>
                <a:cs typeface="Bright Retro"/>
                <a:sym typeface="Bright Retro"/>
              </a:rPr>
              <a:t>Thank </a:t>
            </a:r>
          </a:p>
          <a:p>
            <a:pPr algn="ctr">
              <a:lnSpc>
                <a:spcPts val="16000"/>
              </a:lnSpc>
            </a:pPr>
            <a:r>
              <a:rPr lang="en-US" sz="9600" dirty="0">
                <a:solidFill>
                  <a:schemeClr val="tx2"/>
                </a:solidFill>
                <a:latin typeface="Bright Retro"/>
                <a:ea typeface="Bright Retro"/>
                <a:cs typeface="Bright Retro"/>
                <a:sym typeface="Bright Retro"/>
              </a:rPr>
              <a:t>You!</a:t>
            </a:r>
          </a:p>
        </p:txBody>
      </p:sp>
      <p:pic>
        <p:nvPicPr>
          <p:cNvPr id="2" name="Picture 1"/>
          <p:cNvPicPr>
            <a:picLocks noChangeAspect="1"/>
          </p:cNvPicPr>
          <p:nvPr/>
        </p:nvPicPr>
        <p:blipFill>
          <a:blip r:embed="rId2"/>
          <a:stretch>
            <a:fillRect/>
          </a:stretch>
        </p:blipFill>
        <p:spPr>
          <a:xfrm>
            <a:off x="4180959" y="5458568"/>
            <a:ext cx="4175760" cy="704850"/>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81920" y="380063"/>
            <a:ext cx="1586664" cy="797789"/>
          </a:xfrm>
          <a:prstGeom prst="rect">
            <a:avLst/>
          </a:prstGeom>
        </p:spPr>
      </p:pic>
      <p:pic>
        <p:nvPicPr>
          <p:cNvPr id="6" name="Picture 5"/>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38200" y="264628"/>
            <a:ext cx="1417559" cy="130324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 calcmode="lin" valueType="num">
                                      <p:cBhvr>
                                        <p:cTn id="7" dur="500" fill="hold"/>
                                        <p:tgtEl>
                                          <p:spTgt spid="5">
                                            <p:txEl>
                                              <p:pRg st="0" end="0"/>
                                            </p:txEl>
                                          </p:spTgt>
                                        </p:tgtEl>
                                        <p:attrNameLst>
                                          <p:attrName>ppt_w</p:attrName>
                                        </p:attrNameLst>
                                      </p:cBhvr>
                                      <p:tavLst>
                                        <p:tav tm="0">
                                          <p:val>
                                            <p:fltVal val="0"/>
                                          </p:val>
                                        </p:tav>
                                        <p:tav tm="100000">
                                          <p:val>
                                            <p:strVal val="#ppt_w"/>
                                          </p:val>
                                        </p:tav>
                                      </p:tavLst>
                                    </p:anim>
                                    <p:anim calcmode="lin" valueType="num">
                                      <p:cBhvr>
                                        <p:cTn id="8" dur="500" fill="hold"/>
                                        <p:tgtEl>
                                          <p:spTgt spid="5">
                                            <p:txEl>
                                              <p:pRg st="0" end="0"/>
                                            </p:txEl>
                                          </p:spTgt>
                                        </p:tgtEl>
                                        <p:attrNameLst>
                                          <p:attrName>ppt_h</p:attrName>
                                        </p:attrNameLst>
                                      </p:cBhvr>
                                      <p:tavLst>
                                        <p:tav tm="0">
                                          <p:val>
                                            <p:fltVal val="0"/>
                                          </p:val>
                                        </p:tav>
                                        <p:tav tm="100000">
                                          <p:val>
                                            <p:strVal val="#ppt_h"/>
                                          </p:val>
                                        </p:tav>
                                      </p:tavLst>
                                    </p:anim>
                                    <p:animEffect transition="in" filter="fade">
                                      <p:cBhvr>
                                        <p:cTn id="9" dur="500"/>
                                        <p:tgtEl>
                                          <p:spTgt spid="5">
                                            <p:txEl>
                                              <p:pRg st="0" end="0"/>
                                            </p:txEl>
                                          </p:spTgt>
                                        </p:tgtEl>
                                      </p:cBhvr>
                                    </p:animEffect>
                                  </p:childTnLst>
                                </p:cTn>
                              </p:par>
                              <p:par>
                                <p:cTn id="10" presetID="53" presetClass="entr" presetSubtype="16" fill="hold" nodeType="withEffect">
                                  <p:stCondLst>
                                    <p:cond delay="0"/>
                                  </p:stCondLst>
                                  <p:childTnLst>
                                    <p:set>
                                      <p:cBhvr>
                                        <p:cTn id="11" dur="1" fill="hold">
                                          <p:stCondLst>
                                            <p:cond delay="0"/>
                                          </p:stCondLst>
                                        </p:cTn>
                                        <p:tgtEl>
                                          <p:spTgt spid="5">
                                            <p:txEl>
                                              <p:pRg st="1" end="1"/>
                                            </p:txEl>
                                          </p:spTgt>
                                        </p:tgtEl>
                                        <p:attrNameLst>
                                          <p:attrName>style.visibility</p:attrName>
                                        </p:attrNameLst>
                                      </p:cBhvr>
                                      <p:to>
                                        <p:strVal val="visible"/>
                                      </p:to>
                                    </p:set>
                                    <p:anim calcmode="lin" valueType="num">
                                      <p:cBhvr>
                                        <p:cTn id="12" dur="500" fill="hold"/>
                                        <p:tgtEl>
                                          <p:spTgt spid="5">
                                            <p:txEl>
                                              <p:pRg st="1" end="1"/>
                                            </p:txEl>
                                          </p:spTgt>
                                        </p:tgtEl>
                                        <p:attrNameLst>
                                          <p:attrName>ppt_w</p:attrName>
                                        </p:attrNameLst>
                                      </p:cBhvr>
                                      <p:tavLst>
                                        <p:tav tm="0">
                                          <p:val>
                                            <p:fltVal val="0"/>
                                          </p:val>
                                        </p:tav>
                                        <p:tav tm="100000">
                                          <p:val>
                                            <p:strVal val="#ppt_w"/>
                                          </p:val>
                                        </p:tav>
                                      </p:tavLst>
                                    </p:anim>
                                    <p:anim calcmode="lin" valueType="num">
                                      <p:cBhvr>
                                        <p:cTn id="13" dur="500" fill="hold"/>
                                        <p:tgtEl>
                                          <p:spTgt spid="5">
                                            <p:txEl>
                                              <p:pRg st="1" end="1"/>
                                            </p:txEl>
                                          </p:spTgt>
                                        </p:tgtEl>
                                        <p:attrNameLst>
                                          <p:attrName>ppt_h</p:attrName>
                                        </p:attrNameLst>
                                      </p:cBhvr>
                                      <p:tavLst>
                                        <p:tav tm="0">
                                          <p:val>
                                            <p:fltVal val="0"/>
                                          </p:val>
                                        </p:tav>
                                        <p:tav tm="100000">
                                          <p:val>
                                            <p:strVal val="#ppt_h"/>
                                          </p:val>
                                        </p:tav>
                                      </p:tavLst>
                                    </p:anim>
                                    <p:animEffect transition="in" filter="fade">
                                      <p:cBhvr>
                                        <p:cTn id="14" dur="500"/>
                                        <p:tgtEl>
                                          <p:spTgt spid="5">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2007 - 2010">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232</TotalTime>
  <Words>2858</Words>
  <Application>Microsoft Office PowerPoint</Application>
  <PresentationFormat>Widescreen</PresentationFormat>
  <Paragraphs>340</Paragraphs>
  <Slides>55</Slides>
  <Notes>2</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55</vt:i4>
      </vt:variant>
    </vt:vector>
  </HeadingPairs>
  <TitlesOfParts>
    <vt:vector size="66" baseType="lpstr">
      <vt:lpstr>Aharoni</vt:lpstr>
      <vt:lpstr>Algerian</vt:lpstr>
      <vt:lpstr>Arial</vt:lpstr>
      <vt:lpstr>Arial Narrow</vt:lpstr>
      <vt:lpstr>Bright Retro</vt:lpstr>
      <vt:lpstr>Calibri</vt:lpstr>
      <vt:lpstr>Calibri Light</vt:lpstr>
      <vt:lpstr>Kulachat Slab</vt:lpstr>
      <vt:lpstr>Segoe UI</vt:lpstr>
      <vt:lpstr>Wingdings</vt:lpstr>
      <vt:lpstr>Office Theme</vt:lpstr>
      <vt:lpstr>Accounts Payable Implementation Project  Microsoft Dynamics 365 Finance</vt:lpstr>
      <vt:lpstr> Team Members </vt:lpstr>
      <vt:lpstr>Introduction</vt:lpstr>
      <vt:lpstr> Project Overview</vt:lpstr>
      <vt:lpstr>Client Requirements  </vt:lpstr>
      <vt:lpstr>Company Financial Setup Legal entities  The first step is to create a new Legal Entity containing the company name, country, and company data.  Form path     Organization administration&gt;Organiztion&gt;Legal entitites   </vt:lpstr>
      <vt:lpstr>General Ledger Setup  Financial Setup </vt:lpstr>
      <vt:lpstr>Charts of accounts</vt:lpstr>
      <vt:lpstr>•  Create the main accounts in the chart of accounts.</vt:lpstr>
      <vt:lpstr> </vt:lpstr>
      <vt:lpstr> </vt:lpstr>
      <vt:lpstr>Financial Dimensions</vt:lpstr>
      <vt:lpstr>Financial Dimensions</vt:lpstr>
      <vt:lpstr>Financial Dimensions</vt:lpstr>
      <vt:lpstr>Financial dimensions</vt:lpstr>
      <vt:lpstr>Fiscal Calendar </vt:lpstr>
      <vt:lpstr>* We will create fiscal calendar start in 1/1 and end in 31/12</vt:lpstr>
      <vt:lpstr>Screen Information:</vt:lpstr>
      <vt:lpstr>Configure Account Structures.</vt:lpstr>
      <vt:lpstr>Configure account structures</vt:lpstr>
      <vt:lpstr>Currency Exchange Rate</vt:lpstr>
      <vt:lpstr>Currency Exchange Rate</vt:lpstr>
      <vt:lpstr>   </vt:lpstr>
      <vt:lpstr>Journal Names</vt:lpstr>
      <vt:lpstr>Journal Names</vt:lpstr>
      <vt:lpstr>Account Payable</vt:lpstr>
      <vt:lpstr>Vendor Groups</vt:lpstr>
      <vt:lpstr>Vendor Groups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Financial reports related to Vendor balances </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Mohamed Samir Abdelazim</dc:creator>
  <cp:lastModifiedBy>Belal Hassan Saber</cp:lastModifiedBy>
  <cp:revision>55</cp:revision>
  <dcterms:created xsi:type="dcterms:W3CDTF">2025-11-21T17:27:00Z</dcterms:created>
  <dcterms:modified xsi:type="dcterms:W3CDTF">2026-04-04T12:25:07Z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29BAA9B3FF1E4433A125764BF546201D_12</vt:lpwstr>
  </property>
  <property fmtid="{D5CDD505-2E9C-101B-9397-08002B2CF9AE}" pid="3" name="KSOProductBuildVer">
    <vt:lpwstr>1033-12.2.0.23196</vt:lpwstr>
  </property>
</Properties>
</file>